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743200" cy="685800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743200" y="0"/>
            <a:ext cx="109728" cy="6858000"/>
          </a:xfrm>
          <a:prstGeom prst="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09960" y="347472"/>
            <a:ext cx="502920" cy="256032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36976" y="1280160"/>
            <a:ext cx="8412480" cy="13258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3300" b="1">
                <a:solidFill>
                  <a:srgbClr val="111111"/>
                </a:solidFill>
                <a:latin typeface="Malgun Gothic"/>
                <a:ea typeface="Malgun Gothic"/>
              </a:rPr>
              <a:t>수치 추가와 선별 제공이
손 기능 VLM 채점에 미치는 영향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64408" y="2761488"/>
            <a:ext cx="8138160" cy="475488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0">
                <a:solidFill>
                  <a:srgbClr val="111111"/>
                </a:solidFill>
                <a:latin typeface="Malgun Gothic"/>
                <a:ea typeface="Malgun Gothic"/>
              </a:rPr>
              <a:t>ARAT 두 항목 · 품질 기반 수치 선별 연구계획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64408" y="3346704"/>
            <a:ext cx="8138160" cy="82296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0">
                <a:solidFill>
                  <a:srgbClr val="6B7482"/>
                </a:solidFill>
                <a:latin typeface="Malgun Gothic"/>
                <a:ea typeface="Malgun Gothic"/>
              </a:rPr>
              <a:t>설계 정본 v6.3 (2026-09-28) · 모든 수치는 계획값
본평가 결과 아님 (실증 데이터 수집 전)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73552" y="5715000"/>
            <a:ext cx="8229600" cy="2743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00" b="0">
                <a:solidFill>
                  <a:srgbClr val="111111"/>
                </a:solidFill>
                <a:latin typeface="Malgun Gothic"/>
                <a:ea typeface="Malgun Gothic"/>
              </a:rPr>
              <a:t>연구계획 발표  |  이재용 22000561  |  한동대학교 기계제어공학부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목차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645920"/>
            <a:ext cx="9601200" cy="420624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1. 기존 자동채점 접근과 남는 문제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2. 선행연구 근거와 연구 공백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3. 실험 세팅 — 환경·대상·절차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4. 두 과제 선정 근거 (ARAT 위계 질문)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5. 수치 K1·K2와 품질 선별 규칙 Q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6. 조건 설계와 VLM 모델 로스터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1300"/>
              </a:spcAft>
            </a:pPr>
            <a:r>
              <a:rPr sz="2100" b="0">
                <a:solidFill>
                  <a:srgbClr val="111111"/>
                </a:solidFill>
                <a:latin typeface="Malgun Gothic"/>
                <a:ea typeface="Malgun Gothic"/>
              </a:rPr>
              <a:t>7. 분석 계획과 한계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기존 자동채점 접근과 남는 문제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손 기능 채점 = 어떤 데이터를 어떻게 가공해 점수로 바꾸는가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3675887" cy="22311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3675887" cy="402336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341985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치료사 평가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28216"/>
            <a:ext cx="3419855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동작 직접·영상 관찰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지침 따라 점수 부여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기준점수 생성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1234440"/>
            <a:ext cx="3675887" cy="22311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334256" y="1234440"/>
            <a:ext cx="3675887" cy="402336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2" y="1298448"/>
            <a:ext cx="341985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수치 기반 평가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2" y="1728216"/>
            <a:ext cx="3419855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센서로 관절 위치 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각도·거리 특징 계산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규칙·학습모형 채점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4" y="1234440"/>
            <a:ext cx="3675887" cy="223113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284464" y="1234440"/>
            <a:ext cx="3675887" cy="402336"/>
          </a:xfrm>
          <a:prstGeom prst="roundRect">
            <a:avLst/>
          </a:prstGeom>
          <a:solidFill>
            <a:srgbClr val="178268"/>
          </a:solidFill>
          <a:ln w="9525">
            <a:solidFill>
              <a:srgbClr val="178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0" y="1298448"/>
            <a:ext cx="3419855" cy="310896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VLM 기반 평가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1728216"/>
            <a:ext cx="3419855" cy="164592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영상 + 지침 입력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영상·글 동시 해석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점수 + 근거 출력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75887"/>
            <a:ext cx="11045952" cy="45720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3749039"/>
            <a:ext cx="10707624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Malgun Gothic"/>
                <a:ea typeface="Malgun Gothic"/>
              </a:rPr>
              <a:t>남는 문제 — 평가자 주관성 · 천장/바닥 · 시간 과다  |  수치 오류 미검출(손목 96 mm)  |  VLM 총점 평탄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61104"/>
            <a:ext cx="11045952" cy="475488"/>
          </a:xfrm>
          <a:prstGeom prst="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" y="4334256"/>
            <a:ext cx="10707624" cy="34747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FFFFFF"/>
                </a:solidFill>
                <a:latin typeface="Malgun Gothic"/>
                <a:ea typeface="Malgun Gothic"/>
              </a:rPr>
              <a:t>연구 질문 — 계산한 수치를 전량 제공할 것인가, 품질로 선별 제공할 것인가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4048" y="4956048"/>
            <a:ext cx="3675887" cy="157276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  <a:ea typeface="Malgun Gothic"/>
              </a:rPr>
              <a:t>[사진 자리]  영상 촬영 예시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34256" y="4956048"/>
            <a:ext cx="3675887" cy="157276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  <a:ea typeface="Malgun Gothic"/>
              </a:rPr>
              <a:t>[사진 자리]  라벨링 예시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84464" y="4956048"/>
            <a:ext cx="3675887" cy="157276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94A3B8"/>
                </a:solidFill>
                <a:latin typeface="Malgun Gothic"/>
                <a:ea typeface="Malgun Gothic"/>
              </a:rPr>
              <a:t>[사진 자리]  기존 연구 성능 비교 예시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선행연구가 밝힌 것과 남는 공백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입력·처리·검증을 구분해 확인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Li 2026 · 영상 VLM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비장애 20 + 뇌졸중 51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영상 + 지침만 입력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총점 평탄 → 1점 기준선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PMID 42406872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영상만 입력 예시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Li 2022 · 센서 채점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뇌졸중 20명 · r=.981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손목 오차 96 mm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점수 정확·수치 부정확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PMID 36291314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센서 채점 예시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Tang 2025 · 특징 주입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특징 시계열 → LLM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예시 3개 최적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4개에서 붕괴(0.42)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arXiv:2505.18412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특징 주입 구조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남는 공백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수치 주입 효과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게이팅 인과효과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과잉 보류 대가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→ 본 연구 측정 대상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848088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연구 공백 도식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실험 세팅 — 환경·대상·절차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피드백 반영 ①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80160"/>
            <a:ext cx="3474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566928" y="1280160"/>
            <a:ext cx="3474720" cy="457200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344168"/>
            <a:ext cx="3218687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입력 · 수치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1828800"/>
            <a:ext cx="3218687" cy="23774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D455 1대 (단일 RGB-D)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RGB 1280×800 · depth 1280×720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실측 16.9 · 24.6 fps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작업거리 0.65–0.85 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K1·K2 산출 (원본 depth)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98848" y="1280160"/>
            <a:ext cx="3474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98848" y="1280160"/>
            <a:ext cx="3474720" cy="457200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6864" y="1344168"/>
            <a:ext cx="3218687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VLM · 조건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1828800"/>
            <a:ext cx="3218687" cy="23774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Qwen2.5-VL-72B 고정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0-shot · greedy · 무학습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A1 없음 / A2 전체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A3 Q 선별 / R 무작위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조건 간 수치만 변경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30767" y="1280160"/>
            <a:ext cx="3474720" cy="3017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0767" y="1280160"/>
            <a:ext cx="3474720" cy="457200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58784" y="1344168"/>
            <a:ext cx="3218687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대상 · 절차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58784" y="1828800"/>
            <a:ext cx="3218687" cy="2377439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뇌졸중 23명 (개발 3 + 본 20)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비장애인 22명 (개발 6 + 검증 16)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연습 2 → 본 첫 3회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T1 → 휴식 → T2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120영상 × 2모델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4407408"/>
            <a:ext cx="3474720" cy="148132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실험 세팅 전경 — 카메라(D455)+삼각대, 작업거리 0.65–0.85 m, 테이블 75 cm + 선반 37 cm, 팔걸이 없는 의자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498848" y="4407408"/>
            <a:ext cx="3474720" cy="148132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배치 도면 — 선반 37 cm · 물체 위치(중심시상면-액와선 중간) · 뚜껑 2개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30767" y="4407408"/>
            <a:ext cx="3474720" cy="1481328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환측 손 파지 장면 — 블록/구슬/뚜껑이 함께 보이는 구도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6016752"/>
            <a:ext cx="11045952" cy="50292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" y="6089904"/>
            <a:ext cx="10707624" cy="3749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Malgun Gothic"/>
                <a:ea typeface="Malgun Gothic"/>
              </a:rPr>
              <a:t>환경 = 테이블 75 · 의자 46(팔걸이 없음) · 선반 37 cm  |  저장 = L0 원본 RGB·원시 depth·타임스탬프 필수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두 과제 선정 근거 — ARAT 위계 질문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피드백 반영 ② — '가장 어려운 것 하나면 되지 않나?'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170432"/>
            <a:ext cx="11274552" cy="7315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170432"/>
            <a:ext cx="11274552" cy="621792"/>
          </a:xfrm>
          <a:prstGeom prst="round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34440"/>
            <a:ext cx="11018520" cy="530352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50" b="1">
                <a:solidFill>
                  <a:srgbClr val="FFFFFF"/>
                </a:solidFill>
                <a:latin typeface="Malgun Gothic"/>
                <a:ea typeface="Malgun Gothic"/>
              </a:rPr>
              <a:t>전제 — 건너뛰기 규칙은 '하위검사(subtest) 내부' 전용  (Lyle 1981)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84048" y="2011680"/>
            <a:ext cx="5596128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84048" y="201168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" y="207568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① 다른 하위검사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" y="2523744"/>
            <a:ext cx="5340096" cy="140817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T1 = ARAT 3번 = Grasp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T2 = ARAT 12번 = Pinch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"top marks for that subtest"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→ 중복 아님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08776" y="2011680"/>
            <a:ext cx="5596128" cy="2011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08776" y="201168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07568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② 위계 자체가 불완전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2523744"/>
            <a:ext cx="3383280" cy="140817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Koh 2006 — 위반 = pinch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van der Lee — 15/19만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소척도 구조 미지지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→ '하나면 자동' 불성립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8088" y="2615184"/>
            <a:ext cx="1828800" cy="122529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ARAT 위계 도식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4048" y="4133087"/>
            <a:ext cx="5596128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384048" y="4133087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" y="419709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③ 목적 = 총점 추정 아님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" y="4645151"/>
            <a:ext cx="5340096" cy="13350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ARAT 원점수 = 순서 정보만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T2 → K1 의미 성립 (주 결과)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T1 → K1 해석 범위 비교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08776" y="4133087"/>
            <a:ext cx="5596128" cy="193852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08776" y="4133087"/>
            <a:ext cx="5596128" cy="420624"/>
          </a:xfrm>
          <a:prstGeom prst="roundRect">
            <a:avLst/>
          </a:prstGeom>
          <a:solidFill>
            <a:srgbClr val="178268"/>
          </a:solidFill>
          <a:ln w="9525">
            <a:solidFill>
              <a:srgbClr val="178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6792" y="419709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④ 2개 선택의 성격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6792" y="4645151"/>
            <a:ext cx="5340096" cy="1335024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난이도 커버리지 아님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파지 구속(grasp constraint) 대비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엄지+검지 강제 vs 파지 자유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두 과제의 물성과 배치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ARAT 표준 — Yozbatiran 2008 / Lyle 1981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78268"/>
          </a:solidFill>
          <a:ln w="9525">
            <a:solidFill>
              <a:srgbClr val="17826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T2 · 주 결과 (ARAT 12번 · Pinch)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구슬 ⌀1.5 cm · 5.4 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엄지 + 검지 패드 강제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3점 = 5초 이내 + 패드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구슬 집기 장면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T1 · 참고 (ARAT 3번 · Grasp)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블록 5 cm · 55 g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opposition이면 파지 자유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3점 = 5초 이내 정상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블록 옮기기 장면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배치 (표준)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테이블 → 선반 37 cm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하부 뚜껑 → 상부 뚜껑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물체 = 정중시상면-액와선 중간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37 cm 수직 들어올리기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배치 도면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채점 · 주의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0/1/2/3 = 60초·5초 기준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합계 0–6점 = 임상점수 아님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무게 약 10배 · 크기 3.3배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실패 영상 삭제 금지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VLM에 넣는 수치 K1·K2와 선별 규칙 Q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정본 지표 = 2개(K1·K2). SPARC 등 추가 지표는 미사용 — 계산은 원본 프레임에서만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K1 — 엄지–검지 표면점 거리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MediaPipe 4번·8번 표면점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관찰 구간 P95 (mm)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금지 = PAp · 최대벌림 · 관절중심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K1 개념도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K2 — 손목 표면점 속도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MediaPipe 0번 표면점 3D 속도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관찰 구간 P95 (mm/s)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dt = 장치 타임스탬프만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금지 = 민첩성 · 신경회복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K2 개념도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Q 규칙 5개 (사전 동결)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Q1 깊이 유효 비율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Q2 최장 결측 &gt; 0.3초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Q3 유효 표본 &lt; 50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Q4 경계 혼합 &gt; 50%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Q5 가림 &gt; 50% (2인)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23360" y="439826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Q 판정 예시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적용 · R 조건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걸린 수치 = null 보류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임계값은 치료사 점수 무관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R = 같은 수 무작위 제거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제외율 &gt; 50% → 비교 제한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실험 조건과 세 가지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같은 영상·사람·시행에서 수치의 양과 품질만 변경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1298448"/>
          <a:ext cx="11045952" cy="2331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206240"/>
                <a:gridCol w="4462272"/>
              </a:tblGrid>
              <a:tr h="466344"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조건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K1·K2 제공 방식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비교 목적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A1 영상 기준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제공하지 않음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영상만 있을 때의 기준선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전체 제공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계산 가능한 수치 모두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vs A1 → 수치 주입 (PR-1)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 선별 제공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 통과 수치만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vs A3 → 게이팅 (PR-2)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R 무작위 제외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A3와 같은 수 무작위 제거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 vs R → 고유 가치 (PR-3)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3858768"/>
            <a:ext cx="55961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3858768"/>
            <a:ext cx="5596128" cy="420624"/>
          </a:xfrm>
          <a:prstGeom prst="roundRect">
            <a:avLst/>
          </a:prstGeom>
          <a:solidFill>
            <a:srgbClr val="16A7B8"/>
          </a:solidFill>
          <a:ln w="9525">
            <a:solidFill>
              <a:srgbClr val="16A7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392277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1급 기술 결과 (검정 아님)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4370831"/>
            <a:ext cx="3383280" cy="14996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보류율(A3) = 게이팅의 대가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(보류율, MAE) Pareto 곡선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보조 모델 부호 일치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0" y="4462272"/>
            <a:ext cx="1828800" cy="131673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조건 구조 도식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3858768"/>
            <a:ext cx="5596128" cy="2103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208776" y="3858768"/>
            <a:ext cx="5596128" cy="420624"/>
          </a:xfrm>
          <a:prstGeom prst="roundRect">
            <a:avLst/>
          </a:prstGeom>
          <a:solidFill>
            <a:srgbClr val="6B7482"/>
          </a:solidFill>
          <a:ln w="9525">
            <a:solidFill>
              <a:srgbClr val="6B74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3922776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탐색적 (보정 없음)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370831"/>
            <a:ext cx="3383280" cy="149961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A4 영상 제거 · A0 경량모형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오류 주입 bias/burst (기전)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큰 오차(≥2점) 비율 · 설명 평가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848088" y="4462272"/>
            <a:ext cx="1828800" cy="131673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게이팅 개념 도식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VLM 모델 로스터 — 로컬 설치 실측 + 최신 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주 모델 1개 = 확증 검정 · 나머지 = 부호 일치 · 민감도 (다중비교 폭증 방지)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188720"/>
          <a:ext cx="11274552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3931920"/>
                <a:gridCol w="5102352"/>
              </a:tblGrid>
              <a:tr h="370332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역할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모델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상태 (2026-09-28 실측)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주 모델 (확증 검정)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Qwen2.5-VL-72B-Instruct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미설치 · Li 2026과 동일 → 직접 비교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Qwen2.5-VL-32B-Instruct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· 64 GB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Qwen2.5-VL-3B-Instruct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· 7.1 GB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LLaVA-OneVision-Qwen2-7B-OV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· 19 GB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실행 가능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LLaVA-NeXT-Video-7B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설치 완료 · 14 GB (영상 특화)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로컬 미완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Qwen3-VL-8B / LLaVA-1.5-7B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가중치 미완 (204 MB / 메타만)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최신 후보 (검토)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Qwen3-VL-32B · 235B-A22B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2025-10 / 2025-09 공개 가중치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최신 후보 (검토)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InternVL3.5-38B · 78B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2025-08 · 영상 벤치 상위권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370332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최신 후보 (검토)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GLM-4.6V-Flash 9B · 4.6V 106B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공개 가중치 · 128k 컨텍스트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384048" y="5029200"/>
            <a:ext cx="11274552" cy="11887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84048" y="5029200"/>
            <a:ext cx="11274552" cy="365760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" y="5093208"/>
            <a:ext cx="1101852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컴퓨트 = 1,608출력 × 모델 수 (비용 통제 필요)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" y="5486400"/>
            <a:ext cx="11018520" cy="6400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</a:rPr>
              <a:t>2모델 = 3,216 · 4모델 = 6,432 · 6모델 = 9,648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0">
                <a:solidFill>
                  <a:srgbClr val="111111"/>
                </a:solidFill>
                <a:latin typeface="Malgun Gothic"/>
                <a:ea typeface="Malgun Gothic"/>
              </a:rPr>
              <a:t>확증 검정(PR-1~3)은 주 모델에서만 · 나머지는 부호 일치·민감도만 보고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>
                <a:solidFill>
                  <a:srgbClr val="B86A00"/>
                </a:solidFill>
                <a:latin typeface="Malgun Gothic"/>
                <a:ea typeface="Malgun Gothic"/>
              </a:rPr>
              <a:t>모델 수를 늘리면 '모델 특이적'이라는 반박은 줄지만 출력 비용이 비례 증가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고정 VLM과 입력 프레임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추가 학습 없이 동일 모델·프롬프트 · 조건별 차이는 수치뿐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모델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주 = Qwen2.5-VL-72B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Li 2026과 동일 → 직접 비교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보조 = 부호 일치 확인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보조 체크포인트 미확정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모델 비교 구조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출력 · 실패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0-shot · greedy · 무학습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출력 = 0–3점 + 근거 ≤2문장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실패 1회 재시도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손실 = 3 대체 → 성공률 병기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출력 예시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프레임 규칙 (동결)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앞 5.0초 = 10 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5초 초과분 = 2 Hz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상한 64 · 해상도 640×480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사건 구간 임의 선택 금지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00" b="0">
                <a:solidFill>
                  <a:srgbClr val="111111"/>
                </a:solidFill>
                <a:latin typeface="Malgun Gothic"/>
                <a:ea typeface="Malgun Gothic"/>
              </a:rPr>
              <a:t>실제 fps로 인덱스 계산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주의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실측 16.9 fps → 10 Hz 저하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30 fps 가정 금지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조건명 프롬프트 기재 금지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프롬프트 템플릿 동일 고정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분석 방법과 예상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사람 단위 짝지은 비교 · 사람 단위 bootstrap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5239512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93A66"/>
                </a:solidFill>
                <a:latin typeface="Malgun Gothic"/>
                <a:ea typeface="Malgun Gothic"/>
              </a:rPr>
              <a:t>주 비교 — 양수일 때의 의미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188720"/>
            <a:ext cx="5330952" cy="36576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800" b="1">
                <a:solidFill>
                  <a:srgbClr val="193A66"/>
                </a:solidFill>
                <a:latin typeface="Malgun Gothic"/>
                <a:ea typeface="Malgun Gothic"/>
              </a:rPr>
              <a:t>관찰 가능한 결과와 해석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691640"/>
          <a:ext cx="5431535" cy="2980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1872"/>
                <a:gridCol w="2103120"/>
                <a:gridCol w="2066543"/>
              </a:tblGrid>
              <a:tr h="745236"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비교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차이 정의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양수의 의미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수치 주입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MAE(A2) − MAE(A1)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전체 제공이 악화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수치 선별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MAE(A2) − MAE(A3)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선별 제공이 개선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745236"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선별 기준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MAE(R) − MAE(A3)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5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Q가 무작위보다 개선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91072" y="1691640"/>
          <a:ext cx="5330952" cy="3008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136392"/>
              </a:tblGrid>
              <a:tr h="501396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예상 패턴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해석</a:t>
                      </a:r>
                    </a:p>
                  </a:txBody>
                  <a:tcPr anchor="ctr" marL="82296" marR="82296" marT="18288" marB="18288">
                    <a:solidFill>
                      <a:srgbClr val="193A66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 악화 · A3 개선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일부 수치 보류 가치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A3 &gt; R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품질 규칙 자체 기여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A2·A3 비슷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수치 주입 효과 · 선별 이득 작음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보류율 ↑ · PR-2 유의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이득이 좁은 구간 (절충)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  <a:tr h="501396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보류율 ↑ · PR-2 비유의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11111"/>
                          </a:solidFill>
                          <a:latin typeface="Malgun Gothic"/>
                          <a:ea typeface="Malgun Gothic"/>
                        </a:rPr>
                        <a:t>과잉 보류가 대가만 남김</a:t>
                      </a:r>
                    </a:p>
                  </a:txBody>
                  <a:tcPr anchor="ctr" marL="82296" marR="8229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4846320"/>
            <a:ext cx="5330952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사람별 MAE 짝지어 비교
bootstrap 10,000회 · 95% CI
세 가지 주 비교에 Holm(k=3)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91072" y="4846320"/>
            <a:ext cx="5330952" cy="1097280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유의성 하나로 결론 금지
CI가 0 포함 = 방향 미확인
비유의 = 동등 아님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6035040"/>
            <a:ext cx="11045952" cy="502920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" y="6108192"/>
            <a:ext cx="10707624" cy="37490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FFFFFF"/>
                </a:solidFill>
                <a:latin typeface="Malgun Gothic"/>
                <a:ea typeface="Malgun Gothic"/>
              </a:rPr>
              <a:t>결론: 어떤 수치를 제공하거나 보류할 때 VLM 채점오차가 달라지는가  |  실패 출력 = 손실 3 별도 보고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128016"/>
          </a:xfrm>
          <a:prstGeom prst="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073384" y="329184"/>
            <a:ext cx="548640" cy="27432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1">
                <a:solidFill>
                  <a:srgbClr val="9AA6B4"/>
                </a:solidFill>
                <a:latin typeface="Malgun Gothic"/>
                <a:ea typeface="Malgun Gothic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65760"/>
            <a:ext cx="10332720" cy="457200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2600" b="1">
                <a:solidFill>
                  <a:srgbClr val="111111"/>
                </a:solidFill>
                <a:latin typeface="Malgun Gothic"/>
                <a:ea typeface="Malgun Gothic"/>
              </a:rPr>
              <a:t>한계와 다음 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822960"/>
            <a:ext cx="10927080" cy="31089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600" b="0">
                <a:solidFill>
                  <a:srgbClr val="111111"/>
                </a:solidFill>
                <a:latin typeface="Malgun Gothic"/>
                <a:ea typeface="Malgun Gothic"/>
              </a:rPr>
              <a:t>정직하게 — 아직 실증 0건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4048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84048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한계 (현재)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2064" y="174650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실증 데이터 0건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u(수치 실제 오차) 미측정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n=20 → 큰 효과 방향만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접촉 순간 오류 = 검출 불가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23444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08776" y="123444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129844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본평가 전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6792" y="1746504"/>
            <a:ext cx="3383280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수치 정의·파이프라인 동결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모델 로스터 확정 (주+로컬+최신)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치구 135기록 · IRB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컴퓨트 = 1,608 × 모델 수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848088" y="1837944"/>
            <a:ext cx="1828800" cy="1591056"/>
          </a:xfrm>
          <a:prstGeom prst="rect">
            <a:avLst/>
          </a:prstGeom>
          <a:noFill/>
          <a:ln w="12700">
            <a:solidFill>
              <a:srgbClr val="94A3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94A3B8"/>
                </a:solidFill>
                <a:latin typeface="Malgun Gothic"/>
                <a:ea typeface="Malgun Gothic"/>
              </a:rPr>
              <a:t>[사진 자리]</a:t>
            </a:r>
          </a:p>
          <a:p>
            <a:pPr algn="ctr">
              <a:lnSpc>
                <a:spcPct val="102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94A3B8"/>
                </a:solidFill>
                <a:latin typeface="Malgun Gothic"/>
                <a:ea typeface="Malgun Gothic"/>
              </a:rPr>
              <a:t>일정 로드맵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84048" y="3794760"/>
            <a:ext cx="5596128" cy="420624"/>
          </a:xfrm>
          <a:prstGeom prst="roundRect">
            <a:avLst/>
          </a:prstGeom>
          <a:solidFill>
            <a:srgbClr val="087F8C"/>
          </a:solidFill>
          <a:ln w="9525">
            <a:solidFill>
              <a:srgbClr val="087F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2064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이 연구의 위치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12064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기여 = '처음 제안' 아님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= '처음 측정'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같은 영상·라벨에서 수치만 변경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08776" y="3794760"/>
            <a:ext cx="5596128" cy="23774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BD6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08776" y="3794760"/>
            <a:ext cx="5596128" cy="420624"/>
          </a:xfrm>
          <a:prstGeom prst="roundRect">
            <a:avLst/>
          </a:prstGeom>
          <a:solidFill>
            <a:srgbClr val="193A66"/>
          </a:solidFill>
          <a:ln w="9525">
            <a:solidFill>
              <a:srgbClr val="193A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36792" y="3858768"/>
            <a:ext cx="5340096" cy="329184"/>
          </a:xfrm>
          <a:prstGeom prst="rect">
            <a:avLst/>
          </a:prstGeom>
          <a:noFill/>
        </p:spPr>
        <p:txBody>
          <a:bodyPr wrap="square" anchor="ctr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>
                <a:solidFill>
                  <a:srgbClr val="FFFFFF"/>
                </a:solidFill>
                <a:latin typeface="Malgun Gothic"/>
                <a:ea typeface="Malgun Gothic"/>
              </a:rPr>
              <a:t>다음 단계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36792" y="4306824"/>
            <a:ext cx="5340096" cy="1773936"/>
          </a:xfrm>
          <a:prstGeom prst="rect">
            <a:avLst/>
          </a:prstGeom>
          <a:noFill/>
        </p:spPr>
        <p:txBody>
          <a:bodyPr wrap="square" anchor="t" lIns="27432" rIns="27432" tIns="9144" bIns="9144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치구 135기록 → u 확정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모델 로스터 확정 후 촬영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450" b="0">
                <a:solidFill>
                  <a:srgbClr val="111111"/>
                </a:solidFill>
                <a:latin typeface="Malgun Gothic"/>
                <a:ea typeface="Malgun Gothic"/>
              </a:rPr>
              <a:t>동결 해시 + 사전등록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