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15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292840" cy="0"/>
          </a:xfrm>
          <a:prstGeom prst="line">
            <a:avLst/>
          </a:prstGeom>
          <a:noFill/>
          <a:ln w="12700">
            <a:solidFill>
              <a:srgbClr val="D7DC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6404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D7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[연구계획 발표]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143000" y="1847088"/>
            <a:ext cx="5623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운동학 정보를 활용한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기반 손 기능 평가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30906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Kinematics-Augmented Vision-Language Assessment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57400" y="4617720"/>
            <a:ext cx="3429000" cy="676656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130552" y="477316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22000561 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이재용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rot="1080000">
            <a:off x="7452360" y="228600"/>
            <a:ext cx="4572000" cy="256032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7818120" y="2697480"/>
            <a:ext cx="4160520" cy="2103120"/>
          </a:xfrm>
          <a:prstGeom prst="chevron">
            <a:avLst/>
          </a:prstGeom>
          <a:solidFill>
            <a:srgbClr val="F1EFF3"/>
          </a:solidFill>
          <a:ln w="12700">
            <a:solidFill>
              <a:srgbClr val="F1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7360920" y="4754880"/>
            <a:ext cx="4572000" cy="182880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2101" y="1376039"/>
            <a:ext cx="3240349" cy="1311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660565" y="2475087"/>
            <a:ext cx="4338647" cy="95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en-US" sz="2800" dirty="0" err="1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및 기존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640785" y="3430134"/>
            <a:ext cx="4183619" cy="95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개념 및 연구 질문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171579" y="4843012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292157" y="4748222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연구의 배경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[연구의 배경]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 보는 VLM은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 손 기능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평가에 한계가 있음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349240" cy="4491568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612648" y="1709928"/>
            <a:ext cx="3840480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1764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접근의 한계</a:t>
            </a:r>
            <a:endParaRPr lang="en-US" sz="18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3AAAEF8-E3B8-FF39-ED11-EF82422DD706}"/>
              </a:ext>
            </a:extLst>
          </p:cNvPr>
          <p:cNvGrpSpPr/>
          <p:nvPr/>
        </p:nvGrpSpPr>
        <p:grpSpPr>
          <a:xfrm>
            <a:off x="713232" y="2194560"/>
            <a:ext cx="4892040" cy="493776"/>
            <a:chOff x="713232" y="2194560"/>
            <a:chExt cx="4892040" cy="493776"/>
          </a:xfrm>
        </p:grpSpPr>
        <p:sp>
          <p:nvSpPr>
            <p:cNvPr id="11" name="Text 9"/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2D </a:t>
              </a:r>
              <a:r>
                <a:rPr lang="ko-KR" altLang="en-US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형태는 관찰하지만 </a:t>
              </a:r>
              <a:r>
                <a:rPr lang="en-US" altLang="ko-KR" sz="20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3D </a:t>
              </a:r>
              <a:r>
                <a:rPr lang="ko-KR" altLang="en-US" sz="20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거리</a:t>
              </a:r>
              <a:r>
                <a:rPr lang="en-US" altLang="ko-KR" sz="20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</a:t>
              </a:r>
              <a:r>
                <a:rPr lang="ko-KR" altLang="en-US" sz="20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시간</a:t>
              </a:r>
              <a:r>
                <a:rPr lang="ko-KR" altLang="en-US" sz="2000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</a:t>
              </a:r>
              <a:r>
                <a:rPr lang="ko-KR" altLang="en-US" sz="20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직접 측정 불가</a:t>
              </a:r>
              <a:endParaRPr lang="en-US" sz="20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1024128" y="3241548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9264" y="3723006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41248" y="4224528"/>
            <a:ext cx="4572000" cy="2016474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0976" y="4352544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그림 / 사례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2416" y="4791456"/>
            <a:ext cx="416966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영상-only VLM이 손 파지·해제 판단을 놓치는 예시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1847088"/>
            <a:ext cx="5440680" cy="4491568"/>
          </a:xfrm>
          <a:prstGeom prst="rect">
            <a:avLst/>
          </a:prstGeom>
          <a:solidFill>
            <a:srgbClr val="F4F7F8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309360" y="170992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64224" y="1764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필요성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2194560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2688336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75120" y="3182112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000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</a:t>
            </a: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평가와의</a:t>
            </a: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일치도</a:t>
            </a: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56248" y="4224528"/>
            <a:ext cx="4617720" cy="2016474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665976" y="4352544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57416" y="4791456"/>
            <a:ext cx="421538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카메라 + 손 + 물체 + 3D 거리 개념도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8B5A0D1-ACBA-02C6-D01B-8CF146AF89D4}"/>
              </a:ext>
            </a:extLst>
          </p:cNvPr>
          <p:cNvGrpSpPr/>
          <p:nvPr/>
        </p:nvGrpSpPr>
        <p:grpSpPr>
          <a:xfrm>
            <a:off x="713232" y="2816352"/>
            <a:ext cx="4892040" cy="493776"/>
            <a:chOff x="713232" y="2194560"/>
            <a:chExt cx="4892040" cy="493776"/>
          </a:xfrm>
        </p:grpSpPr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E2797547-9948-6C9B-B438-2B0E3D70EE1A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37" name="Text 10">
              <a:extLst>
                <a:ext uri="{FF2B5EF4-FFF2-40B4-BE49-F238E27FC236}">
                  <a16:creationId xmlns:a16="http://schemas.microsoft.com/office/drawing/2014/main" id="{79BE1AF2-3787-2D21-DBA6-1E951240A43F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lang="ko-KR" altLang="en-US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손가락 굽힘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</a:t>
              </a:r>
              <a:r>
                <a:rPr lang="ko-KR" altLang="en-US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접촉 순간 등 미세 동작 판단 불안정</a:t>
              </a:r>
              <a:endParaRPr lang="en-US" altLang="ko-KR" sz="20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C26784C-62CE-E19F-D753-DC4AD093B324}"/>
              </a:ext>
            </a:extLst>
          </p:cNvPr>
          <p:cNvGrpSpPr/>
          <p:nvPr/>
        </p:nvGrpSpPr>
        <p:grpSpPr>
          <a:xfrm>
            <a:off x="713232" y="3438144"/>
            <a:ext cx="4892040" cy="493776"/>
            <a:chOff x="713232" y="2194560"/>
            <a:chExt cx="4892040" cy="493776"/>
          </a:xfrm>
        </p:grpSpPr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4A4FE7C7-6611-1DBC-E9D2-9A1D9F1309AA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05FB6C61-DCA7-D8AF-6C15-79FBD4A54D8F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lang="ko-KR" altLang="ko-KR" dirty="0"/>
                <a:t>뇌졸중 환자의 불규칙한 움직임에서 오차 급증</a:t>
              </a:r>
              <a:endParaRPr lang="en-US" altLang="ko-KR" sz="200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19C076C-02AD-B287-D602-B548A00FB514}"/>
              </a:ext>
            </a:extLst>
          </p:cNvPr>
          <p:cNvGrpSpPr/>
          <p:nvPr/>
        </p:nvGrpSpPr>
        <p:grpSpPr>
          <a:xfrm>
            <a:off x="6364224" y="2205657"/>
            <a:ext cx="4892040" cy="493776"/>
            <a:chOff x="713232" y="2194560"/>
            <a:chExt cx="4892040" cy="493776"/>
          </a:xfrm>
        </p:grpSpPr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02B0C291-0282-5C36-1594-F82AF6E52F29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AAFC2DEC-A38C-F3FE-E29E-6FECA1CB98D0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RGB-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D로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F0443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MGA·시간·해제</a:t>
              </a:r>
              <a:r>
                <a:rPr lang="en-US" altLang="ko-KR" sz="2000" b="1" dirty="0">
                  <a:solidFill>
                    <a:srgbClr val="F0443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F0443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궤적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을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별도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측정</a:t>
              </a:r>
              <a:endParaRPr lang="en-US" altLang="ko-KR" sz="200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997545F-9CA2-DFDE-3632-468443E3D978}"/>
              </a:ext>
            </a:extLst>
          </p:cNvPr>
          <p:cNvGrpSpPr/>
          <p:nvPr/>
        </p:nvGrpSpPr>
        <p:grpSpPr>
          <a:xfrm>
            <a:off x="6364224" y="2834529"/>
            <a:ext cx="4892040" cy="493776"/>
            <a:chOff x="713232" y="2194560"/>
            <a:chExt cx="4892040" cy="493776"/>
          </a:xfrm>
        </p:grpSpPr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A6BB49C2-41C0-94DC-8BA9-8E82D4107C6D}"/>
                </a:ext>
              </a:extLst>
            </p:cNvPr>
            <p:cNvSpPr/>
            <p:nvPr/>
          </p:nvSpPr>
          <p:spPr>
            <a:xfrm>
              <a:off x="713232" y="2212848"/>
              <a:ext cx="201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</a:t>
              </a:r>
              <a:endParaRPr lang="en-US" sz="1300" dirty="0"/>
            </a:p>
          </p:txBody>
        </p:sp>
        <p:sp>
          <p:nvSpPr>
            <p:cNvPr id="50" name="Text 10">
              <a:extLst>
                <a:ext uri="{FF2B5EF4-FFF2-40B4-BE49-F238E27FC236}">
                  <a16:creationId xmlns:a16="http://schemas.microsoft.com/office/drawing/2014/main" id="{962CD3D2-9E3E-F62F-4A9C-D8E23F4844A4}"/>
                </a:ext>
              </a:extLst>
            </p:cNvPr>
            <p:cNvSpPr/>
            <p:nvPr/>
          </p:nvSpPr>
          <p:spPr>
            <a:xfrm>
              <a:off x="969264" y="2194560"/>
              <a:ext cx="4636008" cy="4937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RGB-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D로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F0443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MGA·시간·해제</a:t>
              </a:r>
              <a:r>
                <a:rPr lang="en-US" altLang="ko-KR" sz="2000" b="1" dirty="0">
                  <a:solidFill>
                    <a:srgbClr val="F0443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b="1" dirty="0" err="1">
                  <a:solidFill>
                    <a:srgbClr val="F0443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궤적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을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별도</a:t>
              </a:r>
              <a:r>
                <a:rPr lang="en-US" altLang="ko-KR" sz="20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2000" dirty="0" err="1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측정</a:t>
              </a:r>
              <a:endParaRPr lang="en-US" altLang="ko-KR" sz="2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[제안 개념]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VLM의 약한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fine-motion perception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RGB-D 운동학이 보완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77340" y="2249424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8D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87068" y="24505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741932" y="2871216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1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모양·접촉·해제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4508" y="2587752"/>
            <a:ext cx="566928" cy="56692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23460" y="2249424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8D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3188" y="24505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988052" y="2871216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1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MGA·TMGA·시간·품질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0628" y="2587752"/>
            <a:ext cx="566928" cy="56692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69580" y="2249424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29457A"/>
          </a:solidFill>
          <a:ln w="1524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179308" y="24505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평가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234172" y="2871216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2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판독에 가까운가?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77340" y="4169664"/>
            <a:ext cx="8823960" cy="12344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26380" y="4294573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58267" y="4343045"/>
            <a:ext cx="8481060" cy="118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2100" b="1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수치를</a:t>
            </a:r>
            <a:r>
              <a:rPr lang="en-US" sz="2100" dirty="0"/>
              <a:t> </a:t>
            </a:r>
            <a:r>
              <a:rPr lang="en-US" sz="2100" b="1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추가하면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</a:t>
            </a:r>
            <a:r>
              <a:rPr lang="ko-KR" alt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정확하게 채점을 할 수 있는가</a:t>
            </a: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?”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7318" y="1869549"/>
            <a:ext cx="43549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26191" y="2363325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목적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26191" y="2710797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전체 연구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26191" y="305826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모델 비교 조건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목적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[핵심 연구 질문]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환자의 같은 시행에서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전문가 판단에 가장 가까운가?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99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2148840"/>
            <a:ext cx="2121408" cy="1097280"/>
          </a:xfrm>
          <a:prstGeom prst="rect">
            <a:avLst/>
          </a:prstGeom>
          <a:solidFill>
            <a:srgbClr val="29457A"/>
          </a:solidFill>
          <a:ln w="1397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285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 + 참조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71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참조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84080" y="2148840"/>
            <a:ext cx="2121408" cy="1097280"/>
          </a:xfrm>
          <a:prstGeom prst="rect">
            <a:avLst/>
          </a:prstGeom>
          <a:solidFill>
            <a:srgbClr val="59636E"/>
          </a:solidFill>
          <a:ln w="13970">
            <a:solidFill>
              <a:srgbClr val="8EA0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57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921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모델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828800" y="3858768"/>
            <a:ext cx="35661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956816" y="40233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  A3 − A1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965960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</a:t>
            </a:r>
            <a:r>
              <a:rPr lang="en-US" sz="18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 err="1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r>
              <a:rPr lang="ko-KR" altLang="en-US" dirty="0" err="1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</a:t>
            </a:r>
            <a:r>
              <a:rPr lang="en-US" sz="18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참조의 추가 효과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29400" y="3858768"/>
            <a:ext cx="35661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66560" y="402336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비교  A3 − A4 / A0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66560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영상의 추가 가치 · VLM 필요성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전체 연구 설계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[전체 연구 설계]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측정값을 먼저 검증하고 → 건강인 참조 구축 → 환자에서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검증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24128" y="2011680"/>
            <a:ext cx="2880360" cy="1965960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78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43000" y="2249424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측정 검증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1288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4명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3255264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66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오차·유효률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4488" y="2679192"/>
            <a:ext cx="658368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90288" y="2011680"/>
            <a:ext cx="2880360" cy="1965960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78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249424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건강인 참조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27448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600" b="1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비환자</a:t>
            </a:r>
            <a:r>
              <a:rPr lang="en-US" sz="26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3255264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66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3과제 × 양손 × 8회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70648" y="2679192"/>
            <a:ext cx="658368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56448" y="2011680"/>
            <a:ext cx="2880360" cy="1965960"/>
          </a:xfrm>
          <a:prstGeom prst="roundRect">
            <a:avLst/>
          </a:prstGeom>
          <a:solidFill>
            <a:srgbClr val="29457A"/>
          </a:solidFill>
          <a:ln w="1524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75320" y="2249424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환자 VLM 검증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93608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15명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3255264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1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3과제 × 8회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4128" y="4096512"/>
            <a:ext cx="10012680" cy="2313432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62456" y="4727448"/>
            <a:ext cx="9153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3896" y="5166360"/>
            <a:ext cx="8970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검증 → 건강인 reference → 환자 AI 검증을 한눈에 보여주는 연구 흐름도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8342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287214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파지 과제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87214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287214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전문가 평가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실험 과제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 시행의 흐름]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이동은 최소화하고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형성–유지–능동 해제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평가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2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홈 패드 장면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패드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50008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88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98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이동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0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물체 가까이 장면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가까이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45152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74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84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목표 형태 장면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형태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22008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360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70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유지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62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형태 유지 장면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유지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26296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646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756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해제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48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손가락 펴기 장면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46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펴기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0120" y="5010912"/>
            <a:ext cx="10195560" cy="804672"/>
          </a:xfrm>
          <a:prstGeom prst="rect">
            <a:avLst/>
          </a:prstGeom>
          <a:solidFill>
            <a:srgbClr val="E8F1F5"/>
          </a:solidFill>
          <a:ln w="12700">
            <a:solidFill>
              <a:srgbClr val="819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51560" y="5248656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 5 cm   ·   구 7 cm   ·   측면집기 1.5 cm   |   각 과제 </a:t>
            </a:r>
            <a:r>
              <a:rPr lang="en-US" sz="2200" b="1" dirty="0" err="1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r>
              <a:rPr lang="en-US" sz="22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8회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[자료 및 변수]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입력은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소수의 운동학 특징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제한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703320" cy="4160520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21208" y="1783080"/>
            <a:ext cx="3483864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76072" y="183794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2304288"/>
            <a:ext cx="3136392" cy="3392424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04672" y="2432304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측정 개념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871216"/>
            <a:ext cx="2734056" cy="2350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D455 + MediaPipe 21 landmarks + 엄지–검지 3D 거리 곡선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1920240"/>
            <a:ext cx="2011680" cy="384048"/>
          </a:xfrm>
          <a:prstGeom prst="rect">
            <a:avLst/>
          </a:prstGeom>
          <a:solidFill>
            <a:srgbClr val="29457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변수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98848" y="2468880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45152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41264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파지구경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498848" y="3182112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45152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TMGA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41264" y="3291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 발생 시점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98848" y="3895344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45151" y="4005072"/>
            <a:ext cx="10809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준비시간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41264" y="40050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→ 준비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98848" y="4608576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45152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41264" y="47183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 거리 변화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955280" y="1920240"/>
            <a:ext cx="2057400" cy="384048"/>
          </a:xfrm>
          <a:prstGeom prst="rect">
            <a:avLst/>
          </a:prstGeom>
          <a:solidFill>
            <a:srgbClr val="77777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변수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955280" y="2468880"/>
            <a:ext cx="32461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183880" y="2596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C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 frame %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955280" y="3291840"/>
            <a:ext cx="32461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183880" y="34198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C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Longest gap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955280" y="4114800"/>
            <a:ext cx="32461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183880" y="4242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C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valid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모델·전문가 평가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[모델 입력과 정답]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조건은 같은 시행을 사용하고,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라벨은 모델에 제공하지 않음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5349240" cy="4471416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2648" y="1801368"/>
            <a:ext cx="3840480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1856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입력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395728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영상: 14 프레임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889504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수치: MGA·시간·Release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3401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383280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참조: 건강인 분포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3895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877056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모델·동일 프롬프트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0120" y="4462271"/>
            <a:ext cx="4434840" cy="1760975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69848" y="4590288"/>
            <a:ext cx="4215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1288" y="5029200"/>
            <a:ext cx="403250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A1~A4 입력 예시 화면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1938528"/>
            <a:ext cx="5349240" cy="4471416"/>
          </a:xfrm>
          <a:prstGeom prst="rect">
            <a:avLst/>
          </a:prstGeom>
          <a:solidFill>
            <a:srgbClr val="F5F7F8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73368" y="180136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28232" y="1856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Ground Truth</a:t>
            </a:r>
            <a:endParaRPr lang="en-US" sz="18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0BA973F-F84E-38F0-8914-A748DAAC9495}"/>
              </a:ext>
            </a:extLst>
          </p:cNvPr>
          <p:cNvGrpSpPr/>
          <p:nvPr/>
        </p:nvGrpSpPr>
        <p:grpSpPr>
          <a:xfrm>
            <a:off x="6537960" y="2450592"/>
            <a:ext cx="4754880" cy="585216"/>
            <a:chOff x="6537960" y="2450592"/>
            <a:chExt cx="4754880" cy="585216"/>
          </a:xfrm>
        </p:grpSpPr>
        <p:sp>
          <p:nvSpPr>
            <p:cNvPr id="25" name="Shape 23"/>
            <p:cNvSpPr/>
            <p:nvPr/>
          </p:nvSpPr>
          <p:spPr>
            <a:xfrm>
              <a:off x="6537960" y="2450592"/>
              <a:ext cx="4754880" cy="585216"/>
            </a:xfrm>
            <a:prstGeom prst="rect">
              <a:avLst/>
            </a:prstGeom>
            <a:solidFill>
              <a:srgbClr val="EDF2F5"/>
            </a:solidFill>
            <a:ln w="12700">
              <a:solidFill>
                <a:srgbClr val="A6B4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748272" y="2578608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파지 형태</a:t>
              </a:r>
              <a:endParaRPr lang="en-US" sz="1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458200" y="2578608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/ 미완료</a:t>
              </a:r>
              <a:endParaRPr lang="en-US" sz="18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F89FBF1-405A-6DB2-2DAC-60F49F935201}"/>
              </a:ext>
            </a:extLst>
          </p:cNvPr>
          <p:cNvGrpSpPr/>
          <p:nvPr/>
        </p:nvGrpSpPr>
        <p:grpSpPr>
          <a:xfrm>
            <a:off x="6537960" y="3383280"/>
            <a:ext cx="4754880" cy="585216"/>
            <a:chOff x="6537960" y="3236976"/>
            <a:chExt cx="4754880" cy="585216"/>
          </a:xfrm>
        </p:grpSpPr>
        <p:sp>
          <p:nvSpPr>
            <p:cNvPr id="28" name="Shape 26"/>
            <p:cNvSpPr/>
            <p:nvPr/>
          </p:nvSpPr>
          <p:spPr>
            <a:xfrm>
              <a:off x="6537960" y="3236976"/>
              <a:ext cx="4754880" cy="585216"/>
            </a:xfrm>
            <a:prstGeom prst="rect">
              <a:avLst/>
            </a:prstGeom>
            <a:solidFill>
              <a:srgbClr val="EDF2F5"/>
            </a:solidFill>
            <a:ln w="12700">
              <a:solidFill>
                <a:srgbClr val="A6B4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6748272" y="3364992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2초 유지</a:t>
              </a:r>
              <a:endParaRPr lang="en-US" sz="1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458200" y="3364992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/ 미완료</a:t>
              </a:r>
              <a:endParaRPr lang="en-US" sz="18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6F344F9-B80F-5128-AD05-D7CBCE685BA1}"/>
              </a:ext>
            </a:extLst>
          </p:cNvPr>
          <p:cNvGrpSpPr/>
          <p:nvPr/>
        </p:nvGrpSpPr>
        <p:grpSpPr>
          <a:xfrm>
            <a:off x="6537960" y="4318409"/>
            <a:ext cx="4754880" cy="585216"/>
            <a:chOff x="6537960" y="4023360"/>
            <a:chExt cx="4754880" cy="585216"/>
          </a:xfrm>
        </p:grpSpPr>
        <p:sp>
          <p:nvSpPr>
            <p:cNvPr id="31" name="Shape 29"/>
            <p:cNvSpPr/>
            <p:nvPr/>
          </p:nvSpPr>
          <p:spPr>
            <a:xfrm>
              <a:off x="6537960" y="4023360"/>
              <a:ext cx="4754880" cy="585216"/>
            </a:xfrm>
            <a:prstGeom prst="rect">
              <a:avLst/>
            </a:prstGeom>
            <a:solidFill>
              <a:srgbClr val="EDF2F5"/>
            </a:solidFill>
            <a:ln w="12700">
              <a:solidFill>
                <a:srgbClr val="A6B4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6748272" y="4151376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29457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능동 해제</a:t>
              </a:r>
              <a:endParaRPr lang="en-US" sz="1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458200" y="4151376"/>
              <a:ext cx="2514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dirty="0">
                  <a:solidFill>
                    <a:srgbClr val="252A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/ 미완료</a:t>
              </a:r>
              <a:endParaRPr lang="en-US" sz="18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6675120" y="5611309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= 파지 실패   ·   1 = 유지/해제 미완료   ·   2 = 모두 완료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8342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287214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87214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보조 분석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287214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예상 해석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[분석 방법]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단위 paired comparison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A3와 A1을 비교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2148840" cy="1417320"/>
          </a:xfrm>
          <a:prstGeom prst="chevron">
            <a:avLst/>
          </a:prstGeom>
          <a:solidFill>
            <a:srgbClr val="D8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정답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 /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520440" y="2395728"/>
            <a:ext cx="2148840" cy="1417320"/>
          </a:xfrm>
          <a:prstGeom prst="chevron">
            <a:avLst/>
          </a:prstGeom>
          <a:solidFill>
            <a:srgbClr val="B8D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8503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조건별 예측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A1·A2·A3·A4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70448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2395728"/>
            <a:ext cx="2148840" cy="1417320"/>
          </a:xfrm>
          <a:prstGeom prst="chevron">
            <a:avLst/>
          </a:prstGeom>
          <a:solidFill>
            <a:srgbClr val="87C6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6539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MAE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3과제 동일 가중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44632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281160" y="2395728"/>
            <a:ext cx="2148840" cy="1417320"/>
          </a:xfrm>
          <a:prstGeom prst="ellipse">
            <a:avLst/>
          </a:prstGeom>
          <a:solidFill>
            <a:srgbClr val="275D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4575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6404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A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ΔMAE &lt; 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4480560"/>
            <a:ext cx="10652760" cy="1051560"/>
          </a:xfrm>
          <a:prstGeom prst="rect">
            <a:avLst/>
          </a:prstGeom>
          <a:solidFill>
            <a:srgbClr val="F7F9FA"/>
          </a:solidFill>
          <a:ln w="12700">
            <a:solidFill>
              <a:srgbClr val="CB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51560" y="4681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057400" y="46634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A3−A1 MAE 차이 · paired bootstrap 95% CI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65392" y="468172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18120" y="4663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일치율 · weighted κ · 판독 가능률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예상 해석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[예상 결과 해석]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결과만 찾는 것이 아니라 </a:t>
            </a: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VLM이 실제로 필요한지</a:t>
            </a: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검증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156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&lt; A1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수치가 영상-only를 보완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2770632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28895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54680" y="2862072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참조가 추가 문맥 제공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3529584"/>
            <a:ext cx="1874520" cy="548640"/>
          </a:xfrm>
          <a:prstGeom prst="rect">
            <a:avLst/>
          </a:prstGeom>
          <a:solidFill>
            <a:srgbClr val="29457A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3648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154680" y="362102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영상이 숫자에 없는 정보 추가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536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4407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154680" y="4379976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채점 이익은 제한적일 수 있음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5230368"/>
            <a:ext cx="9235440" cy="713232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24128" y="5358384"/>
            <a:ext cx="9015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5797296"/>
            <a:ext cx="8833104" cy="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>
            <a:lvl1pPr algn="l"/>
          </a:lstStyle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가상의 A1~A4/A0 성능 막대그래프 또는 환자별 ΔMAE 점도표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605332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기여: 영상 · 수치 · 참조정보의 기여를 직접 분리해서 검증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[핵심 참고문헌]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35640" cy="4434840"/>
          </a:xfrm>
          <a:prstGeom prst="rect">
            <a:avLst/>
          </a:prstGeom>
          <a:solidFill>
            <a:srgbClr val="F7FAFB"/>
          </a:solidFill>
          <a:ln w="12700">
            <a:solidFill>
              <a:srgbClr val="4C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95528" y="152704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148840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et al. (2026)  PLOS Digital Health  — VLM의 stroke rehabilitation motion 이해 한계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6609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642616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 et al. (2025)  — Kinematic features + LLM 재활운동 평가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136392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Amprimo et al. (2024)  Biomedical Signal Processing and Control  — MediaPipe + depth 검증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6484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630168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Broome et al. (2019)  Frontiers in Neurology  — Stroke reach-to-grasp kinematics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1422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4123944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Qiu et al. (2022)  IEEE EMBC  — 3D reach-to-grasp와 임상 회복 지표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5806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 본문에는 핵심 인용만 제시하고, 세부 서지는 최종 원고에서 정리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1041</Words>
  <Application>Microsoft Office PowerPoint</Application>
  <PresentationFormat>와이드스크린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RGB-D·VLM 손 기능 평가 연구계획 발표</dc:title>
  <dc:subject>RGB-D VLM Hand Function Assessment Research Plan</dc:subject>
  <dc:creator>OpenAI</dc:creator>
  <cp:lastModifiedBy>이재용/22000561</cp:lastModifiedBy>
  <cp:revision>5</cp:revision>
  <dcterms:created xsi:type="dcterms:W3CDTF">2026-09-08T11:29:04Z</dcterms:created>
  <dcterms:modified xsi:type="dcterms:W3CDTF">2026-09-08T13:07:52Z</dcterms:modified>
</cp:coreProperties>
</file>