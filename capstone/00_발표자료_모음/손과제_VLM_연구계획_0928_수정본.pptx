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600952840408b" Type="http://schemas.openxmlformats.org/package/2006/relationships/metadata/core-properties" Target="docProps/core.xml"/><Relationship Id="R9524071d9d3e48e2" Type="http://schemas.openxmlformats.org/officeDocument/2006/relationships/officeDocument" Target="ppt/presentation.xml"/><Relationship Id="R99b665669bff4c52"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2788e85aacbe4acc"/>
  </p:sldMasterIdLst>
  <p:notesMasterIdLst>
    <p:notesMasterId xmlns:r="http://schemas.openxmlformats.org/officeDocument/2006/relationships" r:id="Ra496ecd0beec4a81"/>
  </p:notesMasterIdLst>
  <p:sldIdLst>
    <p:sldId xmlns:r="http://schemas.openxmlformats.org/officeDocument/2006/relationships" id="256" r:id="R99900f199ab0446e"/>
    <p:sldId xmlns:r="http://schemas.openxmlformats.org/officeDocument/2006/relationships" id="257" r:id="R878fd862361043cc"/>
    <p:sldId xmlns:r="http://schemas.openxmlformats.org/officeDocument/2006/relationships" id="258" r:id="Rc0e85781b936492a"/>
    <p:sldId xmlns:r="http://schemas.openxmlformats.org/officeDocument/2006/relationships" id="259" r:id="R5bafc8fe24ae46e7"/>
    <p:sldId xmlns:r="http://schemas.openxmlformats.org/officeDocument/2006/relationships" id="260" r:id="R8c34edd72129473a"/>
    <p:sldId xmlns:r="http://schemas.openxmlformats.org/officeDocument/2006/relationships" id="261" r:id="R4b8dd30ad4484eb3"/>
    <p:sldId xmlns:r="http://schemas.openxmlformats.org/officeDocument/2006/relationships" id="262" r:id="R1a15308a999f42b6"/>
    <p:sldId xmlns:r="http://schemas.openxmlformats.org/officeDocument/2006/relationships" id="263" r:id="Rf661ad097ce24ffc"/>
    <p:sldId xmlns:r="http://schemas.openxmlformats.org/officeDocument/2006/relationships" id="264" r:id="Rd92dde6bdf874699"/>
    <p:sldId xmlns:r="http://schemas.openxmlformats.org/officeDocument/2006/relationships" id="265" r:id="Rdec985df3f8d45d7"/>
    <p:sldId xmlns:r="http://schemas.openxmlformats.org/officeDocument/2006/relationships" id="266" r:id="R0b5aa7c87f184788"/>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b5aa7c87f184788" Type="http://schemas.openxmlformats.org/officeDocument/2006/relationships/slide" Target="slides/slide11.xml"/><Relationship Id="R0ddc6bc9e1044ebe" Type="http://schemas.openxmlformats.org/officeDocument/2006/relationships/viewProps" Target="viewProps.xml"/><Relationship Id="R1a15308a999f42b6" Type="http://schemas.openxmlformats.org/officeDocument/2006/relationships/slide" Target="slides/slide7.xml"/><Relationship Id="R1b3bd0816c57491c" Type="http://schemas.openxmlformats.org/officeDocument/2006/relationships/theme" Target="theme/theme1.xml"/><Relationship Id="R2788e85aacbe4acc" Type="http://schemas.openxmlformats.org/officeDocument/2006/relationships/slideMaster" Target="slideMasters/slideMaster1.xml"/><Relationship Id="R4b8dd30ad4484eb3" Type="http://schemas.openxmlformats.org/officeDocument/2006/relationships/slide" Target="slides/slide6.xml"/><Relationship Id="R5bafc8fe24ae46e7" Type="http://schemas.openxmlformats.org/officeDocument/2006/relationships/slide" Target="slides/slide4.xml"/><Relationship Id="R878fd862361043cc" Type="http://schemas.openxmlformats.org/officeDocument/2006/relationships/slide" Target="slides/slide2.xml"/><Relationship Id="R8c34edd72129473a" Type="http://schemas.openxmlformats.org/officeDocument/2006/relationships/slide" Target="slides/slide5.xml"/><Relationship Id="R99900f199ab0446e" Type="http://schemas.openxmlformats.org/officeDocument/2006/relationships/slide" Target="slides/slide1.xml"/><Relationship Id="Ra496ecd0beec4a81" Type="http://schemas.openxmlformats.org/officeDocument/2006/relationships/notesMaster" Target="notesMasters/notesMaster1.xml"/><Relationship Id="Rc0e85781b936492a" Type="http://schemas.openxmlformats.org/officeDocument/2006/relationships/slide" Target="slides/slide3.xml"/><Relationship Id="Rc5263b0e5a5341c2" Type="http://schemas.openxmlformats.org/officeDocument/2006/relationships/tableStyles" Target="tableStyles.xml"/><Relationship Id="Rd92dde6bdf874699" Type="http://schemas.openxmlformats.org/officeDocument/2006/relationships/slide" Target="slides/slide9.xml"/><Relationship Id="Rdec985df3f8d45d7" Type="http://schemas.openxmlformats.org/officeDocument/2006/relationships/slide" Target="slides/slide10.xml"/><Relationship Id="Redf414db491640c0" Type="http://schemas.openxmlformats.org/officeDocument/2006/relationships/presProps" Target="presProps.xml"/><Relationship Id="Rf661ad097ce24ffc"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9d7c53902f014a27"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09f8fb7b7f464cc8" Type="http://schemas.openxmlformats.org/officeDocument/2006/relationships/notesMaster" Target="../notesMasters/notesMaster1.xml"/><Relationship Id="Rfb47a4081071421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7d810951e31247c2" Type="http://schemas.openxmlformats.org/officeDocument/2006/relationships/slide" Target="../slides/slide2.xml"/><Relationship Id="R85201f3137b849bd"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ca3a6d8e0d5444e4" Type="http://schemas.openxmlformats.org/officeDocument/2006/relationships/slide" Target="../slides/slide3.xml"/><Relationship Id="Rdb3916fedf9547aa"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9af2c22e5b9d4d1c" Type="http://schemas.openxmlformats.org/officeDocument/2006/relationships/notesMaster" Target="../notesMasters/notesMaster1.xml"/><Relationship Id="Rb1090f14de0147ef"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0c46533497674d59" Type="http://schemas.openxmlformats.org/officeDocument/2006/relationships/slide" Target="../slides/slide5.xml"/><Relationship Id="R71b3f97d4afc44c7"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27276c5c6e24fee" Type="http://schemas.openxmlformats.org/officeDocument/2006/relationships/notesMaster" Target="../notesMasters/notesMaster1.xml"/><Relationship Id="R5654165f5d3e4ab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54a15b085947428d" Type="http://schemas.openxmlformats.org/officeDocument/2006/relationships/notesMaster" Target="../notesMasters/notesMaster1.xml"/><Relationship Id="R66e90df95020476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417954521af44eb7" Type="http://schemas.openxmlformats.org/officeDocument/2006/relationships/notesMaster" Target="../notesMasters/notesMaster1.xml"/><Relationship Id="R9bc2f35d2f95412a"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34394ed420c045a6" Type="http://schemas.openxmlformats.org/officeDocument/2006/relationships/slide" Target="../slides/slide9.xml"/><Relationship Id="Rb4d1bb9be8dc4175"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71435e8bda374581" Type="http://schemas.openxmlformats.org/officeDocument/2006/relationships/slide" Target="../slides/slide10.xml"/><Relationship Id="Ra69b8532312e4c6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6a10c308d57c4db1" Type="http://schemas.openxmlformats.org/officeDocument/2006/relationships/slide" Target="../slides/slide11.xml"/><Relationship Id="Ra10833c7cf814053"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근거: research-plan-v6.md 및 research-plan-v6-easy.md. 최신 v6.3의 세 가지 주 비교와 Holm k=3 적용. 계획값이며 본평가 완료 결과가 아님.</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근거: research-plan-v6.md 및 research-plan-v6-easy.md. 최신 v6.3의 세 가지 주 비교와 Holm k=3 적용. 계획값이며 본평가 완료 결과가 아님.</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공급된 PPT의 기존 그림을 유지했다. 하단 그림은 기존 접근의 예시이며 본 연구의 성능 결과가 아니다. VLM은 영상과 텍스트를 함께 해석하는 모델을 뜻한다. 설계 근거: research-plan-v6.md 및 research-plan-v6-easy.md. 최신 v6.3의 세 가지 주 비교와 Holm k=3 적용. 계획값이며 본평가 완료 결과가 아님.</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 2026 (출판본: PLOS Digit Health 5(7):e0001506, PMID 42406872, https://doi.org/10.1371/journal.pdig.0001506 — 비장애 20 + 뇌졸중 51; 프리프린트 arXiv:2511.17727 = 비장애 29 + 51로 cohort가 다름). FMA 실험 부분집단 4 healthy+24 stroke = 28명, 899 videos. Most inputs 8 uniform frames, coordination/speed differs. FMA Qwen72B MAE similar ONES. Other dose experiments use pose-based cropping, so do not generalize that whole paper uses no processing. Li 2022: https://pmc.ncbi.nlm.nih.gov/articles/PMC9599696/ 20 stroke, 30 voluntary FMA items. D435 18 joints 30fps, SSA L15 k2 smoothing, velocity boundary, 36 features. 13 items random forest (100 trees, 6 features); subject-level leave-one-out. 17 items rules with Leap200fps and FSR10Hz. Overall r=.981, mean item accuracy80.83%, MAE.21. Reference means for rules use cohort; not external validation. Tang 2025 preprint: https://arxiv.org/html/2505.18412v1 . UI-PRMD 10 healthy,22 joints; REHAB24-6 10 subjects26 joints. Task-specific 3–5 feature time series, not P95 summaries. GPT-4o binary movement classification, 3 examples per class and certainty questions, accuracy .68 to .76 and .63 to .70. Images preserved from supplied deck as illustrations, not graphs of the listed outcome. Our gap is selective numeric provision under a fixed VLM, not claiming measurement reliability or universal novelty.  [수정본 2026-09-28 ↔ v6.3 대조] Li 2026/2022, Tang 2025 식별자·cohort를 1차 출처로 재확인함.</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근거: research-plan-v6.md 및 research-plan-v6-easy.md. 최신 v6.3의 세 가지 주 비교와 Holm k=3 적용. 계획값이며 본평가 완료 결과가 아님.</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근거: research-plan-v6.md 및 research-plan-v6-easy.md. 최신 v6.3의 세 가지 주 비교와 Holm k=3 적용. 계획값이며 본평가 완료 결과가 아님. D455 original depth and timestamps. MediaPipe points0/4/8,5x5 median with &gt;=50%validdepth, actual dt. Do not interpolate hard missing values. P95 summaries are surface-point proxies, not anatomical joint centers. Middle figure is supplied pilot joint-angle output, not K1/K2 result. 실행 격차(D-15): 현재 파이프라인 make_conditions.py는 아직 K1/K2 대신 MGA_mm_3D_cal·PV_mm_s·SPARC·TAM_total_deg를, 과제도 free/cylinder를 사용한다. 본평가 수집 전 정렬 필요(research-plan-v6.md §7.1). [수정본 2026-09-28 ↔ v6.3 대조]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근거: research-plan-v6.md 및 research-plan-v6-easy.md. 최신 v6.3의 세 가지 주 비교와 Holm k=3 적용. 계획값이며 본평가 완료 결과가 아님. Two practice repetitions then first three scored trials per task:20*2*3=120 clips. Repeated clips do not make independent n=120. Pictures are original pilot hand tracking/free motion/cylinder/object grasp, not standardized ARAT12/3 recordings.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근거: research-plan-v6.md 및 research-plan-v6-easy.md. 최신 v6.3의 세 가지 주 비교와 Holm k=3 적용. 계획값이며 본평가 완료 결과가 아님. Main checkpoint72B fixed, no finetuning, greedy0shot. 3B screenshot is prior execution illustration only. After one retry, failed output remains: report failure-inclusive loss (failure=3), valid-output MAE and success rate.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근거: research-plan-v6.md 및 research-plan-v6-easy.md. 최신 v6.3의 세 가지 주 비교와 Holm k=3 적용. 계획값이며 본평가 완료 결과가 아님. R: per feature total exclusion count matched to A3. Randomly exclude that number among Q-passed trials, three seeds. Hard missing values retained in all conditions. If exclusions exceed50%, that feature R comparison is limited. Not a claim of matching every missingness pattern. 탐색적(보정 없음, CI·효과크기만): A3−A4(영상의 가치), A0/A0-time, 오류주입 bias_1u/3u·burst_3u 기전(H5). 이들은 PR1~PR3 주 비교가 아니다. 오류 주입은 A2·A3에만 적용한다(research-plan-v6.md §6.1). [수정본 2026-09-28 ↔ v6.3 대조]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근거: research-plan-v6.md 및 research-plan-v6-easy.md. 최신 v6.3의 세 가지 주 비교와 Holm k=3 적용. 계획값이며 본평가 완료 결과가 아님. Q1 threshold not finalized in supplied plan. Q2&gt;.3s,Q3&lt;50,Q4&gt;50%,Q5&gt;50% with2raters. Q measures observability proxies, not calibrated sensor error.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근거: research-plan-v6.md 및 research-plan-v6-easy.md. 최신 v6.3의 세 가지 주 비교와 Holm k=3 적용. 계획값이며 본평가 완료 결과가 아님. PR1=MAE(A2)-MAE(A1), PR2=MAE(A2)-MAE(A3), PR3=MAE(R)-MAE(A3). Paired participant aggregation, participant bootstrap10000,Holm3. Report sensitivity by each therapist reference and disagreement; &gt;=2point errors secondary. Nonsignificance does not establish equivalence. 1급 기술 결과(검정 아님, 반드시 보고): 보류율(A3) + (보류율, MAE) Pareto 곡선(Q1 임계값 sweep, 컴퓨트 의존) + 보조 모델 부호 일치. H3: 게이팅 이득이 보류율과 함께 움직이며 구간이 좁을 수 있음(과잉 보류가 대가). 정본 판정표(§10) 추가 행: '보류율 높음 + PR-2 유의 = 좁은 구간에서만 이득', '보류율 높음 + PR-2 비유의 = 과잉 보류가 대가만 남김'. [수정본 2026-09-28 ↔ v6.3 대조]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18b4b1b1f40d4e7e"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3cac4cf165ab4746" Type="http://schemas.openxmlformats.org/officeDocument/2006/relationships/slideLayout" Target="../slideLayouts/slideLayout1.xml"/><Relationship Id="R4622b164cb294634" Type="http://schemas.openxmlformats.org/officeDocument/2006/relationships/theme" Target="theme/theme2.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ac4cf165ab4746"/>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411e5e2c69640ef" Type="http://schemas.openxmlformats.org/officeDocument/2006/relationships/slideLayout" Target="../slideLayouts/slideLayout1.xml"/><Relationship Id="Rc372731e8da942b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65bed30d7e4b4f7c" Type="http://schemas.openxmlformats.org/officeDocument/2006/relationships/notesSlide" Target="../notesSlides/notesSlide2.xml"/><Relationship Id="Rb6189f24a6dc455f"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14ad7be869ab40f1" Type="http://schemas.openxmlformats.org/officeDocument/2006/relationships/slideLayout" Target="../slideLayouts/slideLayout1.xml"/><Relationship Id="R29cad3bfa7894c07" Type="http://schemas.openxmlformats.org/officeDocument/2006/relationships/image" Target="../media/image4.png"/><Relationship Id="R3b648654960d4f64" Type="http://schemas.openxmlformats.org/officeDocument/2006/relationships/image" Target="../media/image.png"/><Relationship Id="R3cf8c9a4d2814401" Type="http://schemas.openxmlformats.org/officeDocument/2006/relationships/image" Target="../media/image3.png"/><Relationship Id="R9fa82fb3d4f64e82" Type="http://schemas.openxmlformats.org/officeDocument/2006/relationships/image" Target="../media/image2.png"/><Relationship Id="Rc6c659088680418e"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5ce9c7b208f9425f" Type="http://schemas.openxmlformats.org/officeDocument/2006/relationships/notesSlide" Target="../notesSlides/notesSlide4.xml"/><Relationship Id="R696b83a88158431b" Type="http://schemas.openxmlformats.org/officeDocument/2006/relationships/image" Target="../media/image.jpeg"/><Relationship Id="R79aab58e99ab48b1" Type="http://schemas.openxmlformats.org/officeDocument/2006/relationships/image" Target="../media/image2.jpeg"/><Relationship Id="R7b52c570c8cd4a2d" Type="http://schemas.openxmlformats.org/officeDocument/2006/relationships/slideLayout" Target="../slideLayouts/slideLayout1.xml"/><Relationship Id="Rbf023382223a4709" Type="http://schemas.openxmlformats.org/officeDocument/2006/relationships/image" Target="../media/image6.png"/><Relationship Id="Rf070c23c903c476a" Type="http://schemas.openxmlformats.org/officeDocument/2006/relationships/image" Target="../media/image5.png"/></Relationships>
</file>

<file path=ppt/slides/_rels/slide5.xml.rels><?xml version='1.0' encoding='UTF-8' standalone='yes'?>
<Relationships xmlns="http://schemas.openxmlformats.org/package/2006/relationships"><Relationship Id="R13534e07ad3a45b1" Type="http://schemas.openxmlformats.org/officeDocument/2006/relationships/slideLayout" Target="../slideLayouts/slideLayout1.xml"/><Relationship Id="R33fb6a2c2590498c"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586cd82b577e4e7a" Type="http://schemas.openxmlformats.org/officeDocument/2006/relationships/slideLayout" Target="../slideLayouts/slideLayout1.xml"/><Relationship Id="R73afe2cacac74203" Type="http://schemas.openxmlformats.org/officeDocument/2006/relationships/image" Target="../media/image7.png"/><Relationship Id="R8f555e342818471b" Type="http://schemas.openxmlformats.org/officeDocument/2006/relationships/image" Target="../media/image8.png"/><Relationship Id="Rb22893ecc42e4df5" Type="http://schemas.openxmlformats.org/officeDocument/2006/relationships/image" Target="../media/image9.png"/><Relationship Id="Re75e7466fa61452f"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086c4637e2f04a03" Type="http://schemas.openxmlformats.org/officeDocument/2006/relationships/image" Target="../media/image9.png"/><Relationship Id="R0ebaeee6a3de441d" Type="http://schemas.openxmlformats.org/officeDocument/2006/relationships/image" Target="../media/image7.png"/><Relationship Id="R51bb6c28ec024003" Type="http://schemas.openxmlformats.org/officeDocument/2006/relationships/image" Target="../media/image10.png"/><Relationship Id="R7afbc6c9923b4b64" Type="http://schemas.openxmlformats.org/officeDocument/2006/relationships/notesSlide" Target="../notesSlides/notesSlide7.xml"/><Relationship Id="Rd141722e66434d0c" Type="http://schemas.openxmlformats.org/officeDocument/2006/relationships/image" Target="../media/image11.png"/><Relationship Id="Rf01bc005114e4168"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07f8bcccc6e04272" Type="http://schemas.openxmlformats.org/officeDocument/2006/relationships/slideLayout" Target="../slideLayouts/slideLayout1.xml"/><Relationship Id="R081e2ed2f007468b" Type="http://schemas.openxmlformats.org/officeDocument/2006/relationships/image" Target="../media/image12.png"/><Relationship Id="R196822aac7c4424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29cabec555994fe9" Type="http://schemas.openxmlformats.org/officeDocument/2006/relationships/slideLayout" Target="../slideLayouts/slideLayout1.xml"/><Relationship Id="R5e058847e7f440f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1505c8da79a449f6" Type="http://schemas.openxmlformats.org/officeDocument/2006/relationships/notesSlide" Target="../notesSlides/notesSlide10.xml"/><Relationship Id="Rac954adb8abf46de"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22a2d595ba544d3a" Type="http://schemas.openxmlformats.org/officeDocument/2006/relationships/notesSlide" Target="../notesSlides/notesSlide11.xml"/><Relationship Id="R24573ee501d44081"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82B3230-18F9-469F-B3A5-CFB11DDF5677}"/>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17DEA16B-15AF-408B-9770-D8BF7317963D}"/>
              </a:ext>
            </a:extLst>
          </p:cNvPr>
          <p:cNvSpPr>
            <a:spLocks xmlns:a="http://schemas.openxmlformats.org/drawingml/2006/main" noGrp="1"/>
          </p:cNvSpPr>
          <p:nvPr/>
        </p:nvSpPr>
        <p:spPr>
          <a:xfrm xmlns:a="http://schemas.openxmlformats.org/drawingml/2006/main">
            <a:off x="11109960" y="347472"/>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9AA6B4"/>
                </a:solidFill>
                <a:latin typeface="Malgun Gothic"/>
                <a:ea typeface="Malgun Gothic"/>
                <a:cs typeface="Malgun Gothic"/>
              </a:rPr>
              <a:t>01</a:t>
            </a:r>
            <a:endParaRPr sz="1300"/>
          </a:p>
        </p:txBody>
      </p:sp>
      <p:sp>
        <p:nvSpPr>
          <p:cNvPr id="4" name="Shape 2">
            <a:extLst xmlns:a="http://schemas.openxmlformats.org/drawingml/2006/main">
              <a:ext uri="{FF2B5EF4-FFF2-40B4-BE49-F238E27FC236}">
                <a16:creationId xmlns:a16="http://schemas.microsoft.com/office/drawing/2014/main" id="{F87DF96E-1AEB-429D-866D-494EF350B4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12700">
            <a:solidFill>
              <a:srgbClr val="F8FBFF">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DAA701FD-A543-441E-8460-8D836B98802D}"/>
              </a:ext>
            </a:extLst>
          </p:cNvPr>
          <p:cNvSpPr>
            <a:spLocks xmlns:a="http://schemas.openxmlformats.org/drawingml/2006/main" noGrp="1"/>
          </p:cNvSpPr>
          <p:nvPr/>
        </p:nvSpPr>
        <p:spPr>
          <a:xfrm xmlns:a="http://schemas.openxmlformats.org/drawingml/2006/main">
            <a:off x="0" y="0"/>
            <a:ext cx="2743200" cy="6858000"/>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5F11F4CE-1ACA-451D-AE36-78EF41219F08}"/>
              </a:ext>
            </a:extLst>
          </p:cNvPr>
          <p:cNvSpPr>
            <a:spLocks xmlns:a="http://schemas.openxmlformats.org/drawingml/2006/main" noGrp="1"/>
          </p:cNvSpPr>
          <p:nvPr/>
        </p:nvSpPr>
        <p:spPr>
          <a:xfrm xmlns:a="http://schemas.openxmlformats.org/drawingml/2006/main">
            <a:off x="2743200" y="0"/>
            <a:ext cx="109728" cy="6858000"/>
          </a:xfrm>
          <a:prstGeom xmlns:a="http://schemas.openxmlformats.org/drawingml/2006/main" prst="rect">
            <a:avLst/>
          </a:prstGeom>
          <a:solidFill xmlns:a="http://schemas.openxmlformats.org/drawingml/2006/main">
            <a:srgbClr val="16A7B8"/>
          </a:solidFill>
          <a:ln xmlns:a="http://schemas.openxmlformats.org/drawingml/2006/main" w="12700">
            <a:solidFill>
              <a:srgbClr val="16A7B8">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2FE7722D-42C6-44D9-95F6-DD544C6AA148}"/>
              </a:ext>
            </a:extLst>
          </p:cNvPr>
          <p:cNvSpPr>
            <a:spLocks xmlns:a="http://schemas.openxmlformats.org/drawingml/2006/main" noGrp="1"/>
          </p:cNvSpPr>
          <p:nvPr/>
        </p:nvSpPr>
        <p:spPr>
          <a:xfrm xmlns:a="http://schemas.openxmlformats.org/drawingml/2006/main">
            <a:off x="3238500" y="1143000"/>
            <a:ext cx="8191500" cy="1285875"/>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625" b="1">
                <a:solidFill>
                  <a:srgbClr val="111111"/>
                </a:solidFill>
                <a:latin typeface="Malgun Gothic"/>
                <a:ea typeface="Malgun Gothic"/>
                <a:cs typeface="Malgun Gothic"/>
              </a:defRPr>
            </a:pPr>
            <a:r>
              <a:rPr sz="2625" b="1">
                <a:solidFill>
                  <a:srgbClr val="111111"/>
                </a:solidFill>
                <a:latin typeface="Malgun Gothic"/>
                <a:ea typeface="Malgun Gothic"/>
                <a:cs typeface="Malgun Gothic"/>
              </a:rPr>
              <a:t>수치 추가와 선별 제공이</a:t>
            </a:r>
            <a:endParaRPr sz="3200"/>
          </a:p>
          <a:p xmlns:a="http://schemas.openxmlformats.org/drawingml/2006/main">
            <a:pPr algn="l">
              <a:defRPr sz="2625" b="1">
                <a:solidFill>
                  <a:srgbClr val="111111"/>
                </a:solidFill>
                <a:latin typeface="Malgun Gothic"/>
                <a:ea typeface="Malgun Gothic"/>
                <a:cs typeface="Malgun Gothic"/>
              </a:defRPr>
            </a:pPr>
            <a:r>
              <a:rPr sz="2625" b="1">
                <a:solidFill>
                  <a:srgbClr val="111111"/>
                </a:solidFill>
                <a:latin typeface="Malgun Gothic"/>
                <a:ea typeface="Malgun Gothic"/>
                <a:cs typeface="Malgun Gothic"/>
              </a:rPr>
              <a:t>손 기능 VLM 채점에 미치는 영향</a:t>
            </a:r>
          </a:p>
        </p:txBody>
      </p:sp>
      <p:sp>
        <p:nvSpPr>
          <p:cNvPr id="8" name="Text 6">
            <a:extLst xmlns:a="http://schemas.openxmlformats.org/drawingml/2006/main">
              <a:ext uri="{FF2B5EF4-FFF2-40B4-BE49-F238E27FC236}">
                <a16:creationId xmlns:a16="http://schemas.microsoft.com/office/drawing/2014/main" id="{EBE4EE06-7E0D-4412-8D7C-3BF2FE185B81}"/>
              </a:ext>
            </a:extLst>
          </p:cNvPr>
          <p:cNvSpPr>
            <a:spLocks xmlns:a="http://schemas.openxmlformats.org/drawingml/2006/main" noGrp="1"/>
          </p:cNvSpPr>
          <p:nvPr/>
        </p:nvSpPr>
        <p:spPr>
          <a:xfrm xmlns:a="http://schemas.openxmlformats.org/drawingml/2006/main">
            <a:off x="3267075" y="2619375"/>
            <a:ext cx="7905750" cy="47625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0">
                <a:solidFill>
                  <a:srgbClr val="526173"/>
                </a:solidFill>
                <a:latin typeface="Malgun Gothic"/>
                <a:ea typeface="Malgun Gothic"/>
                <a:cs typeface="Malgun Gothic"/>
              </a:defRPr>
            </a:pPr>
            <a:r>
              <a:rPr sz="1800" b="0">
                <a:solidFill>
                  <a:srgbClr val="526173"/>
                </a:solidFill>
                <a:latin typeface="Malgun Gothic"/>
                <a:ea typeface="Malgun Gothic"/>
                <a:cs typeface="Malgun Gothic"/>
              </a:rPr>
              <a:t>ARAT 두 항목을 이용한 연구계획</a:t>
            </a:r>
            <a:endParaRPr sz="1600"/>
          </a:p>
        </p:txBody>
      </p:sp>
      <p:sp>
        <p:nvSpPr>
          <p:cNvPr id="17" name="Text 15">
            <a:extLst xmlns:a="http://schemas.openxmlformats.org/drawingml/2006/main">
              <a:ext uri="{FF2B5EF4-FFF2-40B4-BE49-F238E27FC236}">
                <a16:creationId xmlns:a16="http://schemas.microsoft.com/office/drawing/2014/main" id="{0442B8E7-EB90-4475-8F87-F9A57899C5C0}"/>
              </a:ext>
            </a:extLst>
          </p:cNvPr>
          <p:cNvSpPr>
            <a:spLocks xmlns:a="http://schemas.openxmlformats.org/drawingml/2006/main" noGrp="1"/>
          </p:cNvSpPr>
          <p:nvPr/>
        </p:nvSpPr>
        <p:spPr>
          <a:xfrm xmlns:a="http://schemas.openxmlformats.org/drawingml/2006/main">
            <a:off x="3273552" y="5715000"/>
            <a:ext cx="777240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526173"/>
                </a:solidFill>
                <a:latin typeface="Malgun Gothic"/>
                <a:ea typeface="Malgun Gothic"/>
                <a:cs typeface="Malgun Gothic"/>
              </a:rPr>
              <a:t>연구계획 발표  |  이재용 22000561  |  한동대학교 기계제어공학부</a:t>
            </a:r>
            <a:endParaRPr sz="1150"/>
          </a:p>
        </p:txBody>
      </p:sp>
    </p:spTree>
    <p:extLst>
      <p:ext uri="{BB962C8B-B14F-4D97-AF65-F5344CB8AC3E}">
        <p14:creationId xmlns:p14="http://schemas.microsoft.com/office/powerpoint/2010/main" val="8830258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10724C7-2988-46A7-807F-6FD58A0C4DA7}"/>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3" name="Text 1">
            <a:extLst xmlns:a="http://schemas.openxmlformats.org/drawingml/2006/main">
              <a:ext uri="{FF2B5EF4-FFF2-40B4-BE49-F238E27FC236}">
                <a16:creationId xmlns:a16="http://schemas.microsoft.com/office/drawing/2014/main" id="{889B9E72-87BB-4666-A5A7-6179A9728931}"/>
              </a:ext>
            </a:extLst>
          </p:cNvPr>
          <p:cNvSpPr>
            <a:spLocks xmlns:a="http://schemas.openxmlformats.org/drawingml/2006/main" noGrp="1"/>
          </p:cNvSpPr>
          <p:nvPr/>
        </p:nvSpPr>
        <p:spPr>
          <a:xfrm xmlns:a="http://schemas.openxmlformats.org/drawingml/2006/main">
            <a:off x="11109960" y="347472"/>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9AA6B4"/>
                </a:solidFill>
                <a:latin typeface="Malgun Gothic"/>
                <a:ea typeface="Malgun Gothic"/>
                <a:cs typeface="Malgun Gothic"/>
              </a:rPr>
              <a:t>02</a:t>
            </a:r>
            <a:endParaRPr sz="1600"/>
          </a:p>
        </p:txBody>
      </p:sp>
      <p:sp>
        <p:nvSpPr>
          <p:cNvPr id="4" name="Text 2">
            <a:extLst xmlns:a="http://schemas.openxmlformats.org/drawingml/2006/main">
              <a:ext uri="{FF2B5EF4-FFF2-40B4-BE49-F238E27FC236}">
                <a16:creationId xmlns:a16="http://schemas.microsoft.com/office/drawing/2014/main" id="{75E0C5AF-1236-41AD-BFE9-7AC48C4A67B9}"/>
              </a:ext>
            </a:extLst>
          </p:cNvPr>
          <p:cNvSpPr>
            <a:spLocks xmlns:a="http://schemas.openxmlformats.org/drawingml/2006/main" noGrp="1"/>
          </p:cNvSpPr>
          <p:nvPr/>
        </p:nvSpPr>
        <p:spPr>
          <a:xfrm xmlns:a="http://schemas.openxmlformats.org/drawingml/2006/main">
            <a:off x="571500" y="381000"/>
            <a:ext cx="10287000" cy="43815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목차</a:t>
            </a:r>
            <a:endParaRPr sz="4800"/>
          </a:p>
        </p:txBody>
      </p:sp>
      <p:sp>
        <p:nvSpPr>
          <p:cNvPr id="29" name="TextBox 28">
            <a:extLst xmlns:a="http://schemas.openxmlformats.org/drawingml/2006/main">
              <a:ext uri="{FF2B5EF4-FFF2-40B4-BE49-F238E27FC236}">
                <a16:creationId xmlns:a16="http://schemas.microsoft.com/office/drawing/2014/main" id="{479CD979-8F1D-7587-649E-F8E3B72C86D2}"/>
              </a:ext>
            </a:extLst>
          </p:cNvPr>
          <p:cNvSpPr>
            <a:spLocks xmlns:a="http://schemas.openxmlformats.org/drawingml/2006/main" noGrp="1"/>
          </p:cNvSpPr>
          <p:nvPr/>
        </p:nvSpPr>
        <p:spPr>
          <a:xfrm xmlns:a="http://schemas.openxmlformats.org/drawingml/2006/main">
            <a:off x="523827" y="1286593"/>
            <a:ext cx="9851626" cy="278892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342900" indent="-342900" algn="l">
              <a:buAutoNum type="arabicPeriod"/>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 기존 접근과 선행연구</a:t>
            </a:r>
            <a:endParaRPr sz="2800" b="1"/>
          </a:p>
          <a:p xmlns:a="http://schemas.openxmlformats.org/drawingml/2006/main">
            <a:r>
              <a:rPr sz="1800">
                <a:latin typeface="Malgun Gothic"/>
                <a:ea typeface="Malgun Gothic"/>
                <a:cs typeface="Malgun Gothic"/>
              </a:rPr>
              <a:t/>
            </a:r>
          </a:p>
          <a:p xmlns:a="http://schemas.openxmlformats.org/drawingml/2006/main">
            <a:pPr algn="l">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2. 처리 과정의 빈틈과 연구 질문</a:t>
            </a:r>
          </a:p>
          <a:p xmlns:a="http://schemas.openxmlformats.org/drawingml/2006/main">
            <a:r>
              <a:rPr sz="1800">
                <a:latin typeface="Malgun Gothic"/>
                <a:ea typeface="Malgun Gothic"/>
                <a:cs typeface="Malgun Gothic"/>
              </a:rPr>
              <a:t/>
            </a:r>
          </a:p>
          <a:p xmlns:a="http://schemas.openxmlformats.org/drawingml/2006/main">
            <a:pPr algn="l">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3. 입력 데이터와 실험 세팅</a:t>
            </a:r>
          </a:p>
          <a:p xmlns:a="http://schemas.openxmlformats.org/drawingml/2006/main">
            <a:r>
              <a:rPr sz="1800">
                <a:latin typeface="Malgun Gothic"/>
                <a:ea typeface="Malgun Gothic"/>
                <a:cs typeface="Malgun Gothic"/>
              </a:rPr>
              <a:t/>
            </a:r>
          </a:p>
          <a:p xmlns:a="http://schemas.openxmlformats.org/drawingml/2006/main">
            <a:pPr algn="l">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4. 비교 조건과 수치 선별 규칙 Q</a:t>
            </a:r>
          </a:p>
          <a:p xmlns:a="http://schemas.openxmlformats.org/drawingml/2006/main">
            <a:r>
              <a:rPr sz="1800">
                <a:latin typeface="Malgun Gothic"/>
                <a:ea typeface="Malgun Gothic"/>
                <a:cs typeface="Malgun Gothic"/>
              </a:rPr>
              <a:t/>
            </a:r>
          </a:p>
          <a:p xmlns:a="http://schemas.openxmlformats.org/drawingml/2006/main">
            <a:pPr algn="l">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5. 분석 방법과 예상 결과</a:t>
            </a:r>
          </a:p>
        </p:txBody>
      </p:sp>
    </p:spTree>
    <p:extLst>
      <p:ext uri="{BB962C8B-B14F-4D97-AF65-F5344CB8AC3E}">
        <p14:creationId xmlns:p14="http://schemas.microsoft.com/office/powerpoint/2010/main" val="2437241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D468BF4-5138-E7A4-D4A9-DCC6D2BEEDD2}"/>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3" name="Text 1">
            <a:extLst xmlns:a="http://schemas.openxmlformats.org/drawingml/2006/main">
              <a:ext uri="{FF2B5EF4-FFF2-40B4-BE49-F238E27FC236}">
                <a16:creationId xmlns:a16="http://schemas.microsoft.com/office/drawing/2014/main" id="{30801FBE-FC04-30CB-CA3E-D12D6DF145DD}"/>
              </a:ext>
            </a:extLst>
          </p:cNvPr>
          <p:cNvSpPr>
            <a:spLocks xmlns:a="http://schemas.openxmlformats.org/drawingml/2006/main" noGrp="1"/>
          </p:cNvSpPr>
          <p:nvPr/>
        </p:nvSpPr>
        <p:spPr>
          <a:xfrm xmlns:a="http://schemas.openxmlformats.org/drawingml/2006/main">
            <a:off x="11109960" y="347472"/>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9AA6B4"/>
                </a:solidFill>
                <a:latin typeface="Malgun Gothic"/>
                <a:ea typeface="Malgun Gothic"/>
                <a:cs typeface="Malgun Gothic"/>
              </a:rPr>
              <a:t>0</a:t>
            </a:r>
            <a:r>
              <a:rPr sz="1600" b="1">
                <a:solidFill>
                  <a:srgbClr val="9AA6B4"/>
                </a:solidFill>
                <a:latin typeface="Malgun Gothic"/>
                <a:ea typeface="Malgun Gothic"/>
                <a:cs typeface="Malgun Gothic"/>
              </a:rPr>
              <a:t>3</a:t>
            </a:r>
            <a:endParaRPr sz="1600"/>
          </a:p>
        </p:txBody>
      </p:sp>
      <p:sp>
        <p:nvSpPr>
          <p:cNvPr id="4" name="Text 2">
            <a:extLst xmlns:a="http://schemas.openxmlformats.org/drawingml/2006/main">
              <a:ext uri="{FF2B5EF4-FFF2-40B4-BE49-F238E27FC236}">
                <a16:creationId xmlns:a16="http://schemas.microsoft.com/office/drawing/2014/main" id="{282A3F7E-59E5-5903-6573-4391D1104897}"/>
              </a:ext>
            </a:extLst>
          </p:cNvPr>
          <p:cNvSpPr>
            <a:spLocks xmlns:a="http://schemas.openxmlformats.org/drawingml/2006/main" noGrp="1"/>
          </p:cNvSpPr>
          <p:nvPr/>
        </p:nvSpPr>
        <p:spPr>
          <a:xfrm xmlns:a="http://schemas.openxmlformats.org/drawingml/2006/main">
            <a:off x="571500" y="381000"/>
            <a:ext cx="10287000" cy="43815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기존 자동채점 접근과 남아 있는 문제</a:t>
            </a:r>
            <a:endParaRPr sz="3200"/>
          </a:p>
        </p:txBody>
      </p:sp>
      <p:sp>
        <p:nvSpPr>
          <p:cNvPr id="5" name="Text 3">
            <a:extLst xmlns:a="http://schemas.openxmlformats.org/drawingml/2006/main">
              <a:ext uri="{FF2B5EF4-FFF2-40B4-BE49-F238E27FC236}">
                <a16:creationId xmlns:a16="http://schemas.microsoft.com/office/drawing/2014/main" id="{2F12DC39-9D4D-2FF7-2FD6-C5AAF5FF4107}"/>
              </a:ext>
            </a:extLst>
          </p:cNvPr>
          <p:cNvSpPr>
            <a:spLocks xmlns:a="http://schemas.openxmlformats.org/drawingml/2006/main" noGrp="1"/>
          </p:cNvSpPr>
          <p:nvPr/>
        </p:nvSpPr>
        <p:spPr>
          <a:xfrm xmlns:a="http://schemas.openxmlformats.org/drawingml/2006/main">
            <a:off x="566928" y="813816"/>
            <a:ext cx="10927080" cy="32004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손 기능 채점은 어떤 데이터를 어떻게 가공해 점수로 바꾸는가?</a:t>
            </a:r>
            <a:endParaRPr sz="1600"/>
          </a:p>
        </p:txBody>
      </p:sp>
      <p:sp>
        <p:nvSpPr>
          <p:cNvPr id="6" name="Shape 4">
            <a:extLst xmlns:a="http://schemas.openxmlformats.org/drawingml/2006/main">
              <a:ext uri="{FF2B5EF4-FFF2-40B4-BE49-F238E27FC236}">
                <a16:creationId xmlns:a16="http://schemas.microsoft.com/office/drawing/2014/main" id="{7CF1AB93-72F5-BA6F-1684-182A2B0AD449}"/>
              </a:ext>
            </a:extLst>
          </p:cNvPr>
          <p:cNvSpPr>
            <a:spLocks xmlns:a="http://schemas.openxmlformats.org/drawingml/2006/main" noGrp="1"/>
          </p:cNvSpPr>
          <p:nvPr/>
        </p:nvSpPr>
        <p:spPr>
          <a:xfrm xmlns:a="http://schemas.openxmlformats.org/drawingml/2006/main">
            <a:off x="621792" y="1234440"/>
            <a:ext cx="2871216" cy="2227898"/>
          </a:xfrm>
          <a:prstGeom xmlns:a="http://schemas.openxmlformats.org/drawingml/2006/main" prst="roundRect">
            <a:avLst>
              <a:gd name="adj" fmla="val 3556"/>
            </a:avLst>
          </a:prstGeom>
          <a:blipFill xmlns:a="http://schemas.openxmlformats.org/drawingml/2006/main">
            <a:blip xmlns:r="http://schemas.openxmlformats.org/officeDocument/2006/relationships" r:embed="R3b648654960d4f64"/>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10" name="Shape 8">
            <a:extLst xmlns:a="http://schemas.openxmlformats.org/drawingml/2006/main">
              <a:ext uri="{FF2B5EF4-FFF2-40B4-BE49-F238E27FC236}">
                <a16:creationId xmlns:a16="http://schemas.microsoft.com/office/drawing/2014/main" id="{BC381BF0-8370-F465-4EC7-AD04DE5100E2}"/>
              </a:ext>
            </a:extLst>
          </p:cNvPr>
          <p:cNvSpPr>
            <a:spLocks xmlns:a="http://schemas.openxmlformats.org/drawingml/2006/main" noGrp="1"/>
          </p:cNvSpPr>
          <p:nvPr/>
        </p:nvSpPr>
        <p:spPr>
          <a:xfrm xmlns:a="http://schemas.openxmlformats.org/drawingml/2006/main">
            <a:off x="3657600" y="1238250"/>
            <a:ext cx="2362200" cy="2190750"/>
          </a:xfrm>
          <a:prstGeom xmlns:a="http://schemas.openxmlformats.org/drawingml/2006/main" prst="rect">
            <a:avLst>
              <a:gd name="adj" fmla="val 2667"/>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11" name="Shape 9">
            <a:extLst xmlns:a="http://schemas.openxmlformats.org/drawingml/2006/main">
              <a:ext uri="{FF2B5EF4-FFF2-40B4-BE49-F238E27FC236}">
                <a16:creationId xmlns:a16="http://schemas.microsoft.com/office/drawing/2014/main" id="{0F16B2AE-09CF-265D-4043-9078AB492157}"/>
              </a:ext>
            </a:extLst>
          </p:cNvPr>
          <p:cNvSpPr>
            <a:spLocks xmlns:a="http://schemas.openxmlformats.org/drawingml/2006/main" noGrp="1"/>
          </p:cNvSpPr>
          <p:nvPr/>
        </p:nvSpPr>
        <p:spPr>
          <a:xfrm xmlns:a="http://schemas.openxmlformats.org/drawingml/2006/main">
            <a:off x="3657600" y="1238250"/>
            <a:ext cx="2362200" cy="419100"/>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12" name="Text 10">
            <a:extLst xmlns:a="http://schemas.openxmlformats.org/drawingml/2006/main">
              <a:ext uri="{FF2B5EF4-FFF2-40B4-BE49-F238E27FC236}">
                <a16:creationId xmlns:a16="http://schemas.microsoft.com/office/drawing/2014/main" id="{117CA151-C76E-CD87-554A-4448834700E2}"/>
              </a:ext>
            </a:extLst>
          </p:cNvPr>
          <p:cNvSpPr>
            <a:spLocks xmlns:a="http://schemas.openxmlformats.org/drawingml/2006/main" noGrp="1"/>
          </p:cNvSpPr>
          <p:nvPr/>
        </p:nvSpPr>
        <p:spPr>
          <a:xfrm xmlns:a="http://schemas.openxmlformats.org/drawingml/2006/main">
            <a:off x="3790950" y="1314450"/>
            <a:ext cx="20955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치료사 평가</a:t>
            </a:r>
            <a:endParaRPr sz="1400">
              <a:solidFill>
                <a:schemeClr val="bg1"/>
              </a:solidFill>
            </a:endParaRPr>
          </a:p>
        </p:txBody>
      </p:sp>
      <p:sp>
        <p:nvSpPr>
          <p:cNvPr id="13" name="Text 11">
            <a:extLst xmlns:a="http://schemas.openxmlformats.org/drawingml/2006/main">
              <a:ext uri="{FF2B5EF4-FFF2-40B4-BE49-F238E27FC236}">
                <a16:creationId xmlns:a16="http://schemas.microsoft.com/office/drawing/2014/main" id="{B7998396-54BC-99A1-EEBD-DAABB18A34B6}"/>
              </a:ext>
            </a:extLst>
          </p:cNvPr>
          <p:cNvSpPr>
            <a:spLocks xmlns:a="http://schemas.openxmlformats.org/drawingml/2006/main" noGrp="1"/>
          </p:cNvSpPr>
          <p:nvPr/>
        </p:nvSpPr>
        <p:spPr>
          <a:xfrm xmlns:a="http://schemas.openxmlformats.org/drawingml/2006/main">
            <a:off x="3810000" y="1790700"/>
            <a:ext cx="2057400" cy="15716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동작을 직접 또는 영상 관찰</a:t>
            </a:r>
            <a:endParaRPr sz="1400"/>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평가 지침에 따라 점수 부여</a:t>
            </a:r>
          </a:p>
          <a:p xmlns:a="http://schemas.openxmlformats.org/drawingml/2006/main">
            <a:r>
              <a:rPr sz="1400">
                <a:latin typeface="Malgun Gothic"/>
                <a:ea typeface="Malgun Gothic"/>
                <a:cs typeface="Malgun Gothic"/>
              </a:rPr>
              <a:t/>
            </a:r>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AI 예측과 비교할</a:t>
            </a:r>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기준점수 생성</a:t>
            </a:r>
          </a:p>
        </p:txBody>
      </p:sp>
      <p:sp>
        <p:nvSpPr>
          <p:cNvPr id="14" name="Shape 12">
            <a:extLst xmlns:a="http://schemas.openxmlformats.org/drawingml/2006/main">
              <a:ext uri="{FF2B5EF4-FFF2-40B4-BE49-F238E27FC236}">
                <a16:creationId xmlns:a16="http://schemas.microsoft.com/office/drawing/2014/main" id="{2A2DD327-7528-B717-FB0F-76BAE86E74A8}"/>
              </a:ext>
            </a:extLst>
          </p:cNvPr>
          <p:cNvSpPr>
            <a:spLocks xmlns:a="http://schemas.openxmlformats.org/drawingml/2006/main" noGrp="1"/>
          </p:cNvSpPr>
          <p:nvPr/>
        </p:nvSpPr>
        <p:spPr>
          <a:xfrm xmlns:a="http://schemas.openxmlformats.org/drawingml/2006/main">
            <a:off x="6191250" y="1238250"/>
            <a:ext cx="2362200" cy="2190750"/>
          </a:xfrm>
          <a:prstGeom xmlns:a="http://schemas.openxmlformats.org/drawingml/2006/main" prst="rect">
            <a:avLst>
              <a:gd name="adj" fmla="val 2667"/>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15" name="Shape 13">
            <a:extLst xmlns:a="http://schemas.openxmlformats.org/drawingml/2006/main">
              <a:ext uri="{FF2B5EF4-FFF2-40B4-BE49-F238E27FC236}">
                <a16:creationId xmlns:a16="http://schemas.microsoft.com/office/drawing/2014/main" id="{5D7502E6-BCB0-D872-95E7-959F178BEA17}"/>
              </a:ext>
            </a:extLst>
          </p:cNvPr>
          <p:cNvSpPr>
            <a:spLocks xmlns:a="http://schemas.openxmlformats.org/drawingml/2006/main" noGrp="1"/>
          </p:cNvSpPr>
          <p:nvPr/>
        </p:nvSpPr>
        <p:spPr>
          <a:xfrm xmlns:a="http://schemas.openxmlformats.org/drawingml/2006/main">
            <a:off x="6191250" y="1238250"/>
            <a:ext cx="2362200" cy="419100"/>
          </a:xfrm>
          <a:prstGeom xmlns:a="http://schemas.openxmlformats.org/drawingml/2006/main" prst="rect">
            <a:avLst/>
          </a:prstGeom>
          <a:solidFill xmlns:a="http://schemas.openxmlformats.org/drawingml/2006/main">
            <a:srgbClr val="087F8C"/>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16" name="Text 14">
            <a:extLst xmlns:a="http://schemas.openxmlformats.org/drawingml/2006/main">
              <a:ext uri="{FF2B5EF4-FFF2-40B4-BE49-F238E27FC236}">
                <a16:creationId xmlns:a16="http://schemas.microsoft.com/office/drawing/2014/main" id="{148B8A24-107B-0133-4FA5-B82768C22FF6}"/>
              </a:ext>
            </a:extLst>
          </p:cNvPr>
          <p:cNvSpPr>
            <a:spLocks xmlns:a="http://schemas.openxmlformats.org/drawingml/2006/main" noGrp="1"/>
          </p:cNvSpPr>
          <p:nvPr/>
        </p:nvSpPr>
        <p:spPr>
          <a:xfrm xmlns:a="http://schemas.openxmlformats.org/drawingml/2006/main">
            <a:off x="6324600" y="1314450"/>
            <a:ext cx="20955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수치 기반 평가</a:t>
            </a:r>
            <a:endParaRPr sz="1600">
              <a:solidFill>
                <a:schemeClr val="bg1"/>
              </a:solidFill>
            </a:endParaRPr>
          </a:p>
        </p:txBody>
      </p:sp>
      <p:sp>
        <p:nvSpPr>
          <p:cNvPr id="17" name="Text 15">
            <a:extLst xmlns:a="http://schemas.openxmlformats.org/drawingml/2006/main">
              <a:ext uri="{FF2B5EF4-FFF2-40B4-BE49-F238E27FC236}">
                <a16:creationId xmlns:a16="http://schemas.microsoft.com/office/drawing/2014/main" id="{FB179E8D-CE6A-5134-713F-289689B12450}"/>
              </a:ext>
            </a:extLst>
          </p:cNvPr>
          <p:cNvSpPr>
            <a:spLocks xmlns:a="http://schemas.openxmlformats.org/drawingml/2006/main" noGrp="1"/>
          </p:cNvSpPr>
          <p:nvPr/>
        </p:nvSpPr>
        <p:spPr>
          <a:xfrm xmlns:a="http://schemas.openxmlformats.org/drawingml/2006/main">
            <a:off x="6343650" y="1790700"/>
            <a:ext cx="2057400" cy="15716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센서로 관절 위치 측정</a:t>
            </a:r>
            <a:endParaRPr sz="1400"/>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각도·거리 등 특징 계산</a:t>
            </a:r>
          </a:p>
          <a:p xmlns:a="http://schemas.openxmlformats.org/drawingml/2006/main">
            <a:r>
              <a:rPr sz="1400">
                <a:latin typeface="Malgun Gothic"/>
                <a:ea typeface="Malgun Gothic"/>
                <a:cs typeface="Malgun Gothic"/>
              </a:rPr>
              <a:t/>
            </a:r>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규칙 또는 학습모형으로</a:t>
            </a:r>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점수 산출</a:t>
            </a:r>
          </a:p>
        </p:txBody>
      </p:sp>
      <p:sp>
        <p:nvSpPr>
          <p:cNvPr id="18" name="Shape 16">
            <a:extLst xmlns:a="http://schemas.openxmlformats.org/drawingml/2006/main">
              <a:ext uri="{FF2B5EF4-FFF2-40B4-BE49-F238E27FC236}">
                <a16:creationId xmlns:a16="http://schemas.microsoft.com/office/drawing/2014/main" id="{6A75E556-278F-A5E0-DF17-AE206D2228D7}"/>
              </a:ext>
            </a:extLst>
          </p:cNvPr>
          <p:cNvSpPr>
            <a:spLocks xmlns:a="http://schemas.openxmlformats.org/drawingml/2006/main" noGrp="1"/>
          </p:cNvSpPr>
          <p:nvPr/>
        </p:nvSpPr>
        <p:spPr>
          <a:xfrm xmlns:a="http://schemas.openxmlformats.org/drawingml/2006/main">
            <a:off x="8724900" y="1238250"/>
            <a:ext cx="2362200" cy="2190750"/>
          </a:xfrm>
          <a:prstGeom xmlns:a="http://schemas.openxmlformats.org/drawingml/2006/main" prst="rect">
            <a:avLst>
              <a:gd name="adj" fmla="val 2667"/>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19" name="Shape 17">
            <a:extLst xmlns:a="http://schemas.openxmlformats.org/drawingml/2006/main">
              <a:ext uri="{FF2B5EF4-FFF2-40B4-BE49-F238E27FC236}">
                <a16:creationId xmlns:a16="http://schemas.microsoft.com/office/drawing/2014/main" id="{9ECF17EA-EABD-1ECC-A727-862E860AB52D}"/>
              </a:ext>
            </a:extLst>
          </p:cNvPr>
          <p:cNvSpPr>
            <a:spLocks xmlns:a="http://schemas.openxmlformats.org/drawingml/2006/main" noGrp="1"/>
          </p:cNvSpPr>
          <p:nvPr/>
        </p:nvSpPr>
        <p:spPr>
          <a:xfrm xmlns:a="http://schemas.openxmlformats.org/drawingml/2006/main">
            <a:off x="8724900" y="1238250"/>
            <a:ext cx="2362200" cy="419100"/>
          </a:xfrm>
          <a:prstGeom xmlns:a="http://schemas.openxmlformats.org/drawingml/2006/main" prst="rect">
            <a:avLst/>
          </a:prstGeom>
          <a:solidFill xmlns:a="http://schemas.openxmlformats.org/drawingml/2006/main">
            <a:srgbClr val="178268"/>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20" name="Text 18">
            <a:extLst xmlns:a="http://schemas.openxmlformats.org/drawingml/2006/main">
              <a:ext uri="{FF2B5EF4-FFF2-40B4-BE49-F238E27FC236}">
                <a16:creationId xmlns:a16="http://schemas.microsoft.com/office/drawing/2014/main" id="{FCAF27CD-F6A1-26C3-A4D0-0F71526466BA}"/>
              </a:ext>
            </a:extLst>
          </p:cNvPr>
          <p:cNvSpPr>
            <a:spLocks xmlns:a="http://schemas.openxmlformats.org/drawingml/2006/main" noGrp="1"/>
          </p:cNvSpPr>
          <p:nvPr/>
        </p:nvSpPr>
        <p:spPr>
          <a:xfrm xmlns:a="http://schemas.openxmlformats.org/drawingml/2006/main">
            <a:off x="8858250" y="1314450"/>
            <a:ext cx="20955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VLM 기반 평가</a:t>
            </a:r>
            <a:endParaRPr sz="1600">
              <a:solidFill>
                <a:schemeClr val="bg1"/>
              </a:solidFill>
            </a:endParaRPr>
          </a:p>
        </p:txBody>
      </p:sp>
      <p:sp>
        <p:nvSpPr>
          <p:cNvPr id="21" name="Text 19">
            <a:extLst xmlns:a="http://schemas.openxmlformats.org/drawingml/2006/main">
              <a:ext uri="{FF2B5EF4-FFF2-40B4-BE49-F238E27FC236}">
                <a16:creationId xmlns:a16="http://schemas.microsoft.com/office/drawing/2014/main" id="{E937B294-7E14-4838-B5CA-7C591DE7249C}"/>
              </a:ext>
            </a:extLst>
          </p:cNvPr>
          <p:cNvSpPr>
            <a:spLocks xmlns:a="http://schemas.openxmlformats.org/drawingml/2006/main" noGrp="1"/>
          </p:cNvSpPr>
          <p:nvPr/>
        </p:nvSpPr>
        <p:spPr>
          <a:xfrm xmlns:a="http://schemas.openxmlformats.org/drawingml/2006/main">
            <a:off x="8877300" y="1790700"/>
            <a:ext cx="2057400" cy="15716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영상과 평가 지침 입력</a:t>
            </a:r>
            <a:endParaRPr sz="1400"/>
          </a:p>
          <a:p xmlns:a="http://schemas.openxmlformats.org/drawingml/2006/main">
            <a:r>
              <a:rPr sz="1400">
                <a:latin typeface="Malgun Gothic"/>
                <a:ea typeface="Malgun Gothic"/>
                <a:cs typeface="Malgun Gothic"/>
              </a:rPr>
              <a:t/>
            </a:r>
          </a:p>
          <a:p xmlns:a="http://schemas.openxmlformats.org/drawingml/2006/main">
            <a:pPr algn="l">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영상·글을 함께 해석</a:t>
            </a:r>
          </a:p>
          <a:p xmlns:a="http://schemas.openxmlformats.org/drawingml/2006/main">
            <a:r>
              <a:rPr sz="1400">
                <a:latin typeface="Malgun Gothic"/>
                <a:ea typeface="Malgun Gothic"/>
                <a:cs typeface="Malgun Gothic"/>
              </a:rPr>
              <a:t/>
            </a:r>
          </a:p>
          <a:p xmlns:a="http://schemas.openxmlformats.org/drawingml/2006/main">
            <a:pPr algn="l">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점수와 판단 근거 출력</a:t>
            </a:r>
          </a:p>
        </p:txBody>
      </p:sp>
      <p:sp>
        <p:nvSpPr>
          <p:cNvPr id="22" name="Shape 20">
            <a:extLst xmlns:a="http://schemas.openxmlformats.org/drawingml/2006/main">
              <a:ext uri="{FF2B5EF4-FFF2-40B4-BE49-F238E27FC236}">
                <a16:creationId xmlns:a16="http://schemas.microsoft.com/office/drawing/2014/main" id="{E5AB26FE-2983-DD07-A788-86FB26C4D424}"/>
              </a:ext>
            </a:extLst>
          </p:cNvPr>
          <p:cNvSpPr>
            <a:spLocks xmlns:a="http://schemas.openxmlformats.org/drawingml/2006/main" noGrp="1"/>
          </p:cNvSpPr>
          <p:nvPr/>
        </p:nvSpPr>
        <p:spPr>
          <a:xfrm xmlns:a="http://schemas.openxmlformats.org/drawingml/2006/main">
            <a:off x="566928" y="3749040"/>
            <a:ext cx="11018520" cy="438912"/>
          </a:xfrm>
          <a:prstGeom xmlns:a="http://schemas.openxmlformats.org/drawingml/2006/main" prst="roundRect">
            <a:avLst>
              <a:gd name="adj" fmla="val 10417"/>
            </a:avLst>
          </a:prstGeom>
          <a:solidFill xmlns:a="http://schemas.openxmlformats.org/drawingml/2006/main">
            <a:srgbClr val="16A7B8"/>
          </a:solidFill>
          <a:ln xmlns:a="http://schemas.openxmlformats.org/drawingml/2006/main" w="12700">
            <a:solidFill>
              <a:srgbClr val="16A7B8">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23" name="Text 21">
            <a:extLst xmlns:a="http://schemas.openxmlformats.org/drawingml/2006/main">
              <a:ext uri="{FF2B5EF4-FFF2-40B4-BE49-F238E27FC236}">
                <a16:creationId xmlns:a16="http://schemas.microsoft.com/office/drawing/2014/main" id="{DDF87AD0-C729-4177-F350-63B981B54302}"/>
              </a:ext>
            </a:extLst>
          </p:cNvPr>
          <p:cNvSpPr>
            <a:spLocks xmlns:a="http://schemas.openxmlformats.org/drawingml/2006/main" noGrp="1"/>
          </p:cNvSpPr>
          <p:nvPr/>
        </p:nvSpPr>
        <p:spPr>
          <a:xfrm xmlns:a="http://schemas.openxmlformats.org/drawingml/2006/main">
            <a:off x="777240" y="3803904"/>
            <a:ext cx="10607040" cy="329184"/>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725" b="0">
                <a:solidFill>
                  <a:srgbClr val="FFFFFF"/>
                </a:solidFill>
                <a:latin typeface="Malgun Gothic"/>
                <a:ea typeface="Malgun Gothic"/>
                <a:cs typeface="Malgun Gothic"/>
              </a:defRPr>
            </a:pPr>
            <a:r>
              <a:rPr sz="1725" b="0">
                <a:solidFill>
                  <a:srgbClr val="FFFFFF"/>
                </a:solidFill>
                <a:latin typeface="Malgun Gothic"/>
                <a:ea typeface="Malgun Gothic"/>
                <a:cs typeface="Malgun Gothic"/>
              </a:rPr>
              <a:t>연구 질문: 계산한 수치를 VLM에 모두 줄 것인가, 선별해서 줄 것인가?</a:t>
            </a:r>
            <a:endParaRPr>
              <a:solidFill>
                <a:schemeClr val="bg1"/>
              </a:solidFill>
            </a:endParaRPr>
          </a:p>
        </p:txBody>
      </p:sp>
      <p:sp>
        <p:nvSpPr>
          <p:cNvPr id="24" name="Shape 22">
            <a:extLst xmlns:a="http://schemas.openxmlformats.org/drawingml/2006/main">
              <a:ext uri="{FF2B5EF4-FFF2-40B4-BE49-F238E27FC236}">
                <a16:creationId xmlns:a16="http://schemas.microsoft.com/office/drawing/2014/main" id="{8CEED6CB-9DA0-943C-DEAC-8670188BD559}"/>
              </a:ext>
            </a:extLst>
          </p:cNvPr>
          <p:cNvSpPr>
            <a:spLocks xmlns:a="http://schemas.openxmlformats.org/drawingml/2006/main" noGrp="1"/>
          </p:cNvSpPr>
          <p:nvPr/>
        </p:nvSpPr>
        <p:spPr>
          <a:xfrm xmlns:a="http://schemas.openxmlformats.org/drawingml/2006/main" rot="0" flipH="0" flipV="0">
            <a:off x="4091940" y="4279392"/>
            <a:ext cx="3703320" cy="2114931"/>
          </a:xfrm>
          <a:prstGeom xmlns:a="http://schemas.openxmlformats.org/drawingml/2006/main" prst="roundRect">
            <a:avLst>
              <a:gd name="adj" fmla="val 5926"/>
            </a:avLst>
          </a:prstGeom>
          <a:blipFill xmlns:a="http://schemas.openxmlformats.org/drawingml/2006/main">
            <a:blip xmlns:r="http://schemas.openxmlformats.org/officeDocument/2006/relationships" r:embed="R9fa82fb3d4f64e82"/>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9" name="TextBox 8">
            <a:extLst xmlns:a="http://schemas.openxmlformats.org/drawingml/2006/main">
              <a:ext uri="{FF2B5EF4-FFF2-40B4-BE49-F238E27FC236}">
                <a16:creationId xmlns:a16="http://schemas.microsoft.com/office/drawing/2014/main" id="{105376E9-F8D0-C700-B315-88E01E2AE4E9}"/>
              </a:ext>
            </a:extLst>
          </p:cNvPr>
          <p:cNvSpPr>
            <a:spLocks xmlns:a="http://schemas.openxmlformats.org/drawingml/2006/main" noGrp="1"/>
          </p:cNvSpPr>
          <p:nvPr/>
        </p:nvSpPr>
        <p:spPr>
          <a:xfrm xmlns:a="http://schemas.openxmlformats.org/drawingml/2006/main" rot="0" flipH="0" flipV="0">
            <a:off x="4091940" y="6432965"/>
            <a:ext cx="370332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t>&lt;</a:t>
            </a:r>
            <a:r>
              <a:t>라벨링</a:t>
            </a:r>
            <a:r>
              <a:t> 예시</a:t>
            </a:r>
            <a:r>
              <a:t>&gt;</a:t>
            </a:r>
            <a:endParaRPr/>
          </a:p>
        </p:txBody>
      </p:sp>
      <p:sp>
        <p:nvSpPr>
          <p:cNvPr id="26" name="Shape 22">
            <a:extLst xmlns:a="http://schemas.openxmlformats.org/drawingml/2006/main">
              <a:ext uri="{FF2B5EF4-FFF2-40B4-BE49-F238E27FC236}">
                <a16:creationId xmlns:a16="http://schemas.microsoft.com/office/drawing/2014/main" id="{3FF8C6F1-FE89-DC57-EBD8-4FFF1CF41AE8}"/>
              </a:ext>
            </a:extLst>
          </p:cNvPr>
          <p:cNvSpPr>
            <a:spLocks xmlns:a="http://schemas.openxmlformats.org/drawingml/2006/main" noGrp="1"/>
          </p:cNvSpPr>
          <p:nvPr/>
        </p:nvSpPr>
        <p:spPr>
          <a:xfrm xmlns:a="http://schemas.openxmlformats.org/drawingml/2006/main" rot="0" flipH="0" flipV="0">
            <a:off x="7947660" y="4279811"/>
            <a:ext cx="3703320" cy="2114931"/>
          </a:xfrm>
          <a:prstGeom xmlns:a="http://schemas.openxmlformats.org/drawingml/2006/main" prst="roundRect">
            <a:avLst>
              <a:gd name="adj" fmla="val 5926"/>
            </a:avLst>
          </a:prstGeom>
          <a:blipFill xmlns:a="http://schemas.openxmlformats.org/drawingml/2006/main">
            <a:blip xmlns:r="http://schemas.openxmlformats.org/officeDocument/2006/relationships" r:embed="R3cf8c9a4d2814401"/>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28" name="TextBox 27">
            <a:extLst xmlns:a="http://schemas.openxmlformats.org/drawingml/2006/main">
              <a:ext uri="{FF2B5EF4-FFF2-40B4-BE49-F238E27FC236}">
                <a16:creationId xmlns:a16="http://schemas.microsoft.com/office/drawing/2014/main" id="{33C6AD1F-B7E0-7F64-F031-C5F841DFF527}"/>
              </a:ext>
            </a:extLst>
          </p:cNvPr>
          <p:cNvSpPr>
            <a:spLocks xmlns:a="http://schemas.openxmlformats.org/drawingml/2006/main" noGrp="1"/>
          </p:cNvSpPr>
          <p:nvPr/>
        </p:nvSpPr>
        <p:spPr>
          <a:xfrm xmlns:a="http://schemas.openxmlformats.org/drawingml/2006/main" rot="0" flipH="0" flipV="0">
            <a:off x="7947660" y="6433384"/>
            <a:ext cx="3703320" cy="32004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buNone/>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기존 연구의 성능 비교 예시</a:t>
            </a:r>
            <a:endParaRPr/>
          </a:p>
        </p:txBody>
      </p:sp>
      <p:sp>
        <p:nvSpPr>
          <p:cNvPr id="30" name="Shape 22">
            <a:extLst xmlns:a="http://schemas.openxmlformats.org/drawingml/2006/main">
              <a:ext uri="{FF2B5EF4-FFF2-40B4-BE49-F238E27FC236}">
                <a16:creationId xmlns:a16="http://schemas.microsoft.com/office/drawing/2014/main" id="{C43B7616-B8E3-62C3-340F-F3341B39BEB7}"/>
              </a:ext>
            </a:extLst>
          </p:cNvPr>
          <p:cNvSpPr>
            <a:spLocks xmlns:a="http://schemas.openxmlformats.org/drawingml/2006/main" noGrp="1"/>
          </p:cNvSpPr>
          <p:nvPr/>
        </p:nvSpPr>
        <p:spPr>
          <a:xfrm xmlns:a="http://schemas.openxmlformats.org/drawingml/2006/main" rot="0" flipH="0" flipV="0">
            <a:off x="236220" y="4263589"/>
            <a:ext cx="3703320" cy="2114931"/>
          </a:xfrm>
          <a:prstGeom xmlns:a="http://schemas.openxmlformats.org/drawingml/2006/main" prst="roundRect">
            <a:avLst>
              <a:gd name="adj" fmla="val 5926"/>
            </a:avLst>
          </a:prstGeom>
          <a:blipFill xmlns:a="http://schemas.openxmlformats.org/drawingml/2006/main">
            <a:blip xmlns:r="http://schemas.openxmlformats.org/officeDocument/2006/relationships" r:embed="R29cad3bfa7894c07"/>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31" name="TextBox 30">
            <a:extLst xmlns:a="http://schemas.openxmlformats.org/drawingml/2006/main">
              <a:ext uri="{FF2B5EF4-FFF2-40B4-BE49-F238E27FC236}">
                <a16:creationId xmlns:a16="http://schemas.microsoft.com/office/drawing/2014/main" id="{06B9DFA3-9F41-5BAA-EDB5-B1AAF3EF8C3A}"/>
              </a:ext>
            </a:extLst>
          </p:cNvPr>
          <p:cNvSpPr>
            <a:spLocks xmlns:a="http://schemas.openxmlformats.org/drawingml/2006/main" noGrp="1"/>
          </p:cNvSpPr>
          <p:nvPr/>
        </p:nvSpPr>
        <p:spPr>
          <a:xfrm xmlns:a="http://schemas.openxmlformats.org/drawingml/2006/main" rot="0" flipH="0" flipV="0">
            <a:off x="236220" y="6433384"/>
            <a:ext cx="370332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t>&lt;</a:t>
            </a:r>
            <a:r>
              <a:t>영상촬영 예시</a:t>
            </a:r>
            <a:r>
              <a:t>&gt;</a:t>
            </a:r>
            <a:endParaRPr/>
          </a:p>
        </p:txBody>
      </p:sp>
    </p:spTree>
    <p:extLst>
      <p:ext uri="{BB962C8B-B14F-4D97-AF65-F5344CB8AC3E}">
        <p14:creationId xmlns:p14="http://schemas.microsoft.com/office/powerpoint/2010/main" val="5955605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F359277-BA03-43E3-B2DF-EE56C670353F}"/>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000"/>
          </a:p>
        </p:txBody>
      </p:sp>
      <p:sp>
        <p:nvSpPr>
          <p:cNvPr id="3" name="Text 1">
            <a:extLst xmlns:a="http://schemas.openxmlformats.org/drawingml/2006/main">
              <a:ext uri="{FF2B5EF4-FFF2-40B4-BE49-F238E27FC236}">
                <a16:creationId xmlns:a16="http://schemas.microsoft.com/office/drawing/2014/main" id="{5B5ECB14-9DED-45C1-8500-3C7D755B23FE}"/>
              </a:ext>
            </a:extLst>
          </p:cNvPr>
          <p:cNvSpPr>
            <a:spLocks xmlns:a="http://schemas.openxmlformats.org/drawingml/2006/main" noGrp="1"/>
          </p:cNvSpPr>
          <p:nvPr/>
        </p:nvSpPr>
        <p:spPr>
          <a:xfrm xmlns:a="http://schemas.openxmlformats.org/drawingml/2006/main">
            <a:off x="11109960" y="347472"/>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9AA6B4"/>
                </a:solidFill>
                <a:latin typeface="Malgun Gothic"/>
                <a:ea typeface="Malgun Gothic"/>
                <a:cs typeface="Malgun Gothic"/>
              </a:rPr>
              <a:t>0</a:t>
            </a:r>
            <a:r>
              <a:rPr sz="1600" b="1">
                <a:solidFill>
                  <a:srgbClr val="9AA6B4"/>
                </a:solidFill>
                <a:latin typeface="Malgun Gothic"/>
                <a:ea typeface="Malgun Gothic"/>
                <a:cs typeface="Malgun Gothic"/>
              </a:rPr>
              <a:t>4</a:t>
            </a:r>
            <a:endParaRPr sz="1600"/>
          </a:p>
        </p:txBody>
      </p:sp>
      <p:sp>
        <p:nvSpPr>
          <p:cNvPr id="4" name="Text 2">
            <a:extLst xmlns:a="http://schemas.openxmlformats.org/drawingml/2006/main">
              <a:ext uri="{FF2B5EF4-FFF2-40B4-BE49-F238E27FC236}">
                <a16:creationId xmlns:a16="http://schemas.microsoft.com/office/drawing/2014/main" id="{30E05F7F-44AB-474F-915D-B85C4ED95962}"/>
              </a:ext>
            </a:extLst>
          </p:cNvPr>
          <p:cNvSpPr>
            <a:spLocks xmlns:a="http://schemas.openxmlformats.org/drawingml/2006/main" noGrp="1"/>
          </p:cNvSpPr>
          <p:nvPr/>
        </p:nvSpPr>
        <p:spPr>
          <a:xfrm xmlns:a="http://schemas.openxmlformats.org/drawingml/2006/main">
            <a:off x="571500" y="381000"/>
            <a:ext cx="10287000" cy="43815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선행연구가 보여준 근거와 연구 공백</a:t>
            </a:r>
            <a:endParaRPr sz="2800"/>
          </a:p>
        </p:txBody>
      </p:sp>
      <p:sp>
        <p:nvSpPr>
          <p:cNvPr id="5" name="Text 3">
            <a:extLst xmlns:a="http://schemas.openxmlformats.org/drawingml/2006/main">
              <a:ext uri="{FF2B5EF4-FFF2-40B4-BE49-F238E27FC236}">
                <a16:creationId xmlns:a16="http://schemas.microsoft.com/office/drawing/2014/main" id="{C9E831AC-3F39-4AA4-B0A6-E4A78FE6AD42}"/>
              </a:ext>
            </a:extLst>
          </p:cNvPr>
          <p:cNvSpPr>
            <a:spLocks xmlns:a="http://schemas.openxmlformats.org/drawingml/2006/main" noGrp="1"/>
          </p:cNvSpPr>
          <p:nvPr/>
        </p:nvSpPr>
        <p:spPr>
          <a:xfrm xmlns:a="http://schemas.openxmlformats.org/drawingml/2006/main">
            <a:off x="566928" y="813816"/>
            <a:ext cx="10927080" cy="32004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각 연구의 입력, 처리 과정, 검증 결과를 구분해 본다.</a:t>
            </a:r>
            <a:endParaRPr sz="1600"/>
          </a:p>
        </p:txBody>
      </p:sp>
      <p:sp>
        <p:nvSpPr>
          <p:cNvPr id="14" name="Shape 12">
            <a:extLst xmlns:a="http://schemas.openxmlformats.org/drawingml/2006/main">
              <a:ext uri="{FF2B5EF4-FFF2-40B4-BE49-F238E27FC236}">
                <a16:creationId xmlns:a16="http://schemas.microsoft.com/office/drawing/2014/main" id="{9382FEAE-87B9-4677-BCDC-640792F9756E}"/>
              </a:ext>
            </a:extLst>
          </p:cNvPr>
          <p:cNvSpPr>
            <a:spLocks xmlns:a="http://schemas.openxmlformats.org/drawingml/2006/main" noGrp="1"/>
          </p:cNvSpPr>
          <p:nvPr/>
        </p:nvSpPr>
        <p:spPr>
          <a:xfrm xmlns:a="http://schemas.openxmlformats.org/drawingml/2006/main" rot="0" flipH="0" flipV="0">
            <a:off x="381000" y="1238250"/>
            <a:ext cx="5600700" cy="2400300"/>
          </a:xfrm>
          <a:prstGeom xmlns:a="http://schemas.openxmlformats.org/drawingml/2006/main" prst="rect">
            <a:avLst>
              <a:gd name="adj" fmla="val 4225"/>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000"/>
          </a:p>
        </p:txBody>
      </p:sp>
      <p:sp>
        <p:nvSpPr>
          <p:cNvPr id="15" name="Shape 13">
            <a:extLst xmlns:a="http://schemas.openxmlformats.org/drawingml/2006/main">
              <a:ext uri="{FF2B5EF4-FFF2-40B4-BE49-F238E27FC236}">
                <a16:creationId xmlns:a16="http://schemas.microsoft.com/office/drawing/2014/main" id="{AB86D8D5-C971-4E75-BBD6-8A1AA2C7A2C7}"/>
              </a:ext>
            </a:extLst>
          </p:cNvPr>
          <p:cNvSpPr>
            <a:spLocks xmlns:a="http://schemas.openxmlformats.org/drawingml/2006/main" noGrp="1"/>
          </p:cNvSpPr>
          <p:nvPr/>
        </p:nvSpPr>
        <p:spPr>
          <a:xfrm xmlns:a="http://schemas.openxmlformats.org/drawingml/2006/main" rot="0" flipH="0" flipV="0">
            <a:off x="381000" y="1238250"/>
            <a:ext cx="5600700" cy="419100"/>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000"/>
          </a:p>
        </p:txBody>
      </p:sp>
      <p:sp>
        <p:nvSpPr>
          <p:cNvPr id="16" name="Text 14">
            <a:extLst xmlns:a="http://schemas.openxmlformats.org/drawingml/2006/main">
              <a:ext uri="{FF2B5EF4-FFF2-40B4-BE49-F238E27FC236}">
                <a16:creationId xmlns:a16="http://schemas.microsoft.com/office/drawing/2014/main" id="{FC4B47E5-A06E-4ED2-9CE7-731A947E0F06}"/>
              </a:ext>
            </a:extLst>
          </p:cNvPr>
          <p:cNvSpPr>
            <a:spLocks xmlns:a="http://schemas.openxmlformats.org/drawingml/2006/main" noGrp="1"/>
          </p:cNvSpPr>
          <p:nvPr/>
        </p:nvSpPr>
        <p:spPr>
          <a:xfrm xmlns:a="http://schemas.openxmlformats.org/drawingml/2006/main" rot="0" flipH="0" flipV="0">
            <a:off x="514350" y="1314450"/>
            <a:ext cx="53340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Li et al., 2026 · 영상 기반 VLM</a:t>
            </a:r>
            <a:endParaRPr sz="1400">
              <a:solidFill>
                <a:schemeClr val="bg1"/>
              </a:solidFill>
            </a:endParaRPr>
          </a:p>
        </p:txBody>
      </p:sp>
      <p:sp>
        <p:nvSpPr>
          <p:cNvPr id="17" name="Text 15">
            <a:extLst xmlns:a="http://schemas.openxmlformats.org/drawingml/2006/main">
              <a:ext uri="{FF2B5EF4-FFF2-40B4-BE49-F238E27FC236}">
                <a16:creationId xmlns:a16="http://schemas.microsoft.com/office/drawing/2014/main" id="{5C8C09DA-BFBC-4648-80BC-99A8A511DD2F}"/>
              </a:ext>
            </a:extLst>
          </p:cNvPr>
          <p:cNvSpPr>
            <a:spLocks xmlns:a="http://schemas.openxmlformats.org/drawingml/2006/main" noGrp="1"/>
          </p:cNvSpPr>
          <p:nvPr/>
        </p:nvSpPr>
        <p:spPr>
          <a:xfrm xmlns:a="http://schemas.openxmlformats.org/drawingml/2006/main" rot="0" flipH="0" flipV="0">
            <a:off x="514350" y="1781175"/>
            <a:ext cx="3343275" cy="17621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buNone/>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FMA 부분집단 28명, 영상 899개</a:t>
            </a:r>
            <a:endParaRPr sz="1400" b="0">
              <a:latin typeface="Malgun Gothic"/>
              <a:ea typeface="Malgun Gothic"/>
              <a:cs typeface="Malgun Gothic"/>
            </a:endParaRPr>
          </a:p>
          <a:p xmlns:a="http://schemas.openxmlformats.org/drawingml/2006/main">
            <a:pPr algn="l">
              <a:buNone/>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8개 프레임 + 채점 지침 입력</a:t>
            </a:r>
            <a:endParaRPr sz="1400" b="0">
              <a:latin typeface="Malgun Gothic"/>
              <a:ea typeface="Malgun Gothic"/>
              <a:cs typeface="Malgun Gothic"/>
            </a:endParaRP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Qwen-72B가 0–2점 예측</a:t>
            </a:r>
            <a:endParaRPr sz="1400" b="0">
              <a:latin typeface="Malgun Gothic"/>
              <a:ea typeface="Malgun Gothic"/>
              <a:cs typeface="Malgun Gothic"/>
            </a:endParaRP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총점이 중증도를 잘 구분 못함</a:t>
            </a:r>
            <a:endParaRPr sz="1400" b="0">
              <a:latin typeface="Malgun Gothic"/>
              <a:ea typeface="Malgun Gothic"/>
              <a:cs typeface="Malgun Gothic"/>
            </a:endParaRP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오차는 항상 1점 예측과 유사</a:t>
            </a:r>
            <a:endParaRPr sz="1400" b="0">
              <a:latin typeface="Malgun Gothic"/>
              <a:ea typeface="Malgun Gothic"/>
              <a:cs typeface="Malgun Gothic"/>
            </a:endParaRPr>
          </a:p>
        </p:txBody>
      </p:sp>
      <p:sp>
        <p:nvSpPr>
          <p:cNvPr id="40" name="Shape 12">
            <a:extLst xmlns:a="http://schemas.openxmlformats.org/drawingml/2006/main">
              <a:ext uri="{FF2B5EF4-FFF2-40B4-BE49-F238E27FC236}">
                <a16:creationId xmlns:a16="http://schemas.microsoft.com/office/drawing/2014/main" id="{8EE71401-AC88-13E1-4137-8FB8768E3711}"/>
              </a:ext>
            </a:extLst>
          </p:cNvPr>
          <p:cNvSpPr>
            <a:spLocks xmlns:a="http://schemas.openxmlformats.org/drawingml/2006/main" noGrp="1"/>
          </p:cNvSpPr>
          <p:nvPr/>
        </p:nvSpPr>
        <p:spPr>
          <a:xfrm xmlns:a="http://schemas.openxmlformats.org/drawingml/2006/main" rot="0" flipH="0" flipV="0">
            <a:off x="6210300" y="1238250"/>
            <a:ext cx="5600700" cy="2400300"/>
          </a:xfrm>
          <a:prstGeom xmlns:a="http://schemas.openxmlformats.org/drawingml/2006/main" prst="rect">
            <a:avLst>
              <a:gd name="adj" fmla="val 4225"/>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000"/>
          </a:p>
        </p:txBody>
      </p:sp>
      <p:sp>
        <p:nvSpPr>
          <p:cNvPr id="41" name="Shape 13">
            <a:extLst xmlns:a="http://schemas.openxmlformats.org/drawingml/2006/main">
              <a:ext uri="{FF2B5EF4-FFF2-40B4-BE49-F238E27FC236}">
                <a16:creationId xmlns:a16="http://schemas.microsoft.com/office/drawing/2014/main" id="{B7E4585B-FFFA-CD8F-F0B0-472FD611AEC6}"/>
              </a:ext>
            </a:extLst>
          </p:cNvPr>
          <p:cNvSpPr>
            <a:spLocks xmlns:a="http://schemas.openxmlformats.org/drawingml/2006/main" noGrp="1"/>
          </p:cNvSpPr>
          <p:nvPr/>
        </p:nvSpPr>
        <p:spPr>
          <a:xfrm xmlns:a="http://schemas.openxmlformats.org/drawingml/2006/main" rot="0" flipH="0" flipV="0">
            <a:off x="6210300" y="1238250"/>
            <a:ext cx="5600700" cy="419100"/>
          </a:xfrm>
          <a:prstGeom xmlns:a="http://schemas.openxmlformats.org/drawingml/2006/main" prst="rect">
            <a:avLst/>
          </a:prstGeom>
          <a:solidFill xmlns:a="http://schemas.openxmlformats.org/drawingml/2006/main">
            <a:srgbClr val="087F8C"/>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000"/>
          </a:p>
        </p:txBody>
      </p:sp>
      <p:sp>
        <p:nvSpPr>
          <p:cNvPr id="42" name="Text 14">
            <a:extLst xmlns:a="http://schemas.openxmlformats.org/drawingml/2006/main">
              <a:ext uri="{FF2B5EF4-FFF2-40B4-BE49-F238E27FC236}">
                <a16:creationId xmlns:a16="http://schemas.microsoft.com/office/drawing/2014/main" id="{3A9C0846-1CDD-DA95-E86E-C2F69AD3B49E}"/>
              </a:ext>
            </a:extLst>
          </p:cNvPr>
          <p:cNvSpPr>
            <a:spLocks xmlns:a="http://schemas.openxmlformats.org/drawingml/2006/main" noGrp="1"/>
          </p:cNvSpPr>
          <p:nvPr/>
        </p:nvSpPr>
        <p:spPr>
          <a:xfrm xmlns:a="http://schemas.openxmlformats.org/drawingml/2006/main" rot="0" flipH="0" flipV="0">
            <a:off x="6343650" y="1314450"/>
            <a:ext cx="53340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Li et al., 2022 · 센서 기반 평가</a:t>
            </a:r>
            <a:endParaRPr sz="1400">
              <a:solidFill>
                <a:schemeClr val="bg1"/>
              </a:solidFill>
            </a:endParaRPr>
          </a:p>
        </p:txBody>
      </p:sp>
      <p:sp>
        <p:nvSpPr>
          <p:cNvPr id="39" name="Text 15">
            <a:extLst xmlns:a="http://schemas.openxmlformats.org/drawingml/2006/main">
              <a:ext uri="{FF2B5EF4-FFF2-40B4-BE49-F238E27FC236}">
                <a16:creationId xmlns:a16="http://schemas.microsoft.com/office/drawing/2014/main" id="{9FCFA5DA-62D6-9763-24DE-76DEC5DA9D7E}"/>
              </a:ext>
            </a:extLst>
          </p:cNvPr>
          <p:cNvSpPr>
            <a:spLocks xmlns:a="http://schemas.openxmlformats.org/drawingml/2006/main" noGrp="1"/>
          </p:cNvSpPr>
          <p:nvPr/>
        </p:nvSpPr>
        <p:spPr>
          <a:xfrm xmlns:a="http://schemas.openxmlformats.org/drawingml/2006/main" rot="0" flipH="0" flipV="0">
            <a:off x="6343650" y="1781175"/>
            <a:ext cx="3343275" cy="17621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buNone/>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뇌졸중 20명, FMA 30항목</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RGB-D·Leap·압력센서 수집</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잡음 제거 후 36개 특징 계산</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13항목 RF + 17항목 규칙 채점</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항목 평균 정확도 80.83%</a:t>
            </a:r>
          </a:p>
        </p:txBody>
      </p:sp>
      <p:sp>
        <p:nvSpPr>
          <p:cNvPr id="48" name="Shape 12">
            <a:extLst xmlns:a="http://schemas.openxmlformats.org/drawingml/2006/main">
              <a:ext uri="{FF2B5EF4-FFF2-40B4-BE49-F238E27FC236}">
                <a16:creationId xmlns:a16="http://schemas.microsoft.com/office/drawing/2014/main" id="{DE611A2C-D27B-5203-087F-DDB7783D4369}"/>
              </a:ext>
            </a:extLst>
          </p:cNvPr>
          <p:cNvSpPr>
            <a:spLocks xmlns:a="http://schemas.openxmlformats.org/drawingml/2006/main" noGrp="1"/>
          </p:cNvSpPr>
          <p:nvPr/>
        </p:nvSpPr>
        <p:spPr>
          <a:xfrm xmlns:a="http://schemas.openxmlformats.org/drawingml/2006/main" rot="0" flipH="0" flipV="0">
            <a:off x="381000" y="3905250"/>
            <a:ext cx="5600700" cy="2400300"/>
          </a:xfrm>
          <a:prstGeom xmlns:a="http://schemas.openxmlformats.org/drawingml/2006/main" prst="rect">
            <a:avLst>
              <a:gd name="adj" fmla="val 4225"/>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000"/>
          </a:p>
        </p:txBody>
      </p:sp>
      <p:sp>
        <p:nvSpPr>
          <p:cNvPr id="49" name="Shape 13">
            <a:extLst xmlns:a="http://schemas.openxmlformats.org/drawingml/2006/main">
              <a:ext uri="{FF2B5EF4-FFF2-40B4-BE49-F238E27FC236}">
                <a16:creationId xmlns:a16="http://schemas.microsoft.com/office/drawing/2014/main" id="{E396000C-8B3D-D4BC-CF8E-055E4BE733D3}"/>
              </a:ext>
            </a:extLst>
          </p:cNvPr>
          <p:cNvSpPr>
            <a:spLocks xmlns:a="http://schemas.openxmlformats.org/drawingml/2006/main" noGrp="1"/>
          </p:cNvSpPr>
          <p:nvPr/>
        </p:nvSpPr>
        <p:spPr>
          <a:xfrm xmlns:a="http://schemas.openxmlformats.org/drawingml/2006/main" rot="0" flipH="0" flipV="0">
            <a:off x="381000" y="3905250"/>
            <a:ext cx="5600700" cy="419100"/>
          </a:xfrm>
          <a:prstGeom xmlns:a="http://schemas.openxmlformats.org/drawingml/2006/main" prst="rect">
            <a:avLst/>
          </a:prstGeom>
          <a:solidFill xmlns:a="http://schemas.openxmlformats.org/drawingml/2006/main">
            <a:srgbClr val="087F8C"/>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000"/>
          </a:p>
        </p:txBody>
      </p:sp>
      <p:sp>
        <p:nvSpPr>
          <p:cNvPr id="50" name="Text 14">
            <a:extLst xmlns:a="http://schemas.openxmlformats.org/drawingml/2006/main">
              <a:ext uri="{FF2B5EF4-FFF2-40B4-BE49-F238E27FC236}">
                <a16:creationId xmlns:a16="http://schemas.microsoft.com/office/drawing/2014/main" id="{55B1F5C0-9EFF-7D4C-6B8B-4B5FF77C52D3}"/>
              </a:ext>
            </a:extLst>
          </p:cNvPr>
          <p:cNvSpPr>
            <a:spLocks xmlns:a="http://schemas.openxmlformats.org/drawingml/2006/main" noGrp="1"/>
          </p:cNvSpPr>
          <p:nvPr/>
        </p:nvSpPr>
        <p:spPr>
          <a:xfrm xmlns:a="http://schemas.openxmlformats.org/drawingml/2006/main" rot="0" flipH="0" flipV="0">
            <a:off x="514350" y="3981450"/>
            <a:ext cx="53340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Tang et al., 2025 · 사전공개 논문</a:t>
            </a:r>
            <a:endParaRPr sz="1400">
              <a:solidFill>
                <a:schemeClr val="bg1"/>
              </a:solidFill>
            </a:endParaRPr>
          </a:p>
        </p:txBody>
      </p:sp>
      <p:sp>
        <p:nvSpPr>
          <p:cNvPr id="47" name="Text 15">
            <a:extLst xmlns:a="http://schemas.openxmlformats.org/drawingml/2006/main">
              <a:ext uri="{FF2B5EF4-FFF2-40B4-BE49-F238E27FC236}">
                <a16:creationId xmlns:a16="http://schemas.microsoft.com/office/drawing/2014/main" id="{DA10C5AD-6BFA-C93B-B327-1E6BD1E737DB}"/>
              </a:ext>
            </a:extLst>
          </p:cNvPr>
          <p:cNvSpPr>
            <a:spLocks xmlns:a="http://schemas.openxmlformats.org/drawingml/2006/main" noGrp="1"/>
          </p:cNvSpPr>
          <p:nvPr/>
        </p:nvSpPr>
        <p:spPr>
          <a:xfrm xmlns:a="http://schemas.openxmlformats.org/drawingml/2006/main" rot="0" flipH="0" flipV="0">
            <a:off x="514350" y="4448175"/>
            <a:ext cx="3343275" cy="17621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buNone/>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관절 좌표에서 3–5개 특징 추출</a:t>
            </a:r>
            <a:endParaRPr sz="1400" b="0">
              <a:latin typeface="Malgun Gothic"/>
              <a:ea typeface="Malgun Gothic"/>
              <a:cs typeface="Malgun Gothic"/>
            </a:endParaRPr>
          </a:p>
          <a:p xmlns:a="http://schemas.openxmlformats.org/drawingml/2006/main">
            <a:pPr algn="l">
              <a:buNone/>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특징 시계열 + 지침을 GPT-4o에 입력</a:t>
            </a:r>
            <a:endParaRPr sz="1600"/>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운동 수행을 정답·오답으로 분류</a:t>
            </a:r>
            <a:endParaRPr sz="1400" b="0">
              <a:latin typeface="Malgun Gothic"/>
              <a:ea typeface="Malgun Gothic"/>
              <a:cs typeface="Malgun Gothic"/>
            </a:endParaRP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3-shot + 확신 질문: 정확도 향상</a:t>
            </a:r>
            <a:endParaRPr sz="1400" b="0">
              <a:latin typeface="Malgun Gothic"/>
              <a:ea typeface="Malgun Gothic"/>
              <a:cs typeface="Malgun Gothic"/>
            </a:endParaRP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UI .68→.76 / REHAB .63→.70</a:t>
            </a:r>
            <a:endParaRPr sz="1400" b="0">
              <a:latin typeface="Malgun Gothic"/>
              <a:ea typeface="Malgun Gothic"/>
              <a:cs typeface="Malgun Gothic"/>
            </a:endParaRPr>
          </a:p>
        </p:txBody>
      </p:sp>
      <p:sp>
        <p:nvSpPr>
          <p:cNvPr id="52" name="Shape 4">
            <a:extLst xmlns:a="http://schemas.openxmlformats.org/drawingml/2006/main">
              <a:ext uri="{FF2B5EF4-FFF2-40B4-BE49-F238E27FC236}">
                <a16:creationId xmlns:a16="http://schemas.microsoft.com/office/drawing/2014/main" id="{3F937B43-4E38-B42C-D254-65C117169322}"/>
              </a:ext>
            </a:extLst>
          </p:cNvPr>
          <p:cNvSpPr>
            <a:spLocks xmlns:a="http://schemas.openxmlformats.org/drawingml/2006/main" noGrp="1"/>
          </p:cNvSpPr>
          <p:nvPr/>
        </p:nvSpPr>
        <p:spPr>
          <a:xfrm xmlns:a="http://schemas.openxmlformats.org/drawingml/2006/main" rot="0" flipH="0" flipV="0">
            <a:off x="4010025" y="1857375"/>
            <a:ext cx="1828800" cy="1590675"/>
          </a:xfrm>
          <a:prstGeom xmlns:a="http://schemas.openxmlformats.org/drawingml/2006/main" prst="roundRect">
            <a:avLst>
              <a:gd name="adj" fmla="val 3902"/>
            </a:avLst>
          </a:prstGeom>
          <a:blipFill xmlns:a="http://schemas.openxmlformats.org/drawingml/2006/main">
            <a:blip xmlns:r="http://schemas.openxmlformats.org/officeDocument/2006/relationships" r:embed="Rf070c23c903c476a"/>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000"/>
          </a:p>
        </p:txBody>
      </p:sp>
      <p:sp>
        <p:nvSpPr>
          <p:cNvPr id="59" name="Shape 12">
            <a:extLst xmlns:a="http://schemas.openxmlformats.org/drawingml/2006/main">
              <a:ext uri="{FF2B5EF4-FFF2-40B4-BE49-F238E27FC236}">
                <a16:creationId xmlns:a16="http://schemas.microsoft.com/office/drawing/2014/main" id="{48AE516C-B942-2724-D485-B3C0CE99AF74}"/>
              </a:ext>
            </a:extLst>
          </p:cNvPr>
          <p:cNvSpPr>
            <a:spLocks xmlns:a="http://schemas.openxmlformats.org/drawingml/2006/main" noGrp="1"/>
          </p:cNvSpPr>
          <p:nvPr/>
        </p:nvSpPr>
        <p:spPr>
          <a:xfrm xmlns:a="http://schemas.openxmlformats.org/drawingml/2006/main" rot="0" flipH="0" flipV="0">
            <a:off x="6210300" y="3905250"/>
            <a:ext cx="5600700" cy="2400300"/>
          </a:xfrm>
          <a:prstGeom xmlns:a="http://schemas.openxmlformats.org/drawingml/2006/main" prst="rect">
            <a:avLst>
              <a:gd name="adj" fmla="val 4225"/>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000"/>
          </a:p>
        </p:txBody>
      </p:sp>
      <p:sp>
        <p:nvSpPr>
          <p:cNvPr id="60" name="Shape 13">
            <a:extLst xmlns:a="http://schemas.openxmlformats.org/drawingml/2006/main">
              <a:ext uri="{FF2B5EF4-FFF2-40B4-BE49-F238E27FC236}">
                <a16:creationId xmlns:a16="http://schemas.microsoft.com/office/drawing/2014/main" id="{7F05C89D-B170-D5BD-DBCC-FD9638900C72}"/>
              </a:ext>
            </a:extLst>
          </p:cNvPr>
          <p:cNvSpPr>
            <a:spLocks xmlns:a="http://schemas.openxmlformats.org/drawingml/2006/main" noGrp="1"/>
          </p:cNvSpPr>
          <p:nvPr/>
        </p:nvSpPr>
        <p:spPr>
          <a:xfrm xmlns:a="http://schemas.openxmlformats.org/drawingml/2006/main" rot="0" flipH="0" flipV="0">
            <a:off x="6210300" y="3905250"/>
            <a:ext cx="5600700" cy="419100"/>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000"/>
          </a:p>
        </p:txBody>
      </p:sp>
      <p:sp>
        <p:nvSpPr>
          <p:cNvPr id="61" name="Text 14">
            <a:extLst xmlns:a="http://schemas.openxmlformats.org/drawingml/2006/main">
              <a:ext uri="{FF2B5EF4-FFF2-40B4-BE49-F238E27FC236}">
                <a16:creationId xmlns:a16="http://schemas.microsoft.com/office/drawing/2014/main" id="{2566B9E4-42A3-84FE-29F5-637FA5CDEB68}"/>
              </a:ext>
            </a:extLst>
          </p:cNvPr>
          <p:cNvSpPr>
            <a:spLocks xmlns:a="http://schemas.openxmlformats.org/drawingml/2006/main" noGrp="1"/>
          </p:cNvSpPr>
          <p:nvPr/>
        </p:nvSpPr>
        <p:spPr>
          <a:xfrm xmlns:a="http://schemas.openxmlformats.org/drawingml/2006/main" rot="0" flipH="0" flipV="0">
            <a:off x="6343650" y="3981450"/>
            <a:ext cx="53340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우리 연구 · 수치 제공 단계 비교</a:t>
            </a:r>
            <a:endParaRPr sz="1400">
              <a:solidFill>
                <a:schemeClr val="bg1"/>
              </a:solidFill>
            </a:endParaRPr>
          </a:p>
        </p:txBody>
      </p:sp>
      <p:sp>
        <p:nvSpPr>
          <p:cNvPr id="58" name="Text 15">
            <a:extLst xmlns:a="http://schemas.openxmlformats.org/drawingml/2006/main">
              <a:ext uri="{FF2B5EF4-FFF2-40B4-BE49-F238E27FC236}">
                <a16:creationId xmlns:a16="http://schemas.microsoft.com/office/drawing/2014/main" id="{F2FF1112-2254-741B-0170-5E712A7948A9}"/>
              </a:ext>
            </a:extLst>
          </p:cNvPr>
          <p:cNvSpPr>
            <a:spLocks xmlns:a="http://schemas.openxmlformats.org/drawingml/2006/main" noGrp="1"/>
          </p:cNvSpPr>
          <p:nvPr/>
        </p:nvSpPr>
        <p:spPr>
          <a:xfrm xmlns:a="http://schemas.openxmlformats.org/drawingml/2006/main" rot="0" flipH="0" flipV="0">
            <a:off x="6343650" y="4448175"/>
            <a:ext cx="3343275" cy="17621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buNone/>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수치 계산 후 제공·보류를 결정</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같은 영상과 고정 VLM 사용</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전체 제공과 선별 제공을 비교</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치료사 기준점수와의 오차로 평가</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선별 기준의 효과는 R과 비교</a:t>
            </a:r>
          </a:p>
        </p:txBody>
      </p:sp>
      <p:sp>
        <p:nvSpPr>
          <p:cNvPr id="63" name="Shape 8">
            <a:extLst xmlns:a="http://schemas.openxmlformats.org/drawingml/2006/main">
              <a:ext uri="{FF2B5EF4-FFF2-40B4-BE49-F238E27FC236}">
                <a16:creationId xmlns:a16="http://schemas.microsoft.com/office/drawing/2014/main" id="{E5954289-BA82-98EE-FE3A-BC4DDA02CBA4}"/>
              </a:ext>
            </a:extLst>
          </p:cNvPr>
          <p:cNvSpPr>
            <a:spLocks xmlns:a="http://schemas.openxmlformats.org/drawingml/2006/main" noGrp="1"/>
          </p:cNvSpPr>
          <p:nvPr/>
        </p:nvSpPr>
        <p:spPr>
          <a:xfrm xmlns:a="http://schemas.openxmlformats.org/drawingml/2006/main">
            <a:off x="9839325" y="1857375"/>
            <a:ext cx="1828800" cy="1590675"/>
          </a:xfrm>
          <a:prstGeom xmlns:a="http://schemas.openxmlformats.org/drawingml/2006/main" prst="roundRect">
            <a:avLst>
              <a:gd name="adj" fmla="val 3902"/>
            </a:avLst>
          </a:prstGeom>
          <a:blipFill xmlns:a="http://schemas.openxmlformats.org/drawingml/2006/main">
            <a:blip xmlns:r="http://schemas.openxmlformats.org/officeDocument/2006/relationships" r:embed="R696b83a88158431b"/>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000"/>
          </a:p>
        </p:txBody>
      </p:sp>
      <p:sp>
        <p:nvSpPr>
          <p:cNvPr id="65" name="Shape 8">
            <a:extLst xmlns:a="http://schemas.openxmlformats.org/drawingml/2006/main">
              <a:ext uri="{FF2B5EF4-FFF2-40B4-BE49-F238E27FC236}">
                <a16:creationId xmlns:a16="http://schemas.microsoft.com/office/drawing/2014/main" id="{FFAADCA4-6BCB-8532-279E-1B51EEBFB718}"/>
              </a:ext>
            </a:extLst>
          </p:cNvPr>
          <p:cNvSpPr>
            <a:spLocks xmlns:a="http://schemas.openxmlformats.org/drawingml/2006/main" noGrp="1"/>
          </p:cNvSpPr>
          <p:nvPr/>
        </p:nvSpPr>
        <p:spPr>
          <a:xfrm xmlns:a="http://schemas.openxmlformats.org/drawingml/2006/main">
            <a:off x="4010025" y="4524375"/>
            <a:ext cx="1828800" cy="1590675"/>
          </a:xfrm>
          <a:prstGeom xmlns:a="http://schemas.openxmlformats.org/drawingml/2006/main" prst="roundRect">
            <a:avLst>
              <a:gd name="adj" fmla="val 3902"/>
            </a:avLst>
          </a:prstGeom>
          <a:blipFill xmlns:a="http://schemas.openxmlformats.org/drawingml/2006/main">
            <a:blip xmlns:r="http://schemas.openxmlformats.org/officeDocument/2006/relationships" r:embed="Rbf023382223a4709"/>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000"/>
          </a:p>
        </p:txBody>
      </p:sp>
      <p:sp>
        <p:nvSpPr>
          <p:cNvPr id="44" name="Shape 8">
            <a:extLst xmlns:a="http://schemas.openxmlformats.org/drawingml/2006/main">
              <a:ext uri="{FF2B5EF4-FFF2-40B4-BE49-F238E27FC236}">
                <a16:creationId xmlns:a16="http://schemas.microsoft.com/office/drawing/2014/main" id="{EA2B53EC-1575-88B5-8EDF-2E9C9C2817E1}"/>
              </a:ext>
            </a:extLst>
          </p:cNvPr>
          <p:cNvSpPr>
            <a:spLocks xmlns:a="http://schemas.openxmlformats.org/drawingml/2006/main" noGrp="1"/>
          </p:cNvSpPr>
          <p:nvPr/>
        </p:nvSpPr>
        <p:spPr>
          <a:xfrm xmlns:a="http://schemas.openxmlformats.org/drawingml/2006/main">
            <a:off x="9839325" y="4524375"/>
            <a:ext cx="1828800" cy="1590675"/>
          </a:xfrm>
          <a:prstGeom xmlns:a="http://schemas.openxmlformats.org/drawingml/2006/main" prst="roundRect">
            <a:avLst>
              <a:gd name="adj" fmla="val 3902"/>
            </a:avLst>
          </a:prstGeom>
          <a:blipFill xmlns:a="http://schemas.openxmlformats.org/drawingml/2006/main">
            <a:blip xmlns:r="http://schemas.openxmlformats.org/officeDocument/2006/relationships" r:embed="R79aab58e99ab48b1"/>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000"/>
          </a:p>
        </p:txBody>
      </p:sp>
    </p:spTree>
    <p:extLst>
      <p:ext uri="{BB962C8B-B14F-4D97-AF65-F5344CB8AC3E}">
        <p14:creationId xmlns:p14="http://schemas.microsoft.com/office/powerpoint/2010/main" val="7506742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B280EA0-8C32-0050-D7AA-E09C9370E1D1}"/>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000"/>
          </a:p>
        </p:txBody>
      </p:sp>
      <p:sp>
        <p:nvSpPr>
          <p:cNvPr id="3" name="Text 1">
            <a:extLst xmlns:a="http://schemas.openxmlformats.org/drawingml/2006/main">
              <a:ext uri="{FF2B5EF4-FFF2-40B4-BE49-F238E27FC236}">
                <a16:creationId xmlns:a16="http://schemas.microsoft.com/office/drawing/2014/main" id="{20D5302C-0BFF-7A28-B4B4-0EC5ACEFEBBC}"/>
              </a:ext>
            </a:extLst>
          </p:cNvPr>
          <p:cNvSpPr>
            <a:spLocks xmlns:a="http://schemas.openxmlformats.org/drawingml/2006/main" noGrp="1"/>
          </p:cNvSpPr>
          <p:nvPr/>
        </p:nvSpPr>
        <p:spPr>
          <a:xfrm xmlns:a="http://schemas.openxmlformats.org/drawingml/2006/main">
            <a:off x="11070905" y="305394"/>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9AA6B4"/>
                </a:solidFill>
                <a:latin typeface="Malgun Gothic"/>
                <a:ea typeface="Malgun Gothic"/>
                <a:cs typeface="Malgun Gothic"/>
              </a:rPr>
              <a:t>05</a:t>
            </a:r>
            <a:endParaRPr sz="1600"/>
          </a:p>
        </p:txBody>
      </p:sp>
      <p:sp>
        <p:nvSpPr>
          <p:cNvPr id="4" name="Text 2">
            <a:extLst xmlns:a="http://schemas.openxmlformats.org/drawingml/2006/main">
              <a:ext uri="{FF2B5EF4-FFF2-40B4-BE49-F238E27FC236}">
                <a16:creationId xmlns:a16="http://schemas.microsoft.com/office/drawing/2014/main" id="{7D7431BB-EF0E-5E09-BF6A-94BE70D14AB8}"/>
              </a:ext>
            </a:extLst>
          </p:cNvPr>
          <p:cNvSpPr>
            <a:spLocks xmlns:a="http://schemas.openxmlformats.org/drawingml/2006/main" noGrp="1"/>
          </p:cNvSpPr>
          <p:nvPr/>
        </p:nvSpPr>
        <p:spPr>
          <a:xfrm xmlns:a="http://schemas.openxmlformats.org/drawingml/2006/main">
            <a:off x="566928" y="402336"/>
            <a:ext cx="2628710" cy="493014"/>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전체 실험 구조</a:t>
            </a:r>
            <a:endParaRPr sz="2800"/>
          </a:p>
        </p:txBody>
      </p:sp>
      <p:sp>
        <p:nvSpPr>
          <p:cNvPr id="5" name="">
            <a:extLst xmlns:a="http://schemas.openxmlformats.org/drawingml/2006/main">
              <a:ext uri="{FF2B5EF4-FFF2-40B4-BE49-F238E27FC236}">
                <a16:creationId xmlns:a16="http://schemas.microsoft.com/office/drawing/2014/main" id="{5D675465-2EFE-4462-BFE6-BDA66C8B647B}"/>
              </a:ext>
            </a:extLst>
          </p:cNvPr>
          <p:cNvSpPr>
            <a:spLocks xmlns:a="http://schemas.openxmlformats.org/drawingml/2006/main" noGrp="1"/>
          </p:cNvSpPr>
          <p:nvPr/>
        </p:nvSpPr>
        <p:spPr>
          <a:xfrm xmlns:a="http://schemas.openxmlformats.org/drawingml/2006/main">
            <a:off x="571500" y="1381125"/>
            <a:ext cx="3476625" cy="4048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8"/>
            </a:solidFill>
          </a:ln>
        </p:spPr>
      </p:sp>
      <p:sp>
        <p:nvSpPr>
          <p:cNvPr id="6" name="">
            <a:extLst xmlns:a="http://schemas.openxmlformats.org/drawingml/2006/main">
              <a:ext uri="{FF2B5EF4-FFF2-40B4-BE49-F238E27FC236}">
                <a16:creationId xmlns:a16="http://schemas.microsoft.com/office/drawing/2014/main" id="{E6A088FF-2304-4659-9ADB-2C7623EC905F}"/>
              </a:ext>
            </a:extLst>
          </p:cNvPr>
          <p:cNvSpPr>
            <a:spLocks xmlns:a="http://schemas.openxmlformats.org/drawingml/2006/main" noGrp="1"/>
          </p:cNvSpPr>
          <p:nvPr/>
        </p:nvSpPr>
        <p:spPr>
          <a:xfrm xmlns:a="http://schemas.openxmlformats.org/drawingml/2006/main">
            <a:off x="571500" y="1381125"/>
            <a:ext cx="3476625" cy="457200"/>
          </a:xfrm>
          <a:prstGeom xmlns:a="http://schemas.openxmlformats.org/drawingml/2006/main" prst="rect">
            <a:avLst/>
          </a:prstGeom>
          <a:solidFill xmlns:a="http://schemas.openxmlformats.org/drawingml/2006/main">
            <a:srgbClr val="193A66"/>
          </a:solidFill>
          <a:ln xmlns:a="http://schemas.openxmlformats.org/drawingml/2006/main" w="9525">
            <a:solidFill>
              <a:srgbClr val="193A66"/>
            </a:solidFill>
          </a:ln>
        </p:spPr>
      </p:sp>
      <p:sp>
        <p:nvSpPr>
          <p:cNvPr id="7" name="">
            <a:extLst xmlns:a="http://schemas.openxmlformats.org/drawingml/2006/main">
              <a:ext uri="{FF2B5EF4-FFF2-40B4-BE49-F238E27FC236}">
                <a16:creationId xmlns:a16="http://schemas.microsoft.com/office/drawing/2014/main" id="{5B1C2737-CC34-4536-92B6-65FBE835CAA5}"/>
              </a:ext>
            </a:extLst>
          </p:cNvPr>
          <p:cNvSpPr>
            <a:spLocks xmlns:a="http://schemas.openxmlformats.org/drawingml/2006/main" noGrp="1"/>
          </p:cNvSpPr>
          <p:nvPr/>
        </p:nvSpPr>
        <p:spPr>
          <a:xfrm xmlns:a="http://schemas.openxmlformats.org/drawingml/2006/main">
            <a:off x="714375" y="1466850"/>
            <a:ext cx="3095625" cy="3048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입력과 수치 선별</a:t>
            </a:r>
          </a:p>
        </p:txBody>
      </p:sp>
      <p:sp>
        <p:nvSpPr>
          <p:cNvPr id="8" name="">
            <a:extLst xmlns:a="http://schemas.openxmlformats.org/drawingml/2006/main">
              <a:ext uri="{FF2B5EF4-FFF2-40B4-BE49-F238E27FC236}">
                <a16:creationId xmlns:a16="http://schemas.microsoft.com/office/drawing/2014/main" id="{56853924-8ED4-4673-8437-42BA7F579B15}"/>
              </a:ext>
            </a:extLst>
          </p:cNvPr>
          <p:cNvSpPr>
            <a:spLocks xmlns:a="http://schemas.openxmlformats.org/drawingml/2006/main" noGrp="1"/>
          </p:cNvSpPr>
          <p:nvPr/>
        </p:nvSpPr>
        <p:spPr>
          <a:xfrm xmlns:a="http://schemas.openxmlformats.org/drawingml/2006/main">
            <a:off x="4495800" y="1381125"/>
            <a:ext cx="3333750" cy="4048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8"/>
            </a:solidFill>
          </a:ln>
        </p:spPr>
      </p:sp>
      <p:sp>
        <p:nvSpPr>
          <p:cNvPr id="9" name="">
            <a:extLst xmlns:a="http://schemas.openxmlformats.org/drawingml/2006/main">
              <a:ext uri="{FF2B5EF4-FFF2-40B4-BE49-F238E27FC236}">
                <a16:creationId xmlns:a16="http://schemas.microsoft.com/office/drawing/2014/main" id="{3C8D65DE-A02D-49E1-BFAC-4CCE1F9502B1}"/>
              </a:ext>
            </a:extLst>
          </p:cNvPr>
          <p:cNvSpPr>
            <a:spLocks xmlns:a="http://schemas.openxmlformats.org/drawingml/2006/main" noGrp="1"/>
          </p:cNvSpPr>
          <p:nvPr/>
        </p:nvSpPr>
        <p:spPr>
          <a:xfrm xmlns:a="http://schemas.openxmlformats.org/drawingml/2006/main">
            <a:off x="4495800" y="1381125"/>
            <a:ext cx="3333750" cy="457200"/>
          </a:xfrm>
          <a:prstGeom xmlns:a="http://schemas.openxmlformats.org/drawingml/2006/main" prst="rect">
            <a:avLst/>
          </a:prstGeom>
          <a:solidFill xmlns:a="http://schemas.openxmlformats.org/drawingml/2006/main">
            <a:srgbClr val="087F8C"/>
          </a:solidFill>
          <a:ln xmlns:a="http://schemas.openxmlformats.org/drawingml/2006/main" w="9525">
            <a:solidFill>
              <a:srgbClr val="087F8C"/>
            </a:solidFill>
          </a:ln>
        </p:spPr>
      </p:sp>
      <p:sp>
        <p:nvSpPr>
          <p:cNvPr id="10" name="">
            <a:extLst xmlns:a="http://schemas.openxmlformats.org/drawingml/2006/main">
              <a:ext uri="{FF2B5EF4-FFF2-40B4-BE49-F238E27FC236}">
                <a16:creationId xmlns:a16="http://schemas.microsoft.com/office/drawing/2014/main" id="{E7E32BDD-A2E5-435C-A822-A4D4C56CA314}"/>
              </a:ext>
            </a:extLst>
          </p:cNvPr>
          <p:cNvSpPr>
            <a:spLocks xmlns:a="http://schemas.openxmlformats.org/drawingml/2006/main" noGrp="1"/>
          </p:cNvSpPr>
          <p:nvPr/>
        </p:nvSpPr>
        <p:spPr>
          <a:xfrm xmlns:a="http://schemas.openxmlformats.org/drawingml/2006/main">
            <a:off x="4638675" y="1466850"/>
            <a:ext cx="3095625" cy="3048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고정 VLM</a:t>
            </a:r>
          </a:p>
        </p:txBody>
      </p:sp>
      <p:sp>
        <p:nvSpPr>
          <p:cNvPr id="11" name="">
            <a:extLst xmlns:a="http://schemas.openxmlformats.org/drawingml/2006/main">
              <a:ext uri="{FF2B5EF4-FFF2-40B4-BE49-F238E27FC236}">
                <a16:creationId xmlns:a16="http://schemas.microsoft.com/office/drawing/2014/main" id="{3D838EF7-463E-4B05-B73A-86B6B8620AE0}"/>
              </a:ext>
            </a:extLst>
          </p:cNvPr>
          <p:cNvSpPr>
            <a:spLocks xmlns:a="http://schemas.openxmlformats.org/drawingml/2006/main" noGrp="1"/>
          </p:cNvSpPr>
          <p:nvPr/>
        </p:nvSpPr>
        <p:spPr>
          <a:xfrm xmlns:a="http://schemas.openxmlformats.org/drawingml/2006/main">
            <a:off x="8286750" y="1381125"/>
            <a:ext cx="3333750" cy="4048125"/>
          </a:xfrm>
          <a:prstGeom xmlns:a="http://schemas.openxmlformats.org/drawingml/2006/main" prst="rect">
            <a:avLst/>
          </a:prstGeom>
          <a:solidFill xmlns:a="http://schemas.openxmlformats.org/drawingml/2006/main">
            <a:srgbClr val="FFFFFF"/>
          </a:solidFill>
          <a:ln xmlns:a="http://schemas.openxmlformats.org/drawingml/2006/main" w="9525">
            <a:solidFill>
              <a:srgbClr val="D5DFE8"/>
            </a:solidFill>
          </a:ln>
        </p:spPr>
      </p:sp>
      <p:sp>
        <p:nvSpPr>
          <p:cNvPr id="12" name="">
            <a:extLst xmlns:a="http://schemas.openxmlformats.org/drawingml/2006/main">
              <a:ext uri="{FF2B5EF4-FFF2-40B4-BE49-F238E27FC236}">
                <a16:creationId xmlns:a16="http://schemas.microsoft.com/office/drawing/2014/main" id="{F7A9FFCB-8FC2-4935-B200-88C9C360B832}"/>
              </a:ext>
            </a:extLst>
          </p:cNvPr>
          <p:cNvSpPr>
            <a:spLocks xmlns:a="http://schemas.openxmlformats.org/drawingml/2006/main" noGrp="1"/>
          </p:cNvSpPr>
          <p:nvPr/>
        </p:nvSpPr>
        <p:spPr>
          <a:xfrm xmlns:a="http://schemas.openxmlformats.org/drawingml/2006/main">
            <a:off x="8286750" y="1381125"/>
            <a:ext cx="3333750" cy="457200"/>
          </a:xfrm>
          <a:prstGeom xmlns:a="http://schemas.openxmlformats.org/drawingml/2006/main" prst="rect">
            <a:avLst/>
          </a:prstGeom>
          <a:solidFill xmlns:a="http://schemas.openxmlformats.org/drawingml/2006/main">
            <a:srgbClr val="193A66"/>
          </a:solidFill>
          <a:ln xmlns:a="http://schemas.openxmlformats.org/drawingml/2006/main" w="9525">
            <a:solidFill>
              <a:srgbClr val="193A66"/>
            </a:solidFill>
          </a:ln>
        </p:spPr>
      </p:sp>
      <p:sp>
        <p:nvSpPr>
          <p:cNvPr id="13" name="">
            <a:extLst xmlns:a="http://schemas.openxmlformats.org/drawingml/2006/main">
              <a:ext uri="{FF2B5EF4-FFF2-40B4-BE49-F238E27FC236}">
                <a16:creationId xmlns:a16="http://schemas.microsoft.com/office/drawing/2014/main" id="{29B0F00A-CA0A-4C00-A04F-E96AD66A0D01}"/>
              </a:ext>
            </a:extLst>
          </p:cNvPr>
          <p:cNvSpPr>
            <a:spLocks xmlns:a="http://schemas.openxmlformats.org/drawingml/2006/main" noGrp="1"/>
          </p:cNvSpPr>
          <p:nvPr/>
        </p:nvSpPr>
        <p:spPr>
          <a:xfrm xmlns:a="http://schemas.openxmlformats.org/drawingml/2006/main">
            <a:off x="8429625" y="1466850"/>
            <a:ext cx="3095625" cy="3048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점수 비교</a:t>
            </a:r>
          </a:p>
        </p:txBody>
      </p:sp>
      <p:sp>
        <p:nvSpPr>
          <p:cNvPr id="14" name="">
            <a:extLst xmlns:a="http://schemas.openxmlformats.org/drawingml/2006/main">
              <a:ext uri="{FF2B5EF4-FFF2-40B4-BE49-F238E27FC236}">
                <a16:creationId xmlns:a16="http://schemas.microsoft.com/office/drawing/2014/main" id="{48115CCC-C8F0-4104-8B61-708D27DA4648}"/>
              </a:ext>
            </a:extLst>
          </p:cNvPr>
          <p:cNvSpPr>
            <a:spLocks xmlns:a="http://schemas.openxmlformats.org/drawingml/2006/main" noGrp="1"/>
          </p:cNvSpPr>
          <p:nvPr/>
        </p:nvSpPr>
        <p:spPr>
          <a:xfrm xmlns:a="http://schemas.openxmlformats.org/drawingml/2006/main">
            <a:off x="762000" y="2047875"/>
            <a:ext cx="3095625" cy="7429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650" b="1">
                <a:solidFill>
                  <a:srgbClr val="111111"/>
                </a:solidFill>
                <a:latin typeface="Malgun Gothic"/>
                <a:ea typeface="Malgun Gothic"/>
                <a:cs typeface="Malgun Gothic"/>
              </a:defRPr>
            </a:pPr>
            <a:r>
              <a:rPr sz="1650" b="1">
                <a:solidFill>
                  <a:srgbClr val="111111"/>
                </a:solidFill>
                <a:latin typeface="Malgun Gothic"/>
                <a:ea typeface="Malgun Gothic"/>
                <a:cs typeface="Malgun Gothic"/>
              </a:rPr>
              <a:t>공통 입력</a:t>
            </a:r>
          </a:p>
          <a:p xmlns:a="http://schemas.openxmlformats.org/drawingml/2006/main">
            <a:pPr>
              <a:defRPr sz="1650" b="1">
                <a:solidFill>
                  <a:srgbClr val="111111"/>
                </a:solidFill>
                <a:latin typeface="Malgun Gothic"/>
                <a:ea typeface="Malgun Gothic"/>
                <a:cs typeface="Malgun Gothic"/>
              </a:defRPr>
            </a:pPr>
            <a:r>
              <a:rPr sz="1650" b="1">
                <a:solidFill>
                  <a:srgbClr val="111111"/>
                </a:solidFill>
                <a:latin typeface="Malgun Gothic"/>
                <a:ea typeface="Malgun Gothic"/>
                <a:cs typeface="Malgun Gothic"/>
              </a:rPr>
              <a:t>RGB 영상 + 과제 지침 + 시행 시간 T</a:t>
            </a:r>
          </a:p>
        </p:txBody>
      </p:sp>
      <p:sp>
        <p:nvSpPr>
          <p:cNvPr id="15" name="">
            <a:extLst xmlns:a="http://schemas.openxmlformats.org/drawingml/2006/main">
              <a:ext uri="{FF2B5EF4-FFF2-40B4-BE49-F238E27FC236}">
                <a16:creationId xmlns:a16="http://schemas.microsoft.com/office/drawing/2014/main" id="{71CA4EB2-7276-4743-B9AB-534D05C99A3D}"/>
              </a:ext>
            </a:extLst>
          </p:cNvPr>
          <p:cNvSpPr>
            <a:spLocks xmlns:a="http://schemas.openxmlformats.org/drawingml/2006/main" noGrp="1"/>
          </p:cNvSpPr>
          <p:nvPr/>
        </p:nvSpPr>
        <p:spPr>
          <a:xfrm xmlns:a="http://schemas.openxmlformats.org/drawingml/2006/main">
            <a:off x="762000" y="2952750"/>
            <a:ext cx="3095625" cy="7429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수치 계산</a:t>
            </a:r>
          </a:p>
          <a:p xmlns:a="http://schemas.openxmlformats.org/drawingml/2006/main">
            <a:pP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원시 깊이·손 추적에서 K1·K2 산출</a:t>
            </a:r>
          </a:p>
        </p:txBody>
      </p:sp>
      <p:sp>
        <p:nvSpPr>
          <p:cNvPr id="16" name="">
            <a:extLst xmlns:a="http://schemas.openxmlformats.org/drawingml/2006/main">
              <a:ext uri="{FF2B5EF4-FFF2-40B4-BE49-F238E27FC236}">
                <a16:creationId xmlns:a16="http://schemas.microsoft.com/office/drawing/2014/main" id="{9308196C-0E70-45BB-8879-891F2F9AB435}"/>
              </a:ext>
            </a:extLst>
          </p:cNvPr>
          <p:cNvSpPr>
            <a:spLocks xmlns:a="http://schemas.openxmlformats.org/drawingml/2006/main" noGrp="1"/>
          </p:cNvSpPr>
          <p:nvPr/>
        </p:nvSpPr>
        <p:spPr>
          <a:xfrm xmlns:a="http://schemas.openxmlformats.org/drawingml/2006/main">
            <a:off x="762000" y="3952875"/>
            <a:ext cx="3095625"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제공 조건</a:t>
            </a:r>
          </a:p>
          <a:p xmlns:a="http://schemas.openxmlformats.org/drawingml/2006/main">
            <a:pP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A1 없음 / A2 전체 제공</a:t>
            </a:r>
          </a:p>
          <a:p xmlns:a="http://schemas.openxmlformats.org/drawingml/2006/main">
            <a:pP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A3 Q로 선별 / R 무작위 제외</a:t>
            </a:r>
          </a:p>
        </p:txBody>
      </p:sp>
      <p:sp>
        <p:nvSpPr>
          <p:cNvPr id="17" name="">
            <a:extLst xmlns:a="http://schemas.openxmlformats.org/drawingml/2006/main">
              <a:ext uri="{FF2B5EF4-FFF2-40B4-BE49-F238E27FC236}">
                <a16:creationId xmlns:a16="http://schemas.microsoft.com/office/drawing/2014/main" id="{D7BB78BA-526A-436F-9EE8-09429D824831}"/>
              </a:ext>
            </a:extLst>
          </p:cNvPr>
          <p:cNvSpPr>
            <a:spLocks xmlns:a="http://schemas.openxmlformats.org/drawingml/2006/main" noGrp="1"/>
          </p:cNvSpPr>
          <p:nvPr/>
        </p:nvSpPr>
        <p:spPr>
          <a:xfrm xmlns:a="http://schemas.openxmlformats.org/drawingml/2006/main">
            <a:off x="4686300" y="2143125"/>
            <a:ext cx="2952750" cy="838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800" b="1">
                <a:solidFill>
                  <a:srgbClr val="111111"/>
                </a:solidFill>
                <a:latin typeface="Malgun Gothic"/>
                <a:ea typeface="Malgun Gothic"/>
                <a:cs typeface="Malgun Gothic"/>
              </a:defRPr>
            </a:pPr>
            <a:r>
              <a:rPr sz="1800" b="1">
                <a:solidFill>
                  <a:srgbClr val="111111"/>
                </a:solidFill>
                <a:latin typeface="Malgun Gothic"/>
                <a:ea typeface="Malgun Gothic"/>
                <a:cs typeface="Malgun Gothic"/>
              </a:rPr>
              <a:t>Qwen2.5-VL-72B</a:t>
            </a:r>
          </a:p>
          <a:p xmlns:a="http://schemas.openxmlformats.org/drawingml/2006/main">
            <a:pPr>
              <a:defRPr sz="1800" b="1">
                <a:solidFill>
                  <a:srgbClr val="111111"/>
                </a:solidFill>
                <a:latin typeface="Malgun Gothic"/>
                <a:ea typeface="Malgun Gothic"/>
                <a:cs typeface="Malgun Gothic"/>
              </a:defRPr>
            </a:pPr>
            <a:r>
              <a:rPr sz="1800" b="1">
                <a:solidFill>
                  <a:srgbClr val="111111"/>
                </a:solidFill>
                <a:latin typeface="Malgun Gothic"/>
                <a:ea typeface="Malgun Gothic"/>
                <a:cs typeface="Malgun Gothic"/>
              </a:rPr>
              <a:t>추가 학습 없이 동일 모델 사용</a:t>
            </a:r>
          </a:p>
        </p:txBody>
      </p:sp>
      <p:sp>
        <p:nvSpPr>
          <p:cNvPr id="18" name="">
            <a:extLst xmlns:a="http://schemas.openxmlformats.org/drawingml/2006/main">
              <a:ext uri="{FF2B5EF4-FFF2-40B4-BE49-F238E27FC236}">
                <a16:creationId xmlns:a16="http://schemas.microsoft.com/office/drawing/2014/main" id="{3B6957C4-5AA3-4E61-BEFB-3D37B9B49691}"/>
              </a:ext>
            </a:extLst>
          </p:cNvPr>
          <p:cNvSpPr>
            <a:spLocks xmlns:a="http://schemas.openxmlformats.org/drawingml/2006/main" noGrp="1"/>
          </p:cNvSpPr>
          <p:nvPr/>
        </p:nvSpPr>
        <p:spPr>
          <a:xfrm xmlns:a="http://schemas.openxmlformats.org/drawingml/2006/main">
            <a:off x="4686300" y="3333750"/>
            <a:ext cx="2952750" cy="1524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650" b="0">
                <a:solidFill>
                  <a:srgbClr val="111111"/>
                </a:solidFill>
                <a:latin typeface="Malgun Gothic"/>
                <a:ea typeface="Malgun Gothic"/>
                <a:cs typeface="Malgun Gothic"/>
              </a:defRPr>
            </a:pPr>
            <a:r>
              <a:rPr sz="1650" b="0">
                <a:solidFill>
                  <a:srgbClr val="111111"/>
                </a:solidFill>
                <a:latin typeface="Malgun Gothic"/>
                <a:ea typeface="Malgun Gothic"/>
                <a:cs typeface="Malgun Gothic"/>
              </a:rPr>
              <a:t>동일 영상·지침·프레임</a:t>
            </a:r>
          </a:p>
          <a:p xmlns:a="http://schemas.openxmlformats.org/drawingml/2006/main">
            <a:pPr>
              <a:defRPr sz="1650" b="0">
                <a:solidFill>
                  <a:srgbClr val="111111"/>
                </a:solidFill>
                <a:latin typeface="Malgun Gothic"/>
                <a:ea typeface="Malgun Gothic"/>
                <a:cs typeface="Malgun Gothic"/>
              </a:defRPr>
            </a:pPr>
            <a:r>
              <a:rPr sz="1650" b="0">
                <a:solidFill>
                  <a:srgbClr val="111111"/>
                </a:solidFill>
                <a:latin typeface="Malgun Gothic"/>
                <a:ea typeface="Malgun Gothic"/>
                <a:cs typeface="Malgun Gothic"/>
              </a:rPr>
              <a:t>수치의 제공 여부만 변경</a:t>
            </a:r>
          </a:p>
          <a:p xmlns:a="http://schemas.openxmlformats.org/drawingml/2006/main">
            <a:r>
              <a:t/>
            </a:r>
          </a:p>
          <a:p xmlns:a="http://schemas.openxmlformats.org/drawingml/2006/main">
            <a:pPr>
              <a:defRPr sz="1650" b="0">
                <a:solidFill>
                  <a:srgbClr val="111111"/>
                </a:solidFill>
                <a:latin typeface="Malgun Gothic"/>
                <a:ea typeface="Malgun Gothic"/>
                <a:cs typeface="Malgun Gothic"/>
              </a:defRPr>
            </a:pPr>
            <a:r>
              <a:rPr sz="1650" b="0">
                <a:solidFill>
                  <a:srgbClr val="111111"/>
                </a:solidFill>
                <a:latin typeface="Malgun Gothic"/>
                <a:ea typeface="Malgun Gothic"/>
                <a:cs typeface="Malgun Gothic"/>
              </a:rPr>
              <a:t>시행별 ARAT 0–3점 예측</a:t>
            </a:r>
          </a:p>
        </p:txBody>
      </p:sp>
      <p:sp>
        <p:nvSpPr>
          <p:cNvPr id="19" name="">
            <a:extLst xmlns:a="http://schemas.openxmlformats.org/drawingml/2006/main">
              <a:ext uri="{FF2B5EF4-FFF2-40B4-BE49-F238E27FC236}">
                <a16:creationId xmlns:a16="http://schemas.microsoft.com/office/drawing/2014/main" id="{D62B2D52-BA92-45A8-A66B-1DAFB1F49430}"/>
              </a:ext>
            </a:extLst>
          </p:cNvPr>
          <p:cNvSpPr>
            <a:spLocks xmlns:a="http://schemas.openxmlformats.org/drawingml/2006/main" noGrp="1"/>
          </p:cNvSpPr>
          <p:nvPr/>
        </p:nvSpPr>
        <p:spPr>
          <a:xfrm xmlns:a="http://schemas.openxmlformats.org/drawingml/2006/main">
            <a:off x="8477250" y="2047875"/>
            <a:ext cx="2952750" cy="838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650" b="1">
                <a:solidFill>
                  <a:srgbClr val="111111"/>
                </a:solidFill>
                <a:latin typeface="Malgun Gothic"/>
                <a:ea typeface="Malgun Gothic"/>
                <a:cs typeface="Malgun Gothic"/>
              </a:defRPr>
            </a:pPr>
            <a:r>
              <a:rPr sz="1650" b="1">
                <a:solidFill>
                  <a:srgbClr val="111111"/>
                </a:solidFill>
                <a:latin typeface="Malgun Gothic"/>
                <a:ea typeface="Malgun Gothic"/>
                <a:cs typeface="Malgun Gothic"/>
              </a:rPr>
              <a:t>치료사 2인의 기준점수</a:t>
            </a:r>
          </a:p>
          <a:p xmlns:a="http://schemas.openxmlformats.org/drawingml/2006/main">
            <a:pPr>
              <a:defRPr sz="1650" b="1">
                <a:solidFill>
                  <a:srgbClr val="111111"/>
                </a:solidFill>
                <a:latin typeface="Malgun Gothic"/>
                <a:ea typeface="Malgun Gothic"/>
                <a:cs typeface="Malgun Gothic"/>
              </a:defRPr>
            </a:pPr>
            <a:r>
              <a:rPr sz="1650" b="1">
                <a:solidFill>
                  <a:srgbClr val="111111"/>
                </a:solidFill>
                <a:latin typeface="Malgun Gothic"/>
                <a:ea typeface="Malgun Gothic"/>
                <a:cs typeface="Malgun Gothic"/>
              </a:rPr>
              <a:t>같은 시행의 예측점수와 비교</a:t>
            </a:r>
          </a:p>
        </p:txBody>
      </p:sp>
      <p:sp>
        <p:nvSpPr>
          <p:cNvPr id="20" name="">
            <a:extLst xmlns:a="http://schemas.openxmlformats.org/drawingml/2006/main">
              <a:ext uri="{FF2B5EF4-FFF2-40B4-BE49-F238E27FC236}">
                <a16:creationId xmlns:a16="http://schemas.microsoft.com/office/drawing/2014/main" id="{654F5149-DDDA-41E1-B45B-39BD655D9D5A}"/>
              </a:ext>
            </a:extLst>
          </p:cNvPr>
          <p:cNvSpPr>
            <a:spLocks xmlns:a="http://schemas.openxmlformats.org/drawingml/2006/main" noGrp="1"/>
          </p:cNvSpPr>
          <p:nvPr/>
        </p:nvSpPr>
        <p:spPr>
          <a:xfrm xmlns:a="http://schemas.openxmlformats.org/drawingml/2006/main">
            <a:off x="8477250" y="3209925"/>
            <a:ext cx="2952750" cy="1905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650" b="0">
                <a:solidFill>
                  <a:srgbClr val="111111"/>
                </a:solidFill>
                <a:latin typeface="Malgun Gothic"/>
                <a:ea typeface="Malgun Gothic"/>
                <a:cs typeface="Malgun Gothic"/>
              </a:defRPr>
            </a:pPr>
            <a:r>
              <a:rPr sz="1650" b="0">
                <a:solidFill>
                  <a:srgbClr val="111111"/>
                </a:solidFill>
                <a:latin typeface="Malgun Gothic"/>
                <a:ea typeface="Malgun Gothic"/>
                <a:cs typeface="Malgun Gothic"/>
              </a:rPr>
              <a:t>A2 vs A1  수치 추가 효과</a:t>
            </a:r>
          </a:p>
          <a:p xmlns:a="http://schemas.openxmlformats.org/drawingml/2006/main">
            <a:r>
              <a:t/>
            </a:r>
          </a:p>
          <a:p xmlns:a="http://schemas.openxmlformats.org/drawingml/2006/main">
            <a:pPr>
              <a:defRPr sz="1650" b="0">
                <a:solidFill>
                  <a:srgbClr val="111111"/>
                </a:solidFill>
                <a:latin typeface="Malgun Gothic"/>
                <a:ea typeface="Malgun Gothic"/>
                <a:cs typeface="Malgun Gothic"/>
              </a:defRPr>
            </a:pPr>
            <a:r>
              <a:rPr sz="1650" b="0">
                <a:solidFill>
                  <a:srgbClr val="111111"/>
                </a:solidFill>
                <a:latin typeface="Malgun Gothic"/>
                <a:ea typeface="Malgun Gothic"/>
                <a:cs typeface="Malgun Gothic"/>
              </a:rPr>
              <a:t>A3 vs A2  수치 선별 효과</a:t>
            </a:r>
          </a:p>
          <a:p xmlns:a="http://schemas.openxmlformats.org/drawingml/2006/main">
            <a:r>
              <a:t/>
            </a:r>
          </a:p>
          <a:p xmlns:a="http://schemas.openxmlformats.org/drawingml/2006/main">
            <a:pPr>
              <a:defRPr sz="1650" b="0">
                <a:solidFill>
                  <a:srgbClr val="111111"/>
                </a:solidFill>
                <a:latin typeface="Malgun Gothic"/>
                <a:ea typeface="Malgun Gothic"/>
                <a:cs typeface="Malgun Gothic"/>
              </a:defRPr>
            </a:pPr>
            <a:r>
              <a:rPr sz="1650" b="0">
                <a:solidFill>
                  <a:srgbClr val="111111"/>
                </a:solidFill>
                <a:latin typeface="Malgun Gothic"/>
                <a:ea typeface="Malgun Gothic"/>
                <a:cs typeface="Malgun Gothic"/>
              </a:rPr>
              <a:t>A3 vs R    선별 기준의 효과</a:t>
            </a:r>
          </a:p>
        </p:txBody>
      </p:sp>
      <p:sp>
        <p:nvSpPr>
          <p:cNvPr id="21" name="">
            <a:extLst xmlns:a="http://schemas.openxmlformats.org/drawingml/2006/main">
              <a:ext uri="{FF2B5EF4-FFF2-40B4-BE49-F238E27FC236}">
                <a16:creationId xmlns:a16="http://schemas.microsoft.com/office/drawing/2014/main" id="{C1DC61C1-C49E-449E-8537-430A90FA20D6}"/>
              </a:ext>
            </a:extLst>
          </p:cNvPr>
          <p:cNvSpPr>
            <a:spLocks xmlns:a="http://schemas.openxmlformats.org/drawingml/2006/main" noGrp="1"/>
          </p:cNvSpPr>
          <p:nvPr/>
        </p:nvSpPr>
        <p:spPr>
          <a:xfrm xmlns:a="http://schemas.openxmlformats.org/drawingml/2006/main">
            <a:off x="4105275" y="3143250"/>
            <a:ext cx="381000" cy="5238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2550" b="1">
                <a:solidFill>
                  <a:srgbClr val="193A66"/>
                </a:solidFill>
                <a:latin typeface="Malgun Gothic"/>
                <a:ea typeface="Malgun Gothic"/>
                <a:cs typeface="Malgun Gothic"/>
              </a:defRPr>
            </a:pPr>
            <a:r>
              <a:rPr sz="2550" b="1">
                <a:solidFill>
                  <a:srgbClr val="193A66"/>
                </a:solidFill>
                <a:latin typeface="Malgun Gothic"/>
                <a:ea typeface="Malgun Gothic"/>
                <a:cs typeface="Malgun Gothic"/>
              </a:rPr>
              <a:t>→</a:t>
            </a:r>
          </a:p>
        </p:txBody>
      </p:sp>
      <p:sp>
        <p:nvSpPr>
          <p:cNvPr id="22" name="">
            <a:extLst xmlns:a="http://schemas.openxmlformats.org/drawingml/2006/main">
              <a:ext uri="{FF2B5EF4-FFF2-40B4-BE49-F238E27FC236}">
                <a16:creationId xmlns:a16="http://schemas.microsoft.com/office/drawing/2014/main" id="{1707BD77-FEC1-4DBC-80C8-A30C4FB8E2AD}"/>
              </a:ext>
            </a:extLst>
          </p:cNvPr>
          <p:cNvSpPr>
            <a:spLocks xmlns:a="http://schemas.openxmlformats.org/drawingml/2006/main" noGrp="1"/>
          </p:cNvSpPr>
          <p:nvPr/>
        </p:nvSpPr>
        <p:spPr>
          <a:xfrm xmlns:a="http://schemas.openxmlformats.org/drawingml/2006/main">
            <a:off x="7848600" y="3143250"/>
            <a:ext cx="381000" cy="5238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2550" b="1">
                <a:solidFill>
                  <a:srgbClr val="193A66"/>
                </a:solidFill>
                <a:latin typeface="Malgun Gothic"/>
                <a:ea typeface="Malgun Gothic"/>
                <a:cs typeface="Malgun Gothic"/>
              </a:defRPr>
            </a:pPr>
            <a:r>
              <a:rPr sz="2550" b="1">
                <a:solidFill>
                  <a:srgbClr val="193A66"/>
                </a:solidFill>
                <a:latin typeface="Malgun Gothic"/>
                <a:ea typeface="Malgun Gothic"/>
                <a:cs typeface="Malgun Gothic"/>
              </a:rPr>
              <a:t>→</a:t>
            </a:r>
          </a:p>
        </p:txBody>
      </p:sp>
      <p:sp>
        <p:nvSpPr>
          <p:cNvPr id="23" name="">
            <a:extLst xmlns:a="http://schemas.openxmlformats.org/drawingml/2006/main">
              <a:ext uri="{FF2B5EF4-FFF2-40B4-BE49-F238E27FC236}">
                <a16:creationId xmlns:a16="http://schemas.microsoft.com/office/drawing/2014/main" id="{4791844B-2D6B-4418-ABDC-1ACBD54CC7F8}"/>
              </a:ext>
            </a:extLst>
          </p:cNvPr>
          <p:cNvSpPr>
            <a:spLocks xmlns:a="http://schemas.openxmlformats.org/drawingml/2006/main" noGrp="1"/>
          </p:cNvSpPr>
          <p:nvPr/>
        </p:nvSpPr>
        <p:spPr>
          <a:xfrm xmlns:a="http://schemas.openxmlformats.org/drawingml/2006/main">
            <a:off x="571500" y="6096000"/>
            <a:ext cx="11049000" cy="523875"/>
          </a:xfrm>
          <a:prstGeom xmlns:a="http://schemas.openxmlformats.org/drawingml/2006/main" prst="rect">
            <a:avLst/>
          </a:prstGeom>
          <a:solidFill xmlns:a="http://schemas.openxmlformats.org/drawingml/2006/main">
            <a:srgbClr val="193A66"/>
          </a:solidFill>
          <a:ln xmlns:a="http://schemas.openxmlformats.org/drawingml/2006/main" w="9525">
            <a:solidFill>
              <a:srgbClr val="193A66"/>
            </a:solidFill>
          </a:ln>
        </p:spPr>
      </p:sp>
      <p:sp>
        <p:nvSpPr>
          <p:cNvPr id="24" name="">
            <a:extLst xmlns:a="http://schemas.openxmlformats.org/drawingml/2006/main">
              <a:ext uri="{FF2B5EF4-FFF2-40B4-BE49-F238E27FC236}">
                <a16:creationId xmlns:a16="http://schemas.microsoft.com/office/drawing/2014/main" id="{93324E86-CF71-45DC-9334-80E8B2115573}"/>
              </a:ext>
            </a:extLst>
          </p:cNvPr>
          <p:cNvSpPr>
            <a:spLocks xmlns:a="http://schemas.openxmlformats.org/drawingml/2006/main" noGrp="1"/>
          </p:cNvSpPr>
          <p:nvPr/>
        </p:nvSpPr>
        <p:spPr>
          <a:xfrm xmlns:a="http://schemas.openxmlformats.org/drawingml/2006/main">
            <a:off x="742950" y="6210300"/>
            <a:ext cx="10706100" cy="3429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평가 지표: MAE  =  치료사 기준점수와 예측점수의 평균절대오차</a:t>
            </a:r>
          </a:p>
        </p:txBody>
      </p:sp>
    </p:spTree>
    <p:extLst>
      <p:ext uri="{BB962C8B-B14F-4D97-AF65-F5344CB8AC3E}">
        <p14:creationId xmlns:p14="http://schemas.microsoft.com/office/powerpoint/2010/main" val="39501516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6189888-6445-4EB8-81FB-0889BFA01FCA}"/>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3" name="Text 1">
            <a:extLst xmlns:a="http://schemas.openxmlformats.org/drawingml/2006/main">
              <a:ext uri="{FF2B5EF4-FFF2-40B4-BE49-F238E27FC236}">
                <a16:creationId xmlns:a16="http://schemas.microsoft.com/office/drawing/2014/main" id="{35559279-7491-426B-BEA0-19C46ED2E596}"/>
              </a:ext>
            </a:extLst>
          </p:cNvPr>
          <p:cNvSpPr>
            <a:spLocks xmlns:a="http://schemas.openxmlformats.org/drawingml/2006/main" noGrp="1"/>
          </p:cNvSpPr>
          <p:nvPr/>
        </p:nvSpPr>
        <p:spPr>
          <a:xfrm xmlns:a="http://schemas.openxmlformats.org/drawingml/2006/main">
            <a:off x="11109960" y="347472"/>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9AA6B4"/>
                </a:solidFill>
                <a:latin typeface="Malgun Gothic"/>
                <a:ea typeface="Malgun Gothic"/>
                <a:cs typeface="Malgun Gothic"/>
              </a:rPr>
              <a:t>0</a:t>
            </a:r>
            <a:r>
              <a:rPr sz="1600" b="1">
                <a:solidFill>
                  <a:srgbClr val="9AA6B4"/>
                </a:solidFill>
                <a:latin typeface="Malgun Gothic"/>
                <a:ea typeface="Malgun Gothic"/>
                <a:cs typeface="Malgun Gothic"/>
              </a:rPr>
              <a:t>6</a:t>
            </a:r>
            <a:endParaRPr sz="1600"/>
          </a:p>
        </p:txBody>
      </p:sp>
      <p:sp>
        <p:nvSpPr>
          <p:cNvPr id="4" name="Text 2">
            <a:extLst xmlns:a="http://schemas.openxmlformats.org/drawingml/2006/main">
              <a:ext uri="{FF2B5EF4-FFF2-40B4-BE49-F238E27FC236}">
                <a16:creationId xmlns:a16="http://schemas.microsoft.com/office/drawing/2014/main" id="{4C849593-F852-4A76-B797-4A6678F5D5EC}"/>
              </a:ext>
            </a:extLst>
          </p:cNvPr>
          <p:cNvSpPr>
            <a:spLocks xmlns:a="http://schemas.openxmlformats.org/drawingml/2006/main" noGrp="1"/>
          </p:cNvSpPr>
          <p:nvPr/>
        </p:nvSpPr>
        <p:spPr>
          <a:xfrm xmlns:a="http://schemas.openxmlformats.org/drawingml/2006/main">
            <a:off x="571500" y="381000"/>
            <a:ext cx="10287000" cy="43815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입력 데이터와 제공 정보</a:t>
            </a:r>
            <a:endParaRPr sz="3200"/>
          </a:p>
        </p:txBody>
      </p:sp>
      <p:sp>
        <p:nvSpPr>
          <p:cNvPr id="5" name="Text 3">
            <a:extLst xmlns:a="http://schemas.openxmlformats.org/drawingml/2006/main">
              <a:ext uri="{FF2B5EF4-FFF2-40B4-BE49-F238E27FC236}">
                <a16:creationId xmlns:a16="http://schemas.microsoft.com/office/drawing/2014/main" id="{CFBBFFFF-E004-4724-AB3E-EA301E7E666C}"/>
              </a:ext>
            </a:extLst>
          </p:cNvPr>
          <p:cNvSpPr>
            <a:spLocks xmlns:a="http://schemas.openxmlformats.org/drawingml/2006/main" noGrp="1"/>
          </p:cNvSpPr>
          <p:nvPr/>
        </p:nvSpPr>
        <p:spPr>
          <a:xfrm xmlns:a="http://schemas.openxmlformats.org/drawingml/2006/main">
            <a:off x="566928" y="813816"/>
            <a:ext cx="10927080" cy="32004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같은 영상에서 수치를 계산하고, 조건별로 VLM에 제공할 수치를 결정한다.</a:t>
            </a:r>
            <a:endParaRPr sz="1600"/>
          </a:p>
        </p:txBody>
      </p:sp>
      <p:sp>
        <p:nvSpPr>
          <p:cNvPr id="6" name="Shape 4">
            <a:extLst xmlns:a="http://schemas.openxmlformats.org/drawingml/2006/main">
              <a:ext uri="{FF2B5EF4-FFF2-40B4-BE49-F238E27FC236}">
                <a16:creationId xmlns:a16="http://schemas.microsoft.com/office/drawing/2014/main" id="{4ADEDFA7-683B-4F42-852B-8B8D54AE73FD}"/>
              </a:ext>
            </a:extLst>
          </p:cNvPr>
          <p:cNvSpPr>
            <a:spLocks xmlns:a="http://schemas.openxmlformats.org/drawingml/2006/main" noGrp="1"/>
          </p:cNvSpPr>
          <p:nvPr/>
        </p:nvSpPr>
        <p:spPr>
          <a:xfrm xmlns:a="http://schemas.openxmlformats.org/drawingml/2006/main" rot="0" flipH="0" flipV="0">
            <a:off x="381000" y="1352550"/>
            <a:ext cx="3657600" cy="1724025"/>
          </a:xfrm>
          <a:prstGeom xmlns:a="http://schemas.openxmlformats.org/drawingml/2006/main" prst="rect">
            <a:avLst>
              <a:gd name="adj" fmla="val 5714"/>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7" name="Shape 5">
            <a:extLst xmlns:a="http://schemas.openxmlformats.org/drawingml/2006/main">
              <a:ext uri="{FF2B5EF4-FFF2-40B4-BE49-F238E27FC236}">
                <a16:creationId xmlns:a16="http://schemas.microsoft.com/office/drawing/2014/main" id="{C946F8E5-7D80-49BC-96EE-DED6A8B59F5B}"/>
              </a:ext>
            </a:extLst>
          </p:cNvPr>
          <p:cNvSpPr>
            <a:spLocks xmlns:a="http://schemas.openxmlformats.org/drawingml/2006/main" noGrp="1"/>
          </p:cNvSpPr>
          <p:nvPr/>
        </p:nvSpPr>
        <p:spPr>
          <a:xfrm xmlns:a="http://schemas.openxmlformats.org/drawingml/2006/main" rot="0" flipH="0" flipV="0">
            <a:off x="381000" y="1352550"/>
            <a:ext cx="3657600" cy="419100"/>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8" name="Text 6">
            <a:extLst xmlns:a="http://schemas.openxmlformats.org/drawingml/2006/main">
              <a:ext uri="{FF2B5EF4-FFF2-40B4-BE49-F238E27FC236}">
                <a16:creationId xmlns:a16="http://schemas.microsoft.com/office/drawing/2014/main" id="{51E4275C-F2EA-4F02-8ECD-537EB74DB43D}"/>
              </a:ext>
            </a:extLst>
          </p:cNvPr>
          <p:cNvSpPr>
            <a:spLocks xmlns:a="http://schemas.openxmlformats.org/drawingml/2006/main" noGrp="1"/>
          </p:cNvSpPr>
          <p:nvPr/>
        </p:nvSpPr>
        <p:spPr>
          <a:xfrm xmlns:a="http://schemas.openxmlformats.org/drawingml/2006/main" rot="0" flipH="0" flipV="0">
            <a:off x="514350" y="1428750"/>
            <a:ext cx="33909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수행 영상</a:t>
            </a:r>
            <a:endParaRPr sz="1600">
              <a:solidFill>
                <a:schemeClr val="bg1"/>
              </a:solidFill>
            </a:endParaRPr>
          </a:p>
        </p:txBody>
      </p:sp>
      <p:sp>
        <p:nvSpPr>
          <p:cNvPr id="9" name="Text 7">
            <a:extLst xmlns:a="http://schemas.openxmlformats.org/drawingml/2006/main">
              <a:ext uri="{FF2B5EF4-FFF2-40B4-BE49-F238E27FC236}">
                <a16:creationId xmlns:a16="http://schemas.microsoft.com/office/drawing/2014/main" id="{7D6A8906-2C6A-42B6-B485-56928FCDDF8D}"/>
              </a:ext>
            </a:extLst>
          </p:cNvPr>
          <p:cNvSpPr>
            <a:spLocks xmlns:a="http://schemas.openxmlformats.org/drawingml/2006/main" noGrp="1"/>
          </p:cNvSpPr>
          <p:nvPr/>
        </p:nvSpPr>
        <p:spPr>
          <a:xfrm xmlns:a="http://schemas.openxmlformats.org/drawingml/2006/main" rot="0" flipH="0" flipV="0">
            <a:off x="533400" y="1905000"/>
            <a:ext cx="3352800" cy="1104900"/>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D455: RGB·원시 깊이·시각 저장</a:t>
            </a:r>
            <a:endParaRPr sz="1400"/>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동일 프레임과 과제 지침 사용</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모든 조건에 시행 시간 T 제공</a:t>
            </a:r>
          </a:p>
        </p:txBody>
      </p:sp>
      <p:sp>
        <p:nvSpPr>
          <p:cNvPr id="10" name="Shape 8">
            <a:extLst xmlns:a="http://schemas.openxmlformats.org/drawingml/2006/main">
              <a:ext uri="{FF2B5EF4-FFF2-40B4-BE49-F238E27FC236}">
                <a16:creationId xmlns:a16="http://schemas.microsoft.com/office/drawing/2014/main" id="{15C3AF40-B042-4BC2-BA9D-ED7E0C527321}"/>
              </a:ext>
            </a:extLst>
          </p:cNvPr>
          <p:cNvSpPr>
            <a:spLocks xmlns:a="http://schemas.openxmlformats.org/drawingml/2006/main" noGrp="1"/>
          </p:cNvSpPr>
          <p:nvPr/>
        </p:nvSpPr>
        <p:spPr>
          <a:xfrm xmlns:a="http://schemas.openxmlformats.org/drawingml/2006/main" rot="0" flipH="0" flipV="0">
            <a:off x="4267200" y="1352550"/>
            <a:ext cx="3657600" cy="1724025"/>
          </a:xfrm>
          <a:prstGeom xmlns:a="http://schemas.openxmlformats.org/drawingml/2006/main" prst="rect">
            <a:avLst>
              <a:gd name="adj" fmla="val 5714"/>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11" name="Shape 9">
            <a:extLst xmlns:a="http://schemas.openxmlformats.org/drawingml/2006/main">
              <a:ext uri="{FF2B5EF4-FFF2-40B4-BE49-F238E27FC236}">
                <a16:creationId xmlns:a16="http://schemas.microsoft.com/office/drawing/2014/main" id="{426DA646-E2F8-41B9-B1D9-98A5F81E1D60}"/>
              </a:ext>
            </a:extLst>
          </p:cNvPr>
          <p:cNvSpPr>
            <a:spLocks xmlns:a="http://schemas.openxmlformats.org/drawingml/2006/main" noGrp="1"/>
          </p:cNvSpPr>
          <p:nvPr/>
        </p:nvSpPr>
        <p:spPr>
          <a:xfrm xmlns:a="http://schemas.openxmlformats.org/drawingml/2006/main" rot="0" flipH="0" flipV="0">
            <a:off x="4267200" y="1352550"/>
            <a:ext cx="3657600" cy="419100"/>
          </a:xfrm>
          <a:prstGeom xmlns:a="http://schemas.openxmlformats.org/drawingml/2006/main" prst="rect">
            <a:avLst/>
          </a:prstGeom>
          <a:solidFill xmlns:a="http://schemas.openxmlformats.org/drawingml/2006/main">
            <a:srgbClr val="087F8C"/>
          </a:solidFill>
          <a:ln xmlns:a="http://schemas.openxmlformats.org/drawingml/2006/main" w="12700">
            <a:solidFill>
              <a:srgbClr val="16A7B8">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12" name="Text 10">
            <a:extLst xmlns:a="http://schemas.openxmlformats.org/drawingml/2006/main">
              <a:ext uri="{FF2B5EF4-FFF2-40B4-BE49-F238E27FC236}">
                <a16:creationId xmlns:a16="http://schemas.microsoft.com/office/drawing/2014/main" id="{BBD85C1F-4689-4C4A-862A-692147F09CF4}"/>
              </a:ext>
            </a:extLst>
          </p:cNvPr>
          <p:cNvSpPr>
            <a:spLocks xmlns:a="http://schemas.openxmlformats.org/drawingml/2006/main" noGrp="1"/>
          </p:cNvSpPr>
          <p:nvPr/>
        </p:nvSpPr>
        <p:spPr>
          <a:xfrm xmlns:a="http://schemas.openxmlformats.org/drawingml/2006/main" rot="0" flipH="0" flipV="0">
            <a:off x="4400550" y="1428750"/>
            <a:ext cx="33909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K1·K2 수치</a:t>
            </a:r>
            <a:endParaRPr sz="1600">
              <a:solidFill>
                <a:schemeClr val="bg1"/>
              </a:solidFill>
            </a:endParaRPr>
          </a:p>
        </p:txBody>
      </p:sp>
      <p:sp>
        <p:nvSpPr>
          <p:cNvPr id="13" name="Text 11">
            <a:extLst xmlns:a="http://schemas.openxmlformats.org/drawingml/2006/main">
              <a:ext uri="{FF2B5EF4-FFF2-40B4-BE49-F238E27FC236}">
                <a16:creationId xmlns:a16="http://schemas.microsoft.com/office/drawing/2014/main" id="{0DC118C6-36DD-481E-B0A5-9278EF099AEF}"/>
              </a:ext>
            </a:extLst>
          </p:cNvPr>
          <p:cNvSpPr>
            <a:spLocks xmlns:a="http://schemas.openxmlformats.org/drawingml/2006/main" noGrp="1"/>
          </p:cNvSpPr>
          <p:nvPr/>
        </p:nvSpPr>
        <p:spPr>
          <a:xfrm xmlns:a="http://schemas.openxmlformats.org/drawingml/2006/main" rot="0" flipH="0" flipV="0">
            <a:off x="4419600" y="1905000"/>
            <a:ext cx="3352800" cy="1104900"/>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K1: 엄지–검지 표면점 거리 (mm)</a:t>
            </a:r>
            <a:endParaRPr sz="1400"/>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K2: 손목 표면점 속도 (mm/s)</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각 지표의 P95(95백분위수) 사용</a:t>
            </a:r>
          </a:p>
        </p:txBody>
      </p:sp>
      <p:sp>
        <p:nvSpPr>
          <p:cNvPr id="18" name="Shape 16">
            <a:extLst xmlns:a="http://schemas.openxmlformats.org/drawingml/2006/main">
              <a:ext uri="{FF2B5EF4-FFF2-40B4-BE49-F238E27FC236}">
                <a16:creationId xmlns:a16="http://schemas.microsoft.com/office/drawing/2014/main" id="{209350D0-BA91-46E3-88A2-7831754DD584}"/>
              </a:ext>
            </a:extLst>
          </p:cNvPr>
          <p:cNvSpPr>
            <a:spLocks xmlns:a="http://schemas.openxmlformats.org/drawingml/2006/main" noGrp="1"/>
          </p:cNvSpPr>
          <p:nvPr/>
        </p:nvSpPr>
        <p:spPr>
          <a:xfrm xmlns:a="http://schemas.openxmlformats.org/drawingml/2006/main">
            <a:off x="381000" y="3267075"/>
            <a:ext cx="3657600" cy="2171700"/>
          </a:xfrm>
          <a:prstGeom xmlns:a="http://schemas.openxmlformats.org/drawingml/2006/main" prst="roundRect">
            <a:avLst>
              <a:gd name="adj" fmla="val 3721"/>
            </a:avLst>
          </a:prstGeom>
          <a:blipFill xmlns:a="http://schemas.openxmlformats.org/drawingml/2006/main">
            <a:blip xmlns:r="http://schemas.openxmlformats.org/officeDocument/2006/relationships" r:embed="R73afe2cacac74203"/>
            <a:stretch>
              <a:fillRect l="0" t="0" r="0" b="0"/>
            </a:stretch>
          </a:blipFill>
          <a:ln xmlns:a="http://schemas.openxmlformats.org/drawingml/2006/main" w="12700">
            <a:solidFill>
              <a:srgbClr val="94A3B8"/>
            </a:solidFill>
            <a:prstDash val="solid"/>
          </a:ln>
        </p:spPr>
        <p:txBody>
          <a:bodyPr xmlns:a="http://schemas.openxmlformats.org/drawingml/2006/main" wrap="square" anchor="ctr"/>
          <a:lstStyle xmlns:a="http://schemas.openxmlformats.org/drawingml/2006/main"/>
          <a:p xmlns:a="http://schemas.openxmlformats.org/drawingml/2006/main">
            <a:pPr algn="ctr">
              <a:buNone/>
            </a:pPr>
            <a:endParaRPr sz="1500">
              <a:latin typeface="Malgun Gothic"/>
              <a:ea typeface="Malgun Gothic"/>
              <a:cs typeface="Malgun Gothic"/>
            </a:endParaRPr>
          </a:p>
        </p:txBody>
      </p:sp>
      <p:sp>
        <p:nvSpPr>
          <p:cNvPr id="26" name="Shape 24">
            <a:extLst xmlns:a="http://schemas.openxmlformats.org/drawingml/2006/main">
              <a:ext uri="{FF2B5EF4-FFF2-40B4-BE49-F238E27FC236}">
                <a16:creationId xmlns:a16="http://schemas.microsoft.com/office/drawing/2014/main" id="{5D6CA9D8-D59F-474E-B767-1C045FB5627D}"/>
              </a:ext>
            </a:extLst>
          </p:cNvPr>
          <p:cNvSpPr>
            <a:spLocks xmlns:a="http://schemas.openxmlformats.org/drawingml/2006/main" noGrp="1"/>
          </p:cNvSpPr>
          <p:nvPr/>
        </p:nvSpPr>
        <p:spPr>
          <a:xfrm xmlns:a="http://schemas.openxmlformats.org/drawingml/2006/main">
            <a:off x="4267200" y="3267075"/>
            <a:ext cx="3657600" cy="2171700"/>
          </a:xfrm>
          <a:prstGeom xmlns:a="http://schemas.openxmlformats.org/drawingml/2006/main" prst="roundRect">
            <a:avLst>
              <a:gd name="adj" fmla="val 3721"/>
            </a:avLst>
          </a:prstGeom>
          <a:blipFill xmlns:a="http://schemas.openxmlformats.org/drawingml/2006/main">
            <a:blip xmlns:r="http://schemas.openxmlformats.org/officeDocument/2006/relationships" r:embed="R8f555e342818471b"/>
            <a:stretch>
              <a:fillRect l="0" t="0" r="0" b="0"/>
            </a:stretch>
          </a:blipFill>
          <a:ln xmlns:a="http://schemas.openxmlformats.org/drawingml/2006/main" w="12700">
            <a:solidFill>
              <a:srgbClr val="94A3B8"/>
            </a:solidFill>
            <a:prstDash val="solid"/>
          </a:ln>
        </p:spPr>
        <p:txBody>
          <a:bodyPr xmlns:a="http://schemas.openxmlformats.org/drawingml/2006/main" wrap="square" anchor="ctr"/>
          <a:lstStyle xmlns:a="http://schemas.openxmlformats.org/drawingml/2006/main"/>
          <a:p xmlns:a="http://schemas.openxmlformats.org/drawingml/2006/main">
            <a:pPr algn="ctr">
              <a:buNone/>
            </a:pPr>
            <a:endParaRPr sz="1500">
              <a:latin typeface="Malgun Gothic"/>
              <a:ea typeface="Malgun Gothic"/>
              <a:cs typeface="Malgun Gothic"/>
            </a:endParaRPr>
          </a:p>
        </p:txBody>
      </p:sp>
      <p:sp>
        <p:nvSpPr>
          <p:cNvPr id="30" name="Shape 28">
            <a:extLst xmlns:a="http://schemas.openxmlformats.org/drawingml/2006/main">
              <a:ext uri="{FF2B5EF4-FFF2-40B4-BE49-F238E27FC236}">
                <a16:creationId xmlns:a16="http://schemas.microsoft.com/office/drawing/2014/main" id="{004665ED-910D-41E3-AAC9-F88087ACE16F}"/>
              </a:ext>
            </a:extLst>
          </p:cNvPr>
          <p:cNvSpPr>
            <a:spLocks xmlns:a="http://schemas.openxmlformats.org/drawingml/2006/main" noGrp="1"/>
          </p:cNvSpPr>
          <p:nvPr/>
        </p:nvSpPr>
        <p:spPr>
          <a:xfrm xmlns:a="http://schemas.openxmlformats.org/drawingml/2006/main">
            <a:off x="8153400" y="3267075"/>
            <a:ext cx="3657600" cy="2171700"/>
          </a:xfrm>
          <a:prstGeom xmlns:a="http://schemas.openxmlformats.org/drawingml/2006/main" prst="roundRect">
            <a:avLst>
              <a:gd name="adj" fmla="val 3721"/>
            </a:avLst>
          </a:prstGeom>
          <a:blipFill xmlns:a="http://schemas.openxmlformats.org/drawingml/2006/main">
            <a:blip xmlns:r="http://schemas.openxmlformats.org/officeDocument/2006/relationships" r:embed="Rb22893ecc42e4df5"/>
            <a:stretch>
              <a:fillRect l="0" t="0" r="0" b="0"/>
            </a:stretch>
          </a:blipFill>
          <a:ln xmlns:a="http://schemas.openxmlformats.org/drawingml/2006/main" w="12700">
            <a:solidFill>
              <a:srgbClr val="94A3B8"/>
            </a:solidFill>
            <a:prstDash val="solid"/>
          </a:ln>
        </p:spPr>
        <p:txBody>
          <a:bodyPr xmlns:a="http://schemas.openxmlformats.org/drawingml/2006/main" wrap="square" anchor="ctr"/>
          <a:lstStyle xmlns:a="http://schemas.openxmlformats.org/drawingml/2006/main"/>
          <a:p xmlns:a="http://schemas.openxmlformats.org/drawingml/2006/main">
            <a:pPr algn="ctr">
              <a:buNone/>
            </a:pPr>
            <a:endParaRPr sz="1400">
              <a:latin typeface="Malgun Gothic"/>
              <a:ea typeface="Malgun Gothic"/>
              <a:cs typeface="Malgun Gothic"/>
            </a:endParaRPr>
          </a:p>
        </p:txBody>
      </p:sp>
      <p:sp>
        <p:nvSpPr>
          <p:cNvPr id="14" name="Shape 12">
            <a:extLst xmlns:a="http://schemas.openxmlformats.org/drawingml/2006/main">
              <a:ext uri="{FF2B5EF4-FFF2-40B4-BE49-F238E27FC236}">
                <a16:creationId xmlns:a16="http://schemas.microsoft.com/office/drawing/2014/main" id="{E7760B66-E48F-4C4E-9E81-27376EFA2214}"/>
              </a:ext>
            </a:extLst>
          </p:cNvPr>
          <p:cNvSpPr>
            <a:spLocks xmlns:a="http://schemas.openxmlformats.org/drawingml/2006/main" noGrp="1"/>
          </p:cNvSpPr>
          <p:nvPr/>
        </p:nvSpPr>
        <p:spPr>
          <a:xfrm xmlns:a="http://schemas.openxmlformats.org/drawingml/2006/main" rot="0" flipH="0" flipV="0">
            <a:off x="8153400" y="1352550"/>
            <a:ext cx="3657600" cy="1724025"/>
          </a:xfrm>
          <a:prstGeom xmlns:a="http://schemas.openxmlformats.org/drawingml/2006/main" prst="rect">
            <a:avLst>
              <a:gd name="adj" fmla="val 5714"/>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15" name="Shape 13">
            <a:extLst xmlns:a="http://schemas.openxmlformats.org/drawingml/2006/main">
              <a:ext uri="{FF2B5EF4-FFF2-40B4-BE49-F238E27FC236}">
                <a16:creationId xmlns:a16="http://schemas.microsoft.com/office/drawing/2014/main" id="{DBCDD156-8A9F-4A22-8E29-4270E3DA13E1}"/>
              </a:ext>
            </a:extLst>
          </p:cNvPr>
          <p:cNvSpPr>
            <a:spLocks xmlns:a="http://schemas.openxmlformats.org/drawingml/2006/main" noGrp="1"/>
          </p:cNvSpPr>
          <p:nvPr/>
        </p:nvSpPr>
        <p:spPr>
          <a:xfrm xmlns:a="http://schemas.openxmlformats.org/drawingml/2006/main" rot="0" flipH="0" flipV="0">
            <a:off x="8153400" y="1352550"/>
            <a:ext cx="3657600" cy="419100"/>
          </a:xfrm>
          <a:prstGeom xmlns:a="http://schemas.openxmlformats.org/drawingml/2006/main" prst="rect">
            <a:avLst/>
          </a:prstGeom>
          <a:solidFill xmlns:a="http://schemas.openxmlformats.org/drawingml/2006/main">
            <a:srgbClr val="087F8C"/>
          </a:solidFill>
          <a:ln xmlns:a="http://schemas.openxmlformats.org/drawingml/2006/main" w="12700">
            <a:solidFill>
              <a:srgbClr val="F1A438">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16" name="Text 14">
            <a:extLst xmlns:a="http://schemas.openxmlformats.org/drawingml/2006/main">
              <a:ext uri="{FF2B5EF4-FFF2-40B4-BE49-F238E27FC236}">
                <a16:creationId xmlns:a16="http://schemas.microsoft.com/office/drawing/2014/main" id="{A3E5F66F-2F24-4580-9740-65F159B0A517}"/>
              </a:ext>
            </a:extLst>
          </p:cNvPr>
          <p:cNvSpPr>
            <a:spLocks xmlns:a="http://schemas.openxmlformats.org/drawingml/2006/main" noGrp="1"/>
          </p:cNvSpPr>
          <p:nvPr/>
        </p:nvSpPr>
        <p:spPr>
          <a:xfrm xmlns:a="http://schemas.openxmlformats.org/drawingml/2006/main" rot="0" flipH="0" flipV="0">
            <a:off x="8286750" y="1428750"/>
            <a:ext cx="33909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수치 선별 규칙 Q</a:t>
            </a:r>
            <a:endParaRPr sz="1600">
              <a:solidFill>
                <a:schemeClr val="bg1"/>
              </a:solidFill>
            </a:endParaRPr>
          </a:p>
        </p:txBody>
      </p:sp>
      <p:sp>
        <p:nvSpPr>
          <p:cNvPr id="17" name="Text 15">
            <a:extLst xmlns:a="http://schemas.openxmlformats.org/drawingml/2006/main">
              <a:ext uri="{FF2B5EF4-FFF2-40B4-BE49-F238E27FC236}">
                <a16:creationId xmlns:a16="http://schemas.microsoft.com/office/drawing/2014/main" id="{712B2382-F43F-4658-83D8-89B96EA40C0A}"/>
              </a:ext>
            </a:extLst>
          </p:cNvPr>
          <p:cNvSpPr>
            <a:spLocks xmlns:a="http://schemas.openxmlformats.org/drawingml/2006/main" noGrp="1"/>
          </p:cNvSpPr>
          <p:nvPr/>
        </p:nvSpPr>
        <p:spPr>
          <a:xfrm xmlns:a="http://schemas.openxmlformats.org/drawingml/2006/main" rot="0" flipH="0" flipV="0">
            <a:off x="8305800" y="1905000"/>
            <a:ext cx="3352800" cy="1104900"/>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깊이 유효 비율·결측·표본 수 확인</a:t>
            </a:r>
            <a:endParaRPr sz="1400"/>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깊이 경계 혼합·가림 확인</a:t>
            </a:r>
          </a:p>
          <a:p xmlns:a="http://schemas.openxmlformats.org/drawingml/2006/main">
            <a:pPr algn="l">
              <a:defRPr sz="1388" b="0">
                <a:solidFill>
                  <a:srgbClr val="111111"/>
                </a:solidFill>
                <a:latin typeface="Malgun Gothic"/>
                <a:ea typeface="Malgun Gothic"/>
                <a:cs typeface="Malgun Gothic"/>
              </a:defRPr>
            </a:pPr>
            <a:r>
              <a:rPr sz="1388" b="0">
                <a:solidFill>
                  <a:srgbClr val="111111"/>
                </a:solidFill>
                <a:latin typeface="Malgun Gothic"/>
                <a:ea typeface="Malgun Gothic"/>
                <a:cs typeface="Malgun Gothic"/>
              </a:rPr>
              <a:t>기준 미달 수치는 null로 보류</a:t>
            </a:r>
          </a:p>
        </p:txBody>
      </p:sp>
      <p:sp>
        <p:nvSpPr>
          <p:cNvPr id="31" name="">
            <a:extLst xmlns:a="http://schemas.openxmlformats.org/drawingml/2006/main">
              <a:ext uri="{FF2B5EF4-FFF2-40B4-BE49-F238E27FC236}">
                <a16:creationId xmlns:a16="http://schemas.microsoft.com/office/drawing/2014/main" id="{A34A6E20-3D9C-416B-A69F-8521AF482E61}"/>
              </a:ext>
            </a:extLst>
          </p:cNvPr>
          <p:cNvSpPr>
            <a:spLocks xmlns:a="http://schemas.openxmlformats.org/drawingml/2006/main" noGrp="1"/>
          </p:cNvSpPr>
          <p:nvPr/>
        </p:nvSpPr>
        <p:spPr>
          <a:xfrm xmlns:a="http://schemas.openxmlformats.org/drawingml/2006/main">
            <a:off x="381000" y="5534025"/>
            <a:ext cx="3657600" cy="333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500" b="1">
                <a:solidFill>
                  <a:srgbClr val="111111"/>
                </a:solidFill>
                <a:latin typeface="Malgun Gothic"/>
                <a:ea typeface="Malgun Gothic"/>
                <a:cs typeface="Malgun Gothic"/>
              </a:defRPr>
            </a:pPr>
            <a:r>
              <a:rPr sz="1500" b="1">
                <a:solidFill>
                  <a:srgbClr val="111111"/>
                </a:solidFill>
                <a:latin typeface="Malgun Gothic"/>
                <a:ea typeface="Malgun Gothic"/>
                <a:cs typeface="Malgun Gothic"/>
              </a:rPr>
              <a:t>RGB 손 추적 화면 예시</a:t>
            </a:r>
          </a:p>
        </p:txBody>
      </p:sp>
      <p:sp>
        <p:nvSpPr>
          <p:cNvPr id="32" name="">
            <a:extLst xmlns:a="http://schemas.openxmlformats.org/drawingml/2006/main">
              <a:ext uri="{FF2B5EF4-FFF2-40B4-BE49-F238E27FC236}">
                <a16:creationId xmlns:a16="http://schemas.microsoft.com/office/drawing/2014/main" id="{AF88522F-216C-4A53-B1EB-B251297EE6FD}"/>
              </a:ext>
            </a:extLst>
          </p:cNvPr>
          <p:cNvSpPr>
            <a:spLocks xmlns:a="http://schemas.openxmlformats.org/drawingml/2006/main" noGrp="1"/>
          </p:cNvSpPr>
          <p:nvPr/>
        </p:nvSpPr>
        <p:spPr>
          <a:xfrm xmlns:a="http://schemas.openxmlformats.org/drawingml/2006/main">
            <a:off x="4267200" y="5534025"/>
            <a:ext cx="3657600" cy="333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500" b="1">
                <a:solidFill>
                  <a:srgbClr val="111111"/>
                </a:solidFill>
                <a:latin typeface="Malgun Gothic"/>
                <a:ea typeface="Malgun Gothic"/>
                <a:cs typeface="Malgun Gothic"/>
              </a:defRPr>
            </a:pPr>
            <a:r>
              <a:rPr sz="1500" b="1">
                <a:solidFill>
                  <a:srgbClr val="111111"/>
                </a:solidFill>
                <a:latin typeface="Malgun Gothic"/>
                <a:ea typeface="Malgun Gothic"/>
                <a:cs typeface="Malgun Gothic"/>
              </a:rPr>
              <a:t>기존 관절각 출력 예시</a:t>
            </a:r>
          </a:p>
        </p:txBody>
      </p:sp>
      <p:sp>
        <p:nvSpPr>
          <p:cNvPr id="33" name="">
            <a:extLst xmlns:a="http://schemas.openxmlformats.org/drawingml/2006/main">
              <a:ext uri="{FF2B5EF4-FFF2-40B4-BE49-F238E27FC236}">
                <a16:creationId xmlns:a16="http://schemas.microsoft.com/office/drawing/2014/main" id="{48F69F7C-D4C7-4581-B0C9-6CCC158E907C}"/>
              </a:ext>
            </a:extLst>
          </p:cNvPr>
          <p:cNvSpPr>
            <a:spLocks xmlns:a="http://schemas.openxmlformats.org/drawingml/2006/main" noGrp="1"/>
          </p:cNvSpPr>
          <p:nvPr/>
        </p:nvSpPr>
        <p:spPr>
          <a:xfrm xmlns:a="http://schemas.openxmlformats.org/drawingml/2006/main">
            <a:off x="8153400" y="5534025"/>
            <a:ext cx="3657600" cy="333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500" b="1">
                <a:solidFill>
                  <a:srgbClr val="111111"/>
                </a:solidFill>
                <a:latin typeface="Malgun Gothic"/>
                <a:ea typeface="Malgun Gothic"/>
                <a:cs typeface="Malgun Gothic"/>
              </a:defRPr>
            </a:pPr>
            <a:r>
              <a:rPr sz="1500" b="1">
                <a:solidFill>
                  <a:srgbClr val="111111"/>
                </a:solidFill>
                <a:latin typeface="Malgun Gothic"/>
                <a:ea typeface="Malgun Gothic"/>
                <a:cs typeface="Malgun Gothic"/>
              </a:rPr>
              <a:t>가림·깊이 상태 확인 예시</a:t>
            </a:r>
          </a:p>
        </p:txBody>
      </p:sp>
      <p:sp>
        <p:nvSpPr>
          <p:cNvPr id="34" name="">
            <a:extLst xmlns:a="http://schemas.openxmlformats.org/drawingml/2006/main">
              <a:ext uri="{FF2B5EF4-FFF2-40B4-BE49-F238E27FC236}">
                <a16:creationId xmlns:a16="http://schemas.microsoft.com/office/drawing/2014/main" id="{6BE40907-AA6B-4CC4-BE28-CF84E8D50712}"/>
              </a:ext>
            </a:extLst>
          </p:cNvPr>
          <p:cNvSpPr>
            <a:spLocks xmlns:a="http://schemas.openxmlformats.org/drawingml/2006/main" noGrp="1"/>
          </p:cNvSpPr>
          <p:nvPr/>
        </p:nvSpPr>
        <p:spPr>
          <a:xfrm xmlns:a="http://schemas.openxmlformats.org/drawingml/2006/main">
            <a:off x="571500" y="6057900"/>
            <a:ext cx="11049000" cy="523875"/>
          </a:xfrm>
          <a:prstGeom xmlns:a="http://schemas.openxmlformats.org/drawingml/2006/main" prst="rect">
            <a:avLst/>
          </a:prstGeom>
          <a:solidFill xmlns:a="http://schemas.openxmlformats.org/drawingml/2006/main">
            <a:srgbClr val="193A66"/>
          </a:solidFill>
          <a:ln xmlns:a="http://schemas.openxmlformats.org/drawingml/2006/main" w="9525">
            <a:solidFill>
              <a:srgbClr val="193A66"/>
            </a:solidFill>
          </a:ln>
        </p:spPr>
      </p:sp>
      <p:sp>
        <p:nvSpPr>
          <p:cNvPr id="35" name="">
            <a:extLst xmlns:a="http://schemas.openxmlformats.org/drawingml/2006/main">
              <a:ext uri="{FF2B5EF4-FFF2-40B4-BE49-F238E27FC236}">
                <a16:creationId xmlns:a16="http://schemas.microsoft.com/office/drawing/2014/main" id="{70D8383A-FFE7-4391-95EE-923CFE52597A}"/>
              </a:ext>
            </a:extLst>
          </p:cNvPr>
          <p:cNvSpPr>
            <a:spLocks xmlns:a="http://schemas.openxmlformats.org/drawingml/2006/main" noGrp="1"/>
          </p:cNvSpPr>
          <p:nvPr/>
        </p:nvSpPr>
        <p:spPr>
          <a:xfrm xmlns:a="http://schemas.openxmlformats.org/drawingml/2006/main">
            <a:off x="742950" y="6172200"/>
            <a:ext cx="10706100" cy="3429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관절각 그래프는 기존 출력 예시이며, 본 실험의 K1·K2 결과와 구분한다.</a:t>
            </a:r>
          </a:p>
        </p:txBody>
      </p:sp>
    </p:spTree>
    <p:extLst>
      <p:ext uri="{BB962C8B-B14F-4D97-AF65-F5344CB8AC3E}">
        <p14:creationId xmlns:p14="http://schemas.microsoft.com/office/powerpoint/2010/main" val="12570943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ED3A4CE-3384-CA88-918D-402EA5EE4233}"/>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3" name="Text 1">
            <a:extLst xmlns:a="http://schemas.openxmlformats.org/drawingml/2006/main">
              <a:ext uri="{FF2B5EF4-FFF2-40B4-BE49-F238E27FC236}">
                <a16:creationId xmlns:a16="http://schemas.microsoft.com/office/drawing/2014/main" id="{05D1E5AF-F1E5-EC37-CDCC-3EF77506B97D}"/>
              </a:ext>
            </a:extLst>
          </p:cNvPr>
          <p:cNvSpPr>
            <a:spLocks xmlns:a="http://schemas.openxmlformats.org/drawingml/2006/main" noGrp="1"/>
          </p:cNvSpPr>
          <p:nvPr/>
        </p:nvSpPr>
        <p:spPr>
          <a:xfrm xmlns:a="http://schemas.openxmlformats.org/drawingml/2006/main">
            <a:off x="11109960" y="347472"/>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9AA6B4"/>
                </a:solidFill>
                <a:latin typeface="Malgun Gothic"/>
                <a:ea typeface="Malgun Gothic"/>
                <a:cs typeface="Malgun Gothic"/>
              </a:rPr>
              <a:t>0</a:t>
            </a:r>
            <a:r>
              <a:rPr sz="1600" b="1">
                <a:solidFill>
                  <a:srgbClr val="9AA6B4"/>
                </a:solidFill>
                <a:latin typeface="Malgun Gothic"/>
                <a:ea typeface="Malgun Gothic"/>
                <a:cs typeface="Malgun Gothic"/>
              </a:rPr>
              <a:t>7</a:t>
            </a:r>
            <a:endParaRPr sz="1600"/>
          </a:p>
        </p:txBody>
      </p:sp>
      <p:sp>
        <p:nvSpPr>
          <p:cNvPr id="4" name="Text 2">
            <a:extLst xmlns:a="http://schemas.openxmlformats.org/drawingml/2006/main">
              <a:ext uri="{FF2B5EF4-FFF2-40B4-BE49-F238E27FC236}">
                <a16:creationId xmlns:a16="http://schemas.microsoft.com/office/drawing/2014/main" id="{FB428A3C-7CB9-6C82-C91F-9C2F918A3E65}"/>
              </a:ext>
            </a:extLst>
          </p:cNvPr>
          <p:cNvSpPr>
            <a:spLocks xmlns:a="http://schemas.openxmlformats.org/drawingml/2006/main" noGrp="1"/>
          </p:cNvSpPr>
          <p:nvPr/>
        </p:nvSpPr>
        <p:spPr>
          <a:xfrm xmlns:a="http://schemas.openxmlformats.org/drawingml/2006/main">
            <a:off x="571500" y="381000"/>
            <a:ext cx="10287000" cy="43815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대상자와 두 가지 ARAT 과제</a:t>
            </a:r>
            <a:endParaRPr sz="3200"/>
          </a:p>
        </p:txBody>
      </p:sp>
      <p:sp>
        <p:nvSpPr>
          <p:cNvPr id="5" name="Text 3">
            <a:extLst xmlns:a="http://schemas.openxmlformats.org/drawingml/2006/main">
              <a:ext uri="{FF2B5EF4-FFF2-40B4-BE49-F238E27FC236}">
                <a16:creationId xmlns:a16="http://schemas.microsoft.com/office/drawing/2014/main" id="{4B281B22-4B7E-F48C-7555-BE440E636C61}"/>
              </a:ext>
            </a:extLst>
          </p:cNvPr>
          <p:cNvSpPr>
            <a:spLocks xmlns:a="http://schemas.openxmlformats.org/drawingml/2006/main" noGrp="1"/>
          </p:cNvSpPr>
          <p:nvPr/>
        </p:nvSpPr>
        <p:spPr>
          <a:xfrm xmlns:a="http://schemas.openxmlformats.org/drawingml/2006/main">
            <a:off x="566928" y="813816"/>
            <a:ext cx="10927080" cy="32004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본평가: 뇌졸중 20명, 2과제 × 평가 시행 3회 = 120개 영상. 독립 분석 단위는 20명.</a:t>
            </a:r>
            <a:endParaRPr sz="1600"/>
          </a:p>
        </p:txBody>
      </p:sp>
      <p:sp>
        <p:nvSpPr>
          <p:cNvPr id="6" name="Shape 4">
            <a:extLst xmlns:a="http://schemas.openxmlformats.org/drawingml/2006/main">
              <a:ext uri="{FF2B5EF4-FFF2-40B4-BE49-F238E27FC236}">
                <a16:creationId xmlns:a16="http://schemas.microsoft.com/office/drawing/2014/main" id="{5B603707-A43E-C72B-A540-2D84D3425D97}"/>
              </a:ext>
            </a:extLst>
          </p:cNvPr>
          <p:cNvSpPr>
            <a:spLocks xmlns:a="http://schemas.openxmlformats.org/drawingml/2006/main" noGrp="1"/>
          </p:cNvSpPr>
          <p:nvPr/>
        </p:nvSpPr>
        <p:spPr>
          <a:xfrm xmlns:a="http://schemas.openxmlformats.org/drawingml/2006/main">
            <a:off x="571500" y="1285875"/>
            <a:ext cx="3476625" cy="1695450"/>
          </a:xfrm>
          <a:prstGeom xmlns:a="http://schemas.openxmlformats.org/drawingml/2006/main" prst="rect">
            <a:avLst>
              <a:gd name="adj" fmla="val 5714"/>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7" name="Shape 5">
            <a:extLst xmlns:a="http://schemas.openxmlformats.org/drawingml/2006/main">
              <a:ext uri="{FF2B5EF4-FFF2-40B4-BE49-F238E27FC236}">
                <a16:creationId xmlns:a16="http://schemas.microsoft.com/office/drawing/2014/main" id="{2A7907FF-FC8A-8A1E-EE82-0CE289741319}"/>
              </a:ext>
            </a:extLst>
          </p:cNvPr>
          <p:cNvSpPr>
            <a:spLocks xmlns:a="http://schemas.openxmlformats.org/drawingml/2006/main" noGrp="1"/>
          </p:cNvSpPr>
          <p:nvPr/>
        </p:nvSpPr>
        <p:spPr>
          <a:xfrm xmlns:a="http://schemas.openxmlformats.org/drawingml/2006/main">
            <a:off x="571500" y="1285875"/>
            <a:ext cx="3476625" cy="419100"/>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8" name="Text 6">
            <a:extLst xmlns:a="http://schemas.openxmlformats.org/drawingml/2006/main">
              <a:ext uri="{FF2B5EF4-FFF2-40B4-BE49-F238E27FC236}">
                <a16:creationId xmlns:a16="http://schemas.microsoft.com/office/drawing/2014/main" id="{E682CC51-9731-7023-66B2-B927D175689E}"/>
              </a:ext>
            </a:extLst>
          </p:cNvPr>
          <p:cNvSpPr>
            <a:spLocks xmlns:a="http://schemas.openxmlformats.org/drawingml/2006/main" noGrp="1"/>
          </p:cNvSpPr>
          <p:nvPr/>
        </p:nvSpPr>
        <p:spPr>
          <a:xfrm xmlns:a="http://schemas.openxmlformats.org/drawingml/2006/main">
            <a:off x="704850" y="1362075"/>
            <a:ext cx="3209925"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대상자 구성</a:t>
            </a:r>
            <a:endParaRPr sz="1600">
              <a:solidFill>
                <a:schemeClr val="bg1"/>
              </a:solidFill>
            </a:endParaRPr>
          </a:p>
        </p:txBody>
      </p:sp>
      <p:sp>
        <p:nvSpPr>
          <p:cNvPr id="9" name="Text 7">
            <a:extLst xmlns:a="http://schemas.openxmlformats.org/drawingml/2006/main">
              <a:ext uri="{FF2B5EF4-FFF2-40B4-BE49-F238E27FC236}">
                <a16:creationId xmlns:a16="http://schemas.microsoft.com/office/drawing/2014/main" id="{5937B510-A130-B309-A5A9-CE0A37B57C62}"/>
              </a:ext>
            </a:extLst>
          </p:cNvPr>
          <p:cNvSpPr>
            <a:spLocks xmlns:a="http://schemas.openxmlformats.org/drawingml/2006/main" noGrp="1"/>
          </p:cNvSpPr>
          <p:nvPr/>
        </p:nvSpPr>
        <p:spPr>
          <a:xfrm xmlns:a="http://schemas.openxmlformats.org/drawingml/2006/main">
            <a:off x="723900" y="1838325"/>
            <a:ext cx="3171825" cy="10763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개발: 뇌졸중 3명 + 비장애인 6명</a:t>
            </a:r>
            <a:endParaRPr sz="1300">
              <a:latin typeface="Malgun Gothic"/>
              <a:ea typeface="Malgun Gothic"/>
              <a:cs typeface="Malgun Gothic"/>
            </a:endParaRPr>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본평가: 뇌졸중 20명</a:t>
            </a:r>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절차 점검: 별도 비장애인 16명</a:t>
            </a:r>
          </a:p>
        </p:txBody>
      </p:sp>
      <p:sp>
        <p:nvSpPr>
          <p:cNvPr id="10" name="Shape 8">
            <a:extLst xmlns:a="http://schemas.openxmlformats.org/drawingml/2006/main">
              <a:ext uri="{FF2B5EF4-FFF2-40B4-BE49-F238E27FC236}">
                <a16:creationId xmlns:a16="http://schemas.microsoft.com/office/drawing/2014/main" id="{62FE2C6C-316C-1D38-0490-931A66BF4C5B}"/>
              </a:ext>
            </a:extLst>
          </p:cNvPr>
          <p:cNvSpPr>
            <a:spLocks xmlns:a="http://schemas.openxmlformats.org/drawingml/2006/main" noGrp="1"/>
          </p:cNvSpPr>
          <p:nvPr/>
        </p:nvSpPr>
        <p:spPr>
          <a:xfrm xmlns:a="http://schemas.openxmlformats.org/drawingml/2006/main" rot="0" flipH="0" flipV="0">
            <a:off x="4352925" y="1285875"/>
            <a:ext cx="3476625" cy="1695450"/>
          </a:xfrm>
          <a:prstGeom xmlns:a="http://schemas.openxmlformats.org/drawingml/2006/main" prst="rect">
            <a:avLst>
              <a:gd name="adj" fmla="val 5714"/>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11" name="Shape 9">
            <a:extLst xmlns:a="http://schemas.openxmlformats.org/drawingml/2006/main">
              <a:ext uri="{FF2B5EF4-FFF2-40B4-BE49-F238E27FC236}">
                <a16:creationId xmlns:a16="http://schemas.microsoft.com/office/drawing/2014/main" id="{943844C6-0021-0CF1-80B9-9804038C4472}"/>
              </a:ext>
            </a:extLst>
          </p:cNvPr>
          <p:cNvSpPr>
            <a:spLocks xmlns:a="http://schemas.openxmlformats.org/drawingml/2006/main" noGrp="1"/>
          </p:cNvSpPr>
          <p:nvPr/>
        </p:nvSpPr>
        <p:spPr>
          <a:xfrm xmlns:a="http://schemas.openxmlformats.org/drawingml/2006/main" rot="0" flipH="0" flipV="0">
            <a:off x="4352925" y="1285875"/>
            <a:ext cx="3476625" cy="419100"/>
          </a:xfrm>
          <a:prstGeom xmlns:a="http://schemas.openxmlformats.org/drawingml/2006/main" prst="rect">
            <a:avLst/>
          </a:prstGeom>
          <a:solidFill xmlns:a="http://schemas.openxmlformats.org/drawingml/2006/main">
            <a:srgbClr val="087F8C"/>
          </a:solidFill>
          <a:ln xmlns:a="http://schemas.openxmlformats.org/drawingml/2006/main" w="12700">
            <a:solidFill>
              <a:srgbClr val="16A7B8">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12" name="Text 10">
            <a:extLst xmlns:a="http://schemas.openxmlformats.org/drawingml/2006/main">
              <a:ext uri="{FF2B5EF4-FFF2-40B4-BE49-F238E27FC236}">
                <a16:creationId xmlns:a16="http://schemas.microsoft.com/office/drawing/2014/main" id="{24BF40C1-7DC6-5CA8-4802-0B7FE73EF045}"/>
              </a:ext>
            </a:extLst>
          </p:cNvPr>
          <p:cNvSpPr>
            <a:spLocks xmlns:a="http://schemas.openxmlformats.org/drawingml/2006/main" noGrp="1"/>
          </p:cNvSpPr>
          <p:nvPr/>
        </p:nvSpPr>
        <p:spPr>
          <a:xfrm xmlns:a="http://schemas.openxmlformats.org/drawingml/2006/main" rot="0" flipH="0" flipV="0">
            <a:off x="4486275" y="1362075"/>
            <a:ext cx="3209925"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T2 구슬 집기 · 주요</a:t>
            </a:r>
            <a:endParaRPr sz="1600">
              <a:solidFill>
                <a:schemeClr val="bg1"/>
              </a:solidFill>
            </a:endParaRPr>
          </a:p>
        </p:txBody>
      </p:sp>
      <p:sp>
        <p:nvSpPr>
          <p:cNvPr id="13" name="Text 11">
            <a:extLst xmlns:a="http://schemas.openxmlformats.org/drawingml/2006/main">
              <a:ext uri="{FF2B5EF4-FFF2-40B4-BE49-F238E27FC236}">
                <a16:creationId xmlns:a16="http://schemas.microsoft.com/office/drawing/2014/main" id="{839224FB-38C2-BF09-5717-AFCA4253074E}"/>
              </a:ext>
            </a:extLst>
          </p:cNvPr>
          <p:cNvSpPr>
            <a:spLocks xmlns:a="http://schemas.openxmlformats.org/drawingml/2006/main" noGrp="1"/>
          </p:cNvSpPr>
          <p:nvPr/>
        </p:nvSpPr>
        <p:spPr>
          <a:xfrm xmlns:a="http://schemas.openxmlformats.org/drawingml/2006/main" rot="0" flipH="0" flipV="0">
            <a:off x="4505325" y="1838325"/>
            <a:ext cx="3171825" cy="10763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ARAT 12번: 엄지–검지 패드 집기</a:t>
            </a:r>
            <a:endParaRPr sz="1400"/>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구슬 지름 1.6 cm, 무게 5.4 g</a:t>
            </a:r>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엄지–검지 거리 K1의 의미 검토</a:t>
            </a:r>
          </a:p>
        </p:txBody>
      </p:sp>
      <p:sp>
        <p:nvSpPr>
          <p:cNvPr id="14" name="Shape 12">
            <a:extLst xmlns:a="http://schemas.openxmlformats.org/drawingml/2006/main">
              <a:ext uri="{FF2B5EF4-FFF2-40B4-BE49-F238E27FC236}">
                <a16:creationId xmlns:a16="http://schemas.microsoft.com/office/drawing/2014/main" id="{6595D827-06C5-3CE7-73F7-D063CB2BDE2B}"/>
              </a:ext>
            </a:extLst>
          </p:cNvPr>
          <p:cNvSpPr>
            <a:spLocks xmlns:a="http://schemas.openxmlformats.org/drawingml/2006/main" noGrp="1"/>
          </p:cNvSpPr>
          <p:nvPr/>
        </p:nvSpPr>
        <p:spPr>
          <a:xfrm xmlns:a="http://schemas.openxmlformats.org/drawingml/2006/main" rot="0" flipH="0" flipV="0">
            <a:off x="8134350" y="1285875"/>
            <a:ext cx="3476625" cy="1695450"/>
          </a:xfrm>
          <a:prstGeom xmlns:a="http://schemas.openxmlformats.org/drawingml/2006/main" prst="rect">
            <a:avLst>
              <a:gd name="adj" fmla="val 5714"/>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15" name="Shape 13">
            <a:extLst xmlns:a="http://schemas.openxmlformats.org/drawingml/2006/main">
              <a:ext uri="{FF2B5EF4-FFF2-40B4-BE49-F238E27FC236}">
                <a16:creationId xmlns:a16="http://schemas.microsoft.com/office/drawing/2014/main" id="{6CD5DC2E-879F-B420-F695-851E2FCFD3CC}"/>
              </a:ext>
            </a:extLst>
          </p:cNvPr>
          <p:cNvSpPr>
            <a:spLocks xmlns:a="http://schemas.openxmlformats.org/drawingml/2006/main" noGrp="1"/>
          </p:cNvSpPr>
          <p:nvPr/>
        </p:nvSpPr>
        <p:spPr>
          <a:xfrm xmlns:a="http://schemas.openxmlformats.org/drawingml/2006/main" rot="0" flipH="0" flipV="0">
            <a:off x="8134350" y="1285875"/>
            <a:ext cx="3476625" cy="419100"/>
          </a:xfrm>
          <a:prstGeom xmlns:a="http://schemas.openxmlformats.org/drawingml/2006/main" prst="rect">
            <a:avLst/>
          </a:prstGeom>
          <a:solidFill xmlns:a="http://schemas.openxmlformats.org/drawingml/2006/main">
            <a:srgbClr val="087F8C"/>
          </a:solidFill>
          <a:ln xmlns:a="http://schemas.openxmlformats.org/drawingml/2006/main" w="12700">
            <a:solidFill>
              <a:srgbClr val="F1A438">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16" name="Text 14">
            <a:extLst xmlns:a="http://schemas.openxmlformats.org/drawingml/2006/main">
              <a:ext uri="{FF2B5EF4-FFF2-40B4-BE49-F238E27FC236}">
                <a16:creationId xmlns:a16="http://schemas.microsoft.com/office/drawing/2014/main" id="{0528D6ED-9EF5-BC1D-75BF-FA852CD978F9}"/>
              </a:ext>
            </a:extLst>
          </p:cNvPr>
          <p:cNvSpPr>
            <a:spLocks xmlns:a="http://schemas.openxmlformats.org/drawingml/2006/main" noGrp="1"/>
          </p:cNvSpPr>
          <p:nvPr/>
        </p:nvSpPr>
        <p:spPr>
          <a:xfrm xmlns:a="http://schemas.openxmlformats.org/drawingml/2006/main" rot="0" flipH="0" flipV="0">
            <a:off x="8267700" y="1362075"/>
            <a:ext cx="3209925"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T1 블록 옮기기 · 참고</a:t>
            </a:r>
            <a:endParaRPr sz="1600">
              <a:solidFill>
                <a:schemeClr val="bg1"/>
              </a:solidFill>
            </a:endParaRPr>
          </a:p>
        </p:txBody>
      </p:sp>
      <p:sp>
        <p:nvSpPr>
          <p:cNvPr id="17" name="Text 15">
            <a:extLst xmlns:a="http://schemas.openxmlformats.org/drawingml/2006/main">
              <a:ext uri="{FF2B5EF4-FFF2-40B4-BE49-F238E27FC236}">
                <a16:creationId xmlns:a16="http://schemas.microsoft.com/office/drawing/2014/main" id="{F10FA495-3696-4B42-A072-84CB1DF6C45D}"/>
              </a:ext>
            </a:extLst>
          </p:cNvPr>
          <p:cNvSpPr>
            <a:spLocks xmlns:a="http://schemas.openxmlformats.org/drawingml/2006/main" noGrp="1"/>
          </p:cNvSpPr>
          <p:nvPr/>
        </p:nvSpPr>
        <p:spPr>
          <a:xfrm xmlns:a="http://schemas.openxmlformats.org/drawingml/2006/main" rot="0" flipH="0" flipV="0">
            <a:off x="8286750" y="1838325"/>
            <a:ext cx="3171825" cy="10763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ARAT 3번: 블록을 선반으로 이동</a:t>
            </a:r>
            <a:endParaRPr sz="1400"/>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블록 5 cm·55 g, 선반 높이 37 cm</a:t>
            </a:r>
          </a:p>
          <a:p xmlns:a="http://schemas.openxmlformats.org/drawingml/2006/main">
            <a:pPr algn="l">
              <a:defRPr sz="1425" b="0">
                <a:solidFill>
                  <a:srgbClr val="111111"/>
                </a:solidFill>
                <a:latin typeface="Malgun Gothic"/>
                <a:ea typeface="Malgun Gothic"/>
                <a:cs typeface="Malgun Gothic"/>
              </a:defRPr>
            </a:pPr>
            <a:r>
              <a:rPr sz="1425" b="0">
                <a:solidFill>
                  <a:srgbClr val="111111"/>
                </a:solidFill>
                <a:latin typeface="Malgun Gothic"/>
                <a:ea typeface="Malgun Gothic"/>
                <a:cs typeface="Malgun Gothic"/>
              </a:rPr>
              <a:t>다른 파지 방식에서 K1 해석 비교</a:t>
            </a:r>
          </a:p>
        </p:txBody>
      </p:sp>
      <p:sp>
        <p:nvSpPr>
          <p:cNvPr id="34" name="Shape 32">
            <a:extLst xmlns:a="http://schemas.openxmlformats.org/drawingml/2006/main">
              <a:ext uri="{FF2B5EF4-FFF2-40B4-BE49-F238E27FC236}">
                <a16:creationId xmlns:a16="http://schemas.microsoft.com/office/drawing/2014/main" id="{FBC92D76-34CA-60F3-879E-5D508765843D}"/>
              </a:ext>
            </a:extLst>
          </p:cNvPr>
          <p:cNvSpPr>
            <a:spLocks xmlns:a="http://schemas.openxmlformats.org/drawingml/2006/main" noGrp="1"/>
          </p:cNvSpPr>
          <p:nvPr/>
        </p:nvSpPr>
        <p:spPr>
          <a:xfrm xmlns:a="http://schemas.openxmlformats.org/drawingml/2006/main" rot="0" flipH="0" flipV="0">
            <a:off x="571500" y="6162675"/>
            <a:ext cx="11049000" cy="495300"/>
          </a:xfrm>
          <a:prstGeom xmlns:a="http://schemas.openxmlformats.org/drawingml/2006/main" prst="roundRect">
            <a:avLst>
              <a:gd name="adj" fmla="val 9091"/>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35" name="Text 33">
            <a:extLst xmlns:a="http://schemas.openxmlformats.org/drawingml/2006/main">
              <a:ext uri="{FF2B5EF4-FFF2-40B4-BE49-F238E27FC236}">
                <a16:creationId xmlns:a16="http://schemas.microsoft.com/office/drawing/2014/main" id="{99103524-0CA0-829A-E6BE-377416ED999F}"/>
              </a:ext>
            </a:extLst>
          </p:cNvPr>
          <p:cNvSpPr>
            <a:spLocks xmlns:a="http://schemas.openxmlformats.org/drawingml/2006/main" noGrp="1"/>
          </p:cNvSpPr>
          <p:nvPr/>
        </p:nvSpPr>
        <p:spPr>
          <a:xfrm xmlns:a="http://schemas.openxmlformats.org/drawingml/2006/main" rot="0" flipH="0" flipV="0">
            <a:off x="742950" y="6257925"/>
            <a:ext cx="10706100" cy="333375"/>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575" b="0">
                <a:solidFill>
                  <a:srgbClr val="FFFFFF"/>
                </a:solidFill>
                <a:latin typeface="Malgun Gothic"/>
                <a:ea typeface="Malgun Gothic"/>
                <a:cs typeface="Malgun Gothic"/>
              </a:defRPr>
            </a:pPr>
            <a:r>
              <a:rPr sz="1575" b="0">
                <a:solidFill>
                  <a:srgbClr val="FFFFFF"/>
                </a:solidFill>
                <a:latin typeface="Malgun Gothic"/>
                <a:ea typeface="Malgun Gothic"/>
                <a:cs typeface="Malgun Gothic"/>
              </a:rPr>
              <a:t>과제별 연습 2회 후 첫 3회를 평가. T2를 중심으로 보고 T1은 해석 범위를 비교한다.</a:t>
            </a:r>
            <a:endParaRPr sz="1600">
              <a:solidFill>
                <a:schemeClr val="bg1"/>
              </a:solidFill>
            </a:endParaRPr>
          </a:p>
        </p:txBody>
      </p:sp>
      <p:sp>
        <p:nvSpPr>
          <p:cNvPr id="18" name="Shape 16">
            <a:extLst xmlns:a="http://schemas.openxmlformats.org/drawingml/2006/main">
              <a:ext uri="{FF2B5EF4-FFF2-40B4-BE49-F238E27FC236}">
                <a16:creationId xmlns:a16="http://schemas.microsoft.com/office/drawing/2014/main" id="{7AF9AECE-4353-AAEF-C624-6F36015F6C1E}"/>
              </a:ext>
            </a:extLst>
          </p:cNvPr>
          <p:cNvSpPr>
            <a:spLocks xmlns:a="http://schemas.openxmlformats.org/drawingml/2006/main" noGrp="1"/>
          </p:cNvSpPr>
          <p:nvPr/>
        </p:nvSpPr>
        <p:spPr>
          <a:xfrm xmlns:a="http://schemas.openxmlformats.org/drawingml/2006/main" rot="0" flipH="0" flipV="0">
            <a:off x="571500" y="3190875"/>
            <a:ext cx="2476500" cy="2095500"/>
          </a:xfrm>
          <a:prstGeom xmlns:a="http://schemas.openxmlformats.org/drawingml/2006/main" prst="roundRect">
            <a:avLst>
              <a:gd name="adj" fmla="val 3721"/>
            </a:avLst>
          </a:prstGeom>
          <a:blipFill xmlns:a="http://schemas.openxmlformats.org/drawingml/2006/main">
            <a:blip xmlns:r="http://schemas.openxmlformats.org/officeDocument/2006/relationships" r:embed="R0ebaeee6a3de441d"/>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19" name="TextBox 18">
            <a:extLst xmlns:a="http://schemas.openxmlformats.org/drawingml/2006/main">
              <a:ext uri="{FF2B5EF4-FFF2-40B4-BE49-F238E27FC236}">
                <a16:creationId xmlns:a16="http://schemas.microsoft.com/office/drawing/2014/main" id="{F6B9F248-6C95-E0B0-0EE5-6743B50F5E77}"/>
              </a:ext>
            </a:extLst>
          </p:cNvPr>
          <p:cNvSpPr>
            <a:spLocks xmlns:a="http://schemas.openxmlformats.org/drawingml/2006/main" noGrp="1"/>
          </p:cNvSpPr>
          <p:nvPr/>
        </p:nvSpPr>
        <p:spPr>
          <a:xfrm xmlns:a="http://schemas.openxmlformats.org/drawingml/2006/main" rot="0" flipH="0" flipV="0">
            <a:off x="571500" y="5353050"/>
            <a:ext cx="2476500" cy="33147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buNone/>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손 추적 예시</a:t>
            </a:r>
          </a:p>
        </p:txBody>
      </p:sp>
      <p:sp>
        <p:nvSpPr>
          <p:cNvPr id="22" name="Shape 20">
            <a:extLst xmlns:a="http://schemas.openxmlformats.org/drawingml/2006/main">
              <a:ext uri="{FF2B5EF4-FFF2-40B4-BE49-F238E27FC236}">
                <a16:creationId xmlns:a16="http://schemas.microsoft.com/office/drawing/2014/main" id="{E115B1C3-337A-30F0-08FD-1E51C9E27659}"/>
              </a:ext>
            </a:extLst>
          </p:cNvPr>
          <p:cNvSpPr>
            <a:spLocks xmlns:a="http://schemas.openxmlformats.org/drawingml/2006/main" noGrp="1"/>
          </p:cNvSpPr>
          <p:nvPr/>
        </p:nvSpPr>
        <p:spPr>
          <a:xfrm xmlns:a="http://schemas.openxmlformats.org/drawingml/2006/main" rot="0" flipH="0" flipV="0">
            <a:off x="3429000" y="3190875"/>
            <a:ext cx="2476500" cy="2095500"/>
          </a:xfrm>
          <a:prstGeom xmlns:a="http://schemas.openxmlformats.org/drawingml/2006/main" prst="roundRect">
            <a:avLst>
              <a:gd name="adj" fmla="val 3721"/>
            </a:avLst>
          </a:prstGeom>
          <a:blipFill xmlns:a="http://schemas.openxmlformats.org/drawingml/2006/main">
            <a:blip xmlns:r="http://schemas.openxmlformats.org/officeDocument/2006/relationships" r:embed="R51bb6c28ec024003"/>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23" name="TextBox 22">
            <a:extLst xmlns:a="http://schemas.openxmlformats.org/drawingml/2006/main">
              <a:ext uri="{FF2B5EF4-FFF2-40B4-BE49-F238E27FC236}">
                <a16:creationId xmlns:a16="http://schemas.microsoft.com/office/drawing/2014/main" id="{E2A74D8B-4F48-B1E6-3420-F7A453CC3053}"/>
              </a:ext>
            </a:extLst>
          </p:cNvPr>
          <p:cNvSpPr>
            <a:spLocks xmlns:a="http://schemas.openxmlformats.org/drawingml/2006/main" noGrp="1"/>
          </p:cNvSpPr>
          <p:nvPr/>
        </p:nvSpPr>
        <p:spPr>
          <a:xfrm xmlns:a="http://schemas.openxmlformats.org/drawingml/2006/main" rot="0" flipH="0" flipV="0">
            <a:off x="3429000" y="5353050"/>
            <a:ext cx="2476500" cy="33147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buNone/>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주먹 동작 예시</a:t>
            </a:r>
          </a:p>
        </p:txBody>
      </p:sp>
      <p:sp>
        <p:nvSpPr>
          <p:cNvPr id="26" name="Shape 24">
            <a:extLst xmlns:a="http://schemas.openxmlformats.org/drawingml/2006/main">
              <a:ext uri="{FF2B5EF4-FFF2-40B4-BE49-F238E27FC236}">
                <a16:creationId xmlns:a16="http://schemas.microsoft.com/office/drawing/2014/main" id="{62BBFBBD-EAB2-8E9E-2073-1B366EEFA3C9}"/>
              </a:ext>
            </a:extLst>
          </p:cNvPr>
          <p:cNvSpPr>
            <a:spLocks xmlns:a="http://schemas.openxmlformats.org/drawingml/2006/main" noGrp="1"/>
          </p:cNvSpPr>
          <p:nvPr/>
        </p:nvSpPr>
        <p:spPr>
          <a:xfrm xmlns:a="http://schemas.openxmlformats.org/drawingml/2006/main" rot="0" flipH="0" flipV="0">
            <a:off x="6286500" y="3190875"/>
            <a:ext cx="2476500" cy="2095500"/>
          </a:xfrm>
          <a:prstGeom xmlns:a="http://schemas.openxmlformats.org/drawingml/2006/main" prst="roundRect">
            <a:avLst>
              <a:gd name="adj" fmla="val 3721"/>
            </a:avLst>
          </a:prstGeom>
          <a:blipFill xmlns:a="http://schemas.openxmlformats.org/drawingml/2006/main">
            <a:blip xmlns:r="http://schemas.openxmlformats.org/officeDocument/2006/relationships" r:embed="Rd141722e66434d0c"/>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25" name="TextBox 24">
            <a:extLst xmlns:a="http://schemas.openxmlformats.org/drawingml/2006/main">
              <a:ext uri="{FF2B5EF4-FFF2-40B4-BE49-F238E27FC236}">
                <a16:creationId xmlns:a16="http://schemas.microsoft.com/office/drawing/2014/main" id="{CA701407-F5CD-9230-EB3B-566987053FE5}"/>
              </a:ext>
            </a:extLst>
          </p:cNvPr>
          <p:cNvSpPr>
            <a:spLocks xmlns:a="http://schemas.openxmlformats.org/drawingml/2006/main" noGrp="1"/>
          </p:cNvSpPr>
          <p:nvPr/>
        </p:nvSpPr>
        <p:spPr>
          <a:xfrm xmlns:a="http://schemas.openxmlformats.org/drawingml/2006/main" rot="0" flipH="0" flipV="0">
            <a:off x="6286500" y="5353050"/>
            <a:ext cx="2476500" cy="33147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buNone/>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원통 파지 예시</a:t>
            </a:r>
          </a:p>
        </p:txBody>
      </p:sp>
      <p:sp>
        <p:nvSpPr>
          <p:cNvPr id="30" name="Shape 28">
            <a:extLst xmlns:a="http://schemas.openxmlformats.org/drawingml/2006/main">
              <a:ext uri="{FF2B5EF4-FFF2-40B4-BE49-F238E27FC236}">
                <a16:creationId xmlns:a16="http://schemas.microsoft.com/office/drawing/2014/main" id="{D0ECEF8C-4395-B054-B0F0-3F4B93F8EB58}"/>
              </a:ext>
            </a:extLst>
          </p:cNvPr>
          <p:cNvSpPr>
            <a:spLocks xmlns:a="http://schemas.openxmlformats.org/drawingml/2006/main" noGrp="1"/>
          </p:cNvSpPr>
          <p:nvPr/>
        </p:nvSpPr>
        <p:spPr>
          <a:xfrm xmlns:a="http://schemas.openxmlformats.org/drawingml/2006/main" rot="0" flipH="0" flipV="0">
            <a:off x="9144000" y="3190875"/>
            <a:ext cx="2476500" cy="2095500"/>
          </a:xfrm>
          <a:prstGeom xmlns:a="http://schemas.openxmlformats.org/drawingml/2006/main" prst="roundRect">
            <a:avLst>
              <a:gd name="adj" fmla="val 3721"/>
            </a:avLst>
          </a:prstGeom>
          <a:blipFill xmlns:a="http://schemas.openxmlformats.org/drawingml/2006/main">
            <a:blip xmlns:r="http://schemas.openxmlformats.org/officeDocument/2006/relationships" r:embed="R086c4637e2f04a03"/>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28" name="TextBox 27">
            <a:extLst xmlns:a="http://schemas.openxmlformats.org/drawingml/2006/main">
              <a:ext uri="{FF2B5EF4-FFF2-40B4-BE49-F238E27FC236}">
                <a16:creationId xmlns:a16="http://schemas.microsoft.com/office/drawing/2014/main" id="{ADB28A0F-BCFD-4DEC-5F7D-D76F20A7B340}"/>
              </a:ext>
            </a:extLst>
          </p:cNvPr>
          <p:cNvSpPr>
            <a:spLocks xmlns:a="http://schemas.openxmlformats.org/drawingml/2006/main" noGrp="1"/>
          </p:cNvSpPr>
          <p:nvPr/>
        </p:nvSpPr>
        <p:spPr>
          <a:xfrm xmlns:a="http://schemas.openxmlformats.org/drawingml/2006/main" rot="0" flipH="0" flipV="0">
            <a:off x="9144000" y="5353050"/>
            <a:ext cx="2476500" cy="33147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buNone/>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물체 파지 예시</a:t>
            </a:r>
          </a:p>
        </p:txBody>
      </p:sp>
      <p:sp>
        <p:nvSpPr>
          <p:cNvPr id="36" name="">
            <a:extLst xmlns:a="http://schemas.openxmlformats.org/drawingml/2006/main">
              <a:ext uri="{FF2B5EF4-FFF2-40B4-BE49-F238E27FC236}">
                <a16:creationId xmlns:a16="http://schemas.microsoft.com/office/drawing/2014/main" id="{4C854A33-8687-4FD6-A1D9-2B5FD8C3F4E5}"/>
              </a:ext>
            </a:extLst>
          </p:cNvPr>
          <p:cNvSpPr>
            <a:spLocks xmlns:a="http://schemas.openxmlformats.org/drawingml/2006/main" noGrp="1"/>
          </p:cNvSpPr>
          <p:nvPr/>
        </p:nvSpPr>
        <p:spPr>
          <a:xfrm xmlns:a="http://schemas.openxmlformats.org/drawingml/2006/main">
            <a:off x="571500" y="5734050"/>
            <a:ext cx="11049000" cy="2857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350" b="0">
                <a:solidFill>
                  <a:srgbClr val="526173"/>
                </a:solidFill>
                <a:latin typeface="Malgun Gothic"/>
                <a:ea typeface="Malgun Gothic"/>
                <a:cs typeface="Malgun Gothic"/>
              </a:defRPr>
            </a:pPr>
            <a:r>
              <a:rPr sz="1350" b="0">
                <a:solidFill>
                  <a:srgbClr val="526173"/>
                </a:solidFill>
                <a:latin typeface="Malgun Gothic"/>
                <a:ea typeface="Malgun Gothic"/>
                <a:cs typeface="Malgun Gothic"/>
              </a:rPr>
              <a:t>사진은 기존 파일럿 화면이며, 위 ARAT 표준 과제의 촬영 결과가 아니다.</a:t>
            </a:r>
          </a:p>
        </p:txBody>
      </p:sp>
    </p:spTree>
    <p:extLst>
      <p:ext uri="{BB962C8B-B14F-4D97-AF65-F5344CB8AC3E}">
        <p14:creationId xmlns:p14="http://schemas.microsoft.com/office/powerpoint/2010/main" val="28448595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EAE073D-B439-4839-9DCC-2C7C26E54159}"/>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4" name="Text 2">
            <a:extLst xmlns:a="http://schemas.openxmlformats.org/drawingml/2006/main">
              <a:ext uri="{FF2B5EF4-FFF2-40B4-BE49-F238E27FC236}">
                <a16:creationId xmlns:a16="http://schemas.microsoft.com/office/drawing/2014/main" id="{6DDFE3D7-88A8-4A1E-8117-D77F094E7447}"/>
              </a:ext>
            </a:extLst>
          </p:cNvPr>
          <p:cNvSpPr>
            <a:spLocks xmlns:a="http://schemas.openxmlformats.org/drawingml/2006/main" noGrp="1"/>
          </p:cNvSpPr>
          <p:nvPr/>
        </p:nvSpPr>
        <p:spPr>
          <a:xfrm xmlns:a="http://schemas.openxmlformats.org/drawingml/2006/main">
            <a:off x="571500" y="381000"/>
            <a:ext cx="10287000" cy="43815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고정 VLM과 평가 조건</a:t>
            </a:r>
            <a:endParaRPr sz="3200"/>
          </a:p>
        </p:txBody>
      </p:sp>
      <p:sp>
        <p:nvSpPr>
          <p:cNvPr id="10" name="Shape 8">
            <a:extLst xmlns:a="http://schemas.openxmlformats.org/drawingml/2006/main">
              <a:ext uri="{FF2B5EF4-FFF2-40B4-BE49-F238E27FC236}">
                <a16:creationId xmlns:a16="http://schemas.microsoft.com/office/drawing/2014/main" id="{D4149221-86B9-40B8-8311-094880F51F3E}"/>
              </a:ext>
            </a:extLst>
          </p:cNvPr>
          <p:cNvSpPr>
            <a:spLocks xmlns:a="http://schemas.openxmlformats.org/drawingml/2006/main" noGrp="1"/>
          </p:cNvSpPr>
          <p:nvPr/>
        </p:nvSpPr>
        <p:spPr>
          <a:xfrm xmlns:a="http://schemas.openxmlformats.org/drawingml/2006/main" rot="0" flipH="0" flipV="0">
            <a:off x="5238750" y="1190625"/>
            <a:ext cx="3048000" cy="2190750"/>
          </a:xfrm>
          <a:prstGeom xmlns:a="http://schemas.openxmlformats.org/drawingml/2006/main" prst="rect">
            <a:avLst>
              <a:gd name="adj" fmla="val 4444"/>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11" name="Shape 9">
            <a:extLst xmlns:a="http://schemas.openxmlformats.org/drawingml/2006/main">
              <a:ext uri="{FF2B5EF4-FFF2-40B4-BE49-F238E27FC236}">
                <a16:creationId xmlns:a16="http://schemas.microsoft.com/office/drawing/2014/main" id="{6828A70D-91C2-4E75-BD5E-438E622ECF71}"/>
              </a:ext>
            </a:extLst>
          </p:cNvPr>
          <p:cNvSpPr>
            <a:spLocks xmlns:a="http://schemas.openxmlformats.org/drawingml/2006/main" noGrp="1"/>
          </p:cNvSpPr>
          <p:nvPr/>
        </p:nvSpPr>
        <p:spPr>
          <a:xfrm xmlns:a="http://schemas.openxmlformats.org/drawingml/2006/main" rot="0" flipH="0" flipV="0">
            <a:off x="5238750" y="1190625"/>
            <a:ext cx="3048000" cy="419100"/>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12" name="Text 10">
            <a:extLst xmlns:a="http://schemas.openxmlformats.org/drawingml/2006/main">
              <a:ext uri="{FF2B5EF4-FFF2-40B4-BE49-F238E27FC236}">
                <a16:creationId xmlns:a16="http://schemas.microsoft.com/office/drawing/2014/main" id="{2855FA0E-4EC2-47C9-91B4-8E9847E0B785}"/>
              </a:ext>
            </a:extLst>
          </p:cNvPr>
          <p:cNvSpPr>
            <a:spLocks xmlns:a="http://schemas.openxmlformats.org/drawingml/2006/main" noGrp="1"/>
          </p:cNvSpPr>
          <p:nvPr/>
        </p:nvSpPr>
        <p:spPr>
          <a:xfrm xmlns:a="http://schemas.openxmlformats.org/drawingml/2006/main" rot="0" flipH="0" flipV="0">
            <a:off x="5372100" y="1266825"/>
            <a:ext cx="27813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주 모델</a:t>
            </a:r>
            <a:endParaRPr sz="1600">
              <a:solidFill>
                <a:schemeClr val="bg1"/>
              </a:solidFill>
            </a:endParaRPr>
          </a:p>
        </p:txBody>
      </p:sp>
      <p:sp>
        <p:nvSpPr>
          <p:cNvPr id="13" name="Text 11">
            <a:extLst xmlns:a="http://schemas.openxmlformats.org/drawingml/2006/main">
              <a:ext uri="{FF2B5EF4-FFF2-40B4-BE49-F238E27FC236}">
                <a16:creationId xmlns:a16="http://schemas.microsoft.com/office/drawing/2014/main" id="{1686DC01-6145-49C5-96A9-68D8ABE8472E}"/>
              </a:ext>
            </a:extLst>
          </p:cNvPr>
          <p:cNvSpPr>
            <a:spLocks xmlns:a="http://schemas.openxmlformats.org/drawingml/2006/main" noGrp="1"/>
          </p:cNvSpPr>
          <p:nvPr/>
        </p:nvSpPr>
        <p:spPr>
          <a:xfrm xmlns:a="http://schemas.openxmlformats.org/drawingml/2006/main" rot="0" flipH="0" flipV="0">
            <a:off x="5391150" y="1743075"/>
            <a:ext cx="2743200" cy="15716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marL="285750" indent="-285750" algn="l">
              <a:buFont typeface="Arial"/>
              <a:buChar char="•"/>
              <a:defRPr sz="1650" b="0">
                <a:solidFill>
                  <a:srgbClr val="111111"/>
                </a:solidFill>
                <a:latin typeface="Malgun Gothic"/>
                <a:ea typeface="Malgun Gothic"/>
                <a:cs typeface="Malgun Gothic"/>
              </a:defRPr>
            </a:pPr>
            <a:r>
              <a:rPr sz="1650" b="0">
                <a:solidFill>
                  <a:srgbClr val="111111"/>
                </a:solidFill>
                <a:latin typeface="Malgun Gothic"/>
                <a:ea typeface="Malgun Gothic"/>
                <a:cs typeface="Malgun Gothic"/>
              </a:rPr>
              <a:t>Qwen2.5-VL-72B</a:t>
            </a:r>
          </a:p>
          <a:p xmlns:a="http://schemas.openxmlformats.org/drawingml/2006/main">
            <a:pPr algn="l">
              <a:defRPr sz="1650" b="0">
                <a:solidFill>
                  <a:srgbClr val="111111"/>
                </a:solidFill>
                <a:latin typeface="Malgun Gothic"/>
                <a:ea typeface="Malgun Gothic"/>
                <a:cs typeface="Malgun Gothic"/>
              </a:defRPr>
            </a:pPr>
            <a:r>
              <a:rPr sz="1650" b="0">
                <a:solidFill>
                  <a:srgbClr val="111111"/>
                </a:solidFill>
                <a:latin typeface="Malgun Gothic"/>
                <a:ea typeface="Malgun Gothic"/>
                <a:cs typeface="Malgun Gothic"/>
              </a:rPr>
              <a:t>추가 학습 없음</a:t>
            </a:r>
            <a:endParaRPr sz="1400" b="0">
              <a:latin typeface="Malgun Gothic"/>
              <a:ea typeface="Malgun Gothic"/>
              <a:cs typeface="Malgun Gothic"/>
            </a:endParaRPr>
          </a:p>
          <a:p xmlns:a="http://schemas.openxmlformats.org/drawingml/2006/main">
            <a:pPr algn="l">
              <a:defRPr sz="1650" b="0">
                <a:solidFill>
                  <a:srgbClr val="111111"/>
                </a:solidFill>
                <a:latin typeface="Malgun Gothic"/>
                <a:ea typeface="Malgun Gothic"/>
                <a:cs typeface="Malgun Gothic"/>
              </a:defRPr>
            </a:pPr>
            <a:r>
              <a:rPr sz="1650" b="0">
                <a:solidFill>
                  <a:srgbClr val="111111"/>
                </a:solidFill>
                <a:latin typeface="Malgun Gothic"/>
                <a:ea typeface="Malgun Gothic"/>
                <a:cs typeface="Malgun Gothic"/>
              </a:rPr>
              <a:t>예시 없는 0-shot</a:t>
            </a:r>
            <a:endParaRPr sz="1400" b="0">
              <a:latin typeface="Malgun Gothic"/>
              <a:ea typeface="Malgun Gothic"/>
              <a:cs typeface="Malgun Gothic"/>
            </a:endParaRPr>
          </a:p>
          <a:p xmlns:a="http://schemas.openxmlformats.org/drawingml/2006/main">
            <a:pPr algn="l">
              <a:defRPr sz="1650" b="0">
                <a:solidFill>
                  <a:srgbClr val="111111"/>
                </a:solidFill>
                <a:latin typeface="Malgun Gothic"/>
                <a:ea typeface="Malgun Gothic"/>
                <a:cs typeface="Malgun Gothic"/>
              </a:defRPr>
            </a:pPr>
            <a:r>
              <a:rPr sz="1650" b="0">
                <a:solidFill>
                  <a:srgbClr val="111111"/>
                </a:solidFill>
                <a:latin typeface="Malgun Gothic"/>
                <a:ea typeface="Malgun Gothic"/>
                <a:cs typeface="Malgun Gothic"/>
              </a:rPr>
              <a:t>Greedy 생성</a:t>
            </a:r>
            <a:endParaRPr sz="1400" b="0">
              <a:latin typeface="Malgun Gothic"/>
              <a:ea typeface="Malgun Gothic"/>
              <a:cs typeface="Malgun Gothic"/>
            </a:endParaRPr>
          </a:p>
        </p:txBody>
      </p:sp>
      <p:sp>
        <p:nvSpPr>
          <p:cNvPr id="14" name="Shape 12">
            <a:extLst xmlns:a="http://schemas.openxmlformats.org/drawingml/2006/main">
              <a:ext uri="{FF2B5EF4-FFF2-40B4-BE49-F238E27FC236}">
                <a16:creationId xmlns:a16="http://schemas.microsoft.com/office/drawing/2014/main" id="{716C9AA7-2082-46B1-8FB5-9AFC769D22B2}"/>
              </a:ext>
            </a:extLst>
          </p:cNvPr>
          <p:cNvSpPr>
            <a:spLocks xmlns:a="http://schemas.openxmlformats.org/drawingml/2006/main" noGrp="1"/>
          </p:cNvSpPr>
          <p:nvPr/>
        </p:nvSpPr>
        <p:spPr>
          <a:xfrm xmlns:a="http://schemas.openxmlformats.org/drawingml/2006/main" rot="0" flipH="0" flipV="0">
            <a:off x="8477250" y="1190625"/>
            <a:ext cx="3143250" cy="2190750"/>
          </a:xfrm>
          <a:prstGeom xmlns:a="http://schemas.openxmlformats.org/drawingml/2006/main" prst="rect">
            <a:avLst>
              <a:gd name="adj" fmla="val 4444"/>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15" name="Shape 13">
            <a:extLst xmlns:a="http://schemas.openxmlformats.org/drawingml/2006/main">
              <a:ext uri="{FF2B5EF4-FFF2-40B4-BE49-F238E27FC236}">
                <a16:creationId xmlns:a16="http://schemas.microsoft.com/office/drawing/2014/main" id="{F4EBC92E-66A7-4C05-8DB5-46BBD4EF61EE}"/>
              </a:ext>
            </a:extLst>
          </p:cNvPr>
          <p:cNvSpPr>
            <a:spLocks xmlns:a="http://schemas.openxmlformats.org/drawingml/2006/main" noGrp="1"/>
          </p:cNvSpPr>
          <p:nvPr/>
        </p:nvSpPr>
        <p:spPr>
          <a:xfrm xmlns:a="http://schemas.openxmlformats.org/drawingml/2006/main" rot="0" flipH="0" flipV="0">
            <a:off x="8477250" y="1190625"/>
            <a:ext cx="3143250" cy="419100"/>
          </a:xfrm>
          <a:prstGeom xmlns:a="http://schemas.openxmlformats.org/drawingml/2006/main" prst="rect">
            <a:avLst/>
          </a:prstGeom>
          <a:solidFill xmlns:a="http://schemas.openxmlformats.org/drawingml/2006/main">
            <a:srgbClr val="087F8C"/>
          </a:solidFill>
          <a:ln xmlns:a="http://schemas.openxmlformats.org/drawingml/2006/main" w="12700">
            <a:solidFill>
              <a:srgbClr val="16A7B8">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16" name="Text 14">
            <a:extLst xmlns:a="http://schemas.openxmlformats.org/drawingml/2006/main">
              <a:ext uri="{FF2B5EF4-FFF2-40B4-BE49-F238E27FC236}">
                <a16:creationId xmlns:a16="http://schemas.microsoft.com/office/drawing/2014/main" id="{3ED3C1D5-FDC6-4F04-B067-F0B8FEBCFD0B}"/>
              </a:ext>
            </a:extLst>
          </p:cNvPr>
          <p:cNvSpPr>
            <a:spLocks xmlns:a="http://schemas.openxmlformats.org/drawingml/2006/main" noGrp="1"/>
          </p:cNvSpPr>
          <p:nvPr/>
        </p:nvSpPr>
        <p:spPr>
          <a:xfrm xmlns:a="http://schemas.openxmlformats.org/drawingml/2006/main" rot="0" flipH="0" flipV="0">
            <a:off x="8610600" y="1266825"/>
            <a:ext cx="287655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공통 입력</a:t>
            </a:r>
            <a:endParaRPr sz="1600">
              <a:solidFill>
                <a:schemeClr val="bg1"/>
              </a:solidFill>
            </a:endParaRPr>
          </a:p>
        </p:txBody>
      </p:sp>
      <p:sp>
        <p:nvSpPr>
          <p:cNvPr id="17" name="Text 15">
            <a:extLst xmlns:a="http://schemas.openxmlformats.org/drawingml/2006/main">
              <a:ext uri="{FF2B5EF4-FFF2-40B4-BE49-F238E27FC236}">
                <a16:creationId xmlns:a16="http://schemas.microsoft.com/office/drawing/2014/main" id="{9B058676-55B1-4319-BCC1-357BA74D9ECD}"/>
              </a:ext>
            </a:extLst>
          </p:cNvPr>
          <p:cNvSpPr>
            <a:spLocks xmlns:a="http://schemas.openxmlformats.org/drawingml/2006/main" noGrp="1"/>
          </p:cNvSpPr>
          <p:nvPr/>
        </p:nvSpPr>
        <p:spPr>
          <a:xfrm xmlns:a="http://schemas.openxmlformats.org/drawingml/2006/main" rot="0" flipH="0" flipV="0">
            <a:off x="8629650" y="1743075"/>
            <a:ext cx="2838450" cy="157162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marL="285750" lvl="0" indent="-285750" algn="l">
              <a:buFont typeface="Arial"/>
              <a:buChar cha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동일 RGB 영상</a:t>
            </a:r>
            <a:endParaRPr sz="1400" b="0">
              <a:latin typeface="Malgun Gothic"/>
              <a:ea typeface="Malgun Gothic"/>
              <a:cs typeface="Malgun Gothic"/>
            </a:endParaRPr>
          </a:p>
          <a:p xmlns:a="http://schemas.openxmlformats.org/drawingml/2006/main">
            <a:pPr marL="285750" indent="-285750" algn="l">
              <a:buFont typeface="Arial"/>
              <a:buChar cha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동일 과제 지침·시행 시간 T</a:t>
            </a:r>
            <a:endParaRPr sz="1400" b="0">
              <a:latin typeface="Malgun Gothic"/>
              <a:ea typeface="Malgun Gothic"/>
              <a:cs typeface="Malgun Gothic"/>
            </a:endParaRPr>
          </a:p>
          <a:p xmlns:a="http://schemas.openxmlformats.org/drawingml/2006/main">
            <a:pPr marL="285750" indent="-285750" algn="l">
              <a:buFont typeface="Arial"/>
              <a:buChar cha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첫 5초 10 Hz, 이후 2 Hz</a:t>
            </a:r>
          </a:p>
          <a:p xmlns:a="http://schemas.openxmlformats.org/drawingml/2006/main">
            <a:pPr marL="285750" indent="-285750" algn="l">
              <a:buFont typeface="Arial"/>
              <a:buChar cha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최대 64프레임</a:t>
            </a:r>
          </a:p>
        </p:txBody>
      </p:sp>
      <p:sp>
        <p:nvSpPr>
          <p:cNvPr id="18" name="Shape 16">
            <a:extLst xmlns:a="http://schemas.openxmlformats.org/drawingml/2006/main">
              <a:ext uri="{FF2B5EF4-FFF2-40B4-BE49-F238E27FC236}">
                <a16:creationId xmlns:a16="http://schemas.microsoft.com/office/drawing/2014/main" id="{4FBD40C0-077C-44F5-B139-09925A5C2DD9}"/>
              </a:ext>
            </a:extLst>
          </p:cNvPr>
          <p:cNvSpPr>
            <a:spLocks xmlns:a="http://schemas.openxmlformats.org/drawingml/2006/main" noGrp="1"/>
          </p:cNvSpPr>
          <p:nvPr/>
        </p:nvSpPr>
        <p:spPr>
          <a:xfrm xmlns:a="http://schemas.openxmlformats.org/drawingml/2006/main" rot="0" flipH="0" flipV="0">
            <a:off x="5238750" y="3619500"/>
            <a:ext cx="3048000" cy="2095500"/>
          </a:xfrm>
          <a:prstGeom xmlns:a="http://schemas.openxmlformats.org/drawingml/2006/main" prst="rect">
            <a:avLst>
              <a:gd name="adj" fmla="val 4444"/>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19" name="Shape 17">
            <a:extLst xmlns:a="http://schemas.openxmlformats.org/drawingml/2006/main">
              <a:ext uri="{FF2B5EF4-FFF2-40B4-BE49-F238E27FC236}">
                <a16:creationId xmlns:a16="http://schemas.microsoft.com/office/drawing/2014/main" id="{CCC7326A-687D-49A7-A610-11DDD72D753A}"/>
              </a:ext>
            </a:extLst>
          </p:cNvPr>
          <p:cNvSpPr>
            <a:spLocks xmlns:a="http://schemas.openxmlformats.org/drawingml/2006/main" noGrp="1"/>
          </p:cNvSpPr>
          <p:nvPr/>
        </p:nvSpPr>
        <p:spPr>
          <a:xfrm xmlns:a="http://schemas.openxmlformats.org/drawingml/2006/main" rot="0" flipH="0" flipV="0">
            <a:off x="5238750" y="3619500"/>
            <a:ext cx="3048000" cy="419100"/>
          </a:xfrm>
          <a:prstGeom xmlns:a="http://schemas.openxmlformats.org/drawingml/2006/main" prst="rect">
            <a:avLst/>
          </a:prstGeom>
          <a:solidFill xmlns:a="http://schemas.openxmlformats.org/drawingml/2006/main">
            <a:srgbClr val="087F8C"/>
          </a:solidFill>
          <a:ln xmlns:a="http://schemas.openxmlformats.org/drawingml/2006/main" w="12700">
            <a:solidFill>
              <a:srgbClr val="7665B7">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20" name="Text 18">
            <a:extLst xmlns:a="http://schemas.openxmlformats.org/drawingml/2006/main">
              <a:ext uri="{FF2B5EF4-FFF2-40B4-BE49-F238E27FC236}">
                <a16:creationId xmlns:a16="http://schemas.microsoft.com/office/drawing/2014/main" id="{6999E4F6-DB42-49B6-BCA8-92C4F63C00FB}"/>
              </a:ext>
            </a:extLst>
          </p:cNvPr>
          <p:cNvSpPr>
            <a:spLocks xmlns:a="http://schemas.openxmlformats.org/drawingml/2006/main" noGrp="1"/>
          </p:cNvSpPr>
          <p:nvPr/>
        </p:nvSpPr>
        <p:spPr>
          <a:xfrm xmlns:a="http://schemas.openxmlformats.org/drawingml/2006/main" rot="0" flipH="0" flipV="0">
            <a:off x="5372100" y="3695700"/>
            <a:ext cx="278130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본평가 전 고정</a:t>
            </a:r>
            <a:endParaRPr sz="1600">
              <a:solidFill>
                <a:schemeClr val="bg1"/>
              </a:solidFill>
            </a:endParaRPr>
          </a:p>
        </p:txBody>
      </p:sp>
      <p:sp>
        <p:nvSpPr>
          <p:cNvPr id="21" name="Text 19">
            <a:extLst xmlns:a="http://schemas.openxmlformats.org/drawingml/2006/main">
              <a:ext uri="{FF2B5EF4-FFF2-40B4-BE49-F238E27FC236}">
                <a16:creationId xmlns:a16="http://schemas.microsoft.com/office/drawing/2014/main" id="{57250926-0C26-45C8-9222-F97A81D43A8A}"/>
              </a:ext>
            </a:extLst>
          </p:cNvPr>
          <p:cNvSpPr>
            <a:spLocks xmlns:a="http://schemas.openxmlformats.org/drawingml/2006/main" noGrp="1"/>
          </p:cNvSpPr>
          <p:nvPr/>
        </p:nvSpPr>
        <p:spPr>
          <a:xfrm xmlns:a="http://schemas.openxmlformats.org/drawingml/2006/main" rot="0" flipH="0" flipV="0">
            <a:off x="5391150" y="4171950"/>
            <a:ext cx="2743200" cy="147637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marL="285750" indent="-285750" algn="l">
              <a:buFont typeface="Arial"/>
              <a:buChar cha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모델 버전·프롬프트</a:t>
            </a:r>
            <a:endParaRPr sz="1400" b="0">
              <a:latin typeface="Malgun Gothic"/>
              <a:ea typeface="Malgun Gothic"/>
              <a:cs typeface="Malgun Gothic"/>
            </a:endParaRPr>
          </a:p>
          <a:p xmlns:a="http://schemas.openxmlformats.org/drawingml/2006/main">
            <a:pPr marL="285750" indent="-285750" algn="l">
              <a:buFont typeface="Arial"/>
              <a:buChar cha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프레임 추출 방식</a:t>
            </a:r>
            <a:endParaRPr sz="1400" b="0">
              <a:latin typeface="Malgun Gothic"/>
              <a:ea typeface="Malgun Gothic"/>
              <a:cs typeface="Malgun Gothic"/>
            </a:endParaRPr>
          </a:p>
          <a:p xmlns:a="http://schemas.openxmlformats.org/drawingml/2006/main">
            <a:pPr marL="285750" indent="-285750" algn="l">
              <a:buFont typeface="Arial"/>
              <a:buChar cha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Q 임계값·R 배정 방식</a:t>
            </a:r>
            <a:endParaRPr sz="1400" b="0">
              <a:latin typeface="Malgun Gothic"/>
              <a:ea typeface="Malgun Gothic"/>
              <a:cs typeface="Malgun Gothic"/>
            </a:endParaRPr>
          </a:p>
          <a:p xmlns:a="http://schemas.openxmlformats.org/drawingml/2006/main">
            <a:pPr marL="285750" indent="-285750" algn="l">
              <a:buFont typeface="Arial"/>
              <a:buChar cha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보조 모델은 별도 확정</a:t>
            </a:r>
            <a:endParaRPr sz="1400" b="0">
              <a:latin typeface="Malgun Gothic"/>
              <a:ea typeface="Malgun Gothic"/>
              <a:cs typeface="Malgun Gothic"/>
            </a:endParaRPr>
          </a:p>
        </p:txBody>
      </p:sp>
      <p:sp>
        <p:nvSpPr>
          <p:cNvPr id="22" name="Shape 20">
            <a:extLst xmlns:a="http://schemas.openxmlformats.org/drawingml/2006/main">
              <a:ext uri="{FF2B5EF4-FFF2-40B4-BE49-F238E27FC236}">
                <a16:creationId xmlns:a16="http://schemas.microsoft.com/office/drawing/2014/main" id="{4CE33B8E-7BEF-4D8D-9409-735F1BA6263C}"/>
              </a:ext>
            </a:extLst>
          </p:cNvPr>
          <p:cNvSpPr>
            <a:spLocks xmlns:a="http://schemas.openxmlformats.org/drawingml/2006/main" noGrp="1"/>
          </p:cNvSpPr>
          <p:nvPr/>
        </p:nvSpPr>
        <p:spPr>
          <a:xfrm xmlns:a="http://schemas.openxmlformats.org/drawingml/2006/main" rot="0" flipH="0" flipV="0">
            <a:off x="8477250" y="3619500"/>
            <a:ext cx="3143250" cy="2095500"/>
          </a:xfrm>
          <a:prstGeom xmlns:a="http://schemas.openxmlformats.org/drawingml/2006/main" prst="rect">
            <a:avLst>
              <a:gd name="adj" fmla="val 4444"/>
            </a:avLst>
          </a:prstGeom>
          <a:solidFill xmlns:a="http://schemas.openxmlformats.org/drawingml/2006/main">
            <a:srgbClr val="FFFFFF"/>
          </a:solidFill>
          <a:ln xmlns:a="http://schemas.openxmlformats.org/drawingml/2006/main" w="9525">
            <a:solidFill>
              <a:srgbClr val="CBD6E1"/>
            </a:solidFill>
          </a:ln>
        </p:spPr>
        <p:txBody>
          <a:bodyPr xmlns:a="http://schemas.openxmlformats.org/drawingml/2006/main"/>
          <a:lstStyle xmlns:a="http://schemas.openxmlformats.org/drawingml/2006/main"/>
          <a:p xmlns:a="http://schemas.openxmlformats.org/drawingml/2006/main">
            <a:endParaRPr sz="2400"/>
          </a:p>
        </p:txBody>
      </p:sp>
      <p:sp>
        <p:nvSpPr>
          <p:cNvPr id="23" name="Shape 21">
            <a:extLst xmlns:a="http://schemas.openxmlformats.org/drawingml/2006/main">
              <a:ext uri="{FF2B5EF4-FFF2-40B4-BE49-F238E27FC236}">
                <a16:creationId xmlns:a16="http://schemas.microsoft.com/office/drawing/2014/main" id="{8A989E75-C998-4B5B-9743-74A6C7D16485}"/>
              </a:ext>
            </a:extLst>
          </p:cNvPr>
          <p:cNvSpPr>
            <a:spLocks xmlns:a="http://schemas.openxmlformats.org/drawingml/2006/main" noGrp="1"/>
          </p:cNvSpPr>
          <p:nvPr/>
        </p:nvSpPr>
        <p:spPr>
          <a:xfrm xmlns:a="http://schemas.openxmlformats.org/drawingml/2006/main" rot="0" flipH="0" flipV="0">
            <a:off x="8477250" y="3619500"/>
            <a:ext cx="3143250" cy="419100"/>
          </a:xfrm>
          <a:prstGeom xmlns:a="http://schemas.openxmlformats.org/drawingml/2006/main" prst="rect">
            <a:avLst/>
          </a:prstGeom>
          <a:solidFill xmlns:a="http://schemas.openxmlformats.org/drawingml/2006/main">
            <a:srgbClr val="193A66"/>
          </a:solidFill>
          <a:ln xmlns:a="http://schemas.openxmlformats.org/drawingml/2006/main" w="12700">
            <a:solidFill>
              <a:srgbClr val="7665B7">
                <a:alpha val="0"/>
              </a:srgbClr>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24" name="Text 22">
            <a:extLst xmlns:a="http://schemas.openxmlformats.org/drawingml/2006/main">
              <a:ext uri="{FF2B5EF4-FFF2-40B4-BE49-F238E27FC236}">
                <a16:creationId xmlns:a16="http://schemas.microsoft.com/office/drawing/2014/main" id="{F9A09B11-3FB1-404F-A854-1C5EF2F73159}"/>
              </a:ext>
            </a:extLst>
          </p:cNvPr>
          <p:cNvSpPr>
            <a:spLocks xmlns:a="http://schemas.openxmlformats.org/drawingml/2006/main" noGrp="1"/>
          </p:cNvSpPr>
          <p:nvPr/>
        </p:nvSpPr>
        <p:spPr>
          <a:xfrm xmlns:a="http://schemas.openxmlformats.org/drawingml/2006/main" rot="0" flipH="0" flipV="0">
            <a:off x="8610600" y="3695700"/>
            <a:ext cx="2876550" cy="30480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출력과 실패 처리</a:t>
            </a:r>
            <a:endParaRPr sz="1600">
              <a:solidFill>
                <a:schemeClr val="bg1"/>
              </a:solidFill>
            </a:endParaRPr>
          </a:p>
        </p:txBody>
      </p:sp>
      <p:sp>
        <p:nvSpPr>
          <p:cNvPr id="25" name="Text 23">
            <a:extLst xmlns:a="http://schemas.openxmlformats.org/drawingml/2006/main">
              <a:ext uri="{FF2B5EF4-FFF2-40B4-BE49-F238E27FC236}">
                <a16:creationId xmlns:a16="http://schemas.microsoft.com/office/drawing/2014/main" id="{85B41FE8-0F74-4C80-B28D-F27BBBFE9C21}"/>
              </a:ext>
            </a:extLst>
          </p:cNvPr>
          <p:cNvSpPr>
            <a:spLocks xmlns:a="http://schemas.openxmlformats.org/drawingml/2006/main" noGrp="1"/>
          </p:cNvSpPr>
          <p:nvPr/>
        </p:nvSpPr>
        <p:spPr>
          <a:xfrm xmlns:a="http://schemas.openxmlformats.org/drawingml/2006/main" rot="0" flipH="0" flipV="0">
            <a:off x="8629650" y="4171950"/>
            <a:ext cx="2838450" cy="1476375"/>
          </a:xfrm>
          <a:prstGeom xmlns:a="http://schemas.openxmlformats.org/drawingml/2006/main" prst="rect">
            <a:avLst/>
          </a:prstGeom>
          <a:noFill xmlns:a="http://schemas.openxmlformats.org/drawingml/2006/main"/>
        </p:spPr>
        <p:txBody>
          <a:bodyPr xmlns:a="http://schemas.openxmlformats.org/drawingml/2006/main" wrap="square" lIns="762" tIns="762" rIns="762" bIns="762" anchor="t">
            <a:noAutofit/>
          </a:bodyPr>
          <a:lstStyle xmlns:a="http://schemas.openxmlformats.org/drawingml/2006/main"/>
          <a:p xmlns:a="http://schemas.openxmlformats.org/drawingml/2006/main">
            <a:pPr marL="285750" indent="-285750" algn="l">
              <a:buFont typeface="Arial"/>
              <a:buChar cha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시행별 ARAT 0–3점</a:t>
            </a:r>
          </a:p>
          <a:p xmlns:a="http://schemas.openxmlformats.org/drawingml/2006/main">
            <a:pPr algn="l">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치료사 기준점수와 비교</a:t>
            </a:r>
          </a:p>
          <a:p xmlns:a="http://schemas.openxmlformats.org/drawingml/2006/main">
            <a:pPr algn="l">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출력 실패는 1회 재시도</a:t>
            </a:r>
          </a:p>
          <a:p xmlns:a="http://schemas.openxmlformats.org/drawingml/2006/main">
            <a:pPr algn="l">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실패 포함 손실·성공률 병기</a:t>
            </a:r>
          </a:p>
        </p:txBody>
      </p:sp>
      <p:sp>
        <p:nvSpPr>
          <p:cNvPr id="6" name="Shape 4">
            <a:extLst xmlns:a="http://schemas.openxmlformats.org/drawingml/2006/main">
              <a:ext uri="{FF2B5EF4-FFF2-40B4-BE49-F238E27FC236}">
                <a16:creationId xmlns:a16="http://schemas.microsoft.com/office/drawing/2014/main" id="{83459C70-7817-4B53-B9DF-B9BE8A837A2C}"/>
              </a:ext>
            </a:extLst>
          </p:cNvPr>
          <p:cNvSpPr>
            <a:spLocks xmlns:a="http://schemas.openxmlformats.org/drawingml/2006/main" noGrp="1"/>
          </p:cNvSpPr>
          <p:nvPr/>
        </p:nvSpPr>
        <p:spPr>
          <a:xfrm xmlns:a="http://schemas.openxmlformats.org/drawingml/2006/main" rot="0" flipH="0" flipV="0">
            <a:off x="685800" y="1142999"/>
            <a:ext cx="4371975" cy="4329616"/>
          </a:xfrm>
          <a:prstGeom xmlns:a="http://schemas.openxmlformats.org/drawingml/2006/main" prst="roundRect">
            <a:avLst>
              <a:gd name="adj" fmla="val 2222"/>
            </a:avLst>
          </a:prstGeom>
          <a:blipFill xmlns:a="http://schemas.openxmlformats.org/drawingml/2006/main">
            <a:blip xmlns:r="http://schemas.openxmlformats.org/officeDocument/2006/relationships" r:embed="R081e2ed2f007468b"/>
            <a:stretch>
              <a:fillRect l="0" t="0" r="0" b="0"/>
            </a:stretch>
          </a:blipFill>
          <a:ln xmlns:a="http://schemas.openxmlformats.org/drawingml/2006/main" w="12700">
            <a:solidFill>
              <a:srgbClr val="94A3B8"/>
            </a:solidFill>
            <a:prstDash val="solid"/>
          </a:ln>
        </p:spPr>
        <p:txBody>
          <a:bodyPr xmlns:a="http://schemas.openxmlformats.org/drawingml/2006/main"/>
          <a:lstStyle xmlns:a="http://schemas.openxmlformats.org/drawingml/2006/main"/>
          <a:p xmlns:a="http://schemas.openxmlformats.org/drawingml/2006/main">
            <a:endParaRPr sz="2400"/>
          </a:p>
        </p:txBody>
      </p:sp>
      <p:sp>
        <p:nvSpPr>
          <p:cNvPr id="5" name="TextBox 4">
            <a:extLst xmlns:a="http://schemas.openxmlformats.org/drawingml/2006/main">
              <a:ext uri="{FF2B5EF4-FFF2-40B4-BE49-F238E27FC236}">
                <a16:creationId xmlns:a16="http://schemas.microsoft.com/office/drawing/2014/main" id="{00311297-A97A-60C8-CADD-622ADBE53503}"/>
              </a:ext>
            </a:extLst>
          </p:cNvPr>
          <p:cNvSpPr>
            <a:spLocks xmlns:a="http://schemas.openxmlformats.org/drawingml/2006/main" noGrp="1"/>
          </p:cNvSpPr>
          <p:nvPr/>
        </p:nvSpPr>
        <p:spPr>
          <a:xfrm xmlns:a="http://schemas.openxmlformats.org/drawingml/2006/main" rot="0" flipH="0" flipV="0">
            <a:off x="571500" y="5562600"/>
            <a:ext cx="4429125" cy="57150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gn="l">
              <a:buNone/>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기존 실행 예시: Qwen2.5-VL-3B</a:t>
            </a:r>
            <a:endParaRPr b="1"/>
          </a:p>
          <a:p xmlns:a="http://schemas.openxmlformats.org/drawingml/2006/main">
            <a:pPr algn="l">
              <a:buNone/>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본평가 72B 채점 실험과 구분</a:t>
            </a:r>
            <a:endParaRPr b="1"/>
          </a:p>
        </p:txBody>
      </p:sp>
      <p:sp>
        <p:nvSpPr>
          <p:cNvPr id="27" name="Text 1">
            <a:extLst xmlns:a="http://schemas.openxmlformats.org/drawingml/2006/main">
              <a:ext uri="{FF2B5EF4-FFF2-40B4-BE49-F238E27FC236}">
                <a16:creationId xmlns:a16="http://schemas.microsoft.com/office/drawing/2014/main" id="{FF992DFF-E1D2-9FD2-DC1B-3660B038AC83}"/>
              </a:ext>
            </a:extLst>
          </p:cNvPr>
          <p:cNvSpPr>
            <a:spLocks xmlns:a="http://schemas.openxmlformats.org/drawingml/2006/main" noGrp="1"/>
          </p:cNvSpPr>
          <p:nvPr/>
        </p:nvSpPr>
        <p:spPr>
          <a:xfrm xmlns:a="http://schemas.openxmlformats.org/drawingml/2006/main">
            <a:off x="11052841" y="341454"/>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b="1">
                <a:solidFill>
                  <a:srgbClr val="9AA6B4"/>
                </a:solidFill>
                <a:latin typeface="Malgun Gothic"/>
                <a:ea typeface="Malgun Gothic"/>
                <a:cs typeface="Malgun Gothic"/>
              </a:rPr>
              <a:t>08</a:t>
            </a:r>
            <a:endParaRPr/>
          </a:p>
        </p:txBody>
      </p:sp>
    </p:spTree>
    <p:extLst>
      <p:ext uri="{BB962C8B-B14F-4D97-AF65-F5344CB8AC3E}">
        <p14:creationId xmlns:p14="http://schemas.microsoft.com/office/powerpoint/2010/main" val="18495893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C0FA5BA-ED3E-4BEF-95C4-25B162C9C7A1}"/>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3" name="Text 1">
            <a:extLst xmlns:a="http://schemas.openxmlformats.org/drawingml/2006/main">
              <a:ext uri="{FF2B5EF4-FFF2-40B4-BE49-F238E27FC236}">
                <a16:creationId xmlns:a16="http://schemas.microsoft.com/office/drawing/2014/main" id="{B6D2FC44-8BD5-4C90-BA88-D820E902C2A5}"/>
              </a:ext>
            </a:extLst>
          </p:cNvPr>
          <p:cNvSpPr>
            <a:spLocks xmlns:a="http://schemas.openxmlformats.org/drawingml/2006/main" noGrp="1"/>
          </p:cNvSpPr>
          <p:nvPr/>
        </p:nvSpPr>
        <p:spPr>
          <a:xfrm xmlns:a="http://schemas.openxmlformats.org/drawingml/2006/main">
            <a:off x="11109960" y="347472"/>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b="1">
                <a:solidFill>
                  <a:srgbClr val="9AA6B4"/>
                </a:solidFill>
                <a:latin typeface="Malgun Gothic"/>
                <a:ea typeface="Malgun Gothic"/>
                <a:cs typeface="Malgun Gothic"/>
              </a:rPr>
              <a:t>0</a:t>
            </a:r>
            <a:r>
              <a:rPr b="1">
                <a:solidFill>
                  <a:srgbClr val="9AA6B4"/>
                </a:solidFill>
                <a:latin typeface="Malgun Gothic"/>
                <a:ea typeface="Malgun Gothic"/>
                <a:cs typeface="Malgun Gothic"/>
              </a:rPr>
              <a:t>9</a:t>
            </a:r>
            <a:endParaRPr/>
          </a:p>
        </p:txBody>
      </p:sp>
      <p:sp>
        <p:nvSpPr>
          <p:cNvPr id="4" name="Text 2">
            <a:extLst xmlns:a="http://schemas.openxmlformats.org/drawingml/2006/main">
              <a:ext uri="{FF2B5EF4-FFF2-40B4-BE49-F238E27FC236}">
                <a16:creationId xmlns:a16="http://schemas.microsoft.com/office/drawing/2014/main" id="{6065907A-DEBB-45C9-A9A5-D1AB9EC2366A}"/>
              </a:ext>
            </a:extLst>
          </p:cNvPr>
          <p:cNvSpPr>
            <a:spLocks xmlns:a="http://schemas.openxmlformats.org/drawingml/2006/main" noGrp="1"/>
          </p:cNvSpPr>
          <p:nvPr/>
        </p:nvSpPr>
        <p:spPr>
          <a:xfrm xmlns:a="http://schemas.openxmlformats.org/drawingml/2006/main">
            <a:off x="571500" y="381000"/>
            <a:ext cx="10287000" cy="43815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수치 제공 조건과 세 가지 비교</a:t>
            </a:r>
            <a:endParaRPr sz="3600" b="1"/>
          </a:p>
        </p:txBody>
      </p:sp>
      <p:graphicFrame>
        <p:nvGraphicFramePr>
          <p:cNvPr id="12" name=""/>
          <p:cNvGraphicFramePr/>
          <p:nvPr/>
        </p:nvGraphicFramePr>
        <p:xfrm>
          <a:off xmlns:a="http://schemas.openxmlformats.org/drawingml/2006/main" x="571500" y="1476375"/>
          <a:ext xmlns:a="http://schemas.openxmlformats.org/drawingml/2006/main" cx="11049000" cy="3495675"/>
        </p:xfrm>
        <a:graphic xmlns:a="http://schemas.openxmlformats.org/drawingml/2006/main">
          <a:graphicData uri="http://schemas.openxmlformats.org/drawingml/2006/table">
            <a:tbl>
              <a:tblPr/>
              <a:tblGrid>
                <a:gridCol w="2333625"/>
                <a:gridCol w="2143125"/>
                <a:gridCol w="3524250"/>
                <a:gridCol w="3048000"/>
              </a:tblGrid>
              <a:tr h="523875">
                <a:tc>
                  <a:txBody>
                    <a:bodyPr/>
                    <a:lstStyle/>
                    <a:p>
                      <a:r>
                        <a:rPr sz="1575" b="1">
                          <a:solidFill>
                            <a:srgbClr val="FFFFFF"/>
                          </a:solidFill>
                          <a:latin typeface="Malgun Gothic"/>
                          <a:ea typeface="Malgun Gothic"/>
                          <a:cs typeface="Malgun Gothic"/>
                        </a:rPr>
                        <a:t>조건</a:t>
                      </a:r>
                    </a:p>
                  </a:txBody>
                  <a:tcPr marL="91440" marR="91440" marT="45720" marB="45720">
                    <a:solidFill>
                      <a:srgbClr val="193A66"/>
                    </a:solidFill>
                  </a:tcPr>
                </a:tc>
                <a:tc>
                  <a:txBody>
                    <a:bodyPr/>
                    <a:lstStyle/>
                    <a:p>
                      <a:r>
                        <a:rPr sz="1575" b="1">
                          <a:solidFill>
                            <a:srgbClr val="FFFFFF"/>
                          </a:solidFill>
                          <a:latin typeface="Malgun Gothic"/>
                          <a:ea typeface="Malgun Gothic"/>
                          <a:cs typeface="Malgun Gothic"/>
                        </a:rPr>
                        <a:t>영상·지침·시간 T</a:t>
                      </a:r>
                    </a:p>
                  </a:txBody>
                  <a:tcPr marL="91440" marR="91440" marT="45720" marB="45720">
                    <a:solidFill>
                      <a:srgbClr val="193A66"/>
                    </a:solidFill>
                  </a:tcPr>
                </a:tc>
                <a:tc>
                  <a:txBody>
                    <a:bodyPr/>
                    <a:lstStyle/>
                    <a:p>
                      <a:r>
                        <a:rPr sz="1575" b="1">
                          <a:solidFill>
                            <a:srgbClr val="FFFFFF"/>
                          </a:solidFill>
                          <a:latin typeface="Malgun Gothic"/>
                          <a:ea typeface="Malgun Gothic"/>
                          <a:cs typeface="Malgun Gothic"/>
                        </a:rPr>
                        <a:t>K1·K2 제공 방식</a:t>
                      </a:r>
                    </a:p>
                  </a:txBody>
                  <a:tcPr marL="91440" marR="91440" marT="45720" marB="45720">
                    <a:solidFill>
                      <a:srgbClr val="193A66"/>
                    </a:solidFill>
                  </a:tcPr>
                </a:tc>
                <a:tc>
                  <a:txBody>
                    <a:bodyPr/>
                    <a:lstStyle/>
                    <a:p>
                      <a:r>
                        <a:rPr sz="1575" b="1">
                          <a:solidFill>
                            <a:srgbClr val="FFFFFF"/>
                          </a:solidFill>
                          <a:latin typeface="Malgun Gothic"/>
                          <a:ea typeface="Malgun Gothic"/>
                          <a:cs typeface="Malgun Gothic"/>
                        </a:rPr>
                        <a:t>비교 목적</a:t>
                      </a:r>
                    </a:p>
                  </a:txBody>
                  <a:tcPr marL="91440" marR="91440" marT="45720" marB="45720">
                    <a:solidFill>
                      <a:srgbClr val="193A66"/>
                    </a:solidFill>
                  </a:tcPr>
                </a:tc>
              </a:tr>
              <a:tr h="742950">
                <a:tc>
                  <a:txBody>
                    <a:bodyPr/>
                    <a:lstStyle/>
                    <a:p>
                      <a:r>
                        <a:rPr sz="1575" b="0">
                          <a:solidFill>
                            <a:srgbClr val="111111"/>
                          </a:solidFill>
                          <a:latin typeface="Malgun Gothic"/>
                          <a:ea typeface="Malgun Gothic"/>
                          <a:cs typeface="Malgun Gothic"/>
                        </a:rPr>
                        <a:t>A1 영상 기준</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동일</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제공하지 않음</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영상만 있을 때의 기준</a:t>
                      </a:r>
                    </a:p>
                  </a:txBody>
                  <a:tcPr marL="91440" marR="91440" marT="45720" marB="45720">
                    <a:solidFill>
                      <a:srgbClr val="FFFFFF"/>
                    </a:solidFill>
                  </a:tcPr>
                </a:tc>
              </a:tr>
              <a:tr h="742950">
                <a:tc>
                  <a:txBody>
                    <a:bodyPr/>
                    <a:lstStyle/>
                    <a:p>
                      <a:r>
                        <a:rPr sz="1575" b="0">
                          <a:solidFill>
                            <a:srgbClr val="111111"/>
                          </a:solidFill>
                          <a:latin typeface="Malgun Gothic"/>
                          <a:ea typeface="Malgun Gothic"/>
                          <a:cs typeface="Malgun Gothic"/>
                        </a:rPr>
                        <a:t>A2 전체 제공</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동일</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계산 가능한 수치 모두 제공</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A2 vs A1: 수치 추가</a:t>
                      </a:r>
                    </a:p>
                  </a:txBody>
                  <a:tcPr marL="91440" marR="91440" marT="45720" marB="45720">
                    <a:solidFill>
                      <a:srgbClr val="FFFFFF"/>
                    </a:solidFill>
                  </a:tcPr>
                </a:tc>
              </a:tr>
              <a:tr h="742950">
                <a:tc>
                  <a:txBody>
                    <a:bodyPr/>
                    <a:lstStyle/>
                    <a:p>
                      <a:r>
                        <a:rPr sz="1575" b="0">
                          <a:solidFill>
                            <a:srgbClr val="111111"/>
                          </a:solidFill>
                          <a:latin typeface="Malgun Gothic"/>
                          <a:ea typeface="Malgun Gothic"/>
                          <a:cs typeface="Malgun Gothic"/>
                        </a:rPr>
                        <a:t>A3 선별 제공</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동일</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Q 통과 수치만 제공</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A3 vs A2: 수치 선별</a:t>
                      </a:r>
                    </a:p>
                  </a:txBody>
                  <a:tcPr marL="91440" marR="91440" marT="45720" marB="45720">
                    <a:solidFill>
                      <a:srgbClr val="FFFFFF"/>
                    </a:solidFill>
                  </a:tcPr>
                </a:tc>
              </a:tr>
              <a:tr h="742950">
                <a:tc>
                  <a:txBody>
                    <a:bodyPr/>
                    <a:lstStyle/>
                    <a:p>
                      <a:r>
                        <a:rPr sz="1575" b="0">
                          <a:solidFill>
                            <a:srgbClr val="111111"/>
                          </a:solidFill>
                          <a:latin typeface="Malgun Gothic"/>
                          <a:ea typeface="Malgun Gothic"/>
                          <a:cs typeface="Malgun Gothic"/>
                        </a:rPr>
                        <a:t>R 무작위 제외</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동일</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A3와 같은 수를 무작위 제외</a:t>
                      </a:r>
                    </a:p>
                  </a:txBody>
                  <a:tcPr marL="91440" marR="91440" marT="45720" marB="45720">
                    <a:solidFill>
                      <a:srgbClr val="FFFFFF"/>
                    </a:solidFill>
                  </a:tcPr>
                </a:tc>
                <a:tc>
                  <a:txBody>
                    <a:bodyPr/>
                    <a:lstStyle/>
                    <a:p>
                      <a:r>
                        <a:rPr sz="1575" b="0">
                          <a:solidFill>
                            <a:srgbClr val="111111"/>
                          </a:solidFill>
                          <a:latin typeface="Malgun Gothic"/>
                          <a:ea typeface="Malgun Gothic"/>
                          <a:cs typeface="Malgun Gothic"/>
                        </a:rPr>
                        <a:t>A3 vs R: 선별 기준</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B831A97-6A1D-4C86-9A8E-6A47FFC507F6}"/>
              </a:ext>
            </a:extLst>
          </p:cNvPr>
          <p:cNvSpPr>
            <a:spLocks xmlns:a="http://schemas.openxmlformats.org/drawingml/2006/main" noGrp="1"/>
          </p:cNvSpPr>
          <p:nvPr/>
        </p:nvSpPr>
        <p:spPr>
          <a:xfrm xmlns:a="http://schemas.openxmlformats.org/drawingml/2006/main">
            <a:off x="571500" y="5362575"/>
            <a:ext cx="11049000" cy="6381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R은 지표별로 A3의 총 제외 수를 맞추고, Q 통과 시행에서 무작위 제외한다(3개 시드).</a:t>
            </a:r>
          </a:p>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원래 계산 불가능한 값은 모든 조건에서 결측으로 유지한다.</a:t>
            </a:r>
          </a:p>
        </p:txBody>
      </p:sp>
      <p:sp>
        <p:nvSpPr>
          <p:cNvPr id="7" name="">
            <a:extLst xmlns:a="http://schemas.openxmlformats.org/drawingml/2006/main">
              <a:ext uri="{FF2B5EF4-FFF2-40B4-BE49-F238E27FC236}">
                <a16:creationId xmlns:a16="http://schemas.microsoft.com/office/drawing/2014/main" id="{9C5C4138-D8AC-43C9-A6E9-FAA5DCD83BB2}"/>
              </a:ext>
            </a:extLst>
          </p:cNvPr>
          <p:cNvSpPr>
            <a:spLocks xmlns:a="http://schemas.openxmlformats.org/drawingml/2006/main" noGrp="1"/>
          </p:cNvSpPr>
          <p:nvPr/>
        </p:nvSpPr>
        <p:spPr>
          <a:xfrm xmlns:a="http://schemas.openxmlformats.org/drawingml/2006/main">
            <a:off x="571500" y="6096000"/>
            <a:ext cx="11049000" cy="523875"/>
          </a:xfrm>
          <a:prstGeom xmlns:a="http://schemas.openxmlformats.org/drawingml/2006/main" prst="rect">
            <a:avLst/>
          </a:prstGeom>
          <a:solidFill xmlns:a="http://schemas.openxmlformats.org/drawingml/2006/main">
            <a:srgbClr val="193A66"/>
          </a:solidFill>
          <a:ln xmlns:a="http://schemas.openxmlformats.org/drawingml/2006/main" w="9525">
            <a:solidFill>
              <a:srgbClr val="193A66"/>
            </a:solidFill>
          </a:ln>
        </p:spPr>
      </p:sp>
      <p:sp>
        <p:nvSpPr>
          <p:cNvPr id="8" name="">
            <a:extLst xmlns:a="http://schemas.openxmlformats.org/drawingml/2006/main">
              <a:ext uri="{FF2B5EF4-FFF2-40B4-BE49-F238E27FC236}">
                <a16:creationId xmlns:a16="http://schemas.microsoft.com/office/drawing/2014/main" id="{F9EA3C86-DC08-45C0-A631-C699A67F8751}"/>
              </a:ext>
            </a:extLst>
          </p:cNvPr>
          <p:cNvSpPr>
            <a:spLocks xmlns:a="http://schemas.openxmlformats.org/drawingml/2006/main" noGrp="1"/>
          </p:cNvSpPr>
          <p:nvPr/>
        </p:nvSpPr>
        <p:spPr>
          <a:xfrm xmlns:a="http://schemas.openxmlformats.org/drawingml/2006/main">
            <a:off x="742950" y="6210300"/>
            <a:ext cx="10706100" cy="3429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같은 사람·같은 시행을 반복 비교해, 수치 제공 방식에 따른 채점오차 차이를 평가한다.</a:t>
            </a:r>
          </a:p>
        </p:txBody>
      </p:sp>
    </p:spTree>
    <p:extLst>
      <p:ext uri="{BB962C8B-B14F-4D97-AF65-F5344CB8AC3E}">
        <p14:creationId xmlns:p14="http://schemas.microsoft.com/office/powerpoint/2010/main" val="5349810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3BEFD47-C3FC-8383-7C01-698A0F670EE0}"/>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3" name="Text 1">
            <a:extLst xmlns:a="http://schemas.openxmlformats.org/drawingml/2006/main">
              <a:ext uri="{FF2B5EF4-FFF2-40B4-BE49-F238E27FC236}">
                <a16:creationId xmlns:a16="http://schemas.microsoft.com/office/drawing/2014/main" id="{9C21892D-8D39-1993-27BA-46D4BDB7D079}"/>
              </a:ext>
            </a:extLst>
          </p:cNvPr>
          <p:cNvSpPr>
            <a:spLocks xmlns:a="http://schemas.openxmlformats.org/drawingml/2006/main" noGrp="1"/>
          </p:cNvSpPr>
          <p:nvPr/>
        </p:nvSpPr>
        <p:spPr>
          <a:xfrm xmlns:a="http://schemas.openxmlformats.org/drawingml/2006/main">
            <a:off x="11109960" y="347472"/>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b="1">
                <a:solidFill>
                  <a:srgbClr val="9AA6B4"/>
                </a:solidFill>
                <a:latin typeface="Malgun Gothic"/>
                <a:ea typeface="Malgun Gothic"/>
                <a:cs typeface="Malgun Gothic"/>
              </a:rPr>
              <a:t>10</a:t>
            </a:r>
            <a:endParaRPr/>
          </a:p>
        </p:txBody>
      </p:sp>
      <p:sp>
        <p:nvSpPr>
          <p:cNvPr id="4" name="Text 2">
            <a:extLst xmlns:a="http://schemas.openxmlformats.org/drawingml/2006/main">
              <a:ext uri="{FF2B5EF4-FFF2-40B4-BE49-F238E27FC236}">
                <a16:creationId xmlns:a16="http://schemas.microsoft.com/office/drawing/2014/main" id="{AB25B424-03C0-2C87-51A6-5835A840FE9E}"/>
              </a:ext>
            </a:extLst>
          </p:cNvPr>
          <p:cNvSpPr>
            <a:spLocks xmlns:a="http://schemas.openxmlformats.org/drawingml/2006/main" noGrp="1"/>
          </p:cNvSpPr>
          <p:nvPr/>
        </p:nvSpPr>
        <p:spPr>
          <a:xfrm xmlns:a="http://schemas.openxmlformats.org/drawingml/2006/main">
            <a:off x="571500" y="381000"/>
            <a:ext cx="10287000" cy="438150"/>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수치 선별 규칙 Q</a:t>
            </a:r>
            <a:endParaRPr sz="3600" b="1">
              <a:solidFill>
                <a:srgbClr val="0F2C4D"/>
              </a:solidFill>
              <a:latin typeface="Malgun Gothic"/>
              <a:ea typeface="Malgun Gothic"/>
              <a:cs typeface="Malgun Gothic"/>
            </a:endParaRPr>
          </a:p>
        </p:txBody>
      </p:sp>
      <p:graphicFrame>
        <p:nvGraphicFramePr>
          <p:cNvPr id="16" name=""/>
          <p:cNvGraphicFramePr/>
          <p:nvPr/>
        </p:nvGraphicFramePr>
        <p:xfrm>
          <a:off xmlns:a="http://schemas.openxmlformats.org/drawingml/2006/main" x="571500" y="1428750"/>
          <a:ext xmlns:a="http://schemas.openxmlformats.org/drawingml/2006/main" cx="6000750" cy="3762375"/>
        </p:xfrm>
        <a:graphic xmlns:a="http://schemas.openxmlformats.org/drawingml/2006/main">
          <a:graphicData uri="http://schemas.openxmlformats.org/drawingml/2006/table">
            <a:tbl>
              <a:tblPr/>
              <a:tblGrid>
                <a:gridCol w="762000"/>
                <a:gridCol w="2257425"/>
                <a:gridCol w="2981325"/>
              </a:tblGrid>
              <a:tr h="523875">
                <a:tc>
                  <a:txBody>
                    <a:bodyPr/>
                    <a:lstStyle/>
                    <a:p>
                      <a:r>
                        <a:rPr sz="1500" b="1">
                          <a:solidFill>
                            <a:srgbClr val="FFFFFF"/>
                          </a:solidFill>
                          <a:latin typeface="Malgun Gothic"/>
                          <a:ea typeface="Malgun Gothic"/>
                          <a:cs typeface="Malgun Gothic"/>
                        </a:rPr>
                        <a:t>규칙</a:t>
                      </a:r>
                    </a:p>
                  </a:txBody>
                  <a:tcPr marL="91440" marR="91440" marT="45720" marB="45720">
                    <a:solidFill>
                      <a:srgbClr val="193A66"/>
                    </a:solidFill>
                  </a:tcPr>
                </a:tc>
                <a:tc>
                  <a:txBody>
                    <a:bodyPr/>
                    <a:lstStyle/>
                    <a:p>
                      <a:r>
                        <a:rPr sz="1500" b="1">
                          <a:solidFill>
                            <a:srgbClr val="FFFFFF"/>
                          </a:solidFill>
                          <a:latin typeface="Malgun Gothic"/>
                          <a:ea typeface="Malgun Gothic"/>
                          <a:cs typeface="Malgun Gothic"/>
                        </a:rPr>
                        <a:t>확인 내용</a:t>
                      </a:r>
                    </a:p>
                  </a:txBody>
                  <a:tcPr marL="91440" marR="91440" marT="45720" marB="45720">
                    <a:solidFill>
                      <a:srgbClr val="193A66"/>
                    </a:solidFill>
                  </a:tcPr>
                </a:tc>
                <a:tc>
                  <a:txBody>
                    <a:bodyPr/>
                    <a:lstStyle/>
                    <a:p>
                      <a:r>
                        <a:rPr sz="1500" b="1">
                          <a:solidFill>
                            <a:srgbClr val="FFFFFF"/>
                          </a:solidFill>
                          <a:latin typeface="Malgun Gothic"/>
                          <a:ea typeface="Malgun Gothic"/>
                          <a:cs typeface="Malgun Gothic"/>
                        </a:rPr>
                        <a:t>보류 기준</a:t>
                      </a:r>
                    </a:p>
                  </a:txBody>
                  <a:tcPr marL="91440" marR="91440" marT="45720" marB="45720">
                    <a:solidFill>
                      <a:srgbClr val="193A66"/>
                    </a:solidFill>
                  </a:tcPr>
                </a:tc>
              </a:tr>
              <a:tr h="647700">
                <a:tc>
                  <a:txBody>
                    <a:bodyPr/>
                    <a:lstStyle/>
                    <a:p>
                      <a:r>
                        <a:rPr sz="1500" b="0">
                          <a:solidFill>
                            <a:srgbClr val="111111"/>
                          </a:solidFill>
                          <a:latin typeface="Malgun Gothic"/>
                          <a:ea typeface="Malgun Gothic"/>
                          <a:cs typeface="Malgun Gothic"/>
                        </a:rPr>
                        <a:t>Q1</a:t>
                      </a:r>
                    </a:p>
                  </a:txBody>
                  <a:tcPr marL="91440" marR="91440" marT="45720" marB="45720">
                    <a:solidFill>
                      <a:srgbClr val="FFFFFF"/>
                    </a:solidFill>
                  </a:tcPr>
                </a:tc>
                <a:tc>
                  <a:txBody>
                    <a:bodyPr/>
                    <a:lstStyle/>
                    <a:p>
                      <a:r>
                        <a:rPr sz="1500" b="0">
                          <a:solidFill>
                            <a:srgbClr val="111111"/>
                          </a:solidFill>
                          <a:latin typeface="Malgun Gothic"/>
                          <a:ea typeface="Malgun Gothic"/>
                          <a:cs typeface="Malgun Gothic"/>
                        </a:rPr>
                        <a:t>깊이 유효 비율</a:t>
                      </a:r>
                    </a:p>
                  </a:txBody>
                  <a:tcPr marL="91440" marR="91440" marT="45720" marB="45720">
                    <a:solidFill>
                      <a:srgbClr val="FFFFFF"/>
                    </a:solidFill>
                  </a:tcPr>
                </a:tc>
                <a:tc>
                  <a:txBody>
                    <a:bodyPr/>
                    <a:lstStyle/>
                    <a:p>
                      <a:r>
                        <a:rPr sz="1500" b="0">
                          <a:solidFill>
                            <a:srgbClr val="111111"/>
                          </a:solidFill>
                          <a:latin typeface="Malgun Gothic"/>
                          <a:ea typeface="Malgun Gothic"/>
                          <a:cs typeface="Malgun Gothic"/>
                        </a:rPr>
                        <a:t>임계값 개발 단계 확정</a:t>
                      </a:r>
                    </a:p>
                  </a:txBody>
                  <a:tcPr marL="91440" marR="91440" marT="45720" marB="45720">
                    <a:solidFill>
                      <a:srgbClr val="FFFFFF"/>
                    </a:solidFill>
                  </a:tcPr>
                </a:tc>
              </a:tr>
              <a:tr h="647700">
                <a:tc>
                  <a:txBody>
                    <a:bodyPr/>
                    <a:lstStyle/>
                    <a:p>
                      <a:r>
                        <a:rPr sz="1500" b="0">
                          <a:solidFill>
                            <a:srgbClr val="111111"/>
                          </a:solidFill>
                          <a:latin typeface="Malgun Gothic"/>
                          <a:ea typeface="Malgun Gothic"/>
                          <a:cs typeface="Malgun Gothic"/>
                        </a:rPr>
                        <a:t>Q2</a:t>
                      </a:r>
                    </a:p>
                  </a:txBody>
                  <a:tcPr marL="91440" marR="91440" marT="45720" marB="45720">
                    <a:solidFill>
                      <a:srgbClr val="FFFFFF"/>
                    </a:solidFill>
                  </a:tcPr>
                </a:tc>
                <a:tc>
                  <a:txBody>
                    <a:bodyPr/>
                    <a:lstStyle/>
                    <a:p>
                      <a:r>
                        <a:rPr sz="1500" b="0">
                          <a:solidFill>
                            <a:srgbClr val="111111"/>
                          </a:solidFill>
                          <a:latin typeface="Malgun Gothic"/>
                          <a:ea typeface="Malgun Gothic"/>
                          <a:cs typeface="Malgun Gothic"/>
                        </a:rPr>
                        <a:t>연속 결측 시간</a:t>
                      </a:r>
                    </a:p>
                  </a:txBody>
                  <a:tcPr marL="91440" marR="91440" marT="45720" marB="45720">
                    <a:solidFill>
                      <a:srgbClr val="FFFFFF"/>
                    </a:solidFill>
                  </a:tcPr>
                </a:tc>
                <a:tc>
                  <a:txBody>
                    <a:bodyPr/>
                    <a:lstStyle/>
                    <a:p>
                      <a:r>
                        <a:rPr sz="1500" b="0">
                          <a:solidFill>
                            <a:srgbClr val="111111"/>
                          </a:solidFill>
                          <a:latin typeface="Malgun Gothic"/>
                          <a:ea typeface="Malgun Gothic"/>
                          <a:cs typeface="Malgun Gothic"/>
                        </a:rPr>
                        <a:t>0.3초 초과</a:t>
                      </a:r>
                    </a:p>
                  </a:txBody>
                  <a:tcPr marL="91440" marR="91440" marT="45720" marB="45720">
                    <a:solidFill>
                      <a:srgbClr val="FFFFFF"/>
                    </a:solidFill>
                  </a:tcPr>
                </a:tc>
              </a:tr>
              <a:tr h="647700">
                <a:tc>
                  <a:txBody>
                    <a:bodyPr/>
                    <a:lstStyle/>
                    <a:p>
                      <a:r>
                        <a:rPr sz="1500" b="0">
                          <a:solidFill>
                            <a:srgbClr val="111111"/>
                          </a:solidFill>
                          <a:latin typeface="Malgun Gothic"/>
                          <a:ea typeface="Malgun Gothic"/>
                          <a:cs typeface="Malgun Gothic"/>
                        </a:rPr>
                        <a:t>Q3</a:t>
                      </a:r>
                    </a:p>
                  </a:txBody>
                  <a:tcPr marL="91440" marR="91440" marT="45720" marB="45720">
                    <a:solidFill>
                      <a:srgbClr val="FFFFFF"/>
                    </a:solidFill>
                  </a:tcPr>
                </a:tc>
                <a:tc>
                  <a:txBody>
                    <a:bodyPr/>
                    <a:lstStyle/>
                    <a:p>
                      <a:r>
                        <a:rPr sz="1500" b="0">
                          <a:solidFill>
                            <a:srgbClr val="111111"/>
                          </a:solidFill>
                          <a:latin typeface="Malgun Gothic"/>
                          <a:ea typeface="Malgun Gothic"/>
                          <a:cs typeface="Malgun Gothic"/>
                        </a:rPr>
                        <a:t>유효 표본 수</a:t>
                      </a:r>
                    </a:p>
                  </a:txBody>
                  <a:tcPr marL="91440" marR="91440" marT="45720" marB="45720">
                    <a:solidFill>
                      <a:srgbClr val="FFFFFF"/>
                    </a:solidFill>
                  </a:tcPr>
                </a:tc>
                <a:tc>
                  <a:txBody>
                    <a:bodyPr/>
                    <a:lstStyle/>
                    <a:p>
                      <a:r>
                        <a:rPr sz="1500" b="0">
                          <a:solidFill>
                            <a:srgbClr val="111111"/>
                          </a:solidFill>
                          <a:latin typeface="Malgun Gothic"/>
                          <a:ea typeface="Malgun Gothic"/>
                          <a:cs typeface="Malgun Gothic"/>
                        </a:rPr>
                        <a:t>50개 미만</a:t>
                      </a:r>
                    </a:p>
                  </a:txBody>
                  <a:tcPr marL="91440" marR="91440" marT="45720" marB="45720">
                    <a:solidFill>
                      <a:srgbClr val="FFFFFF"/>
                    </a:solidFill>
                  </a:tcPr>
                </a:tc>
              </a:tr>
              <a:tr h="647700">
                <a:tc>
                  <a:txBody>
                    <a:bodyPr/>
                    <a:lstStyle/>
                    <a:p>
                      <a:r>
                        <a:rPr sz="1500" b="0">
                          <a:solidFill>
                            <a:srgbClr val="111111"/>
                          </a:solidFill>
                          <a:latin typeface="Malgun Gothic"/>
                          <a:ea typeface="Malgun Gothic"/>
                          <a:cs typeface="Malgun Gothic"/>
                        </a:rPr>
                        <a:t>Q4</a:t>
                      </a:r>
                    </a:p>
                  </a:txBody>
                  <a:tcPr marL="91440" marR="91440" marT="45720" marB="45720">
                    <a:solidFill>
                      <a:srgbClr val="FFFFFF"/>
                    </a:solidFill>
                  </a:tcPr>
                </a:tc>
                <a:tc>
                  <a:txBody>
                    <a:bodyPr/>
                    <a:lstStyle/>
                    <a:p>
                      <a:r>
                        <a:rPr sz="1500" b="0">
                          <a:solidFill>
                            <a:srgbClr val="111111"/>
                          </a:solidFill>
                          <a:latin typeface="Malgun Gothic"/>
                          <a:ea typeface="Malgun Gothic"/>
                          <a:cs typeface="Malgun Gothic"/>
                        </a:rPr>
                        <a:t>깊이 경계 혼합</a:t>
                      </a:r>
                    </a:p>
                  </a:txBody>
                  <a:tcPr marL="91440" marR="91440" marT="45720" marB="45720">
                    <a:solidFill>
                      <a:srgbClr val="FFFFFF"/>
                    </a:solidFill>
                  </a:tcPr>
                </a:tc>
                <a:tc>
                  <a:txBody>
                    <a:bodyPr/>
                    <a:lstStyle/>
                    <a:p>
                      <a:r>
                        <a:rPr sz="1500" b="0">
                          <a:solidFill>
                            <a:srgbClr val="111111"/>
                          </a:solidFill>
                          <a:latin typeface="Malgun Gothic"/>
                          <a:ea typeface="Malgun Gothic"/>
                          <a:cs typeface="Malgun Gothic"/>
                        </a:rPr>
                        <a:t>해당 프레임 50% 초과</a:t>
                      </a:r>
                    </a:p>
                  </a:txBody>
                  <a:tcPr marL="91440" marR="91440" marT="45720" marB="45720">
                    <a:solidFill>
                      <a:srgbClr val="FFFFFF"/>
                    </a:solidFill>
                  </a:tcPr>
                </a:tc>
              </a:tr>
              <a:tr h="647700">
                <a:tc>
                  <a:txBody>
                    <a:bodyPr/>
                    <a:lstStyle/>
                    <a:p>
                      <a:r>
                        <a:rPr sz="1500" b="0">
                          <a:solidFill>
                            <a:srgbClr val="111111"/>
                          </a:solidFill>
                          <a:latin typeface="Malgun Gothic"/>
                          <a:ea typeface="Malgun Gothic"/>
                          <a:cs typeface="Malgun Gothic"/>
                        </a:rPr>
                        <a:t>Q5</a:t>
                      </a:r>
                    </a:p>
                  </a:txBody>
                  <a:tcPr marL="91440" marR="91440" marT="45720" marB="45720">
                    <a:solidFill>
                      <a:srgbClr val="FFFFFF"/>
                    </a:solidFill>
                  </a:tcPr>
                </a:tc>
                <a:tc>
                  <a:txBody>
                    <a:bodyPr/>
                    <a:lstStyle/>
                    <a:p>
                      <a:r>
                        <a:rPr sz="1500" b="0">
                          <a:solidFill>
                            <a:srgbClr val="111111"/>
                          </a:solidFill>
                          <a:latin typeface="Malgun Gothic"/>
                          <a:ea typeface="Malgun Gothic"/>
                          <a:cs typeface="Malgun Gothic"/>
                        </a:rPr>
                        <a:t>손가락·손목 가림</a:t>
                      </a:r>
                    </a:p>
                  </a:txBody>
                  <a:tcPr marL="91440" marR="91440" marT="45720" marB="45720">
                    <a:solidFill>
                      <a:srgbClr val="FFFFFF"/>
                    </a:solidFill>
                  </a:tcPr>
                </a:tc>
                <a:tc>
                  <a:txBody>
                    <a:bodyPr/>
                    <a:lstStyle/>
                    <a:p>
                      <a:r>
                        <a:rPr sz="1500" b="0">
                          <a:solidFill>
                            <a:srgbClr val="111111"/>
                          </a:solidFill>
                          <a:latin typeface="Malgun Gothic"/>
                          <a:ea typeface="Malgun Gothic"/>
                          <a:cs typeface="Malgun Gothic"/>
                        </a:rPr>
                        <a:t>2인 판정, 50% 초과</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60E20B7-91DD-4BDB-B411-619FB1C5B9BF}"/>
              </a:ext>
            </a:extLst>
          </p:cNvPr>
          <p:cNvSpPr>
            <a:spLocks xmlns:a="http://schemas.openxmlformats.org/drawingml/2006/main" noGrp="1"/>
          </p:cNvSpPr>
          <p:nvPr/>
        </p:nvSpPr>
        <p:spPr>
          <a:xfrm xmlns:a="http://schemas.openxmlformats.org/drawingml/2006/main">
            <a:off x="6953250" y="1428750"/>
            <a:ext cx="4667250" cy="3762375"/>
          </a:xfrm>
          <a:prstGeom xmlns:a="http://schemas.openxmlformats.org/drawingml/2006/main" prst="rect">
            <a:avLst/>
          </a:prstGeom>
          <a:solidFill xmlns:a="http://schemas.openxmlformats.org/drawingml/2006/main">
            <a:srgbClr val="FFFFFF"/>
          </a:solidFill>
          <a:ln xmlns:a="http://schemas.openxmlformats.org/drawingml/2006/main" w="9525">
            <a:solidFill>
              <a:srgbClr val="D5DFE8"/>
            </a:solidFill>
          </a:ln>
        </p:spPr>
      </p:sp>
      <p:sp>
        <p:nvSpPr>
          <p:cNvPr id="7" name="">
            <a:extLst xmlns:a="http://schemas.openxmlformats.org/drawingml/2006/main">
              <a:ext uri="{FF2B5EF4-FFF2-40B4-BE49-F238E27FC236}">
                <a16:creationId xmlns:a16="http://schemas.microsoft.com/office/drawing/2014/main" id="{92D35DAC-C02E-4E9D-BABB-0AEED7CE0C83}"/>
              </a:ext>
            </a:extLst>
          </p:cNvPr>
          <p:cNvSpPr>
            <a:spLocks xmlns:a="http://schemas.openxmlformats.org/drawingml/2006/main" noGrp="1"/>
          </p:cNvSpPr>
          <p:nvPr/>
        </p:nvSpPr>
        <p:spPr>
          <a:xfrm xmlns:a="http://schemas.openxmlformats.org/drawingml/2006/main">
            <a:off x="6953250" y="1428750"/>
            <a:ext cx="4667250" cy="523875"/>
          </a:xfrm>
          <a:prstGeom xmlns:a="http://schemas.openxmlformats.org/drawingml/2006/main" prst="rect">
            <a:avLst/>
          </a:prstGeom>
          <a:solidFill xmlns:a="http://schemas.openxmlformats.org/drawingml/2006/main">
            <a:srgbClr val="087F8C"/>
          </a:solidFill>
          <a:ln xmlns:a="http://schemas.openxmlformats.org/drawingml/2006/main" w="9525">
            <a:solidFill>
              <a:srgbClr val="087F8C"/>
            </a:solidFill>
          </a:ln>
        </p:spPr>
      </p:sp>
      <p:sp>
        <p:nvSpPr>
          <p:cNvPr id="8" name="">
            <a:extLst xmlns:a="http://schemas.openxmlformats.org/drawingml/2006/main">
              <a:ext uri="{FF2B5EF4-FFF2-40B4-BE49-F238E27FC236}">
                <a16:creationId xmlns:a16="http://schemas.microsoft.com/office/drawing/2014/main" id="{795BC9FA-7C6A-4309-AD55-E6C24858A5E9}"/>
              </a:ext>
            </a:extLst>
          </p:cNvPr>
          <p:cNvSpPr>
            <a:spLocks xmlns:a="http://schemas.openxmlformats.org/drawingml/2006/main" noGrp="1"/>
          </p:cNvSpPr>
          <p:nvPr/>
        </p:nvSpPr>
        <p:spPr>
          <a:xfrm xmlns:a="http://schemas.openxmlformats.org/drawingml/2006/main">
            <a:off x="7105650" y="1533525"/>
            <a:ext cx="4333875" cy="333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선별 적용 원칙</a:t>
            </a:r>
          </a:p>
        </p:txBody>
      </p:sp>
      <p:sp>
        <p:nvSpPr>
          <p:cNvPr id="9" name="">
            <a:extLst xmlns:a="http://schemas.openxmlformats.org/drawingml/2006/main">
              <a:ext uri="{FF2B5EF4-FFF2-40B4-BE49-F238E27FC236}">
                <a16:creationId xmlns:a16="http://schemas.microsoft.com/office/drawing/2014/main" id="{ECDD8791-F2FD-4C65-A506-FC016EFF57B4}"/>
              </a:ext>
            </a:extLst>
          </p:cNvPr>
          <p:cNvSpPr>
            <a:spLocks xmlns:a="http://schemas.openxmlformats.org/drawingml/2006/main" noGrp="1"/>
          </p:cNvSpPr>
          <p:nvPr/>
        </p:nvSpPr>
        <p:spPr>
          <a:xfrm xmlns:a="http://schemas.openxmlformats.org/drawingml/2006/main">
            <a:off x="7143750" y="2190750"/>
            <a:ext cx="4267200" cy="28098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Q는 수치를 관찰할 수 있는 상태인지 확인한다.</a:t>
            </a:r>
          </a:p>
          <a:p xmlns:a="http://schemas.openxmlformats.org/drawingml/2006/main">
            <a:r>
              <a:t/>
            </a:r>
          </a:p>
          <a:p xmlns:a="http://schemas.openxmlformats.org/drawingml/2006/main">
            <a:pP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규칙에 걸린 K1 또는 K2를 null로 보류한다.</a:t>
            </a:r>
          </a:p>
          <a:p xmlns:a="http://schemas.openxmlformats.org/drawingml/2006/main">
            <a:pP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영상과 다른 유효 수치는 그대로 제공한다.</a:t>
            </a:r>
          </a:p>
          <a:p xmlns:a="http://schemas.openxmlformats.org/drawingml/2006/main">
            <a:r>
              <a:t/>
            </a:r>
          </a:p>
          <a:p xmlns:a="http://schemas.openxmlformats.org/drawingml/2006/main">
            <a:pP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치료사 점수를 보고 임계값을 정하지 않는다.</a:t>
            </a:r>
          </a:p>
          <a:p xmlns:a="http://schemas.openxmlformats.org/drawingml/2006/main">
            <a:pPr>
              <a:defRPr sz="1575" b="0">
                <a:solidFill>
                  <a:srgbClr val="111111"/>
                </a:solidFill>
                <a:latin typeface="Malgun Gothic"/>
                <a:ea typeface="Malgun Gothic"/>
                <a:cs typeface="Malgun Gothic"/>
              </a:defRPr>
            </a:pPr>
            <a:r>
              <a:rPr sz="1575" b="0">
                <a:solidFill>
                  <a:srgbClr val="111111"/>
                </a:solidFill>
                <a:latin typeface="Malgun Gothic"/>
                <a:ea typeface="Malgun Gothic"/>
                <a:cs typeface="Malgun Gothic"/>
              </a:rPr>
              <a:t>개발 자료에서 정한 뒤 본평가 전에 고정한다.</a:t>
            </a:r>
          </a:p>
        </p:txBody>
      </p:sp>
      <p:sp>
        <p:nvSpPr>
          <p:cNvPr id="10" name="">
            <a:extLst xmlns:a="http://schemas.openxmlformats.org/drawingml/2006/main">
              <a:ext uri="{FF2B5EF4-FFF2-40B4-BE49-F238E27FC236}">
                <a16:creationId xmlns:a16="http://schemas.microsoft.com/office/drawing/2014/main" id="{48263AD3-FFDD-49DC-B90C-AA10A2BACAED}"/>
              </a:ext>
            </a:extLst>
          </p:cNvPr>
          <p:cNvSpPr>
            <a:spLocks xmlns:a="http://schemas.openxmlformats.org/drawingml/2006/main" noGrp="1"/>
          </p:cNvSpPr>
          <p:nvPr/>
        </p:nvSpPr>
        <p:spPr>
          <a:xfrm xmlns:a="http://schemas.openxmlformats.org/drawingml/2006/main">
            <a:off x="571500" y="5543550"/>
            <a:ext cx="11049000" cy="40005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R 적용 한계: 지표별 제외 비율이 50%를 넘으면 해당 지표의 R 비교를 제한한다.</a:t>
            </a:r>
          </a:p>
        </p:txBody>
      </p:sp>
      <p:sp>
        <p:nvSpPr>
          <p:cNvPr id="11" name="">
            <a:extLst xmlns:a="http://schemas.openxmlformats.org/drawingml/2006/main">
              <a:ext uri="{FF2B5EF4-FFF2-40B4-BE49-F238E27FC236}">
                <a16:creationId xmlns:a16="http://schemas.microsoft.com/office/drawing/2014/main" id="{089A326B-21EC-4512-970D-6B72936EDFDF}"/>
              </a:ext>
            </a:extLst>
          </p:cNvPr>
          <p:cNvSpPr>
            <a:spLocks xmlns:a="http://schemas.openxmlformats.org/drawingml/2006/main" noGrp="1"/>
          </p:cNvSpPr>
          <p:nvPr/>
        </p:nvSpPr>
        <p:spPr>
          <a:xfrm xmlns:a="http://schemas.openxmlformats.org/drawingml/2006/main">
            <a:off x="571500" y="6096000"/>
            <a:ext cx="11049000" cy="523875"/>
          </a:xfrm>
          <a:prstGeom xmlns:a="http://schemas.openxmlformats.org/drawingml/2006/main" prst="rect">
            <a:avLst/>
          </a:prstGeom>
          <a:solidFill xmlns:a="http://schemas.openxmlformats.org/drawingml/2006/main">
            <a:srgbClr val="193A66"/>
          </a:solidFill>
          <a:ln xmlns:a="http://schemas.openxmlformats.org/drawingml/2006/main" w="9525">
            <a:solidFill>
              <a:srgbClr val="193A66"/>
            </a:solidFill>
          </a:ln>
        </p:spPr>
      </p:sp>
      <p:sp>
        <p:nvSpPr>
          <p:cNvPr id="12" name="">
            <a:extLst xmlns:a="http://schemas.openxmlformats.org/drawingml/2006/main">
              <a:ext uri="{FF2B5EF4-FFF2-40B4-BE49-F238E27FC236}">
                <a16:creationId xmlns:a16="http://schemas.microsoft.com/office/drawing/2014/main" id="{6E619901-3AC3-4F91-A6E0-6C6915CECBE3}"/>
              </a:ext>
            </a:extLst>
          </p:cNvPr>
          <p:cNvSpPr>
            <a:spLocks xmlns:a="http://schemas.openxmlformats.org/drawingml/2006/main" noGrp="1"/>
          </p:cNvSpPr>
          <p:nvPr/>
        </p:nvSpPr>
        <p:spPr>
          <a:xfrm xmlns:a="http://schemas.openxmlformats.org/drawingml/2006/main">
            <a:off x="742950" y="6210300"/>
            <a:ext cx="10706100" cy="3429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수치 보류(null)는 입력값 제외를 뜻하며, 환자의 0점 또는 VLM 출력 실패와 구분한다.</a:t>
            </a:r>
          </a:p>
        </p:txBody>
      </p:sp>
    </p:spTree>
    <p:extLst>
      <p:ext uri="{BB962C8B-B14F-4D97-AF65-F5344CB8AC3E}">
        <p14:creationId xmlns:p14="http://schemas.microsoft.com/office/powerpoint/2010/main" val="36648374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695810C-F288-B76E-9B28-41C801B3C061}"/>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193A66"/>
          </a:solidFill>
          <a:ln xmlns:a="http://schemas.openxmlformats.org/drawingml/2006/main" w="12700">
            <a:solidFill>
              <a:srgbClr val="193A66">
                <a:alpha val="0"/>
              </a:srgbClr>
            </a:solidFill>
            <a:prstDash val="solid"/>
          </a:ln>
        </p:spPr>
        <p:txBody>
          <a:bodyPr xmlns:a="http://schemas.openxmlformats.org/drawingml/2006/main"/>
          <a:lstStyle xmlns:a="http://schemas.openxmlformats.org/drawingml/2006/main"/>
          <a:p xmlns:a="http://schemas.openxmlformats.org/drawingml/2006/main">
            <a:endParaRPr sz="2800"/>
          </a:p>
        </p:txBody>
      </p:sp>
      <p:sp>
        <p:nvSpPr>
          <p:cNvPr id="3" name="Text 1">
            <a:extLst xmlns:a="http://schemas.openxmlformats.org/drawingml/2006/main">
              <a:ext uri="{FF2B5EF4-FFF2-40B4-BE49-F238E27FC236}">
                <a16:creationId xmlns:a16="http://schemas.microsoft.com/office/drawing/2014/main" id="{3C72114A-AE72-7165-BFD1-3CA1EBF45235}"/>
              </a:ext>
            </a:extLst>
          </p:cNvPr>
          <p:cNvSpPr>
            <a:spLocks xmlns:a="http://schemas.openxmlformats.org/drawingml/2006/main" noGrp="1"/>
          </p:cNvSpPr>
          <p:nvPr/>
        </p:nvSpPr>
        <p:spPr>
          <a:xfrm xmlns:a="http://schemas.openxmlformats.org/drawingml/2006/main">
            <a:off x="11109960" y="347472"/>
            <a:ext cx="50292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b="1">
                <a:solidFill>
                  <a:srgbClr val="9AA6B4"/>
                </a:solidFill>
                <a:latin typeface="Malgun Gothic"/>
                <a:ea typeface="Malgun Gothic"/>
                <a:cs typeface="Malgun Gothic"/>
              </a:rPr>
              <a:t>11</a:t>
            </a:r>
            <a:endParaRPr/>
          </a:p>
        </p:txBody>
      </p:sp>
      <p:sp>
        <p:nvSpPr>
          <p:cNvPr id="4" name="Text 2">
            <a:extLst xmlns:a="http://schemas.openxmlformats.org/drawingml/2006/main">
              <a:ext uri="{FF2B5EF4-FFF2-40B4-BE49-F238E27FC236}">
                <a16:creationId xmlns:a16="http://schemas.microsoft.com/office/drawing/2014/main" id="{E0B0D742-217F-71A2-D0D9-696C0017867C}"/>
              </a:ext>
            </a:extLst>
          </p:cNvPr>
          <p:cNvSpPr>
            <a:spLocks xmlns:a="http://schemas.openxmlformats.org/drawingml/2006/main" noGrp="1"/>
          </p:cNvSpPr>
          <p:nvPr/>
        </p:nvSpPr>
        <p:spPr>
          <a:xfrm xmlns:a="http://schemas.openxmlformats.org/drawingml/2006/main">
            <a:off x="566928" y="402336"/>
            <a:ext cx="4024122" cy="393002"/>
          </a:xfrm>
          <a:prstGeom xmlns:a="http://schemas.openxmlformats.org/drawingml/2006/main" prst="rect">
            <a:avLst/>
          </a:prstGeom>
          <a:noFill xmlns:a="http://schemas.openxmlformats.org/drawingml/2006/main"/>
        </p:spPr>
        <p:txBody>
          <a:bodyPr xmlns:a="http://schemas.openxmlformats.org/drawingml/2006/main" wrap="square" anchor="ctr">
            <a:noAutofit/>
          </a:bodyPr>
          <a:lstStyle xmlns:a="http://schemas.openxmlformats.org/drawingml/2006/main"/>
          <a:p xmlns:a="http://schemas.openxmlformats.org/drawingml/2006/main">
            <a:pPr marL="0" indent="0" algn="l">
              <a:buNone/>
              <a:defRPr sz="2400" b="1">
                <a:solidFill>
                  <a:srgbClr val="111111"/>
                </a:solidFill>
                <a:latin typeface="Malgun Gothic"/>
                <a:ea typeface="Malgun Gothic"/>
                <a:cs typeface="Malgun Gothic"/>
              </a:defRPr>
            </a:pPr>
            <a:r>
              <a:rPr sz="2400" b="1">
                <a:solidFill>
                  <a:srgbClr val="111111"/>
                </a:solidFill>
                <a:latin typeface="Malgun Gothic"/>
                <a:ea typeface="Malgun Gothic"/>
                <a:cs typeface="Malgun Gothic"/>
              </a:rPr>
              <a:t>분석 방법과 예상 결과</a:t>
            </a:r>
          </a:p>
        </p:txBody>
      </p:sp>
      <p:sp>
        <p:nvSpPr>
          <p:cNvPr id="5" name="">
            <a:extLst xmlns:a="http://schemas.openxmlformats.org/drawingml/2006/main">
              <a:ext uri="{FF2B5EF4-FFF2-40B4-BE49-F238E27FC236}">
                <a16:creationId xmlns:a16="http://schemas.microsoft.com/office/drawing/2014/main" id="{BCAB62EA-99CE-4148-A7EB-E98C583FD4CF}"/>
              </a:ext>
            </a:extLst>
          </p:cNvPr>
          <p:cNvSpPr>
            <a:spLocks xmlns:a="http://schemas.openxmlformats.org/drawingml/2006/main" noGrp="1"/>
          </p:cNvSpPr>
          <p:nvPr/>
        </p:nvSpPr>
        <p:spPr>
          <a:xfrm xmlns:a="http://schemas.openxmlformats.org/drawingml/2006/main">
            <a:off x="571500" y="1171575"/>
            <a:ext cx="5238750" cy="381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800" b="1">
                <a:solidFill>
                  <a:srgbClr val="193A66"/>
                </a:solidFill>
                <a:latin typeface="Malgun Gothic"/>
                <a:ea typeface="Malgun Gothic"/>
                <a:cs typeface="Malgun Gothic"/>
              </a:defRPr>
            </a:pPr>
            <a:r>
              <a:rPr sz="1800" b="1">
                <a:solidFill>
                  <a:srgbClr val="193A66"/>
                </a:solidFill>
                <a:latin typeface="Malgun Gothic"/>
                <a:ea typeface="Malgun Gothic"/>
                <a:cs typeface="Malgun Gothic"/>
              </a:rPr>
              <a:t>주 비교: 양수일 때의 의미</a:t>
            </a:r>
          </a:p>
        </p:txBody>
      </p:sp>
      <p:sp>
        <p:nvSpPr>
          <p:cNvPr id="6" name="">
            <a:extLst xmlns:a="http://schemas.openxmlformats.org/drawingml/2006/main">
              <a:ext uri="{FF2B5EF4-FFF2-40B4-BE49-F238E27FC236}">
                <a16:creationId xmlns:a16="http://schemas.microsoft.com/office/drawing/2014/main" id="{2E73B518-6AA8-4D59-BF1D-A1719C4D8717}"/>
              </a:ext>
            </a:extLst>
          </p:cNvPr>
          <p:cNvSpPr>
            <a:spLocks xmlns:a="http://schemas.openxmlformats.org/drawingml/2006/main" noGrp="1"/>
          </p:cNvSpPr>
          <p:nvPr/>
        </p:nvSpPr>
        <p:spPr>
          <a:xfrm xmlns:a="http://schemas.openxmlformats.org/drawingml/2006/main">
            <a:off x="6286500" y="1171575"/>
            <a:ext cx="5334000" cy="381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800" b="1">
                <a:solidFill>
                  <a:srgbClr val="193A66"/>
                </a:solidFill>
                <a:latin typeface="Malgun Gothic"/>
                <a:ea typeface="Malgun Gothic"/>
                <a:cs typeface="Malgun Gothic"/>
              </a:defRPr>
            </a:pPr>
            <a:r>
              <a:rPr sz="1800" b="1">
                <a:solidFill>
                  <a:srgbClr val="193A66"/>
                </a:solidFill>
                <a:latin typeface="Malgun Gothic"/>
                <a:ea typeface="Malgun Gothic"/>
                <a:cs typeface="Malgun Gothic"/>
              </a:rPr>
              <a:t>관찰 가능한 결과와 해석</a:t>
            </a:r>
          </a:p>
        </p:txBody>
      </p:sp>
      <p:graphicFrame>
        <p:nvGraphicFramePr>
          <p:cNvPr id="18" name=""/>
          <p:cNvGraphicFramePr/>
          <p:nvPr/>
        </p:nvGraphicFramePr>
        <p:xfrm>
          <a:off xmlns:a="http://schemas.openxmlformats.org/drawingml/2006/main" x="571500" y="1695450"/>
          <a:ext xmlns:a="http://schemas.openxmlformats.org/drawingml/2006/main" cx="5429250" cy="2981325"/>
        </p:xfrm>
        <a:graphic xmlns:a="http://schemas.openxmlformats.org/drawingml/2006/main">
          <a:graphicData uri="http://schemas.openxmlformats.org/drawingml/2006/table">
            <a:tbl>
              <a:tblPr/>
              <a:tblGrid>
                <a:gridCol w="1266825"/>
                <a:gridCol w="2438400"/>
                <a:gridCol w="1724025"/>
              </a:tblGrid>
              <a:tr h="495300">
                <a:tc>
                  <a:txBody>
                    <a:bodyPr/>
                    <a:lstStyle/>
                    <a:p>
                      <a:r>
                        <a:rPr sz="1425" b="1">
                          <a:solidFill>
                            <a:srgbClr val="FFFFFF"/>
                          </a:solidFill>
                          <a:latin typeface="Malgun Gothic"/>
                          <a:ea typeface="Malgun Gothic"/>
                          <a:cs typeface="Malgun Gothic"/>
                        </a:rPr>
                        <a:t>비교</a:t>
                      </a:r>
                    </a:p>
                  </a:txBody>
                  <a:tcPr marL="91440" marR="91440" marT="45720" marB="45720">
                    <a:solidFill>
                      <a:srgbClr val="193A66"/>
                    </a:solidFill>
                  </a:tcPr>
                </a:tc>
                <a:tc>
                  <a:txBody>
                    <a:bodyPr/>
                    <a:lstStyle/>
                    <a:p>
                      <a:r>
                        <a:rPr sz="1425" b="1">
                          <a:solidFill>
                            <a:srgbClr val="FFFFFF"/>
                          </a:solidFill>
                          <a:latin typeface="Malgun Gothic"/>
                          <a:ea typeface="Malgun Gothic"/>
                          <a:cs typeface="Malgun Gothic"/>
                        </a:rPr>
                        <a:t>차이 정의</a:t>
                      </a:r>
                    </a:p>
                  </a:txBody>
                  <a:tcPr marL="91440" marR="91440" marT="45720" marB="45720">
                    <a:solidFill>
                      <a:srgbClr val="193A66"/>
                    </a:solidFill>
                  </a:tcPr>
                </a:tc>
                <a:tc>
                  <a:txBody>
                    <a:bodyPr/>
                    <a:lstStyle/>
                    <a:p>
                      <a:r>
                        <a:rPr sz="1425" b="1">
                          <a:solidFill>
                            <a:srgbClr val="FFFFFF"/>
                          </a:solidFill>
                          <a:latin typeface="Malgun Gothic"/>
                          <a:ea typeface="Malgun Gothic"/>
                          <a:cs typeface="Malgun Gothic"/>
                        </a:rPr>
                        <a:t>양수의 의미</a:t>
                      </a:r>
                    </a:p>
                  </a:txBody>
                  <a:tcPr marL="91440" marR="91440" marT="45720" marB="45720">
                    <a:solidFill>
                      <a:srgbClr val="193A66"/>
                    </a:solidFill>
                  </a:tcPr>
                </a:tc>
              </a:tr>
              <a:tr h="828675">
                <a:tc>
                  <a:txBody>
                    <a:bodyPr/>
                    <a:lstStyle/>
                    <a:p>
                      <a:r>
                        <a:rPr sz="1425" b="0">
                          <a:solidFill>
                            <a:srgbClr val="111111"/>
                          </a:solidFill>
                          <a:latin typeface="Malgun Gothic"/>
                          <a:ea typeface="Malgun Gothic"/>
                          <a:cs typeface="Malgun Gothic"/>
                        </a:rPr>
                        <a:t>수치 추가</a:t>
                      </a:r>
                    </a:p>
                  </a:txBody>
                  <a:tcPr marL="91440" marR="91440" marT="45720" marB="45720">
                    <a:solidFill>
                      <a:srgbClr val="FFFFFF"/>
                    </a:solidFill>
                  </a:tcPr>
                </a:tc>
                <a:tc>
                  <a:txBody>
                    <a:bodyPr/>
                    <a:lstStyle/>
                    <a:p>
                      <a:r>
                        <a:rPr sz="1425" b="0">
                          <a:solidFill>
                            <a:srgbClr val="111111"/>
                          </a:solidFill>
                          <a:latin typeface="Malgun Gothic"/>
                          <a:ea typeface="Malgun Gothic"/>
                          <a:cs typeface="Malgun Gothic"/>
                        </a:rPr>
                        <a:t>MAE(A2) − MAE(A1)</a:t>
                      </a:r>
                    </a:p>
                  </a:txBody>
                  <a:tcPr marL="91440" marR="91440" marT="45720" marB="45720">
                    <a:solidFill>
                      <a:srgbClr val="FFFFFF"/>
                    </a:solidFill>
                  </a:tcPr>
                </a:tc>
                <a:tc>
                  <a:txBody>
                    <a:bodyPr/>
                    <a:lstStyle/>
                    <a:p>
                      <a:r>
                        <a:rPr sz="1425" b="0">
                          <a:solidFill>
                            <a:srgbClr val="111111"/>
                          </a:solidFill>
                          <a:latin typeface="Malgun Gothic"/>
                          <a:ea typeface="Malgun Gothic"/>
                          <a:cs typeface="Malgun Gothic"/>
                        </a:rPr>
                        <a:t>전체 제공이 악화</a:t>
                      </a:r>
                    </a:p>
                  </a:txBody>
                  <a:tcPr marL="91440" marR="91440" marT="45720" marB="45720">
                    <a:solidFill>
                      <a:srgbClr val="FFFFFF"/>
                    </a:solidFill>
                  </a:tcPr>
                </a:tc>
              </a:tr>
              <a:tr h="828675">
                <a:tc>
                  <a:txBody>
                    <a:bodyPr/>
                    <a:lstStyle/>
                    <a:p>
                      <a:r>
                        <a:rPr sz="1425" b="0">
                          <a:solidFill>
                            <a:srgbClr val="111111"/>
                          </a:solidFill>
                          <a:latin typeface="Malgun Gothic"/>
                          <a:ea typeface="Malgun Gothic"/>
                          <a:cs typeface="Malgun Gothic"/>
                        </a:rPr>
                        <a:t>수치 선별</a:t>
                      </a:r>
                    </a:p>
                  </a:txBody>
                  <a:tcPr marL="91440" marR="91440" marT="45720" marB="45720">
                    <a:solidFill>
                      <a:srgbClr val="FFFFFF"/>
                    </a:solidFill>
                  </a:tcPr>
                </a:tc>
                <a:tc>
                  <a:txBody>
                    <a:bodyPr/>
                    <a:lstStyle/>
                    <a:p>
                      <a:r>
                        <a:rPr sz="1425" b="0">
                          <a:solidFill>
                            <a:srgbClr val="111111"/>
                          </a:solidFill>
                          <a:latin typeface="Malgun Gothic"/>
                          <a:ea typeface="Malgun Gothic"/>
                          <a:cs typeface="Malgun Gothic"/>
                        </a:rPr>
                        <a:t>MAE(A2) − MAE(A3)</a:t>
                      </a:r>
                    </a:p>
                  </a:txBody>
                  <a:tcPr marL="91440" marR="91440" marT="45720" marB="45720">
                    <a:solidFill>
                      <a:srgbClr val="FFFFFF"/>
                    </a:solidFill>
                  </a:tcPr>
                </a:tc>
                <a:tc>
                  <a:txBody>
                    <a:bodyPr/>
                    <a:lstStyle/>
                    <a:p>
                      <a:r>
                        <a:rPr sz="1425" b="0">
                          <a:solidFill>
                            <a:srgbClr val="111111"/>
                          </a:solidFill>
                          <a:latin typeface="Malgun Gothic"/>
                          <a:ea typeface="Malgun Gothic"/>
                          <a:cs typeface="Malgun Gothic"/>
                        </a:rPr>
                        <a:t>선별 제공이 개선</a:t>
                      </a:r>
                    </a:p>
                  </a:txBody>
                  <a:tcPr marL="91440" marR="91440" marT="45720" marB="45720">
                    <a:solidFill>
                      <a:srgbClr val="FFFFFF"/>
                    </a:solidFill>
                  </a:tcPr>
                </a:tc>
              </a:tr>
              <a:tr h="828675">
                <a:tc>
                  <a:txBody>
                    <a:bodyPr/>
                    <a:lstStyle/>
                    <a:p>
                      <a:r>
                        <a:rPr sz="1425" b="0">
                          <a:solidFill>
                            <a:srgbClr val="111111"/>
                          </a:solidFill>
                          <a:latin typeface="Malgun Gothic"/>
                          <a:ea typeface="Malgun Gothic"/>
                          <a:cs typeface="Malgun Gothic"/>
                        </a:rPr>
                        <a:t>선별 기준</a:t>
                      </a:r>
                    </a:p>
                  </a:txBody>
                  <a:tcPr marL="91440" marR="91440" marT="45720" marB="45720">
                    <a:solidFill>
                      <a:srgbClr val="FFFFFF"/>
                    </a:solidFill>
                  </a:tcPr>
                </a:tc>
                <a:tc>
                  <a:txBody>
                    <a:bodyPr/>
                    <a:lstStyle/>
                    <a:p>
                      <a:r>
                        <a:rPr sz="1425" b="0">
                          <a:solidFill>
                            <a:srgbClr val="111111"/>
                          </a:solidFill>
                          <a:latin typeface="Malgun Gothic"/>
                          <a:ea typeface="Malgun Gothic"/>
                          <a:cs typeface="Malgun Gothic"/>
                        </a:rPr>
                        <a:t>MAE(R) − MAE(A3)</a:t>
                      </a:r>
                    </a:p>
                  </a:txBody>
                  <a:tcPr marL="91440" marR="91440" marT="45720" marB="45720">
                    <a:solidFill>
                      <a:srgbClr val="FFFFFF"/>
                    </a:solidFill>
                  </a:tcPr>
                </a:tc>
                <a:tc>
                  <a:txBody>
                    <a:bodyPr/>
                    <a:lstStyle/>
                    <a:p>
                      <a:r>
                        <a:rPr sz="1425" b="0">
                          <a:solidFill>
                            <a:srgbClr val="111111"/>
                          </a:solidFill>
                          <a:latin typeface="Malgun Gothic"/>
                          <a:ea typeface="Malgun Gothic"/>
                          <a:cs typeface="Malgun Gothic"/>
                        </a:rPr>
                        <a:t>Q가 무작위보다 개선</a:t>
                      </a:r>
                    </a:p>
                  </a:txBody>
                  <a:tcPr marL="91440" marR="91440" marT="45720" marB="45720">
                    <a:solidFill>
                      <a:srgbClr val="FFFFFF"/>
                    </a:solidFill>
                  </a:tcPr>
                </a:tc>
              </a:tr>
            </a:tbl>
          </a:graphicData>
        </a:graphic>
      </p:graphicFrame>
      <p:graphicFrame>
        <p:nvGraphicFramePr>
          <p:cNvPr id="19" name=""/>
          <p:cNvGraphicFramePr/>
          <p:nvPr/>
        </p:nvGraphicFramePr>
        <p:xfrm>
          <a:off xmlns:a="http://schemas.openxmlformats.org/drawingml/2006/main" x="6286500" y="1695450"/>
          <a:ext xmlns:a="http://schemas.openxmlformats.org/drawingml/2006/main" cx="5334000" cy="3009900"/>
        </p:xfrm>
        <a:graphic xmlns:a="http://schemas.openxmlformats.org/drawingml/2006/main">
          <a:graphicData uri="http://schemas.openxmlformats.org/drawingml/2006/table">
            <a:tbl>
              <a:tblPr/>
              <a:tblGrid>
                <a:gridCol w="2333625"/>
                <a:gridCol w="3000375"/>
              </a:tblGrid>
              <a:tr h="495300">
                <a:tc>
                  <a:txBody>
                    <a:bodyPr/>
                    <a:lstStyle/>
                    <a:p>
                      <a:r>
                        <a:rPr sz="1425" b="1">
                          <a:solidFill>
                            <a:srgbClr val="FFFFFF"/>
                          </a:solidFill>
                          <a:latin typeface="Malgun Gothic"/>
                          <a:ea typeface="Malgun Gothic"/>
                          <a:cs typeface="Malgun Gothic"/>
                        </a:rPr>
                        <a:t>예상 패턴</a:t>
                      </a:r>
                    </a:p>
                  </a:txBody>
                  <a:tcPr marL="91440" marR="91440" marT="45720" marB="45720">
                    <a:solidFill>
                      <a:srgbClr val="193A66"/>
                    </a:solidFill>
                  </a:tcPr>
                </a:tc>
                <a:tc>
                  <a:txBody>
                    <a:bodyPr/>
                    <a:lstStyle/>
                    <a:p>
                      <a:r>
                        <a:rPr sz="1425" b="1">
                          <a:solidFill>
                            <a:srgbClr val="FFFFFF"/>
                          </a:solidFill>
                          <a:latin typeface="Malgun Gothic"/>
                          <a:ea typeface="Malgun Gothic"/>
                          <a:cs typeface="Malgun Gothic"/>
                        </a:rPr>
                        <a:t>해석</a:t>
                      </a:r>
                    </a:p>
                  </a:txBody>
                  <a:tcPr marL="91440" marR="91440" marT="45720" marB="45720">
                    <a:solidFill>
                      <a:srgbClr val="193A66"/>
                    </a:solidFill>
                  </a:tcPr>
                </a:tc>
              </a:tr>
              <a:tr h="628650">
                <a:tc>
                  <a:txBody>
                    <a:bodyPr/>
                    <a:lstStyle/>
                    <a:p>
                      <a:r>
                        <a:rPr sz="1425" b="0">
                          <a:solidFill>
                            <a:srgbClr val="111111"/>
                          </a:solidFill>
                          <a:latin typeface="Malgun Gothic"/>
                          <a:ea typeface="Malgun Gothic"/>
                          <a:cs typeface="Malgun Gothic"/>
                        </a:rPr>
                        <a:t>A2 악화, A3 개선</a:t>
                      </a:r>
                    </a:p>
                  </a:txBody>
                  <a:tcPr marL="91440" marR="91440" marT="45720" marB="45720">
                    <a:solidFill>
                      <a:srgbClr val="FFFFFF"/>
                    </a:solidFill>
                  </a:tcPr>
                </a:tc>
                <a:tc>
                  <a:txBody>
                    <a:bodyPr/>
                    <a:lstStyle/>
                    <a:p>
                      <a:r>
                        <a:rPr sz="1425" b="0">
                          <a:solidFill>
                            <a:srgbClr val="111111"/>
                          </a:solidFill>
                          <a:latin typeface="Malgun Gothic"/>
                          <a:ea typeface="Malgun Gothic"/>
                          <a:cs typeface="Malgun Gothic"/>
                        </a:rPr>
                        <a:t>일부 수치의 제공을 보류할 가치</a:t>
                      </a:r>
                    </a:p>
                  </a:txBody>
                  <a:tcPr marL="91440" marR="91440" marT="45720" marB="45720">
                    <a:solidFill>
                      <a:srgbClr val="FFFFFF"/>
                    </a:solidFill>
                  </a:tcPr>
                </a:tc>
              </a:tr>
              <a:tr h="628650">
                <a:tc>
                  <a:txBody>
                    <a:bodyPr/>
                    <a:lstStyle/>
                    <a:p>
                      <a:r>
                        <a:rPr sz="1425" b="0">
                          <a:solidFill>
                            <a:srgbClr val="111111"/>
                          </a:solidFill>
                          <a:latin typeface="Malgun Gothic"/>
                          <a:ea typeface="Malgun Gothic"/>
                          <a:cs typeface="Malgun Gothic"/>
                        </a:rPr>
                        <a:t>A3가 R보다 우수</a:t>
                      </a:r>
                    </a:p>
                  </a:txBody>
                  <a:tcPr marL="91440" marR="91440" marT="45720" marB="45720">
                    <a:solidFill>
                      <a:srgbClr val="FFFFFF"/>
                    </a:solidFill>
                  </a:tcPr>
                </a:tc>
                <a:tc>
                  <a:txBody>
                    <a:bodyPr/>
                    <a:lstStyle/>
                    <a:p>
                      <a:r>
                        <a:rPr sz="1425" b="0">
                          <a:solidFill>
                            <a:srgbClr val="111111"/>
                          </a:solidFill>
                          <a:latin typeface="Malgun Gothic"/>
                          <a:ea typeface="Malgun Gothic"/>
                          <a:cs typeface="Malgun Gothic"/>
                        </a:rPr>
                        <a:t>단순 정보량 감소 외 Q의 효과</a:t>
                      </a:r>
                    </a:p>
                  </a:txBody>
                  <a:tcPr marL="91440" marR="91440" marT="45720" marB="45720">
                    <a:solidFill>
                      <a:srgbClr val="FFFFFF"/>
                    </a:solidFill>
                  </a:tcPr>
                </a:tc>
              </a:tr>
              <a:tr h="628650">
                <a:tc>
                  <a:txBody>
                    <a:bodyPr/>
                    <a:lstStyle/>
                    <a:p>
                      <a:r>
                        <a:rPr sz="1425" b="0">
                          <a:solidFill>
                            <a:srgbClr val="111111"/>
                          </a:solidFill>
                          <a:latin typeface="Malgun Gothic"/>
                          <a:ea typeface="Malgun Gothic"/>
                          <a:cs typeface="Malgun Gothic"/>
                        </a:rPr>
                        <a:t>A2·A3 비슷하게 개선</a:t>
                      </a:r>
                    </a:p>
                  </a:txBody>
                  <a:tcPr marL="91440" marR="91440" marT="45720" marB="45720">
                    <a:solidFill>
                      <a:srgbClr val="FFFFFF"/>
                    </a:solidFill>
                  </a:tcPr>
                </a:tc>
                <a:tc>
                  <a:txBody>
                    <a:bodyPr/>
                    <a:lstStyle/>
                    <a:p>
                      <a:r>
                        <a:rPr sz="1425" b="0">
                          <a:solidFill>
                            <a:srgbClr val="111111"/>
                          </a:solidFill>
                          <a:latin typeface="Malgun Gothic"/>
                          <a:ea typeface="Malgun Gothic"/>
                          <a:cs typeface="Malgun Gothic"/>
                        </a:rPr>
                        <a:t>수치 추가 효과, 선별 이득은 작음</a:t>
                      </a:r>
                    </a:p>
                  </a:txBody>
                  <a:tcPr marL="91440" marR="91440" marT="45720" marB="45720">
                    <a:solidFill>
                      <a:srgbClr val="FFFFFF"/>
                    </a:solidFill>
                  </a:tcPr>
                </a:tc>
              </a:tr>
              <a:tr h="628650">
                <a:tc>
                  <a:txBody>
                    <a:bodyPr/>
                    <a:lstStyle/>
                    <a:p>
                      <a:r>
                        <a:rPr sz="1425" b="0">
                          <a:solidFill>
                            <a:srgbClr val="111111"/>
                          </a:solidFill>
                          <a:latin typeface="Malgun Gothic"/>
                          <a:ea typeface="Malgun Gothic"/>
                          <a:cs typeface="Malgun Gothic"/>
                        </a:rPr>
                        <a:t>차이가 작거나 불명확</a:t>
                      </a:r>
                    </a:p>
                  </a:txBody>
                  <a:tcPr marL="91440" marR="91440" marT="45720" marB="45720">
                    <a:solidFill>
                      <a:srgbClr val="FFFFFF"/>
                    </a:solidFill>
                  </a:tcPr>
                </a:tc>
                <a:tc>
                  <a:txBody>
                    <a:bodyPr/>
                    <a:lstStyle/>
                    <a:p>
                      <a:r>
                        <a:rPr sz="1425" b="0">
                          <a:solidFill>
                            <a:srgbClr val="111111"/>
                          </a:solidFill>
                          <a:latin typeface="Malgun Gothic"/>
                          <a:ea typeface="Malgun Gothic"/>
                          <a:cs typeface="Malgun Gothic"/>
                        </a:rPr>
                        <a:t>효과 크기와 신뢰구간으로 판단</a:t>
                      </a:r>
                    </a:p>
                  </a:txBody>
                  <a:tcPr marL="91440" marR="91440" marT="45720" marB="45720">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FD921685-E0A6-43F7-A6AF-4774E886433A}"/>
              </a:ext>
            </a:extLst>
          </p:cNvPr>
          <p:cNvSpPr>
            <a:spLocks xmlns:a="http://schemas.openxmlformats.org/drawingml/2006/main" noGrp="1"/>
          </p:cNvSpPr>
          <p:nvPr/>
        </p:nvSpPr>
        <p:spPr>
          <a:xfrm xmlns:a="http://schemas.openxmlformats.org/drawingml/2006/main">
            <a:off x="571500" y="5114925"/>
            <a:ext cx="5334000" cy="838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사람별 평균절대오차를 짝지어 비교</a:t>
            </a:r>
          </a:p>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20명 단위 bootstrap 10,000회, 95% 신뢰구간</a:t>
            </a:r>
          </a:p>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세 가지 주 비교에 Holm 보정</a:t>
            </a:r>
          </a:p>
        </p:txBody>
      </p:sp>
      <p:sp>
        <p:nvSpPr>
          <p:cNvPr id="10" name="">
            <a:extLst xmlns:a="http://schemas.openxmlformats.org/drawingml/2006/main">
              <a:ext uri="{FF2B5EF4-FFF2-40B4-BE49-F238E27FC236}">
                <a16:creationId xmlns:a16="http://schemas.microsoft.com/office/drawing/2014/main" id="{C602AE5F-21B8-4BCC-8F33-6DCE961160E4}"/>
              </a:ext>
            </a:extLst>
          </p:cNvPr>
          <p:cNvSpPr>
            <a:spLocks xmlns:a="http://schemas.openxmlformats.org/drawingml/2006/main" noGrp="1"/>
          </p:cNvSpPr>
          <p:nvPr/>
        </p:nvSpPr>
        <p:spPr>
          <a:xfrm xmlns:a="http://schemas.openxmlformats.org/drawingml/2006/main">
            <a:off x="6286500" y="5114925"/>
            <a:ext cx="5334000" cy="838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기대 방향: A3가 A2·R보다 낮은 오차</a:t>
            </a:r>
          </a:p>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T2를 중심으로 보고 T1과 함께 해석</a:t>
            </a:r>
          </a:p>
          <a:p xmlns:a="http://schemas.openxmlformats.org/drawingml/2006/main">
            <a:pPr>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아직 수집 전이므로 실제 결과와 구분</a:t>
            </a:r>
          </a:p>
        </p:txBody>
      </p:sp>
      <p:sp>
        <p:nvSpPr>
          <p:cNvPr id="11" name="">
            <a:extLst xmlns:a="http://schemas.openxmlformats.org/drawingml/2006/main">
              <a:ext uri="{FF2B5EF4-FFF2-40B4-BE49-F238E27FC236}">
                <a16:creationId xmlns:a16="http://schemas.microsoft.com/office/drawing/2014/main" id="{F684C323-54A5-4D24-9664-882F6E7AE526}"/>
              </a:ext>
            </a:extLst>
          </p:cNvPr>
          <p:cNvSpPr>
            <a:spLocks xmlns:a="http://schemas.openxmlformats.org/drawingml/2006/main" noGrp="1"/>
          </p:cNvSpPr>
          <p:nvPr/>
        </p:nvSpPr>
        <p:spPr>
          <a:xfrm xmlns:a="http://schemas.openxmlformats.org/drawingml/2006/main">
            <a:off x="571500" y="6096000"/>
            <a:ext cx="11049000" cy="523875"/>
          </a:xfrm>
          <a:prstGeom xmlns:a="http://schemas.openxmlformats.org/drawingml/2006/main" prst="rect">
            <a:avLst/>
          </a:prstGeom>
          <a:solidFill xmlns:a="http://schemas.openxmlformats.org/drawingml/2006/main">
            <a:srgbClr val="193A66"/>
          </a:solidFill>
          <a:ln xmlns:a="http://schemas.openxmlformats.org/drawingml/2006/main" w="9525">
            <a:solidFill>
              <a:srgbClr val="193A66"/>
            </a:solidFill>
          </a:ln>
        </p:spPr>
      </p:sp>
      <p:sp>
        <p:nvSpPr>
          <p:cNvPr id="12" name="">
            <a:extLst xmlns:a="http://schemas.openxmlformats.org/drawingml/2006/main">
              <a:ext uri="{FF2B5EF4-FFF2-40B4-BE49-F238E27FC236}">
                <a16:creationId xmlns:a16="http://schemas.microsoft.com/office/drawing/2014/main" id="{07210CBE-71C5-4E9A-AD54-748EE1AF1087}"/>
              </a:ext>
            </a:extLst>
          </p:cNvPr>
          <p:cNvSpPr>
            <a:spLocks xmlns:a="http://schemas.openxmlformats.org/drawingml/2006/main" noGrp="1"/>
          </p:cNvSpPr>
          <p:nvPr/>
        </p:nvSpPr>
        <p:spPr>
          <a:xfrm xmlns:a="http://schemas.openxmlformats.org/drawingml/2006/main">
            <a:off x="742950" y="6210300"/>
            <a:ext cx="10706100" cy="3429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oAutofit/>
          </a:bodyPr>
          <a:lstStyle xmlns:a="http://schemas.openxmlformats.org/drawingml/2006/main"/>
          <a:p xmlns:a="http://schemas.openxmlformats.org/drawingml/2006/main">
            <a:pPr>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연구의 결론: 어떤 수치를 제공하거나 보류할 때 VLM 채점오차가 달라지는가</a:t>
            </a:r>
          </a:p>
        </p:txBody>
      </p:sp>
    </p:spTree>
    <p:extLst>
      <p:ext uri="{BB962C8B-B14F-4D97-AF65-F5344CB8AC3E}">
        <p14:creationId xmlns:p14="http://schemas.microsoft.com/office/powerpoint/2010/main" val="304763733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2026-09-28T10:12:55.4400000Z</dcterms:created>
  <dcterms:modified xsi:type="dcterms:W3CDTF">2026-09-28T10:12:55.4400000Z</dcterms:modified>
</coreProperties>
</file>