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EC7D52-6F07-49FE-BE3B-7B49B686AFAA}" v="8" dt="2026-09-14T06:28:17.8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3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yong lee" userId="0e8205fbd6162578" providerId="LiveId" clId="{AE34F6A3-7111-4D1D-9D41-1048805A1372}"/>
    <pc:docChg chg="undo custSel modSld">
      <pc:chgData name="jeayong lee" userId="0e8205fbd6162578" providerId="LiveId" clId="{AE34F6A3-7111-4D1D-9D41-1048805A1372}" dt="2026-09-14T06:31:29.120" v="19" actId="14100"/>
      <pc:docMkLst>
        <pc:docMk/>
      </pc:docMkLst>
      <pc:sldChg chg="modSp mod">
        <pc:chgData name="jeayong lee" userId="0e8205fbd6162578" providerId="LiveId" clId="{AE34F6A3-7111-4D1D-9D41-1048805A1372}" dt="2026-09-14T06:27:23.300" v="1" actId="1076"/>
        <pc:sldMkLst>
          <pc:docMk/>
          <pc:sldMk cId="0" sldId="269"/>
        </pc:sldMkLst>
        <pc:spChg chg="mod">
          <ac:chgData name="jeayong lee" userId="0e8205fbd6162578" providerId="LiveId" clId="{AE34F6A3-7111-4D1D-9D41-1048805A1372}" dt="2026-09-14T06:27:23.300" v="1" actId="1076"/>
          <ac:spMkLst>
            <pc:docMk/>
            <pc:sldMk cId="0" sldId="269"/>
            <ac:spMk id="15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6:31:29.120" v="19" actId="14100"/>
        <pc:sldMkLst>
          <pc:docMk/>
          <pc:sldMk cId="0" sldId="271"/>
        </pc:sldMkLst>
        <pc:spChg chg="mod">
          <ac:chgData name="jeayong lee" userId="0e8205fbd6162578" providerId="LiveId" clId="{AE34F6A3-7111-4D1D-9D41-1048805A1372}" dt="2026-09-14T06:31:29.120" v="19" actId="14100"/>
          <ac:spMkLst>
            <pc:docMk/>
            <pc:sldMk cId="0" sldId="271"/>
            <ac:spMk id="6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7:36.704" v="5" actId="14100"/>
          <ac:spMkLst>
            <pc:docMk/>
            <pc:sldMk cId="0" sldId="271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7:52.302" v="9" actId="14100"/>
          <ac:spMkLst>
            <pc:docMk/>
            <pc:sldMk cId="0" sldId="271"/>
            <ac:spMk id="16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8:08.750" v="13" actId="14100"/>
          <ac:spMkLst>
            <pc:docMk/>
            <pc:sldMk cId="0" sldId="271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8:21.135" v="17" actId="14100"/>
          <ac:spMkLst>
            <pc:docMk/>
            <pc:sldMk cId="0" sldId="271"/>
            <ac:spMk id="2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1303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5524"/>
            <a:ext cx="12191695" cy="685800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0" y="0"/>
            <a:ext cx="109728" cy="685800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46120" y="1143000"/>
            <a:ext cx="7955280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운동학 정보를 활용한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과제 VLM 평가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73552" y="248716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</a:t>
            </a: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참조의 추가 효과를 검증하는 파일럿 연구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73552" y="5715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26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연구계획 발표  |  이재용 22000561  |  한동대학교 기계제어공학부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배경과 기존 접근의 부담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판독과 과제 전용 학습 모델의 부담을 줄일 수 있는 대안이 필요하다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" y="1234440"/>
            <a:ext cx="2871216" cy="2227898"/>
          </a:xfrm>
          <a:prstGeom prst="roundRect">
            <a:avLst>
              <a:gd name="adj" fmla="val 3556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3657600" y="1234440"/>
            <a:ext cx="2286000" cy="2194560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36576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37307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영상 판독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221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925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동작을 반복 관찰하고 수행 상태와 근거를 기록한다.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신뢰할 수 있는 참조기준을 만들 수 있지만 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시간과 인력이 크게 필요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1234439"/>
            <a:ext cx="2286000" cy="2194559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61722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62453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전용 학습 모델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367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영상 수집, 세부 라벨링, 과제·환경 변경 시 추가 조정이 필요하다.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가능성은 있지만 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비용이 높다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1216152"/>
            <a:ext cx="2286000" cy="2212846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86868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87599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VLM 활용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513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가중치는 고정하고 과제 지침과 관찰 정보를 입력한다.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운동학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근거를 보완할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있는지 확인한다.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777240" y="385876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사례: PrimSeq는 6.4시간 기록의 수작업 주석에 513.6시간, 자동 처리에 1.4시간을 보고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564832" y="4261104"/>
            <a:ext cx="3703320" cy="2114931"/>
          </a:xfrm>
          <a:prstGeom prst="roundRect">
            <a:avLst>
              <a:gd name="adj" fmla="val 5926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6"/>
          <p:cNvSpPr/>
          <p:nvPr/>
        </p:nvSpPr>
        <p:spPr>
          <a:xfrm>
            <a:off x="4617720" y="4407408"/>
            <a:ext cx="630936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이 수치는 세부 동작 주석 작업의 비교이며, FMA 검사시간 자체가 아니다.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연구도 즉시 치료사를 대체한다는 주장이 아니라, 반복 판독을 보조할 입력 설계를 검토한다.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선행연구가 제공한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가능성은 보였지만, 이번 손 과제에서 어떤 입력 조합이 실제로 도움이 되는지는 별도 검증이 필요하다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429000" cy="1984248"/>
          </a:xfrm>
          <a:prstGeom prst="roundRect">
            <a:avLst>
              <a:gd name="adj" fmla="val 390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429000" cy="2063686"/>
          </a:xfrm>
          <a:prstGeom prst="roundRect">
            <a:avLst>
              <a:gd name="adj" fmla="val 3902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4160520" y="1115568"/>
            <a:ext cx="3566160" cy="2039112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Shape 13"/>
          <p:cNvSpPr/>
          <p:nvPr/>
        </p:nvSpPr>
        <p:spPr>
          <a:xfrm>
            <a:off x="4160520" y="111556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/>
          <p:nvPr/>
        </p:nvSpPr>
        <p:spPr>
          <a:xfrm>
            <a:off x="4233672" y="119786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 등 2026: VLM 동작 이해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5112" y="1645920"/>
            <a:ext cx="3236976" cy="138303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인식·횟수·FMA 추정을 평가했다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미세 손 동작과 접촉 판단의 불안정성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보고되어 영상 외 정보의 보완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가능성을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생각하게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973568" y="1115568"/>
            <a:ext cx="3566160" cy="2039112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7973568" y="111556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/>
          <p:nvPr/>
        </p:nvSpPr>
        <p:spPr>
          <a:xfrm>
            <a:off x="8046720" y="119786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Qiu·Lang: 파지 운동학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38160" y="1645920"/>
            <a:ext cx="3236976" cy="127730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간격, 도달 시간, 손가락 신전 관련 변수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들이 손 기능과 관련될 수 있음을 보여준다. 다만 우리 센서·과제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정의와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동일하지는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않다.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60520" y="3337560"/>
            <a:ext cx="3566160" cy="206368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1"/>
          <p:cNvSpPr/>
          <p:nvPr/>
        </p:nvSpPr>
        <p:spPr>
          <a:xfrm>
            <a:off x="4160520" y="3337560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22"/>
          <p:cNvSpPr/>
          <p:nvPr/>
        </p:nvSpPr>
        <p:spPr>
          <a:xfrm>
            <a:off x="4233672" y="3419856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Amprimo: 깊이 결합 추적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325112" y="3867912"/>
            <a:ext cx="3236976" cy="12275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MediaPipe와 깊이 정보를 결합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3D 손 추적을 얻는 방법론적 근거를 제공한다. D455 파지 환경에서는 별도 품질 확인이 필요하다.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973568" y="3337560"/>
            <a:ext cx="3566160" cy="206368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5"/>
          <p:cNvSpPr/>
          <p:nvPr/>
        </p:nvSpPr>
        <p:spPr>
          <a:xfrm>
            <a:off x="7973568" y="3337560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6"/>
          <p:cNvSpPr/>
          <p:nvPr/>
        </p:nvSpPr>
        <p:spPr>
          <a:xfrm>
            <a:off x="8046720" y="3419856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Tang·Wang: 추가정보 입력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46720" y="3831336"/>
            <a:ext cx="3447288" cy="12275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수치·임상 지식과 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파운데이션 </a:t>
            </a:r>
            <a:r>
              <a:rPr lang="en-US" sz="14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방향의 근거가 된다. 하지만 손의 실제 접촉과 자체 수행점수는 다시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검증해야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5815584"/>
            <a:ext cx="11018520" cy="457200"/>
          </a:xfrm>
          <a:prstGeom prst="roundRect">
            <a:avLst>
              <a:gd name="adj" fmla="val 10000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1" name="Text 29"/>
          <p:cNvSpPr/>
          <p:nvPr/>
        </p:nvSpPr>
        <p:spPr>
          <a:xfrm>
            <a:off x="777240" y="5925312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질문: 영상만 보는 VLM보다, 3D </a:t>
            </a:r>
            <a:r>
              <a:rPr lang="en-US" sz="14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운동학과</a:t>
            </a: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참조를 함께 받은 VLM이 전문가 판단에 가까워지는가?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언어모델의 역할과 연구 범위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연구에서 VLM은 측정기가 아니라, 제공된 정보를 읽고 수행 여부를 판정하는 평가모델이다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2446" y="1819656"/>
            <a:ext cx="3490914" cy="2825494"/>
          </a:xfrm>
          <a:prstGeom prst="roundRect">
            <a:avLst>
              <a:gd name="adj" fmla="val 2353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069080" y="3200400"/>
            <a:ext cx="548640" cy="0"/>
          </a:xfrm>
          <a:prstGeom prst="line">
            <a:avLst/>
          </a:prstGeom>
          <a:noFill/>
          <a:ln w="12700">
            <a:solidFill>
              <a:srgbClr val="16A7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1920240" cy="4069080"/>
          </a:xfrm>
          <a:prstGeom prst="roundRect">
            <a:avLst>
              <a:gd name="adj" fmla="val 2857"/>
            </a:avLst>
          </a:prstGeom>
          <a:solidFill>
            <a:srgbClr val="F6FAFF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Shape 10"/>
          <p:cNvSpPr/>
          <p:nvPr/>
        </p:nvSpPr>
        <p:spPr>
          <a:xfrm>
            <a:off x="4709160" y="1234440"/>
            <a:ext cx="19202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Text 11"/>
          <p:cNvSpPr/>
          <p:nvPr/>
        </p:nvSpPr>
        <p:spPr>
          <a:xfrm>
            <a:off x="4782312" y="1316736"/>
            <a:ext cx="1773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 구성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82312" y="1764792"/>
            <a:ext cx="1773936" cy="34107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손 과제 영상과 공통 과제 지침을 넣는다.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조건에 따라 운동학 수치, 측정 품질, </a:t>
            </a: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참조를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단계적으로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추가한다.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903720" y="1234440"/>
            <a:ext cx="1920240" cy="4069080"/>
          </a:xfrm>
          <a:prstGeom prst="roundRect">
            <a:avLst>
              <a:gd name="adj" fmla="val 2857"/>
            </a:avLst>
          </a:prstGeom>
          <a:solidFill>
            <a:srgbClr val="F6FAFF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Shape 14"/>
          <p:cNvSpPr/>
          <p:nvPr/>
        </p:nvSpPr>
        <p:spPr>
          <a:xfrm>
            <a:off x="6903720" y="1234440"/>
            <a:ext cx="19202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Text 15"/>
          <p:cNvSpPr/>
          <p:nvPr/>
        </p:nvSpPr>
        <p:spPr>
          <a:xfrm>
            <a:off x="6976872" y="1316736"/>
            <a:ext cx="1773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수행 판정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68312" y="1764792"/>
            <a:ext cx="1591056" cy="34107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손 모양을 만들었는지, 형태를 유지했는지, 다시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폈는지를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판단한다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완료·미완료·관찰근거 부족과 이유를 JSON으로 출력한다.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98280" y="1234440"/>
            <a:ext cx="1920240" cy="4069080"/>
          </a:xfrm>
          <a:prstGeom prst="roundRect">
            <a:avLst>
              <a:gd name="adj" fmla="val 2857"/>
            </a:avLst>
          </a:prstGeom>
          <a:solidFill>
            <a:srgbClr val="F6FAFF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Shape 18"/>
          <p:cNvSpPr/>
          <p:nvPr/>
        </p:nvSpPr>
        <p:spPr>
          <a:xfrm>
            <a:off x="9098280" y="1234440"/>
            <a:ext cx="19202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Text 19"/>
          <p:cNvSpPr/>
          <p:nvPr/>
        </p:nvSpPr>
        <p:spPr>
          <a:xfrm>
            <a:off x="9171432" y="1316736"/>
            <a:ext cx="1773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점수 변환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62872" y="1764792"/>
            <a:ext cx="1591056" cy="34107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판정을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규칙에 따라 연구용 0·1·2점으로 변환한다.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5532120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22"/>
          <p:cNvSpPr/>
          <p:nvPr/>
        </p:nvSpPr>
        <p:spPr>
          <a:xfrm>
            <a:off x="777240" y="56418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범위: 모델 가중치를 갱신하지 않고, 입력 정보 구성의 효과만 비교한다.</a:t>
            </a:r>
            <a:endParaRPr 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CF4E557B-60C0-7342-9B61-B39E21A54FF2}"/>
              </a:ext>
            </a:extLst>
          </p:cNvPr>
          <p:cNvSpPr/>
          <p:nvPr/>
        </p:nvSpPr>
        <p:spPr>
          <a:xfrm>
            <a:off x="623888" y="3943350"/>
            <a:ext cx="1209675" cy="66522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996732D-2B85-EF14-F772-6CD16841C32C}"/>
              </a:ext>
            </a:extLst>
          </p:cNvPr>
          <p:cNvSpPr/>
          <p:nvPr/>
        </p:nvSpPr>
        <p:spPr>
          <a:xfrm>
            <a:off x="2976945" y="3979924"/>
            <a:ext cx="909256" cy="6286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점수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참조의 구성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센서값은 움직임 정보이며, 접촉력·정상 기능·임상 진단을 직접 뜻하지 않는다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142999"/>
            <a:ext cx="4041648" cy="2526983"/>
          </a:xfrm>
          <a:prstGeom prst="roundRect">
            <a:avLst>
              <a:gd name="adj" fmla="val 3019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640080" y="3840479"/>
            <a:ext cx="4041648" cy="2526983"/>
          </a:xfrm>
          <a:prstGeom prst="roundRect">
            <a:avLst>
              <a:gd name="adj" fmla="val 5000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4846320" y="1143000"/>
            <a:ext cx="2834640" cy="2526982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Shape 13"/>
          <p:cNvSpPr/>
          <p:nvPr/>
        </p:nvSpPr>
        <p:spPr>
          <a:xfrm>
            <a:off x="4846320" y="1143000"/>
            <a:ext cx="28346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/>
          <p:nvPr/>
        </p:nvSpPr>
        <p:spPr>
          <a:xfrm>
            <a:off x="4919472" y="1225296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거리 계산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10912" y="1673352"/>
            <a:ext cx="2505456" cy="163658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D455의 RGB와 Depth를 기록하고,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깊이를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결합해 손가락 사이 3차원 거리를 계산한다.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같은 거리라도 실제 접촉이나 힘을 보장하지 않는다.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01000" y="1143000"/>
            <a:ext cx="2834640" cy="2526982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8001000" y="1143000"/>
            <a:ext cx="28346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/>
          <p:nvPr/>
        </p:nvSpPr>
        <p:spPr>
          <a:xfrm>
            <a:off x="8074152" y="1225296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65592" y="1673352"/>
            <a:ext cx="2505456" cy="1527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과제별 반복값을 개인 중앙값으로 요약하고, 15명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분포에서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중앙값·Q1·Q3를 산출한다.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이는 정상/실패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판정선이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작은 표본의 상대 위치 정보다.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3840479"/>
            <a:ext cx="5989320" cy="1554480"/>
          </a:xfrm>
          <a:prstGeom prst="roundRect">
            <a:avLst>
              <a:gd name="adj" fmla="val 3529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1"/>
          <p:cNvSpPr/>
          <p:nvPr/>
        </p:nvSpPr>
        <p:spPr>
          <a:xfrm>
            <a:off x="4846320" y="3840479"/>
            <a:ext cx="598932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22"/>
          <p:cNvSpPr/>
          <p:nvPr/>
        </p:nvSpPr>
        <p:spPr>
          <a:xfrm>
            <a:off x="4919472" y="3922775"/>
            <a:ext cx="58430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관리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10912" y="4370831"/>
            <a:ext cx="5660136" cy="8961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피처값과 함께 유효율, 보간비율, 결측 이유를 제공한다. 계산 불가 피처는 null로 남기며 2D 값으로 대체하지 않는다. 센서 실패가 임상적 실패점수로 자동 변환되지 않게 분리한다.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수치로 학습하는 기준 모델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기준 모델 (A0)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4041648" cy="4023360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965192" y="1225296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965192" y="1225296"/>
            <a:ext cx="2834640" cy="411480"/>
          </a:xfrm>
          <a:prstGeom prst="rect">
            <a:avLst/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5038344" y="1307592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9784" y="1755648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손 움직임을 측정한 수치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다항 로지스틱 회귀로 수치와 전문가 점수의 관계를 학습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연구용 0·1·2점 분류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225296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8046720" y="1225296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8119872" y="1307592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11312" y="1755648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없이 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간단한 수치 학습 모델로도 비슷한 평가가 가능한지 확인한다.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A0는 환자 자료로 학습하므로, 동결 VLM 조건과 완전히 같은 비교는 아니다.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34924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45896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A0는 “수치 기반 학습 기준선”으로만 이해하면 된다.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 제공하는 시각 언어모델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(A1)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950208" cy="4023360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손 과제의 14프레임과 공통 과제 지침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VLM이 단계별 수행 여부와 근거를 출력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점수화: 외부 규칙으로 0·1·2점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</a:t>
            </a:r>
            <a:r>
              <a:rPr lang="en-US" sz="16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수치나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참조를 주기 전, </a:t>
            </a: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정보만으로 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평가하는 기준 조건이다.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조건들도 같은 시행·같은 프레임·같은 지침을 쓰기 때문에 입력 추가 효과를 비교할 수 있다.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34924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45896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A1은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영상에서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뽑은 프레임을 사용하지만, 운동학 </a:t>
            </a: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참조는 모델에 주지 않는다.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영상에 운동학 수치를 추가하는 조건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수치 (A2)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39"/>
            <a:ext cx="3950208" cy="4166235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입력: A1과 동일한 프레임 및 과제 지침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정보: 움직임 크기, 도달 시간, 유지 중 변동, 해제 개방량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정보: 유효율과 결측 이유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영상만으로 판단하기 어려운 손가락 벌림, 시간, 안정성, 해제 변화량을 </a:t>
            </a: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수치로 보완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A2−A1은 수치·품질 정보의 추가효과를 보는 보조 비교가 된다.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541264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650992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피처는 정상/비정상 판정선이 아니라, VLM에게 제공하는 정량 근거다.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7" y="402336"/>
            <a:ext cx="8958073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영상과 </a:t>
            </a:r>
            <a:r>
              <a:rPr lang="en-US" sz="32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수치에</a:t>
            </a: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참조를 추가하는 조건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수치 +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 (A3)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905250" cy="4175760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입력: 영상, 운동학 수치, 측정 품질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정보: 건강인 표본의 중앙값, Q1, Q3, 유효 인원, 상대 위치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의미: 같은 과제의 수치를 해석할 비교 정보 제공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연구의 </a:t>
            </a: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</a:t>
            </a:r>
            <a:r>
              <a:rPr lang="en-US" sz="16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600" b="1" dirty="0">
              <a:solidFill>
                <a:srgbClr val="1F2937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A3−A1은 영상만 보는 조건 대비 전체 정보 묶음의 효과를 보는 주 비교이며, A3−A2는 </a:t>
            </a:r>
            <a:r>
              <a:rPr lang="ko-KR" alt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참조의 추가효과를 탐색한다.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55498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66470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참조는 정상 판정선이 아니라 작은 표본 분포의 상대 위치 정보다.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없이 수치와 참조만 제공하는 조건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수치만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제공하는 VLM (A4)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950208" cy="4224528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운동학 수치, 측정 품질, </a:t>
            </a:r>
            <a:r>
              <a:rPr lang="ko-KR" alt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참조, 과제 지침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앞 조건과 동일한 VLM 사용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제외: 영상 프레임과 프레임 시각 정보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 참조만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으로도 충분한지 보기 위한 보조 조건이다.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A3−A4는 수치·참조가 있는 상황에서 영상이 추가로 기여하는지를 탐색한다.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747004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856732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A4는 수치 텍스트를 읽는 동결 VLM이고, A0는 환자 자료로 학습하는 수치 모델이다.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조건과 비교 목적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" name="Text 5"/>
          <p:cNvSpPr/>
          <p:nvPr/>
        </p:nvSpPr>
        <p:spPr>
          <a:xfrm>
            <a:off x="777240" y="1188720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비교: 최종 제안 방식(A3)과 영상만(A1) — 전체 정보 묶음의 추가효과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1783080"/>
            <a:ext cx="2651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9" name="Text 7"/>
          <p:cNvSpPr/>
          <p:nvPr/>
        </p:nvSpPr>
        <p:spPr>
          <a:xfrm>
            <a:off x="722376" y="1901952"/>
            <a:ext cx="2578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1" name="Text 9"/>
          <p:cNvSpPr/>
          <p:nvPr/>
        </p:nvSpPr>
        <p:spPr>
          <a:xfrm>
            <a:off x="337413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632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3" name="Text 11"/>
          <p:cNvSpPr/>
          <p:nvPr/>
        </p:nvSpPr>
        <p:spPr>
          <a:xfrm>
            <a:off x="488289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수치·품질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55080" y="1783080"/>
            <a:ext cx="169164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3"/>
          <p:cNvSpPr/>
          <p:nvPr/>
        </p:nvSpPr>
        <p:spPr>
          <a:xfrm>
            <a:off x="6391656" y="1901952"/>
            <a:ext cx="1618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3375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7" name="Text 15"/>
          <p:cNvSpPr/>
          <p:nvPr/>
        </p:nvSpPr>
        <p:spPr>
          <a:xfrm>
            <a:off x="8083296" y="1901952"/>
            <a:ext cx="3264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방법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2313432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9" name="Text 17"/>
          <p:cNvSpPr/>
          <p:nvPr/>
        </p:nvSpPr>
        <p:spPr>
          <a:xfrm>
            <a:off x="731520" y="24323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A0 수치 학습 기준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9"/>
          <p:cNvSpPr/>
          <p:nvPr/>
        </p:nvSpPr>
        <p:spPr>
          <a:xfrm>
            <a:off x="338328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3" name="Text 21"/>
          <p:cNvSpPr/>
          <p:nvPr/>
        </p:nvSpPr>
        <p:spPr>
          <a:xfrm>
            <a:off x="489204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55080" y="2313432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5" name="Text 23"/>
          <p:cNvSpPr/>
          <p:nvPr/>
        </p:nvSpPr>
        <p:spPr>
          <a:xfrm>
            <a:off x="6400800" y="243230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46720" y="2313432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7" name="Text 25"/>
          <p:cNvSpPr/>
          <p:nvPr/>
        </p:nvSpPr>
        <p:spPr>
          <a:xfrm>
            <a:off x="8092440" y="2432304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 학습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2843784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Text 27"/>
          <p:cNvSpPr/>
          <p:nvPr/>
        </p:nvSpPr>
        <p:spPr>
          <a:xfrm>
            <a:off x="731520" y="296265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영상만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33756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1" name="Text 29"/>
          <p:cNvSpPr/>
          <p:nvPr/>
        </p:nvSpPr>
        <p:spPr>
          <a:xfrm>
            <a:off x="338328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4632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3" name="Text 31"/>
          <p:cNvSpPr/>
          <p:nvPr/>
        </p:nvSpPr>
        <p:spPr>
          <a:xfrm>
            <a:off x="489204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55080" y="2843784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5" name="Text 33"/>
          <p:cNvSpPr/>
          <p:nvPr/>
        </p:nvSpPr>
        <p:spPr>
          <a:xfrm>
            <a:off x="6400800" y="296265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046720" y="2843784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7" name="Text 35"/>
          <p:cNvSpPr/>
          <p:nvPr/>
        </p:nvSpPr>
        <p:spPr>
          <a:xfrm>
            <a:off x="8092440" y="2962656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85800" y="3374136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9" name="Text 37"/>
          <p:cNvSpPr/>
          <p:nvPr/>
        </p:nvSpPr>
        <p:spPr>
          <a:xfrm>
            <a:off x="731520" y="349300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영상+수치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33756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1" name="Text 39"/>
          <p:cNvSpPr/>
          <p:nvPr/>
        </p:nvSpPr>
        <p:spPr>
          <a:xfrm>
            <a:off x="338328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84632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3" name="Text 41"/>
          <p:cNvSpPr/>
          <p:nvPr/>
        </p:nvSpPr>
        <p:spPr>
          <a:xfrm>
            <a:off x="489204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355080" y="3374136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Text 43"/>
          <p:cNvSpPr/>
          <p:nvPr/>
        </p:nvSpPr>
        <p:spPr>
          <a:xfrm>
            <a:off x="6400800" y="349300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46720" y="3374136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7" name="Text 45"/>
          <p:cNvSpPr/>
          <p:nvPr/>
        </p:nvSpPr>
        <p:spPr>
          <a:xfrm>
            <a:off x="8092440" y="3493008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85800" y="3904488"/>
            <a:ext cx="2651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9" name="Text 47"/>
          <p:cNvSpPr/>
          <p:nvPr/>
        </p:nvSpPr>
        <p:spPr>
          <a:xfrm>
            <a:off x="731520" y="40233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최종 제안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33756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1" name="Text 49"/>
          <p:cNvSpPr/>
          <p:nvPr/>
        </p:nvSpPr>
        <p:spPr>
          <a:xfrm>
            <a:off x="338328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84632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3" name="Text 51"/>
          <p:cNvSpPr/>
          <p:nvPr/>
        </p:nvSpPr>
        <p:spPr>
          <a:xfrm>
            <a:off x="489204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355080" y="3904488"/>
            <a:ext cx="169164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5" name="Text 53"/>
          <p:cNvSpPr/>
          <p:nvPr/>
        </p:nvSpPr>
        <p:spPr>
          <a:xfrm>
            <a:off x="6400800" y="402336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8046720" y="3904488"/>
            <a:ext cx="33375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7" name="Text 55"/>
          <p:cNvSpPr/>
          <p:nvPr/>
        </p:nvSpPr>
        <p:spPr>
          <a:xfrm>
            <a:off x="8092440" y="4023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85800" y="4434840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Text 57"/>
          <p:cNvSpPr/>
          <p:nvPr/>
        </p:nvSpPr>
        <p:spPr>
          <a:xfrm>
            <a:off x="731520" y="455371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 수치만 VLM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333756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1" name="Text 59"/>
          <p:cNvSpPr/>
          <p:nvPr/>
        </p:nvSpPr>
        <p:spPr>
          <a:xfrm>
            <a:off x="338328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84632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3" name="Text 61"/>
          <p:cNvSpPr/>
          <p:nvPr/>
        </p:nvSpPr>
        <p:spPr>
          <a:xfrm>
            <a:off x="489204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355080" y="4434840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5" name="Text 63"/>
          <p:cNvSpPr/>
          <p:nvPr/>
        </p:nvSpPr>
        <p:spPr>
          <a:xfrm>
            <a:off x="6400800" y="45537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8046720" y="4434840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7" name="Text 65"/>
          <p:cNvSpPr/>
          <p:nvPr/>
        </p:nvSpPr>
        <p:spPr>
          <a:xfrm>
            <a:off x="8092440" y="455371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85800" y="5138927"/>
            <a:ext cx="2743200" cy="1118997"/>
          </a:xfrm>
          <a:prstGeom prst="roundRect">
            <a:avLst>
              <a:gd name="adj" fmla="val 8108"/>
            </a:avLst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9" name="Shape 67"/>
          <p:cNvSpPr/>
          <p:nvPr/>
        </p:nvSpPr>
        <p:spPr>
          <a:xfrm>
            <a:off x="685800" y="5138928"/>
            <a:ext cx="274320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0" name="Text 68"/>
          <p:cNvSpPr/>
          <p:nvPr/>
        </p:nvSpPr>
        <p:spPr>
          <a:xfrm>
            <a:off x="758952" y="5221224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효과</a:t>
            </a: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50392" y="5669279"/>
            <a:ext cx="2414016" cy="67665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A1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제안 방식 vs 영상만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3611880" y="5138928"/>
            <a:ext cx="2240280" cy="1118996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3" name="Shape 71"/>
          <p:cNvSpPr/>
          <p:nvPr/>
        </p:nvSpPr>
        <p:spPr>
          <a:xfrm>
            <a:off x="3611880" y="5138928"/>
            <a:ext cx="224028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4" name="Text 72"/>
          <p:cNvSpPr/>
          <p:nvPr/>
        </p:nvSpPr>
        <p:spPr>
          <a:xfrm>
            <a:off x="3685032" y="5221224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추가</a:t>
            </a: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3776472" y="5669280"/>
            <a:ext cx="19110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A2 − A1</a:t>
            </a:r>
            <a:endParaRPr lang="en-US" dirty="0"/>
          </a:p>
        </p:txBody>
      </p:sp>
      <p:sp>
        <p:nvSpPr>
          <p:cNvPr id="76" name="Shape 74"/>
          <p:cNvSpPr/>
          <p:nvPr/>
        </p:nvSpPr>
        <p:spPr>
          <a:xfrm>
            <a:off x="6035040" y="5138927"/>
            <a:ext cx="2240280" cy="1118995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7" name="Shape 75"/>
          <p:cNvSpPr/>
          <p:nvPr/>
        </p:nvSpPr>
        <p:spPr>
          <a:xfrm>
            <a:off x="6035040" y="5138928"/>
            <a:ext cx="224028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8" name="Text 76"/>
          <p:cNvSpPr/>
          <p:nvPr/>
        </p:nvSpPr>
        <p:spPr>
          <a:xfrm>
            <a:off x="6108192" y="5221224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추가</a:t>
            </a: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199632" y="5669280"/>
            <a:ext cx="19110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A2</a:t>
            </a:r>
            <a:endParaRPr lang="en-US" dirty="0"/>
          </a:p>
        </p:txBody>
      </p:sp>
      <p:sp>
        <p:nvSpPr>
          <p:cNvPr id="80" name="Shape 78"/>
          <p:cNvSpPr/>
          <p:nvPr/>
        </p:nvSpPr>
        <p:spPr>
          <a:xfrm>
            <a:off x="8458200" y="5138928"/>
            <a:ext cx="2697480" cy="1118994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81" name="Shape 79"/>
          <p:cNvSpPr/>
          <p:nvPr/>
        </p:nvSpPr>
        <p:spPr>
          <a:xfrm>
            <a:off x="8458200" y="5138928"/>
            <a:ext cx="26974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82" name="Text 80"/>
          <p:cNvSpPr/>
          <p:nvPr/>
        </p:nvSpPr>
        <p:spPr>
          <a:xfrm>
            <a:off x="8531352" y="5221224"/>
            <a:ext cx="25511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영상·학습 기준</a:t>
            </a: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8622792" y="5669280"/>
            <a:ext cx="23682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A4 / A3 − A0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대상자와 네 가지 손 과제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과제 8회 양손 동시 수행. 환자 15명을 독립 분석 단위로 사용한다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115568"/>
            <a:ext cx="3474720" cy="1401318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" name="Shape 5"/>
          <p:cNvSpPr/>
          <p:nvPr/>
        </p:nvSpPr>
        <p:spPr>
          <a:xfrm>
            <a:off x="685800" y="1115568"/>
            <a:ext cx="34747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/>
          <p:nvPr/>
        </p:nvSpPr>
        <p:spPr>
          <a:xfrm>
            <a:off x="758952" y="1197864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 구성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1645920"/>
            <a:ext cx="31455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4명: 측정·지침 점검</a:t>
            </a:r>
            <a:endParaRPr lang="en-US" sz="1400" dirty="0"/>
          </a:p>
          <a:p>
            <a:pPr marL="0" indent="0">
              <a:buNone/>
            </a:pP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 15명: 비교 분포 구성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뇌졸중 환자 15명: 입력 효과 평가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61688" y="1186434"/>
            <a:ext cx="2971800" cy="1330452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343400" y="1115568"/>
            <a:ext cx="297180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416552" y="1197864"/>
            <a:ext cx="28254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기준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07992" y="1645920"/>
            <a:ext cx="2642616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40–80세,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일측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편마비, </a:t>
            </a:r>
            <a:r>
              <a:rPr lang="ko-KR" alt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브론스트롬</a:t>
            </a: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회복 III–V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 이해와 착석 수행 가능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115568"/>
            <a:ext cx="3246120" cy="1444752"/>
          </a:xfrm>
          <a:prstGeom prst="roundRect">
            <a:avLst>
              <a:gd name="adj" fmla="val 5714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498080" y="1115568"/>
            <a:ext cx="324612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571232" y="1197864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원칙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62672" y="1645920"/>
            <a:ext cx="29169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양손은 함께 촬영하지만 마비측이 주 분석이다.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15명 파일럿이므로 충분한 검정력을 보장하지 않는다.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2" name="Shape 20"/>
          <p:cNvSpPr/>
          <p:nvPr/>
        </p:nvSpPr>
        <p:spPr>
          <a:xfrm>
            <a:off x="3541777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4"/>
          <p:cNvSpPr/>
          <p:nvPr/>
        </p:nvSpPr>
        <p:spPr>
          <a:xfrm>
            <a:off x="6409944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8"/>
          <p:cNvSpPr/>
          <p:nvPr/>
        </p:nvSpPr>
        <p:spPr>
          <a:xfrm>
            <a:off x="9278111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6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Shape 32"/>
          <p:cNvSpPr/>
          <p:nvPr/>
        </p:nvSpPr>
        <p:spPr>
          <a:xfrm>
            <a:off x="566928" y="507492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Text 33"/>
          <p:cNvSpPr/>
          <p:nvPr/>
        </p:nvSpPr>
        <p:spPr>
          <a:xfrm>
            <a:off x="777240" y="518464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구성은 Brunnstrom 손 회복단계와 FMA·ARAT의 대표 손 기능 개념을 참고하되, 본 연구용 과제로 표준화한다.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참조와 연구용 수행점수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0·1·2점은 이번 과제의 완료 정도이며, 표준 FMA 임상점수와 구분한다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784848" y="1175766"/>
            <a:ext cx="2240280" cy="2302764"/>
          </a:xfrm>
          <a:prstGeom prst="roundRect">
            <a:avLst>
              <a:gd name="adj" fmla="val 2791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6784848" y="1184910"/>
            <a:ext cx="224028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6858000" y="1267206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단계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1715262"/>
            <a:ext cx="1911096" cy="17266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형성: 손 모양과 필요한 접촉 확인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유지: 해제 전 관찰 가능한 휴지 단계에서 형태 유지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능동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해제: 손가락 개방으로 접촉 종료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53728" y="1184910"/>
            <a:ext cx="2240280" cy="2293620"/>
          </a:xfrm>
          <a:prstGeom prst="roundRect">
            <a:avLst>
              <a:gd name="adj" fmla="val 2791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9253728" y="1184910"/>
            <a:ext cx="224028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9326880" y="1267206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변환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418320" y="1715262"/>
            <a:ext cx="1911096" cy="1307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0점: 형성 미완료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1점: 형성 완료 후 유지 또는 해제 미완료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2점: 세 단계 모두 완료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784848" y="3560826"/>
            <a:ext cx="2240280" cy="2100263"/>
          </a:xfrm>
          <a:prstGeom prst="roundRect">
            <a:avLst>
              <a:gd name="adj" fmla="val 2791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6784848" y="3560826"/>
            <a:ext cx="22402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6858000" y="3643122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참조기준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49440" y="4091178"/>
            <a:ext cx="1911096" cy="1307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2인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수치·모델 출력을 보지 않고 독립 판독한다.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불일치는 합의하고 필요 시 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 </a:t>
            </a:r>
            <a:r>
              <a:rPr lang="en-US" sz="14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판독한다.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961888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777240" y="6071616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전문가가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느낌으로 0·1·2를 직접 부여하는 것이 아니라, 단계별 판정을 사전 규칙으로 요약한다.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16637" y="1390650"/>
            <a:ext cx="6153911" cy="4146328"/>
          </a:xfrm>
          <a:prstGeom prst="roundRect">
            <a:avLst>
              <a:gd name="adj" fmla="val 8000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수치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구간 검출과 전문가의 수행 성공 판정을 분리한다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142999"/>
            <a:ext cx="3481388" cy="1920239"/>
          </a:xfrm>
          <a:prstGeom prst="roundRect">
            <a:avLst>
              <a:gd name="adj" fmla="val 4000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685800" y="3291840"/>
            <a:ext cx="3447288" cy="1920239"/>
          </a:xfrm>
          <a:prstGeom prst="roundRect">
            <a:avLst>
              <a:gd name="adj" fmla="val 3810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2"/>
          <p:cNvSpPr/>
          <p:nvPr/>
        </p:nvSpPr>
        <p:spPr>
          <a:xfrm>
            <a:off x="4297680" y="1097280"/>
            <a:ext cx="3063240" cy="1874520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4297680" y="1097280"/>
            <a:ext cx="306324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4370832" y="1179576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F1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범위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62272" y="1627632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물체: 획득 중 최대 간격</a:t>
            </a:r>
            <a:endParaRPr lang="en-US" sz="1400" dirty="0"/>
          </a:p>
          <a:p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맨손: </a:t>
            </a:r>
            <a:r>
              <a:rPr lang="ko-KR" altLang="ko-KR" sz="1400" dirty="0"/>
              <a:t>손가락 굽힘 변화량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손 모양을 만들기 위한 움직임 크기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543800" y="1097280"/>
            <a:ext cx="3063240" cy="1874520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7543800" y="1097280"/>
            <a:ext cx="306324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7616952" y="1179576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F2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도달 시간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08392" y="1627632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r>
              <a:rPr lang="ko-KR" altLang="ko-KR" sz="1400" dirty="0"/>
              <a:t>획득 시작부터 최대/최소 위치에 처음 도달하기까지의 시간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97680" y="3296792"/>
            <a:ext cx="3063240" cy="1915287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Shape 21"/>
          <p:cNvSpPr/>
          <p:nvPr/>
        </p:nvSpPr>
        <p:spPr>
          <a:xfrm>
            <a:off x="4297680" y="3296793"/>
            <a:ext cx="306324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22"/>
          <p:cNvSpPr/>
          <p:nvPr/>
        </p:nvSpPr>
        <p:spPr>
          <a:xfrm>
            <a:off x="4370832" y="3379089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F3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안정성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62272" y="3827145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후보 구간에서 거리의 표본 표준편차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형태 유지 중 거리 변동을 요약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54277" y="3291839"/>
            <a:ext cx="3063240" cy="1874519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Shape 25"/>
          <p:cNvSpPr/>
          <p:nvPr/>
        </p:nvSpPr>
        <p:spPr>
          <a:xfrm>
            <a:off x="7543800" y="3296793"/>
            <a:ext cx="306324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6"/>
          <p:cNvSpPr/>
          <p:nvPr/>
        </p:nvSpPr>
        <p:spPr>
          <a:xfrm>
            <a:off x="7616952" y="3379089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해제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재개방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08392" y="3827145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마지막 20% 중앙값 −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20%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손가락을 다시 펴는 변화량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77240" y="5550408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5프레임 저속 기준은 개발 시작 설정이며, 느린 동작·결측·가림 사례를 점검한 뒤 본 실험 전에 고정한다.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선택과 수치 입력 예시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조건별로 동일한 영상 입력을 유지하고, 계산 불가 피처는 2D 값으로 대체하지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3154680" cy="1920240"/>
          </a:xfrm>
          <a:prstGeom prst="roundRect">
            <a:avLst>
              <a:gd name="adj" fmla="val 3810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526280" y="1143000"/>
            <a:ext cx="3154680" cy="1920240"/>
          </a:xfrm>
          <a:prstGeom prst="roundRect">
            <a:avLst>
              <a:gd name="adj" fmla="val 3810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2"/>
          <p:cNvSpPr/>
          <p:nvPr/>
        </p:nvSpPr>
        <p:spPr>
          <a:xfrm>
            <a:off x="8366760" y="1143000"/>
            <a:ext cx="3154680" cy="1920240"/>
          </a:xfrm>
          <a:prstGeom prst="roundRect">
            <a:avLst>
              <a:gd name="adj" fmla="val 3810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Shape 16"/>
          <p:cNvSpPr/>
          <p:nvPr/>
        </p:nvSpPr>
        <p:spPr>
          <a:xfrm>
            <a:off x="914400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914400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9032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Text 19"/>
          <p:cNvSpPr/>
          <p:nvPr/>
        </p:nvSpPr>
        <p:spPr>
          <a:xfrm>
            <a:off x="1399032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83664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1883664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368296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Text 23"/>
          <p:cNvSpPr/>
          <p:nvPr/>
        </p:nvSpPr>
        <p:spPr>
          <a:xfrm>
            <a:off x="2368296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52928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 25"/>
          <p:cNvSpPr/>
          <p:nvPr/>
        </p:nvSpPr>
        <p:spPr>
          <a:xfrm>
            <a:off x="2852928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Text 27"/>
          <p:cNvSpPr/>
          <p:nvPr/>
        </p:nvSpPr>
        <p:spPr>
          <a:xfrm>
            <a:off x="3337560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86615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Text 29"/>
          <p:cNvSpPr/>
          <p:nvPr/>
        </p:nvSpPr>
        <p:spPr>
          <a:xfrm>
            <a:off x="5686615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1247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Text 31"/>
          <p:cNvSpPr/>
          <p:nvPr/>
        </p:nvSpPr>
        <p:spPr>
          <a:xfrm>
            <a:off x="6171247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13064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Text 33"/>
          <p:cNvSpPr/>
          <p:nvPr/>
        </p:nvSpPr>
        <p:spPr>
          <a:xfrm>
            <a:off x="8513064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997696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7" name="Text 35"/>
          <p:cNvSpPr/>
          <p:nvPr/>
        </p:nvSpPr>
        <p:spPr>
          <a:xfrm>
            <a:off x="8997696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482328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Text 37"/>
          <p:cNvSpPr/>
          <p:nvPr/>
        </p:nvSpPr>
        <p:spPr>
          <a:xfrm>
            <a:off x="9482328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66960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1" name="Text 39"/>
          <p:cNvSpPr/>
          <p:nvPr/>
        </p:nvSpPr>
        <p:spPr>
          <a:xfrm>
            <a:off x="9966960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451592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Text 41"/>
          <p:cNvSpPr/>
          <p:nvPr/>
        </p:nvSpPr>
        <p:spPr>
          <a:xfrm>
            <a:off x="10451592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936224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Text 43"/>
          <p:cNvSpPr/>
          <p:nvPr/>
        </p:nvSpPr>
        <p:spPr>
          <a:xfrm>
            <a:off x="10936224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5800" y="416052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Shape 45"/>
          <p:cNvSpPr/>
          <p:nvPr/>
        </p:nvSpPr>
        <p:spPr>
          <a:xfrm>
            <a:off x="685800" y="4160520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8" name="Text 46"/>
          <p:cNvSpPr/>
          <p:nvPr/>
        </p:nvSpPr>
        <p:spPr>
          <a:xfrm>
            <a:off x="758952" y="4242816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피처와 품질 예시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50392" y="4690872"/>
            <a:ext cx="2916936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간격 52 mm / 유효율 94%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움직임과 관측 품질 제공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26280" y="416052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1" name="Shape 49"/>
          <p:cNvSpPr/>
          <p:nvPr/>
        </p:nvSpPr>
        <p:spPr>
          <a:xfrm>
            <a:off x="4526280" y="4160520"/>
            <a:ext cx="324612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Text 50"/>
          <p:cNvSpPr/>
          <p:nvPr/>
        </p:nvSpPr>
        <p:spPr>
          <a:xfrm>
            <a:off x="4599432" y="4242816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 예시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90872" y="4690872"/>
            <a:ext cx="2916936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50 / Q1 45 / Q3 58 mm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표본 분포 내 상대 위치 제공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366760" y="4160520"/>
            <a:ext cx="3154680" cy="10972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5" name="Shape 53"/>
          <p:cNvSpPr/>
          <p:nvPr/>
        </p:nvSpPr>
        <p:spPr>
          <a:xfrm>
            <a:off x="8366760" y="4160520"/>
            <a:ext cx="31546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 54"/>
          <p:cNvSpPr/>
          <p:nvPr/>
        </p:nvSpPr>
        <p:spPr>
          <a:xfrm>
            <a:off x="8439912" y="4242816"/>
            <a:ext cx="30083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불가 피처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531352" y="4690872"/>
            <a:ext cx="2825496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+ 결측 이유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유효한 다른 정보는 유지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수치를 하나씩 제외하는 보조 분석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피처의 조건부 기여를 탐색하되, 최적 조합을 확증하지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1936" y="1115567"/>
            <a:ext cx="4872039" cy="4089846"/>
          </a:xfrm>
          <a:prstGeom prst="roundRect">
            <a:avLst>
              <a:gd name="adj" fmla="val 246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018520" cy="457200"/>
          </a:xfrm>
          <a:prstGeom prst="roundRect">
            <a:avLst>
              <a:gd name="adj" fmla="val 10000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Text 9"/>
          <p:cNvSpPr/>
          <p:nvPr/>
        </p:nvSpPr>
        <p:spPr>
          <a:xfrm>
            <a:off x="777240" y="5458968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소거: 나머지 정보는 유지하고 한 종류만 제외한다. 기준은 영상 + 수치 조건(A2).</a:t>
            </a:r>
            <a:endParaRPr 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F4AD2530-27AF-4EFE-4E8A-ABD7451E7005}"/>
              </a:ext>
            </a:extLst>
          </p:cNvPr>
          <p:cNvGrpSpPr/>
          <p:nvPr/>
        </p:nvGrpSpPr>
        <p:grpSpPr>
          <a:xfrm>
            <a:off x="5201603" y="1115568"/>
            <a:ext cx="6645783" cy="3950208"/>
            <a:chOff x="4544568" y="1143000"/>
            <a:chExt cx="6949440" cy="3950208"/>
          </a:xfrm>
        </p:grpSpPr>
        <p:sp>
          <p:nvSpPr>
            <p:cNvPr id="12" name="Shape 10"/>
            <p:cNvSpPr/>
            <p:nvPr/>
          </p:nvSpPr>
          <p:spPr>
            <a:xfrm>
              <a:off x="4544568" y="1143000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EFF7FA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3" name="Text 11"/>
            <p:cNvSpPr/>
            <p:nvPr/>
          </p:nvSpPr>
          <p:spPr>
            <a:xfrm>
              <a:off x="4773167" y="1280160"/>
              <a:ext cx="1789374" cy="37490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 범위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F1</a:t>
              </a:r>
              <a:endParaRPr lang="en-US" sz="1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327648" y="1261872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움직임 크기를 알려주지 않았을 때의 변화</a:t>
              </a:r>
              <a:endParaRPr lang="en-US" sz="16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44568" y="1901952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4773167" y="2039112"/>
              <a:ext cx="1678861" cy="37490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도달 시간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F2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327648" y="2020824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극값</a:t>
              </a: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16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도달</a:t>
              </a: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16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시간을</a:t>
              </a: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알려주지 않았을 때의 변화</a:t>
              </a:r>
              <a:endParaRPr lang="en-US" sz="16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4568" y="2660904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EFF7FA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Text 17"/>
            <p:cNvSpPr/>
            <p:nvPr/>
          </p:nvSpPr>
          <p:spPr>
            <a:xfrm>
              <a:off x="4773168" y="2798064"/>
              <a:ext cx="1717300" cy="338328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 안정성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F3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27648" y="2779776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 중 거리 변동을 알려주지 않았을 때의 변화</a:t>
              </a:r>
              <a:endParaRPr lang="en-US" sz="16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44568" y="3419856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2" name="Text 20"/>
            <p:cNvSpPr/>
            <p:nvPr/>
          </p:nvSpPr>
          <p:spPr>
            <a:xfrm>
              <a:off x="4773168" y="3557016"/>
              <a:ext cx="1717300" cy="36236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해제</a:t>
              </a:r>
              <a:r>
                <a:rPr lang="en-US" altLang="ko-KR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</a:t>
              </a:r>
              <a:r>
                <a:rPr lang="ko-KR" altLang="en-US" sz="1600" b="1" dirty="0" err="1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재개방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F4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27648" y="3538728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해제 시 개방량을 알려주지 않았을 때의 변화</a:t>
              </a:r>
              <a:endParaRPr lang="en-US" sz="16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681728" y="4096512"/>
              <a:ext cx="6312079" cy="996696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해석 원칙: D1–D4는 “나머지 피처가 있을 때” 해당 피처를 제거한 결과다.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모든 부분집합을 시험하는 것이 아니므로 최소·최적 피처 조합을 발견했다고 말하지 않는다.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후보와 선정 근거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142999"/>
            <a:ext cx="4681378" cy="3467101"/>
          </a:xfrm>
          <a:prstGeom prst="roundRect">
            <a:avLst>
              <a:gd name="adj" fmla="val 222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E6AD82-0C81-15A1-9E1A-10F8DDD8A6CB}"/>
              </a:ext>
            </a:extLst>
          </p:cNvPr>
          <p:cNvGrpSpPr/>
          <p:nvPr/>
        </p:nvGrpSpPr>
        <p:grpSpPr>
          <a:xfrm>
            <a:off x="5519356" y="1142999"/>
            <a:ext cx="6188583" cy="4443414"/>
            <a:chOff x="4343400" y="1142999"/>
            <a:chExt cx="6693408" cy="3886200"/>
          </a:xfrm>
        </p:grpSpPr>
        <p:sp>
          <p:nvSpPr>
            <p:cNvPr id="10" name="Shape 8"/>
            <p:cNvSpPr/>
            <p:nvPr/>
          </p:nvSpPr>
          <p:spPr>
            <a:xfrm>
              <a:off x="4343400" y="1142999"/>
              <a:ext cx="2788920" cy="1876425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/>
            <p:cNvSpPr/>
            <p:nvPr/>
          </p:nvSpPr>
          <p:spPr>
            <a:xfrm>
              <a:off x="4343400" y="1143000"/>
              <a:ext cx="278892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/>
            <p:cNvSpPr/>
            <p:nvPr/>
          </p:nvSpPr>
          <p:spPr>
            <a:xfrm>
              <a:off x="4416552" y="1225296"/>
              <a:ext cx="26426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주 모델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507992" y="1673352"/>
              <a:ext cx="245973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Qwen2.5-VL-32B-Instruct</a:t>
              </a:r>
              <a:endParaRPr lang="en-US" sz="1600" b="1" dirty="0"/>
            </a:p>
            <a:p>
              <a:pPr marL="0" indent="0">
                <a:buNone/>
              </a:pP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선행 VLM 재활 연구와의 연결성이 있어 기준 모델로 사용한다.</a:t>
              </a:r>
              <a:endParaRPr lang="en-US" sz="16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424928" y="1143000"/>
              <a:ext cx="3611880" cy="1876424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7424928" y="1143000"/>
              <a:ext cx="361188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7498080" y="1225296"/>
              <a:ext cx="34655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최신 계열 확인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589520" y="1673352"/>
              <a:ext cx="328269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Qwen3-VL-8B-Instruct</a:t>
              </a:r>
              <a:endParaRPr lang="en-US" sz="1400" b="1" dirty="0"/>
            </a:p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Qwen3-VL-30B-A3B-Instruct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더 최신 모델에서도 같은 경향이 유지되는지 확인한다.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43400" y="3210114"/>
              <a:ext cx="2788920" cy="1819085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43400" y="3210115"/>
              <a:ext cx="2788920" cy="411480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8"/>
            <p:cNvSpPr/>
            <p:nvPr/>
          </p:nvSpPr>
          <p:spPr>
            <a:xfrm>
              <a:off x="4416552" y="3292411"/>
              <a:ext cx="26426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507992" y="3740466"/>
              <a:ext cx="2459736" cy="106013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LLaVA-NeXT-Video-7B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이외의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계열에서도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추가정보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효과가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특정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의존인지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살핀다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.</a:t>
              </a:r>
              <a:endParaRPr lang="en-US" altLang="ko-KR" sz="14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24928" y="3210115"/>
              <a:ext cx="3611880" cy="1819084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Shape 21"/>
            <p:cNvSpPr/>
            <p:nvPr/>
          </p:nvSpPr>
          <p:spPr>
            <a:xfrm>
              <a:off x="7424928" y="3210115"/>
              <a:ext cx="3611880" cy="411480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4" name="Text 22"/>
            <p:cNvSpPr/>
            <p:nvPr/>
          </p:nvSpPr>
          <p:spPr>
            <a:xfrm>
              <a:off x="7498080" y="3292411"/>
              <a:ext cx="34655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7589520" y="3740466"/>
              <a:ext cx="3282696" cy="88868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LLaVA-OneVision-7B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 이외의 모델 계열에서도 추가정보 효과가 특정 모델 의존인지 살핀다.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분석과 결과 해석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오차의 크기와 불확실성, 판독률과 실패 양상을 함께 보고한다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70739" y="1307591"/>
            <a:ext cx="4883373" cy="4245483"/>
          </a:xfrm>
          <a:prstGeom prst="roundRect">
            <a:avLst>
              <a:gd name="adj" fmla="val 3077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5228D64-1490-EF06-7FA1-5CC270374904}"/>
              </a:ext>
            </a:extLst>
          </p:cNvPr>
          <p:cNvGrpSpPr/>
          <p:nvPr/>
        </p:nvGrpSpPr>
        <p:grpSpPr>
          <a:xfrm>
            <a:off x="5638514" y="1261872"/>
            <a:ext cx="5950267" cy="5003481"/>
            <a:chOff x="4480560" y="1261872"/>
            <a:chExt cx="6446520" cy="5003481"/>
          </a:xfrm>
        </p:grpSpPr>
        <p:sp>
          <p:nvSpPr>
            <p:cNvPr id="14" name="Shape 12"/>
            <p:cNvSpPr/>
            <p:nvPr/>
          </p:nvSpPr>
          <p:spPr>
            <a:xfrm>
              <a:off x="4480560" y="1261872"/>
              <a:ext cx="2971800" cy="242316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80560" y="1261872"/>
              <a:ext cx="297180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4553712" y="1344168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MAE 계산</a:t>
              </a:r>
              <a:endParaRPr lang="en-US" sz="14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645152" y="1792223"/>
              <a:ext cx="2642615" cy="859077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전문가 점수와 모델 </a:t>
              </a: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점수의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</a:p>
            <a:p>
              <a:pPr marL="0" indent="0">
                <a:buNone/>
              </a:pPr>
              <a:r>
                <a:rPr lang="en-US" sz="1400" b="1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절대</a:t>
              </a: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차이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를 계산한다.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예: 절대오차 0, 1, 2의 평균 → MAE = 1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726680" y="1261872"/>
              <a:ext cx="3200400" cy="242316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26680" y="1261872"/>
              <a:ext cx="3200400" cy="411480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8"/>
            <p:cNvSpPr/>
            <p:nvPr/>
          </p:nvSpPr>
          <p:spPr>
            <a:xfrm>
              <a:off x="7799832" y="1344168"/>
              <a:ext cx="30540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환자별 주 비교</a:t>
              </a:r>
              <a:endParaRPr lang="en-US" sz="14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891272" y="1792224"/>
              <a:ext cx="2871216" cy="914216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같은 시행의 A1·A3 유효 판정을 짝지어 비교한다.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과제별 오차를 평균하고 네 과제에 동일 가중을 준다.</a:t>
              </a:r>
              <a:endParaRPr lang="en-US" sz="14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480560" y="4050790"/>
              <a:ext cx="2971800" cy="2214563"/>
            </a:xfrm>
            <a:prstGeom prst="roundRect">
              <a:avLst>
                <a:gd name="adj" fmla="val 4444"/>
              </a:avLst>
            </a:prstGeom>
            <a:solidFill>
              <a:srgbClr val="FFF8ED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Shape 21"/>
            <p:cNvSpPr/>
            <p:nvPr/>
          </p:nvSpPr>
          <p:spPr>
            <a:xfrm>
              <a:off x="4480560" y="4050791"/>
              <a:ext cx="297180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4" name="Text 22"/>
            <p:cNvSpPr/>
            <p:nvPr/>
          </p:nvSpPr>
          <p:spPr>
            <a:xfrm>
              <a:off x="4553712" y="4133087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핵심 수식</a:t>
              </a:r>
              <a:endParaRPr lang="en-US" sz="14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45152" y="4581143"/>
              <a:ext cx="2642615" cy="86390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ΔMAE = MAE(A3) − MAE(A1)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음수일수록 최종 제안 방식의 오차가 작다.</a:t>
              </a:r>
              <a:endParaRPr lang="en-US" sz="14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726680" y="4050791"/>
              <a:ext cx="3200400" cy="2214562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7" name="Shape 25"/>
            <p:cNvSpPr/>
            <p:nvPr/>
          </p:nvSpPr>
          <p:spPr>
            <a:xfrm>
              <a:off x="7726680" y="4050791"/>
              <a:ext cx="320040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8" name="Text 26"/>
            <p:cNvSpPr/>
            <p:nvPr/>
          </p:nvSpPr>
          <p:spPr>
            <a:xfrm>
              <a:off x="7799832" y="4133087"/>
              <a:ext cx="30540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불확실성 보고</a:t>
              </a:r>
              <a:endParaRPr lang="en-US" sz="14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891272" y="4581142"/>
              <a:ext cx="2871216" cy="896067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환자를 재추출하는 부트스트랩으로 95% 신뢰구간을 구한다.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판독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불가와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측정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실패는 </a:t>
              </a: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별도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</a:p>
            <a:p>
              <a:pPr marL="0" indent="0">
                <a:buNone/>
              </a:pP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보고한다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기여와 해석의 한계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정보의 효과를 추정하고 후속 임상 평가 연구의 설계 근거를 마련한다</a:t>
            </a:r>
            <a:endParaRPr lang="en-US" sz="20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E033591-5526-9CA8-1BFC-20ECC5D21203}"/>
              </a:ext>
            </a:extLst>
          </p:cNvPr>
          <p:cNvGrpSpPr/>
          <p:nvPr/>
        </p:nvGrpSpPr>
        <p:grpSpPr>
          <a:xfrm>
            <a:off x="566928" y="5704713"/>
            <a:ext cx="11018520" cy="805815"/>
            <a:chOff x="566928" y="5704713"/>
            <a:chExt cx="11018520" cy="805815"/>
          </a:xfrm>
        </p:grpSpPr>
        <p:sp>
          <p:nvSpPr>
            <p:cNvPr id="22" name="Shape 20"/>
            <p:cNvSpPr/>
            <p:nvPr/>
          </p:nvSpPr>
          <p:spPr>
            <a:xfrm>
              <a:off x="566928" y="5704713"/>
              <a:ext cx="11018520" cy="805815"/>
            </a:xfrm>
            <a:prstGeom prst="roundRect">
              <a:avLst>
                <a:gd name="adj" fmla="val 10000"/>
              </a:avLst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Text 21"/>
            <p:cNvSpPr/>
            <p:nvPr/>
          </p:nvSpPr>
          <p:spPr>
            <a:xfrm>
              <a:off x="777240" y="5814442"/>
              <a:ext cx="10607040" cy="58521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본 연구는 “RGB-D가 반드시 필요하다”고 가정하지 않고, 자동 손 기능 평가에 어떤 정보가 실제로 필요한지 검증한다.</a:t>
              </a:r>
              <a:endParaRPr lang="en-US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FDF7A34-5681-2321-7ABA-71115C23E8D8}"/>
              </a:ext>
            </a:extLst>
          </p:cNvPr>
          <p:cNvGrpSpPr/>
          <p:nvPr/>
        </p:nvGrpSpPr>
        <p:grpSpPr>
          <a:xfrm>
            <a:off x="630936" y="1307020"/>
            <a:ext cx="10927080" cy="4224528"/>
            <a:chOff x="630936" y="1307020"/>
            <a:chExt cx="6446520" cy="4224528"/>
          </a:xfrm>
        </p:grpSpPr>
        <p:sp>
          <p:nvSpPr>
            <p:cNvPr id="14" name="Shape 12"/>
            <p:cNvSpPr/>
            <p:nvPr/>
          </p:nvSpPr>
          <p:spPr>
            <a:xfrm>
              <a:off x="630936" y="1307020"/>
              <a:ext cx="3017520" cy="2274380"/>
            </a:xfrm>
            <a:prstGeom prst="roundRect">
              <a:avLst>
                <a:gd name="adj" fmla="val 4286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0936" y="1307020"/>
              <a:ext cx="3017520" cy="411480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6" name="Text 14"/>
            <p:cNvSpPr/>
            <p:nvPr/>
          </p:nvSpPr>
          <p:spPr>
            <a:xfrm>
              <a:off x="704088" y="1389316"/>
              <a:ext cx="28712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이번 연구에서 확인할 것</a:t>
              </a: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95528" y="1837372"/>
              <a:ext cx="2688336" cy="969264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최종 제안(A3)과 영상만(A1)의 오차 차이</a:t>
              </a:r>
              <a:endParaRPr lang="en-US" b="1" dirty="0"/>
            </a:p>
            <a:p>
              <a:pPr marL="0" indent="0">
                <a:buNone/>
              </a:pPr>
              <a:r>
                <a:rPr lang="en-US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</a:t>
              </a: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비장애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 참조의 단계적 기여</a:t>
              </a:r>
              <a:endParaRPr lang="en-US" dirty="0"/>
            </a:p>
            <a:p>
              <a:pPr marL="0" indent="0">
                <a:buNone/>
              </a:pP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측정 실패와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판독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실패 양상</a:t>
              </a: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922776" y="1307020"/>
              <a:ext cx="3154680" cy="2217230"/>
            </a:xfrm>
            <a:prstGeom prst="roundRect">
              <a:avLst>
                <a:gd name="adj" fmla="val 4286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" name="Shape 17"/>
            <p:cNvSpPr/>
            <p:nvPr/>
          </p:nvSpPr>
          <p:spPr>
            <a:xfrm>
              <a:off x="3922776" y="1307020"/>
              <a:ext cx="315468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" name="Text 18"/>
            <p:cNvSpPr/>
            <p:nvPr/>
          </p:nvSpPr>
          <p:spPr>
            <a:xfrm>
              <a:off x="3995928" y="1389316"/>
              <a:ext cx="30083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유지할 한계</a:t>
              </a:r>
              <a:endParaRPr lang="en-US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087368" y="1837372"/>
              <a:ext cx="2825496" cy="905256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 15명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탐색적 파일럿</a:t>
              </a:r>
              <a:endParaRPr lang="en-US" dirty="0"/>
            </a:p>
            <a:p>
              <a:pPr marL="0" indent="0">
                <a:buNone/>
              </a:pP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한정된 촬영 </a:t>
              </a:r>
              <a:r>
                <a:rPr lang="en-US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조건과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적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은 </a:t>
              </a: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비장애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 참조</a:t>
              </a:r>
              <a:endParaRPr lang="en-US" dirty="0"/>
            </a:p>
            <a:p>
              <a:pPr marL="0" indent="0">
                <a:buNone/>
              </a:pP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14프레임의 시간적 관찰 한계</a:t>
              </a:r>
              <a:endParaRPr lang="en-US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30936" y="3794188"/>
              <a:ext cx="6446520" cy="173736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0936" y="3794188"/>
              <a:ext cx="644652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6" name="Text 24"/>
            <p:cNvSpPr/>
            <p:nvPr/>
          </p:nvSpPr>
          <p:spPr>
            <a:xfrm>
              <a:off x="704088" y="3876484"/>
              <a:ext cx="63002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후속 가능성</a:t>
              </a: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95528" y="4324540"/>
              <a:ext cx="6117336" cy="100469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다양한 환자와 촬영 환경에서 재평가하고, 실제 판독시간 절감과 자동화 가능성은 별도 연구로 검증한다.</a:t>
              </a:r>
              <a:endParaRPr lang="en-US" sz="1600" dirty="0"/>
            </a:p>
            <a:p>
              <a:pPr marL="0" indent="0">
                <a:buNone/>
              </a:pP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효과가 작거나 실패율이 높아도, 그 결과는 더 단순한 시스템을 선택할 근거가 된다.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22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메시지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83538" y="1600199"/>
            <a:ext cx="7588949" cy="1152525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판독 부담과 과제별 재학습 부담 사이에서,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VLM에 어떤 정보를 추가해야 실제로 도움이 되는지 검증한다.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1923</Words>
  <Application>Microsoft Office PowerPoint</Application>
  <PresentationFormat>와이드스크린</PresentationFormat>
  <Paragraphs>339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Human Robotics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손 과제 VLM 평가 연구계획</dc:title>
  <dc:subject>RGB-D VLM 손 과제 평가 연구계획</dc:subject>
  <dc:creator>OpenAI</dc:creator>
  <cp:lastModifiedBy>jeayong lee</cp:lastModifiedBy>
  <cp:revision>107</cp:revision>
  <dcterms:created xsi:type="dcterms:W3CDTF">2026-09-14T01:46:24Z</dcterms:created>
  <dcterms:modified xsi:type="dcterms:W3CDTF">2026-09-14T06:31:30Z</dcterms:modified>
</cp:coreProperties>
</file>