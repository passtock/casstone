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eba01921ea14075" /><Relationship Type="http://schemas.openxmlformats.org/officeDocument/2006/relationships/extended-properties" Target="/docProps/app.xml" Id="Rc4d4d46e14af4be8" /><Relationship Type="http://schemas.openxmlformats.org/officeDocument/2006/relationships/officeDocument" Target="/ppt/presentation.xml" Id="Re3f55f2438ee4716" /></Relationships>
</file>

<file path=ppt/presentation.xml><?xml version="1.0" encoding="utf-8"?>
<p:presentation xmlns:p="http://schemas.openxmlformats.org/presentationml/2006/main">
  <p:sldMasterIdLst>
    <p:sldMasterId xmlns:r="http://schemas.openxmlformats.org/officeDocument/2006/relationships" id="2147483648" r:id="Rb6fc90f314db4a23"/>
  </p:sldMasterIdLst>
  <p:notesMasterIdLst>
    <p:notesMasterId xmlns:r="http://schemas.openxmlformats.org/officeDocument/2006/relationships" r:id="R870f5001a57444cd"/>
  </p:notesMasterIdLst>
  <p:sldIdLst>
    <p:sldId xmlns:r="http://schemas.openxmlformats.org/officeDocument/2006/relationships" id="256" r:id="R8b5c01a6c5c44978"/>
    <p:sldId xmlns:r="http://schemas.openxmlformats.org/officeDocument/2006/relationships" id="257" r:id="Rbe94bab9db0c40c7"/>
    <p:sldId xmlns:r="http://schemas.openxmlformats.org/officeDocument/2006/relationships" id="258" r:id="Rc601181846b741ea"/>
    <p:sldId xmlns:r="http://schemas.openxmlformats.org/officeDocument/2006/relationships" id="259" r:id="Rb0ad05122f37460a"/>
    <p:sldId xmlns:r="http://schemas.openxmlformats.org/officeDocument/2006/relationships" id="260" r:id="R298b347e9d2a4ef7"/>
    <p:sldId xmlns:r="http://schemas.openxmlformats.org/officeDocument/2006/relationships" id="261" r:id="Rce281249099446d1"/>
    <p:sldId xmlns:r="http://schemas.openxmlformats.org/officeDocument/2006/relationships" id="262" r:id="R2d64385238e84d73"/>
    <p:sldId xmlns:r="http://schemas.openxmlformats.org/officeDocument/2006/relationships" id="263" r:id="Rb5deed3ecd19457b"/>
    <p:sldId xmlns:r="http://schemas.openxmlformats.org/officeDocument/2006/relationships" id="264" r:id="R2446a9d736624b02"/>
    <p:sldId xmlns:r="http://schemas.openxmlformats.org/officeDocument/2006/relationships" id="265" r:id="Re21ed7f61057412f"/>
    <p:sldId xmlns:r="http://schemas.openxmlformats.org/officeDocument/2006/relationships" id="266" r:id="R8e56c66f2ec3402f"/>
    <p:sldId xmlns:r="http://schemas.openxmlformats.org/officeDocument/2006/relationships" id="267" r:id="R7bd527cadd80412c"/>
    <p:sldId xmlns:r="http://schemas.openxmlformats.org/officeDocument/2006/relationships" id="268" r:id="R92cd3ab4702e4972"/>
    <p:sldId xmlns:r="http://schemas.openxmlformats.org/officeDocument/2006/relationships" id="269" r:id="Rda6de141704744d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04a149348c84f66" /><Relationship Type="http://schemas.openxmlformats.org/officeDocument/2006/relationships/slideMaster" Target="/ppt/slideMasters/slideMaster1.xml" Id="Rb6fc90f314db4a23" /><Relationship Type="http://schemas.openxmlformats.org/officeDocument/2006/relationships/notesMaster" Target="/ppt/notesMasters/notesMaster1.xml" Id="R870f5001a57444cd" /><Relationship Type="http://schemas.openxmlformats.org/officeDocument/2006/relationships/presProps" Target="/ppt/presProps.xml" Id="Rca97591cc07b48a9" /><Relationship Type="http://schemas.openxmlformats.org/officeDocument/2006/relationships/tableStyles" Target="/ppt/tableStyles.xml" Id="R9f4433823f3a46c8" /><Relationship Type="http://schemas.openxmlformats.org/officeDocument/2006/relationships/slide" Target="/ppt/slides/slide1.xml" Id="R8b5c01a6c5c44978" /><Relationship Type="http://schemas.openxmlformats.org/officeDocument/2006/relationships/slide" Target="/ppt/slides/slide2.xml" Id="Rbe94bab9db0c40c7" /><Relationship Type="http://schemas.openxmlformats.org/officeDocument/2006/relationships/slide" Target="/ppt/slides/slide3.xml" Id="Rc601181846b741ea" /><Relationship Type="http://schemas.openxmlformats.org/officeDocument/2006/relationships/slide" Target="/ppt/slides/slide4.xml" Id="Rb0ad05122f37460a" /><Relationship Type="http://schemas.openxmlformats.org/officeDocument/2006/relationships/slide" Target="/ppt/slides/slide5.xml" Id="R298b347e9d2a4ef7" /><Relationship Type="http://schemas.openxmlformats.org/officeDocument/2006/relationships/slide" Target="/ppt/slides/slide6.xml" Id="Rce281249099446d1" /><Relationship Type="http://schemas.openxmlformats.org/officeDocument/2006/relationships/slide" Target="/ppt/slides/slide7.xml" Id="R2d64385238e84d73" /><Relationship Type="http://schemas.openxmlformats.org/officeDocument/2006/relationships/slide" Target="/ppt/slides/slide8.xml" Id="Rb5deed3ecd19457b" /><Relationship Type="http://schemas.openxmlformats.org/officeDocument/2006/relationships/slide" Target="/ppt/slides/slide9.xml" Id="R2446a9d736624b02" /><Relationship Type="http://schemas.openxmlformats.org/officeDocument/2006/relationships/slide" Target="/ppt/slides/slide10.xml" Id="Re21ed7f61057412f" /><Relationship Type="http://schemas.openxmlformats.org/officeDocument/2006/relationships/slide" Target="/ppt/slides/slide11.xml" Id="R8e56c66f2ec3402f" /><Relationship Type="http://schemas.openxmlformats.org/officeDocument/2006/relationships/slide" Target="/ppt/slides/slide12.xml" Id="R7bd527cadd80412c" /><Relationship Type="http://schemas.openxmlformats.org/officeDocument/2006/relationships/slide" Target="/ppt/slides/slide13.xml" Id="R92cd3ab4702e4972" /><Relationship Type="http://schemas.openxmlformats.org/officeDocument/2006/relationships/slide" Target="/ppt/slides/slide14.xml" Id="Rda6de141704744d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6f702b72394f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ae88b718e744e9" /><Relationship Type="http://schemas.openxmlformats.org/officeDocument/2006/relationships/notesMaster" Target="/ppt/notesMasters/notesMaster1.xml" Id="Re0a3fb9fed5448c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7cae8d651094e68" /><Relationship Type="http://schemas.openxmlformats.org/officeDocument/2006/relationships/notesMaster" Target="/ppt/notesMasters/notesMaster1.xml" Id="R10630ddf73ea41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e7db7fd000ec4a88" /><Relationship Type="http://schemas.openxmlformats.org/officeDocument/2006/relationships/notesMaster" Target="/ppt/notesMasters/notesMaster1.xml" Id="R9b14953997cb4fb2"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19ee113fac4b0b" /><Relationship Type="http://schemas.openxmlformats.org/officeDocument/2006/relationships/notesMaster" Target="/ppt/notesMasters/notesMaster1.xml" Id="Reee022578766469c" /></Relationships>
</file>

<file path=ppt/notesSlides/_rels/notesSlide5.xml.rels>&#65279;<?xml version="1.0" encoding="utf-8"?><Relationships xmlns="http://schemas.openxmlformats.org/package/2006/relationships"><Relationship Type="http://schemas.openxmlformats.org/officeDocument/2006/relationships/slide" Target="/ppt/slides/slide5.xml" Id="R1b03baab0aa3404f" /><Relationship Type="http://schemas.openxmlformats.org/officeDocument/2006/relationships/notesMaster" Target="/ppt/notesMasters/notesMaster1.xml" Id="R393444cc54334c3f" /></Relationships>
</file>

<file path=ppt/notesSlides/_rels/notesSlide6.xml.rels>&#65279;<?xml version="1.0" encoding="utf-8"?><Relationships xmlns="http://schemas.openxmlformats.org/package/2006/relationships"><Relationship Type="http://schemas.openxmlformats.org/officeDocument/2006/relationships/slide" Target="/ppt/slides/slide6.xml" Id="R6c7886dada7b4532" /><Relationship Type="http://schemas.openxmlformats.org/officeDocument/2006/relationships/notesMaster" Target="/ppt/notesMasters/notesMaster1.xml" Id="Rb944cf6ff3894bd1" /></Relationships>
</file>

<file path=ppt/notesSlides/_rels/notesSlide7.xml.rels>&#65279;<?xml version="1.0" encoding="utf-8"?><Relationships xmlns="http://schemas.openxmlformats.org/package/2006/relationships"><Relationship Type="http://schemas.openxmlformats.org/officeDocument/2006/relationships/slide" Target="/ppt/slides/slide7.xml" Id="R6e15d9a4e2c649f4" /><Relationship Type="http://schemas.openxmlformats.org/officeDocument/2006/relationships/notesMaster" Target="/ppt/notesMasters/notesMaster1.xml" Id="R33a64957ade34e63" /></Relationships>
</file>

<file path=ppt/notesSlides/_rels/notesSlide8.xml.rels>&#65279;<?xml version="1.0" encoding="utf-8"?><Relationships xmlns="http://schemas.openxmlformats.org/package/2006/relationships"><Relationship Type="http://schemas.openxmlformats.org/officeDocument/2006/relationships/slide" Target="/ppt/slides/slide8.xml" Id="R624ac23863dd4f35" /><Relationship Type="http://schemas.openxmlformats.org/officeDocument/2006/relationships/notesMaster" Target="/ppt/notesMasters/notesMaster1.xml" Id="R37d8af2a87824741" /></Relationships>
</file>

<file path=ppt/notesSlides/_rels/notesSlide9.xml.rels>&#65279;<?xml version="1.0" encoding="utf-8"?><Relationships xmlns="http://schemas.openxmlformats.org/package/2006/relationships"><Relationship Type="http://schemas.openxmlformats.org/officeDocument/2006/relationships/slide" Target="/ppt/slides/slide9.xml" Id="R45883e9f95964dc4" /><Relationship Type="http://schemas.openxmlformats.org/officeDocument/2006/relationships/notesMaster" Target="/ppt/notesMasters/notesMaster1.xml" Id="R931c83d531924fa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5875409a9bb477b" /><Relationship Type="http://schemas.openxmlformats.org/officeDocument/2006/relationships/notesMaster" Target="/ppt/notesMasters/notesMaster1.xml" Id="R8908dc60d52b4c1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53e1726b7744e3d" /><Relationship Type="http://schemas.openxmlformats.org/officeDocument/2006/relationships/notesMaster" Target="/ppt/notesMasters/notesMaster1.xml" Id="R87aeede4130845e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ede40985f2d43d3" /><Relationship Type="http://schemas.openxmlformats.org/officeDocument/2006/relationships/notesMaster" Target="/ppt/notesMasters/notesMaster1.xml" Id="R94b37c06fbc743a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db7965e585948ea" /><Relationship Type="http://schemas.openxmlformats.org/officeDocument/2006/relationships/notesMaster" Target="/ppt/notesMasters/notesMaster1.xml" Id="Rc40fcc45f44c446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362380698314f2f" /><Relationship Type="http://schemas.openxmlformats.org/officeDocument/2006/relationships/notesMaster" Target="/ppt/notesMasters/notesMaster1.xml" Id="R2ba033cdf413410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 문서 research-plan-v6-easy.md 및 같은 폴더의 research-plan-v6.md. 최신 v6.3 표제와 §9 분석 계획 기준. 오래된 절의 PR 번호 및 보정 대상과 충돌하므로 구현 동결 전 일치 여부 확인 필요.</a:t>
            </a:r>
          </a:p>
          <a:p xmlns:a="http://schemas.openxmlformats.org/drawingml/2006/main">
            <a:r>
              <a:t/>
            </a:r>
          </a:p>
          <a:p xmlns:a="http://schemas.openxmlformats.org/drawingml/2006/main">
            <a:r>
              <a:t>연구계획 발표. 선행연구의 성과와 연구 공백을 먼저 설명한 뒤 방법과 예상 결과를 제시한다. 모든 예상 결과는 가설이며 실제 임상 데이터에서 확인한 결과가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 Y et al. Brain Sciences (2022). DOI: 10.3390/brainsci12101380. https://pubmed.ncbi.nlm.nih.gov/36291314/</a:t>
            </a:r>
          </a:p>
          <a:p xmlns:a="http://schemas.openxmlformats.org/drawingml/2006/main">
            <a:r>
              <a:t/>
            </a:r>
          </a:p>
          <a:p xmlns:a="http://schemas.openxmlformats.org/drawingml/2006/main">
            <a:r>
              <a:t>Li et al. (2022)는 RGB-D와 힘 센서를 사용하고 기계학습 및 규칙 기반 로직으로 FMA 자발적 수행 30개 항목을 평가했다. 뇌졸중 환자 20명의 총점에서 치료사 점수와 r=0.981이었다. 총점 상관은 개별 운동학 수치의 정확도나 ARAT 항목 채점 성능을 보장하지 않는다. 아래 한계는 본 연구 질문과 비교한 해석이다.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 V et al. PLOS Digital Health (2026). DOI: 10.1371/journal.pdig.0001506. https://journals.plos.org/digitalhealth/article?id=10.1371/journal.pdig.0001506</a:t>
            </a:r>
          </a:p>
          <a:p xmlns:a="http://schemas.openxmlformats.org/drawingml/2006/main">
            <a:r>
              <a:t/>
            </a:r>
          </a:p>
          <a:p xmlns:a="http://schemas.openxmlformats.org/drawingml/2006/main">
            <a:r>
              <a:t>전체 코호트는 비장애인 20명과 뇌졸중 51명이지만 FMA 하위 표본은 비장애인 4명과 뇌졸중 24명이다. 연구는 활동 인식, 재활 동작 횟수, FMA 장애 정도 추정을 구분한다. FMA 결과를 ARAT 성능으로 일반화하지 않는다. 본 연구는 과제가 달라 직접 성능 재현 비교가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Tang J et al. (2025), preprint. https://arxiv.org/abs/2505.18412</a:t>
            </a:r>
          </a:p>
          <a:p xmlns:a="http://schemas.openxmlformats.org/drawingml/2006/main">
            <a:r>
              <a:t>Thanh DT (2026), preprint. https://arxiv.org/abs/2606.25838</a:t>
            </a:r>
          </a:p>
          <a:p xmlns:a="http://schemas.openxmlformats.org/drawingml/2006/main">
            <a:r>
              <a:t/>
            </a:r>
          </a:p>
          <a:p xmlns:a="http://schemas.openxmlformats.org/drawingml/2006/main">
            <a:r>
              <a:t>Tang et al.은 골격 관절에서 과제별 특징을 추출해 LLM에 제공하고 UI-PRMD 및 REHAB24-6에서 평가와 피드백 생성을 실험했다. Thanh은 영상 흐림 품질 게이트와 신뢰도 기반 라우팅을 제시했다. 둘 다 프리프린트다. 특징 제공은 이미 선행했으며 품질 선별 개념 자체도 신규성으로 주장하지 않는다. 수치 오류를 선별한 뒤 ARAT 채점과 정보 손실을 함께 평가하는 것은 여기서 도출한 연구 질문이다.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 Y et al. Brain Sciences (2022). DOI: 10.3390/brainsci12101380. https://pubmed.ncbi.nlm.nih.gov/36291314/</a:t>
            </a:r>
          </a:p>
          <a:p xmlns:a="http://schemas.openxmlformats.org/drawingml/2006/main">
            <a:r>
              <a:t>Li V et al. PLOS Digital Health (2026). DOI: 10.1371/journal.pdig.0001506. https://journals.plos.org/digitalhealth/article?id=10.1371/journal.pdig.0001506</a:t>
            </a:r>
          </a:p>
          <a:p xmlns:a="http://schemas.openxmlformats.org/drawingml/2006/main">
            <a:r>
              <a:t>Tang J et al. (2025), preprint. https://arxiv.org/abs/2505.18412</a:t>
            </a:r>
          </a:p>
          <a:p xmlns:a="http://schemas.openxmlformats.org/drawingml/2006/main">
            <a:r>
              <a:t>Thanh DT (2026), preprint. https://arxiv.org/abs/2606.25838</a:t>
            </a:r>
          </a:p>
          <a:p xmlns:a="http://schemas.openxmlformats.org/drawingml/2006/main">
            <a:r>
              <a:t/>
            </a:r>
          </a:p>
          <a:p xmlns:a="http://schemas.openxmlformats.org/drawingml/2006/main">
            <a:r>
              <a:t>앞선 네 연구를 연결해 도출한 연구 공백이다. 모든 관련 문헌에 부재한다거나 세계 최초라고 단정하지 않는다. 입력 품질 선별을 정답 예측 점수에 맞춰 조정하면 순환 논증과 누수가 생길 수 있으므로 측정 품질 기준을 분리한다.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 문서 research-plan-v6-easy.md 및 같은 폴더의 research-plan-v6.md. 최신 v6.3 표제와 §9 분석 계획 기준. 오래된 절의 PR 번호 및 보정 대상과 충돌하므로 구현 동결 전 일치 여부 확인 필요.</a:t>
            </a:r>
          </a:p>
          <a:p xmlns:a="http://schemas.openxmlformats.org/drawingml/2006/main">
            <a:r>
              <a:t>Tang J et al. (2025), preprint. https://arxiv.org/abs/2505.18412</a:t>
            </a:r>
          </a:p>
          <a:p xmlns:a="http://schemas.openxmlformats.org/drawingml/2006/main">
            <a:r>
              <a:t/>
            </a:r>
          </a:p>
          <a:p xmlns:a="http://schemas.openxmlformats.org/drawingml/2006/main">
            <a:r>
              <a:t>K1은 엄지·검지 끝 표면점 3D 거리의 P95, K2는 손목 표면점 3D 속도의 P95다. P95는 상위 5% 지점으로 순간 최대값 영향을 줄이려는 선택이며 측정 정확도를 보장하지는 않는다. 게이트가 보류하는 대상은 수치 입력이며 VLM 전체 판정 보류와 구분한다. 빠진 수치를 0으로 대체하지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 문서 research-plan-v6-easy.md 및 같은 폴더의 research-plan-v6.md. 최신 v6.3 표제와 §9 분석 계획 기준. 오래된 절의 PR 번호 및 보정 대상과 충돌하므로 구현 동결 전 일치 여부 확인 필요.</a:t>
            </a:r>
          </a:p>
          <a:p xmlns:a="http://schemas.openxmlformats.org/drawingml/2006/main">
            <a:r>
              <a:t/>
            </a:r>
          </a:p>
          <a:p xmlns:a="http://schemas.openxmlformats.org/drawingml/2006/main">
            <a:r>
              <a:t>ARAT 12번의 엄지와 검지 패드 파지는 K1과 관련이 있지만 표면점 거리가 접촉 여부를 직접 측정하지는 않는다. T1은 5 cm 블록 과제이며 엄지와 손가락이 마주보는 다양한 파지를 허용하므로 K1의 연결이 상대적으로 약하다. K2는 손가락 민첩성 자체가 아니라 팔과 손목의 운반 움직임을 반영한다. 반복 촬영은 측정 안정성 평가이며 독립 표본 수 증가가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 문서 research-plan-v6-easy.md 및 같은 폴더의 research-plan-v6.md. 최신 v6.3 표제와 §9 분석 계획 기준. 오래된 절의 PR 번호 및 보정 대상과 충돌하므로 구현 동결 전 일치 여부 확인 필요.</a:t>
            </a:r>
          </a:p>
          <a:p xmlns:a="http://schemas.openxmlformats.org/drawingml/2006/main">
            <a:r>
              <a:t/>
            </a:r>
          </a:p>
          <a:p xmlns:a="http://schemas.openxmlformats.org/drawingml/2006/main">
            <a:r>
              <a:t>Q1은 유효 깊이 비율, Q2는 최장 결측, Q3는 유효 샘플 수, Q4는 깊이 경계 혼합 의심, Q5는 사람 2인의 가림 주석이다. Q2&gt;0.3초, Q3&lt;50, Q4/Q5&gt;50% 등의 기준은 계획상의 후보/설계값이며 임상 표준으로 제시하지 않는다. Q1 선택 방식에 원문 내부 긴장이 남아 있어 동결 시 결정해야 한다. 영상 가림 주석을 입력 규칙에 사용하는 경우와 독립 검증에 사용하는 경우를 구분하고 평가 분리를 명확히 해야 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 문서 research-plan-v6-easy.md 및 같은 폴더의 research-plan-v6.md. 최신 v6.3 표제와 §9 분석 계획 기준. 오래된 절의 PR 번호 및 보정 대상과 충돌하므로 구현 동결 전 일치 여부 확인 필요.</a:t>
            </a:r>
          </a:p>
          <a:p xmlns:a="http://schemas.openxmlformats.org/drawingml/2006/main">
            <a:r>
              <a:t/>
            </a:r>
          </a:p>
          <a:p xmlns:a="http://schemas.openxmlformats.org/drawingml/2006/main">
            <a:r>
              <a:t>A1은 영상+설명+시간, A2는 모든 K1/K2, A3는 품질 통과 K1/K2, R은 같은 양을 품질 무관하게 제거한다. R은 지표별 보류량과 하드 결측을 맞추고 여러 고정 seed를 평균한다. A4는 수치만 주고 영상은 제외. A0는 경량 통계모형이다. A1과 A2는 텍스트 길이도 다르므로 PR-1을 순수한 수치 의미 효과로 단정하지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 문서 research-plan-v6-easy.md 및 같은 폴더의 research-plan-v6.md. 최신 v6.3 표제와 §9 분석 계획 기준. 오래된 절의 PR 번호 및 보정 대상과 충돌하므로 구현 동결 전 일치 여부 확인 필요.</a:t>
            </a:r>
          </a:p>
          <a:p xmlns:a="http://schemas.openxmlformats.org/drawingml/2006/main">
            <a:r>
              <a:t/>
            </a:r>
          </a:p>
          <a:p xmlns:a="http://schemas.openxmlformats.org/drawingml/2006/main">
            <a:r>
              <a:t>최신 §9의 PR 정의와 Holm k=3을 사용했다. 개발: 뇌졸중 3명, 비장애인 6명. 본평가: 뇌졸중 20명. 측정 검증: 비장애인 16명. 과제별 5~15회 촬영하지만 모델 평가는 계획상 과제당 1~3회. 따라서 반복 영상의 수를 독립 N으로 세지 않는다. 두 평가자 점수 각각에 대한 민감도 분석과 불일치 시행 보고가 필요하며 같은 라벨 비교도 라벨 오류를 완전히 없애지는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 문서 research-plan-v6-easy.md 및 같은 폴더의 research-plan-v6.md. 최신 v6.3 표제와 §9 분석 계획 기준. 오래된 절의 PR 번호 및 보정 대상과 충돌하므로 구현 동결 전 일치 여부 확인 필요.</a:t>
            </a:r>
          </a:p>
          <a:p xmlns:a="http://schemas.openxmlformats.org/drawingml/2006/main">
            <a:r>
              <a:t/>
            </a:r>
          </a:p>
          <a:p xmlns:a="http://schemas.openxmlformats.org/drawingml/2006/main">
            <a:r>
              <a:t>이 슬라이드는 검증 전 가설이다. 수치를 모두 주는 A2가 A1보다 반드시 우수할 것으로 예상하지 않는다. A3가 A2와 R보다 낮은 MAE를 보이는 것이 중심 가설이다. A3가 A1보다도 낮으면 선별된 수치의 추가 가치가 더 명확해지지만 이는 별도 비교로 사전 계획을 확인해야 한다. 임계값을 엄격하게 할수록 보류가 증가할 수 있으며 MAE가 단조 감소한다는 보장은 없다.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 문서 research-plan-v6-easy.md 및 같은 폴더의 research-plan-v6.md. 최신 v6.3 표제와 §9 분석 계획 기준. 오래된 절의 PR 번호 및 보정 대상과 충돌하므로 구현 동결 전 일치 여부 확인 필요.</a:t>
            </a:r>
          </a:p>
          <a:p xmlns:a="http://schemas.openxmlformats.org/drawingml/2006/main">
            <a:r>
              <a:t/>
            </a:r>
          </a:p>
          <a:p xmlns:a="http://schemas.openxmlformats.org/drawingml/2006/main">
            <a:r>
              <a:t>A3와 R 차이의 비유의성을 동등성 증거로 단정하지 않는다. 신뢰구간이 넓으면 검정력 한계로 판단을 유보한다. 수치 주입의 위험, 품질 선별의 효과, 입력 보류의 대가를 분리해 결론 내는 것이 연구의 기여다. 임상 배포나 치료사 대체 주장은 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 문서 research-plan-v6-easy.md 및 같은 폴더의 research-plan-v6.md. 최신 v6.3 표제와 §9 분석 계획 기준. 오래된 절의 PR 번호 및 보정 대상과 충돌하므로 구현 동결 전 일치 여부 확인 필요.</a:t>
            </a:r>
          </a:p>
          <a:p xmlns:a="http://schemas.openxmlformats.org/drawingml/2006/main">
            <a:r>
              <a:t/>
            </a:r>
          </a:p>
          <a:p xmlns:a="http://schemas.openxmlformats.org/drawingml/2006/main">
            <a:r>
              <a:t>연구 기여는 품질 게이팅이나 수치 입력의 최초 제안이 아니라 이 과제·표본에서 개선 효과와 손실을 분리해 정량 평가하는 것이다. 정본에서 D-15는 실제 코드 지표/과제가 계획과 다름, D-16은 기존 파일럿의 원시 깊이 저장 부재다. 모델 실행 환경과 보조 체크포인트도 미정이다. 따라서 코드 완성이나 본평가 준비 완료로 표현하지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 Y et al. Brain Sciences (2022). DOI: 10.3390/brainsci12101380. https://pubmed.ncbi.nlm.nih.gov/36291314/</a:t>
            </a:r>
          </a:p>
          <a:p xmlns:a="http://schemas.openxmlformats.org/drawingml/2006/main">
            <a:r>
              <a:t>Li V et al. PLOS Digital Health (2026). DOI: 10.1371/journal.pdig.0001506. https://journals.plos.org/digitalhealth/article?id=10.1371/journal.pdig.0001506</a:t>
            </a:r>
          </a:p>
          <a:p xmlns:a="http://schemas.openxmlformats.org/drawingml/2006/main">
            <a:r>
              <a:t>Tang J et al. (2025), preprint. https://arxiv.org/abs/2505.18412</a:t>
            </a:r>
          </a:p>
          <a:p xmlns:a="http://schemas.openxmlformats.org/drawingml/2006/main">
            <a:r>
              <a:t>Thanh DT (2026), preprint. https://arxiv.org/abs/2606.25838</a:t>
            </a:r>
          </a:p>
          <a:p xmlns:a="http://schemas.openxmlformats.org/drawingml/2006/main">
            <a:r>
              <a:t>제공 문서 research-plan-v6-easy.md 및 같은 폴더의 research-plan-v6.md. 최신 v6.3 표제와 §9 분석 계획 기준. 오래된 절의 PR 번호 및 보정 대상과 충돌하므로 구현 동결 전 일치 여부 확인 필요.</a:t>
            </a:r>
          </a:p>
          <a:p xmlns:a="http://schemas.openxmlformats.org/drawingml/2006/main">
            <a:r>
              <a:t/>
            </a:r>
          </a:p>
          <a:p xmlns:a="http://schemas.openxmlformats.org/drawingml/2006/main">
            <a:r>
              <a:t>논문별 원문 또는 출판사 초록을 확인했다. Li 2022 수치는 총점 상관이며 ARAT 항목 정확도가 아니다. Li 2026의 전체 코호트와 FMA 하위 표본을 구분했다. Tang과 Thanh은 프리프린트다. 상세 URL은 각 슬라이드 노트에도 기록했다.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60cfd0c71a540d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99cc8fd4be4dd4" /><Relationship Type="http://schemas.openxmlformats.org/officeDocument/2006/relationships/slideLayout" Target="/ppt/slideLayouts/slideLayout1.xml" Id="R004bc84918324b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04bc84918324b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ae3bcdbc7b94374" /><Relationship Type="http://schemas.openxmlformats.org/officeDocument/2006/relationships/notesSlide" Target="/ppt/notesSlides/notesSlide1.xml" Id="Rcffdb8c44e8545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b21d499b5924379" /><Relationship Type="http://schemas.openxmlformats.org/officeDocument/2006/relationships/notesSlide" Target="/ppt/notesSlides/notesSlide2.xml" Id="Rf7d68ac3f74345c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017ed8b7ab541b0" /><Relationship Type="http://schemas.openxmlformats.org/officeDocument/2006/relationships/notesSlide" Target="/ppt/notesSlides/notesSlide3.xml" Id="Rf06ed3669d5044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bf4fc1cbe5e4fb6" /><Relationship Type="http://schemas.openxmlformats.org/officeDocument/2006/relationships/notesSlide" Target="/ppt/notesSlides/notesSlide4.xml" Id="R51f2229bc184440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77b4e50b3364ada" /><Relationship Type="http://schemas.openxmlformats.org/officeDocument/2006/relationships/notesSlide" Target="/ppt/notesSlides/notesSlide5.xml" Id="R8fd2079493fa4da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6b284531e034587" /><Relationship Type="http://schemas.openxmlformats.org/officeDocument/2006/relationships/notesSlide" Target="/ppt/notesSlides/notesSlide6.xml" Id="Rae7d8d1a5d574ea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6f136f9935745af" /><Relationship Type="http://schemas.openxmlformats.org/officeDocument/2006/relationships/notesSlide" Target="/ppt/notesSlides/notesSlide7.xml" Id="Rcf9761cedd65499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71f8b7e947d4259" /><Relationship Type="http://schemas.openxmlformats.org/officeDocument/2006/relationships/notesSlide" Target="/ppt/notesSlides/notesSlide8.xml" Id="R37c1697284da401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2570bebc31741dc" /><Relationship Type="http://schemas.openxmlformats.org/officeDocument/2006/relationships/notesSlide" Target="/ppt/notesSlides/notesSlide9.xml" Id="Rd6f409767ce8411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69c7a58657e436a" /><Relationship Type="http://schemas.openxmlformats.org/officeDocument/2006/relationships/notesSlide" Target="/ppt/notesSlides/notesSlide10.xml" Id="R374e1adb9841438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62d593d02ad4146" /><Relationship Type="http://schemas.openxmlformats.org/officeDocument/2006/relationships/notesSlide" Target="/ppt/notesSlides/notesSlide11.xml" Id="Rc2a5bf35f2db48f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80684b87fae41d4" /><Relationship Type="http://schemas.openxmlformats.org/officeDocument/2006/relationships/notesSlide" Target="/ppt/notesSlides/notesSlide12.xml" Id="R38e9ab45357743f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5a093f90fa1456b" /><Relationship Type="http://schemas.openxmlformats.org/officeDocument/2006/relationships/notesSlide" Target="/ppt/notesSlides/notesSlide13.xml" Id="R71578edc625c43b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bc882220b714ced" /><Relationship Type="http://schemas.openxmlformats.org/officeDocument/2006/relationships/notesSlide" Target="/ppt/notesSlides/notesSlide14.xml" Id="R9d48313bacd5478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1F3B0BD-10B7-45FD-BFCC-D32197E7DD9D}"/>
              </a:ext>
            </a:extLst>
          </p:cNvPr>
          <p:cNvSpPr>
            <a:spLocks xmlns:a="http://schemas.openxmlformats.org/drawingml/2006/main" noGrp="1"/>
          </p:cNvSpPr>
          <p:nvPr/>
        </p:nvSpPr>
        <p:spPr>
          <a:xfrm xmlns:a="http://schemas.openxmlformats.org/drawingml/2006/main">
            <a:off x="685800" y="51435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7C44C77D-9272-4BA1-BD8B-67CD3B80ACC2}"/>
              </a:ext>
            </a:extLst>
          </p:cNvPr>
          <p:cNvSpPr>
            <a:spLocks xmlns:a="http://schemas.openxmlformats.org/drawingml/2006/main" noGrp="1"/>
          </p:cNvSpPr>
          <p:nvPr/>
        </p:nvSpPr>
        <p:spPr>
          <a:xfrm xmlns:a="http://schemas.openxmlformats.org/drawingml/2006/main">
            <a:off x="110299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000000"/>
                </a:solidFill>
                <a:latin typeface="Malgun Gothic"/>
                <a:ea typeface="Malgun Gothic"/>
                <a:cs typeface="Malgun Gothic"/>
              </a:defRPr>
            </a:pPr>
            <a:r>
              <a:rPr sz="1200" b="0">
                <a:solidFill>
                  <a:srgbClr val="000000"/>
                </a:solidFill>
                <a:latin typeface="Malgun Gothic"/>
                <a:ea typeface="Malgun Gothic"/>
                <a:cs typeface="Malgun Gothic"/>
              </a:rPr>
              <a:t>01</a:t>
            </a:r>
          </a:p>
        </p:txBody>
      </p:sp>
      <p:sp>
        <p:nvSpPr>
          <p:cNvPr id="3" name="">
            <a:extLst xmlns:a="http://schemas.openxmlformats.org/drawingml/2006/main">
              <a:ext uri="{FF2B5EF4-FFF2-40B4-BE49-F238E27FC236}">
                <a16:creationId xmlns:a16="http://schemas.microsoft.com/office/drawing/2014/main" id="{0399BD03-201B-43BD-86D5-ACEC4D3E15FA}"/>
              </a:ext>
            </a:extLst>
          </p:cNvPr>
          <p:cNvSpPr>
            <a:spLocks xmlns:a="http://schemas.openxmlformats.org/drawingml/2006/main" noGrp="1"/>
          </p:cNvSpPr>
          <p:nvPr/>
        </p:nvSpPr>
        <p:spPr>
          <a:xfrm xmlns:a="http://schemas.openxmlformats.org/drawingml/2006/main">
            <a:off x="704850" y="1943100"/>
            <a:ext cx="106680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000000"/>
                </a:solidFill>
                <a:latin typeface="Malgun Gothic"/>
                <a:ea typeface="Malgun Gothic"/>
                <a:cs typeface="Malgun Gothic"/>
              </a:defRPr>
            </a:pPr>
            <a:r>
              <a:rPr sz="4275" b="1">
                <a:solidFill>
                  <a:srgbClr val="000000"/>
                </a:solidFill>
                <a:latin typeface="Malgun Gothic"/>
                <a:ea typeface="Malgun Gothic"/>
                <a:cs typeface="Malgun Gothic"/>
              </a:rPr>
              <a:t>손 기능 AI 평가에서</a:t>
            </a:r>
          </a:p>
          <a:p xmlns:a="http://schemas.openxmlformats.org/drawingml/2006/main">
            <a:pPr>
              <a:defRPr sz="4275" b="1">
                <a:solidFill>
                  <a:srgbClr val="000000"/>
                </a:solidFill>
                <a:latin typeface="Malgun Gothic"/>
                <a:ea typeface="Malgun Gothic"/>
                <a:cs typeface="Malgun Gothic"/>
              </a:defRPr>
            </a:pPr>
            <a:r>
              <a:rPr sz="4275" b="1">
                <a:solidFill>
                  <a:srgbClr val="000000"/>
                </a:solidFill>
                <a:latin typeface="Malgun Gothic"/>
                <a:ea typeface="Malgun Gothic"/>
                <a:cs typeface="Malgun Gothic"/>
              </a:rPr>
              <a:t>수치 품질 선별의 효과</a:t>
            </a:r>
          </a:p>
        </p:txBody>
      </p:sp>
      <p:sp>
        <p:nvSpPr>
          <p:cNvPr id="4" name="">
            <a:extLst xmlns:a="http://schemas.openxmlformats.org/drawingml/2006/main">
              <a:ext uri="{FF2B5EF4-FFF2-40B4-BE49-F238E27FC236}">
                <a16:creationId xmlns:a16="http://schemas.microsoft.com/office/drawing/2014/main" id="{062F9ED8-6783-4955-A301-D4B922043837}"/>
              </a:ext>
            </a:extLst>
          </p:cNvPr>
          <p:cNvSpPr>
            <a:spLocks xmlns:a="http://schemas.openxmlformats.org/drawingml/2006/main" noGrp="1"/>
          </p:cNvSpPr>
          <p:nvPr/>
        </p:nvSpPr>
        <p:spPr>
          <a:xfrm xmlns:a="http://schemas.openxmlformats.org/drawingml/2006/main">
            <a:off x="742950" y="41433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003399"/>
                </a:solidFill>
                <a:latin typeface="Malgun Gothic"/>
                <a:ea typeface="Malgun Gothic"/>
                <a:cs typeface="Malgun Gothic"/>
              </a:defRPr>
            </a:pPr>
            <a:r>
              <a:rPr sz="2550" b="0">
                <a:solidFill>
                  <a:srgbClr val="003399"/>
                </a:solidFill>
                <a:latin typeface="Malgun Gothic"/>
                <a:ea typeface="Malgun Gothic"/>
                <a:cs typeface="Malgun Gothic"/>
              </a:rPr>
              <a:t>선행연구의 한계와 검증 계획</a:t>
            </a:r>
          </a:p>
        </p:txBody>
      </p:sp>
      <p:sp>
        <p:nvSpPr>
          <p:cNvPr id="5" name="">
            <a:extLst xmlns:a="http://schemas.openxmlformats.org/drawingml/2006/main">
              <a:ext uri="{FF2B5EF4-FFF2-40B4-BE49-F238E27FC236}">
                <a16:creationId xmlns:a16="http://schemas.microsoft.com/office/drawing/2014/main" id="{191EC5C4-F54E-4B42-A8FB-3261FF653F2A}"/>
              </a:ext>
            </a:extLst>
          </p:cNvPr>
          <p:cNvSpPr>
            <a:spLocks xmlns:a="http://schemas.openxmlformats.org/drawingml/2006/main" noGrp="1"/>
          </p:cNvSpPr>
          <p:nvPr/>
        </p:nvSpPr>
        <p:spPr>
          <a:xfrm xmlns:a="http://schemas.openxmlformats.org/drawingml/2006/main">
            <a:off x="742950" y="58102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00000"/>
                </a:solidFill>
                <a:latin typeface="Malgun Gothic"/>
                <a:ea typeface="Malgun Gothic"/>
                <a:cs typeface="Malgun Gothic"/>
              </a:defRPr>
            </a:pPr>
            <a:r>
              <a:rPr sz="1800" b="0">
                <a:solidFill>
                  <a:srgbClr val="000000"/>
                </a:solidFill>
                <a:latin typeface="Malgun Gothic"/>
                <a:ea typeface="Malgun Gothic"/>
                <a:cs typeface="Malgun Gothic"/>
              </a:rPr>
              <a:t>랩미팅 연구계획</a:t>
            </a:r>
          </a:p>
        </p:txBody>
      </p:sp>
    </p:spTree>
    <p:extLst>
      <p:ext uri="{BB962C8B-B14F-4D97-AF65-F5344CB8AC3E}">
        <p14:creationId xmlns:p14="http://schemas.microsoft.com/office/powerpoint/2010/main" val="210903912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530F8F9-D385-43B8-930F-4961AD31AFCC}"/>
              </a:ext>
            </a:extLst>
          </p:cNvPr>
          <p:cNvSpPr>
            <a:spLocks xmlns:a="http://schemas.openxmlformats.org/drawingml/2006/main" noGrp="1"/>
          </p:cNvSpPr>
          <p:nvPr/>
        </p:nvSpPr>
        <p:spPr>
          <a:xfrm xmlns:a="http://schemas.openxmlformats.org/drawingml/2006/main">
            <a:off x="685800" y="51435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00000"/>
                </a:solidFill>
                <a:latin typeface="Malgun Gothic"/>
                <a:ea typeface="Malgun Gothic"/>
                <a:cs typeface="Malgun Gothic"/>
              </a:defRPr>
            </a:pPr>
            <a:r>
              <a:rPr sz="3225" b="1">
                <a:solidFill>
                  <a:srgbClr val="000000"/>
                </a:solidFill>
                <a:latin typeface="Malgun Gothic"/>
                <a:ea typeface="Malgun Gothic"/>
                <a:cs typeface="Malgun Gothic"/>
              </a:rPr>
              <a:t>선행연구 1. 센서 기반 자동채점</a:t>
            </a:r>
          </a:p>
        </p:txBody>
      </p:sp>
      <p:sp>
        <p:nvSpPr>
          <p:cNvPr id="2" name="">
            <a:extLst xmlns:a="http://schemas.openxmlformats.org/drawingml/2006/main">
              <a:ext uri="{FF2B5EF4-FFF2-40B4-BE49-F238E27FC236}">
                <a16:creationId xmlns:a16="http://schemas.microsoft.com/office/drawing/2014/main" id="{25FFD06E-AA3C-4ECB-8379-F3ACC2E8EEFE}"/>
              </a:ext>
            </a:extLst>
          </p:cNvPr>
          <p:cNvSpPr>
            <a:spLocks xmlns:a="http://schemas.openxmlformats.org/drawingml/2006/main" noGrp="1"/>
          </p:cNvSpPr>
          <p:nvPr/>
        </p:nvSpPr>
        <p:spPr>
          <a:xfrm xmlns:a="http://schemas.openxmlformats.org/drawingml/2006/main">
            <a:off x="110299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000000"/>
                </a:solidFill>
                <a:latin typeface="Malgun Gothic"/>
                <a:ea typeface="Malgun Gothic"/>
                <a:cs typeface="Malgun Gothic"/>
              </a:defRPr>
            </a:pPr>
            <a:r>
              <a:rPr sz="1200" b="0">
                <a:solidFill>
                  <a:srgbClr val="000000"/>
                </a:solidFill>
                <a:latin typeface="Malgun Gothic"/>
                <a:ea typeface="Malgun Gothic"/>
                <a:cs typeface="Malgun Gothic"/>
              </a:rPr>
              <a:t>02</a:t>
            </a:r>
          </a:p>
        </p:txBody>
      </p:sp>
      <p:sp>
        <p:nvSpPr>
          <p:cNvPr id="3" name="">
            <a:extLst xmlns:a="http://schemas.openxmlformats.org/drawingml/2006/main">
              <a:ext uri="{FF2B5EF4-FFF2-40B4-BE49-F238E27FC236}">
                <a16:creationId xmlns:a16="http://schemas.microsoft.com/office/drawing/2014/main" id="{23CB3E25-8738-4D65-B8A3-47342F9F06D2}"/>
              </a:ext>
            </a:extLst>
          </p:cNvPr>
          <p:cNvSpPr>
            <a:spLocks xmlns:a="http://schemas.openxmlformats.org/drawingml/2006/main" noGrp="1"/>
          </p:cNvSpPr>
          <p:nvPr/>
        </p:nvSpPr>
        <p:spPr>
          <a:xfrm xmlns:a="http://schemas.openxmlformats.org/drawingml/2006/main">
            <a:off x="704850" y="179070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Li et al., 2022</a:t>
            </a:r>
          </a:p>
        </p:txBody>
      </p:sp>
      <p:sp>
        <p:nvSpPr>
          <p:cNvPr id="4" name="">
            <a:extLst xmlns:a="http://schemas.openxmlformats.org/drawingml/2006/main">
              <a:ext uri="{FF2B5EF4-FFF2-40B4-BE49-F238E27FC236}">
                <a16:creationId xmlns:a16="http://schemas.microsoft.com/office/drawing/2014/main" id="{AF59E90D-2DDC-479C-BDA1-C4A5B278FBA6}"/>
              </a:ext>
            </a:extLst>
          </p:cNvPr>
          <p:cNvSpPr>
            <a:spLocks xmlns:a="http://schemas.openxmlformats.org/drawingml/2006/main" noGrp="1"/>
          </p:cNvSpPr>
          <p:nvPr/>
        </p:nvSpPr>
        <p:spPr>
          <a:xfrm xmlns:a="http://schemas.openxmlformats.org/drawingml/2006/main">
            <a:off x="3476625" y="1790700"/>
            <a:ext cx="7953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RGB-D + 힘 센서로 FMA 30개 항목 자동채점</a:t>
            </a:r>
          </a:p>
        </p:txBody>
      </p:sp>
      <p:sp>
        <p:nvSpPr>
          <p:cNvPr id="5" name="">
            <a:extLst xmlns:a="http://schemas.openxmlformats.org/drawingml/2006/main">
              <a:ext uri="{FF2B5EF4-FFF2-40B4-BE49-F238E27FC236}">
                <a16:creationId xmlns:a16="http://schemas.microsoft.com/office/drawing/2014/main" id="{D3170259-C486-4366-80AC-32DC87ACE824}"/>
              </a:ext>
            </a:extLst>
          </p:cNvPr>
          <p:cNvSpPr>
            <a:spLocks xmlns:a="http://schemas.openxmlformats.org/drawingml/2006/main" noGrp="1"/>
          </p:cNvSpPr>
          <p:nvPr/>
        </p:nvSpPr>
        <p:spPr>
          <a:xfrm xmlns:a="http://schemas.openxmlformats.org/drawingml/2006/main">
            <a:off x="704850" y="2924175"/>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보여준 성과</a:t>
            </a:r>
          </a:p>
        </p:txBody>
      </p:sp>
      <p:sp>
        <p:nvSpPr>
          <p:cNvPr id="6" name="">
            <a:extLst xmlns:a="http://schemas.openxmlformats.org/drawingml/2006/main">
              <a:ext uri="{FF2B5EF4-FFF2-40B4-BE49-F238E27FC236}">
                <a16:creationId xmlns:a16="http://schemas.microsoft.com/office/drawing/2014/main" id="{F76DA99A-AA9E-4BD3-850F-90C8CD23630B}"/>
              </a:ext>
            </a:extLst>
          </p:cNvPr>
          <p:cNvSpPr>
            <a:spLocks xmlns:a="http://schemas.openxmlformats.org/drawingml/2006/main" noGrp="1"/>
          </p:cNvSpPr>
          <p:nvPr/>
        </p:nvSpPr>
        <p:spPr>
          <a:xfrm xmlns:a="http://schemas.openxmlformats.org/drawingml/2006/main">
            <a:off x="3476625" y="2924175"/>
            <a:ext cx="7953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뇌졸중 20명에서 치료사 총점과 높은 상관</a:t>
            </a:r>
          </a:p>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r = 0.981</a:t>
            </a:r>
          </a:p>
        </p:txBody>
      </p:sp>
      <p:sp>
        <p:nvSpPr>
          <p:cNvPr id="7" name="">
            <a:extLst xmlns:a="http://schemas.openxmlformats.org/drawingml/2006/main">
              <a:ext uri="{FF2B5EF4-FFF2-40B4-BE49-F238E27FC236}">
                <a16:creationId xmlns:a16="http://schemas.microsoft.com/office/drawing/2014/main" id="{0C76512D-5266-4D22-95FF-8FEA6654CE24}"/>
              </a:ext>
            </a:extLst>
          </p:cNvPr>
          <p:cNvSpPr>
            <a:spLocks xmlns:a="http://schemas.openxmlformats.org/drawingml/2006/main" noGrp="1"/>
          </p:cNvSpPr>
          <p:nvPr/>
        </p:nvSpPr>
        <p:spPr>
          <a:xfrm xmlns:a="http://schemas.openxmlformats.org/drawingml/2006/main">
            <a:off x="704850" y="422910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남은 질문</a:t>
            </a:r>
          </a:p>
        </p:txBody>
      </p:sp>
      <p:sp>
        <p:nvSpPr>
          <p:cNvPr id="8" name="">
            <a:extLst xmlns:a="http://schemas.openxmlformats.org/drawingml/2006/main">
              <a:ext uri="{FF2B5EF4-FFF2-40B4-BE49-F238E27FC236}">
                <a16:creationId xmlns:a16="http://schemas.microsoft.com/office/drawing/2014/main" id="{C702D34E-D71C-4226-9E10-D4FCDE194933}"/>
              </a:ext>
            </a:extLst>
          </p:cNvPr>
          <p:cNvSpPr>
            <a:spLocks xmlns:a="http://schemas.openxmlformats.org/drawingml/2006/main" noGrp="1"/>
          </p:cNvSpPr>
          <p:nvPr/>
        </p:nvSpPr>
        <p:spPr>
          <a:xfrm xmlns:a="http://schemas.openxmlformats.org/drawingml/2006/main">
            <a:off x="3476625" y="4229100"/>
            <a:ext cx="7953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점수와의 일치가 개별 측정값의 정확도도 보장하는가?</a:t>
            </a:r>
          </a:p>
        </p:txBody>
      </p:sp>
      <p:sp>
        <p:nvSpPr>
          <p:cNvPr id="9" name="">
            <a:extLst xmlns:a="http://schemas.openxmlformats.org/drawingml/2006/main">
              <a:ext uri="{FF2B5EF4-FFF2-40B4-BE49-F238E27FC236}">
                <a16:creationId xmlns:a16="http://schemas.microsoft.com/office/drawing/2014/main" id="{D646ADB8-8534-4A13-B96F-724EF67A947F}"/>
              </a:ext>
            </a:extLst>
          </p:cNvPr>
          <p:cNvSpPr>
            <a:spLocks xmlns:a="http://schemas.openxmlformats.org/drawingml/2006/main" noGrp="1"/>
          </p:cNvSpPr>
          <p:nvPr/>
        </p:nvSpPr>
        <p:spPr>
          <a:xfrm xmlns:a="http://schemas.openxmlformats.org/drawingml/2006/main">
            <a:off x="704850" y="5591175"/>
            <a:ext cx="1076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자동채점의 가능성은 확인됐지만, 수치 신뢰성은 별도로 검증해야 합니다</a:t>
            </a:r>
          </a:p>
        </p:txBody>
      </p:sp>
      <p:sp>
        <p:nvSpPr>
          <p:cNvPr id="10" name="">
            <a:extLst xmlns:a="http://schemas.openxmlformats.org/drawingml/2006/main">
              <a:ext uri="{FF2B5EF4-FFF2-40B4-BE49-F238E27FC236}">
                <a16:creationId xmlns:a16="http://schemas.microsoft.com/office/drawing/2014/main" id="{C5015E5B-91DC-42E0-8210-606224C87612}"/>
              </a:ext>
            </a:extLst>
          </p:cNvPr>
          <p:cNvSpPr>
            <a:spLocks xmlns:a="http://schemas.openxmlformats.org/drawingml/2006/main" noGrp="1"/>
          </p:cNvSpPr>
          <p:nvPr/>
        </p:nvSpPr>
        <p:spPr>
          <a:xfrm xmlns:a="http://schemas.openxmlformats.org/drawingml/2006/main">
            <a:off x="704850" y="6372225"/>
            <a:ext cx="1009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000000"/>
                </a:solidFill>
                <a:latin typeface="Malgun Gothic"/>
                <a:ea typeface="Malgun Gothic"/>
                <a:cs typeface="Malgun Gothic"/>
              </a:defRPr>
            </a:pPr>
            <a:r>
              <a:rPr sz="1125" b="0">
                <a:solidFill>
                  <a:srgbClr val="000000"/>
                </a:solidFill>
                <a:latin typeface="Malgun Gothic"/>
                <a:ea typeface="Malgun Gothic"/>
                <a:cs typeface="Malgun Gothic"/>
              </a:rPr>
              <a:t>Li Y et al. Brain Sci. 2022;12:1380. DOI 10.3390/brainsci12101380</a:t>
            </a:r>
          </a:p>
        </p:txBody>
      </p:sp>
    </p:spTree>
    <p:extLst>
      <p:ext uri="{BB962C8B-B14F-4D97-AF65-F5344CB8AC3E}">
        <p14:creationId xmlns:p14="http://schemas.microsoft.com/office/powerpoint/2010/main" val="205092413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1622F51-CD07-4464-BE67-BCC9818DD11A}"/>
              </a:ext>
            </a:extLst>
          </p:cNvPr>
          <p:cNvSpPr>
            <a:spLocks xmlns:a="http://schemas.openxmlformats.org/drawingml/2006/main" noGrp="1"/>
          </p:cNvSpPr>
          <p:nvPr/>
        </p:nvSpPr>
        <p:spPr>
          <a:xfrm xmlns:a="http://schemas.openxmlformats.org/drawingml/2006/main">
            <a:off x="685800" y="51435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00000"/>
                </a:solidFill>
                <a:latin typeface="Malgun Gothic"/>
                <a:ea typeface="Malgun Gothic"/>
                <a:cs typeface="Malgun Gothic"/>
              </a:defRPr>
            </a:pPr>
            <a:r>
              <a:rPr sz="3225" b="1">
                <a:solidFill>
                  <a:srgbClr val="000000"/>
                </a:solidFill>
                <a:latin typeface="Malgun Gothic"/>
                <a:ea typeface="Malgun Gothic"/>
                <a:cs typeface="Malgun Gothic"/>
              </a:rPr>
              <a:t>선행연구 2. 영상만 읽는 VLM의 한계</a:t>
            </a:r>
          </a:p>
        </p:txBody>
      </p:sp>
      <p:sp>
        <p:nvSpPr>
          <p:cNvPr id="2" name="">
            <a:extLst xmlns:a="http://schemas.openxmlformats.org/drawingml/2006/main">
              <a:ext uri="{FF2B5EF4-FFF2-40B4-BE49-F238E27FC236}">
                <a16:creationId xmlns:a16="http://schemas.microsoft.com/office/drawing/2014/main" id="{BBCB5E16-383F-4D76-BC1C-26F0677D0EE6}"/>
              </a:ext>
            </a:extLst>
          </p:cNvPr>
          <p:cNvSpPr>
            <a:spLocks xmlns:a="http://schemas.openxmlformats.org/drawingml/2006/main" noGrp="1"/>
          </p:cNvSpPr>
          <p:nvPr/>
        </p:nvSpPr>
        <p:spPr>
          <a:xfrm xmlns:a="http://schemas.openxmlformats.org/drawingml/2006/main">
            <a:off x="110299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000000"/>
                </a:solidFill>
                <a:latin typeface="Malgun Gothic"/>
                <a:ea typeface="Malgun Gothic"/>
                <a:cs typeface="Malgun Gothic"/>
              </a:defRPr>
            </a:pPr>
            <a:r>
              <a:rPr sz="1200" b="0">
                <a:solidFill>
                  <a:srgbClr val="000000"/>
                </a:solidFill>
                <a:latin typeface="Malgun Gothic"/>
                <a:ea typeface="Malgun Gothic"/>
                <a:cs typeface="Malgun Gothic"/>
              </a:rPr>
              <a:t>03</a:t>
            </a:r>
          </a:p>
        </p:txBody>
      </p:sp>
      <p:sp>
        <p:nvSpPr>
          <p:cNvPr id="3" name="">
            <a:extLst xmlns:a="http://schemas.openxmlformats.org/drawingml/2006/main">
              <a:ext uri="{FF2B5EF4-FFF2-40B4-BE49-F238E27FC236}">
                <a16:creationId xmlns:a16="http://schemas.microsoft.com/office/drawing/2014/main" id="{0CAFFEAD-2C07-461F-814C-9E608E208894}"/>
              </a:ext>
            </a:extLst>
          </p:cNvPr>
          <p:cNvSpPr>
            <a:spLocks xmlns:a="http://schemas.openxmlformats.org/drawingml/2006/main" noGrp="1"/>
          </p:cNvSpPr>
          <p:nvPr/>
        </p:nvSpPr>
        <p:spPr>
          <a:xfrm xmlns:a="http://schemas.openxmlformats.org/drawingml/2006/main">
            <a:off x="704850" y="179070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Li et al., 2026</a:t>
            </a:r>
          </a:p>
        </p:txBody>
      </p:sp>
      <p:sp>
        <p:nvSpPr>
          <p:cNvPr id="4" name="">
            <a:extLst xmlns:a="http://schemas.openxmlformats.org/drawingml/2006/main">
              <a:ext uri="{FF2B5EF4-FFF2-40B4-BE49-F238E27FC236}">
                <a16:creationId xmlns:a16="http://schemas.microsoft.com/office/drawing/2014/main" id="{29DC9872-A0B4-4019-87DC-CB3CC5E5F775}"/>
              </a:ext>
            </a:extLst>
          </p:cNvPr>
          <p:cNvSpPr>
            <a:spLocks xmlns:a="http://schemas.openxmlformats.org/drawingml/2006/main" noGrp="1"/>
          </p:cNvSpPr>
          <p:nvPr/>
        </p:nvSpPr>
        <p:spPr>
          <a:xfrm xmlns:a="http://schemas.openxmlformats.org/drawingml/2006/main">
            <a:off x="3476625" y="1790700"/>
            <a:ext cx="7953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비장애인 20명 + 뇌졸중 51명의 재활 영상 평가</a:t>
            </a:r>
          </a:p>
        </p:txBody>
      </p:sp>
      <p:sp>
        <p:nvSpPr>
          <p:cNvPr id="5" name="">
            <a:extLst xmlns:a="http://schemas.openxmlformats.org/drawingml/2006/main">
              <a:ext uri="{FF2B5EF4-FFF2-40B4-BE49-F238E27FC236}">
                <a16:creationId xmlns:a16="http://schemas.microsoft.com/office/drawing/2014/main" id="{892B16D3-7DD7-47F5-91B7-3D0F6A4BB7E6}"/>
              </a:ext>
            </a:extLst>
          </p:cNvPr>
          <p:cNvSpPr>
            <a:spLocks xmlns:a="http://schemas.openxmlformats.org/drawingml/2006/main" noGrp="1"/>
          </p:cNvSpPr>
          <p:nvPr/>
        </p:nvSpPr>
        <p:spPr>
          <a:xfrm xmlns:a="http://schemas.openxmlformats.org/drawingml/2006/main">
            <a:off x="704850" y="2924175"/>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성과와 한계</a:t>
            </a:r>
          </a:p>
        </p:txBody>
      </p:sp>
      <p:sp>
        <p:nvSpPr>
          <p:cNvPr id="6" name="">
            <a:extLst xmlns:a="http://schemas.openxmlformats.org/drawingml/2006/main">
              <a:ext uri="{FF2B5EF4-FFF2-40B4-BE49-F238E27FC236}">
                <a16:creationId xmlns:a16="http://schemas.microsoft.com/office/drawing/2014/main" id="{6C109190-BF96-4882-9C39-5DA95EA206C4}"/>
              </a:ext>
            </a:extLst>
          </p:cNvPr>
          <p:cNvSpPr>
            <a:spLocks xmlns:a="http://schemas.openxmlformats.org/drawingml/2006/main" noGrp="1"/>
          </p:cNvSpPr>
          <p:nvPr/>
        </p:nvSpPr>
        <p:spPr>
          <a:xfrm xmlns:a="http://schemas.openxmlformats.org/drawingml/2006/main">
            <a:off x="3476625" y="2924175"/>
            <a:ext cx="7953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큰 활동은 인식하지만 세밀한 운동 정량화는 제한적</a:t>
            </a:r>
          </a:p>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FMA 항목 점수를 안정적으로 예측하지 못함</a:t>
            </a:r>
          </a:p>
        </p:txBody>
      </p:sp>
      <p:sp>
        <p:nvSpPr>
          <p:cNvPr id="7" name="">
            <a:extLst xmlns:a="http://schemas.openxmlformats.org/drawingml/2006/main">
              <a:ext uri="{FF2B5EF4-FFF2-40B4-BE49-F238E27FC236}">
                <a16:creationId xmlns:a16="http://schemas.microsoft.com/office/drawing/2014/main" id="{DCF0928D-0899-4631-A4D1-90D2CE6C294F}"/>
              </a:ext>
            </a:extLst>
          </p:cNvPr>
          <p:cNvSpPr>
            <a:spLocks xmlns:a="http://schemas.openxmlformats.org/drawingml/2006/main" noGrp="1"/>
          </p:cNvSpPr>
          <p:nvPr/>
        </p:nvSpPr>
        <p:spPr>
          <a:xfrm xmlns:a="http://schemas.openxmlformats.org/drawingml/2006/main">
            <a:off x="704850" y="422910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우리에게 주는 질문</a:t>
            </a:r>
          </a:p>
        </p:txBody>
      </p:sp>
      <p:sp>
        <p:nvSpPr>
          <p:cNvPr id="8" name="">
            <a:extLst xmlns:a="http://schemas.openxmlformats.org/drawingml/2006/main">
              <a:ext uri="{FF2B5EF4-FFF2-40B4-BE49-F238E27FC236}">
                <a16:creationId xmlns:a16="http://schemas.microsoft.com/office/drawing/2014/main" id="{6A0298D2-80A2-4C29-8C00-F2C62767859B}"/>
              </a:ext>
            </a:extLst>
          </p:cNvPr>
          <p:cNvSpPr>
            <a:spLocks xmlns:a="http://schemas.openxmlformats.org/drawingml/2006/main" noGrp="1"/>
          </p:cNvSpPr>
          <p:nvPr/>
        </p:nvSpPr>
        <p:spPr>
          <a:xfrm xmlns:a="http://schemas.openxmlformats.org/drawingml/2006/main">
            <a:off x="3476625" y="4229100"/>
            <a:ext cx="7953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영상에 거리·속도 수치를 더하면 한계를 보완할 수 있는가?</a:t>
            </a:r>
          </a:p>
        </p:txBody>
      </p:sp>
      <p:sp>
        <p:nvSpPr>
          <p:cNvPr id="9" name="">
            <a:extLst xmlns:a="http://schemas.openxmlformats.org/drawingml/2006/main">
              <a:ext uri="{FF2B5EF4-FFF2-40B4-BE49-F238E27FC236}">
                <a16:creationId xmlns:a16="http://schemas.microsoft.com/office/drawing/2014/main" id="{DA1C3B85-A5B9-4AA4-893B-3A2811B80913}"/>
              </a:ext>
            </a:extLst>
          </p:cNvPr>
          <p:cNvSpPr>
            <a:spLocks xmlns:a="http://schemas.openxmlformats.org/drawingml/2006/main" noGrp="1"/>
          </p:cNvSpPr>
          <p:nvPr/>
        </p:nvSpPr>
        <p:spPr>
          <a:xfrm xmlns:a="http://schemas.openxmlformats.org/drawingml/2006/main">
            <a:off x="704850" y="5591175"/>
            <a:ext cx="1076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FMA 분석은 전체 코호트 중 4명 + 24명의 하위 표본입니다</a:t>
            </a:r>
          </a:p>
        </p:txBody>
      </p:sp>
      <p:sp>
        <p:nvSpPr>
          <p:cNvPr id="10" name="">
            <a:extLst xmlns:a="http://schemas.openxmlformats.org/drawingml/2006/main">
              <a:ext uri="{FF2B5EF4-FFF2-40B4-BE49-F238E27FC236}">
                <a16:creationId xmlns:a16="http://schemas.microsoft.com/office/drawing/2014/main" id="{154788E0-F54E-42FA-885A-C03BFA2A7265}"/>
              </a:ext>
            </a:extLst>
          </p:cNvPr>
          <p:cNvSpPr>
            <a:spLocks xmlns:a="http://schemas.openxmlformats.org/drawingml/2006/main" noGrp="1"/>
          </p:cNvSpPr>
          <p:nvPr/>
        </p:nvSpPr>
        <p:spPr>
          <a:xfrm xmlns:a="http://schemas.openxmlformats.org/drawingml/2006/main">
            <a:off x="704850" y="6372225"/>
            <a:ext cx="1009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000000"/>
                </a:solidFill>
                <a:latin typeface="Malgun Gothic"/>
                <a:ea typeface="Malgun Gothic"/>
                <a:cs typeface="Malgun Gothic"/>
              </a:defRPr>
            </a:pPr>
            <a:r>
              <a:rPr sz="1125" b="0">
                <a:solidFill>
                  <a:srgbClr val="000000"/>
                </a:solidFill>
                <a:latin typeface="Malgun Gothic"/>
                <a:ea typeface="Malgun Gothic"/>
                <a:cs typeface="Malgun Gothic"/>
              </a:rPr>
              <a:t>Li V et al. PLOS Digit Health. 2026;5:e0001506. DOI 10.1371/journal.pdig.0001506</a:t>
            </a:r>
          </a:p>
        </p:txBody>
      </p:sp>
    </p:spTree>
    <p:extLst>
      <p:ext uri="{BB962C8B-B14F-4D97-AF65-F5344CB8AC3E}">
        <p14:creationId xmlns:p14="http://schemas.microsoft.com/office/powerpoint/2010/main" val="20830384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E001857-FE0A-462C-9EF7-E6311ACE4862}"/>
              </a:ext>
            </a:extLst>
          </p:cNvPr>
          <p:cNvSpPr>
            <a:spLocks xmlns:a="http://schemas.openxmlformats.org/drawingml/2006/main" noGrp="1"/>
          </p:cNvSpPr>
          <p:nvPr/>
        </p:nvSpPr>
        <p:spPr>
          <a:xfrm xmlns:a="http://schemas.openxmlformats.org/drawingml/2006/main">
            <a:off x="685800" y="51435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00000"/>
                </a:solidFill>
                <a:latin typeface="Malgun Gothic"/>
                <a:ea typeface="Malgun Gothic"/>
                <a:cs typeface="Malgun Gothic"/>
              </a:defRPr>
            </a:pPr>
            <a:r>
              <a:rPr sz="3225" b="1">
                <a:solidFill>
                  <a:srgbClr val="000000"/>
                </a:solidFill>
                <a:latin typeface="Malgun Gothic"/>
                <a:ea typeface="Malgun Gothic"/>
                <a:cs typeface="Malgun Gothic"/>
              </a:rPr>
              <a:t>선행연구 3. 수치 제공과 품질 선별</a:t>
            </a:r>
          </a:p>
        </p:txBody>
      </p:sp>
      <p:sp>
        <p:nvSpPr>
          <p:cNvPr id="2" name="">
            <a:extLst xmlns:a="http://schemas.openxmlformats.org/drawingml/2006/main">
              <a:ext uri="{FF2B5EF4-FFF2-40B4-BE49-F238E27FC236}">
                <a16:creationId xmlns:a16="http://schemas.microsoft.com/office/drawing/2014/main" id="{DD3468B6-B129-454A-9232-6D5E9061EEBC}"/>
              </a:ext>
            </a:extLst>
          </p:cNvPr>
          <p:cNvSpPr>
            <a:spLocks xmlns:a="http://schemas.openxmlformats.org/drawingml/2006/main" noGrp="1"/>
          </p:cNvSpPr>
          <p:nvPr/>
        </p:nvSpPr>
        <p:spPr>
          <a:xfrm xmlns:a="http://schemas.openxmlformats.org/drawingml/2006/main">
            <a:off x="110299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000000"/>
                </a:solidFill>
                <a:latin typeface="Malgun Gothic"/>
                <a:ea typeface="Malgun Gothic"/>
                <a:cs typeface="Malgun Gothic"/>
              </a:defRPr>
            </a:pPr>
            <a:r>
              <a:rPr sz="1200" b="0">
                <a:solidFill>
                  <a:srgbClr val="000000"/>
                </a:solidFill>
                <a:latin typeface="Malgun Gothic"/>
                <a:ea typeface="Malgun Gothic"/>
                <a:cs typeface="Malgun Gothic"/>
              </a:rPr>
              <a:t>04</a:t>
            </a:r>
          </a:p>
        </p:txBody>
      </p:sp>
      <p:sp>
        <p:nvSpPr>
          <p:cNvPr id="3" name="">
            <a:extLst xmlns:a="http://schemas.openxmlformats.org/drawingml/2006/main">
              <a:ext uri="{FF2B5EF4-FFF2-40B4-BE49-F238E27FC236}">
                <a16:creationId xmlns:a16="http://schemas.microsoft.com/office/drawing/2014/main" id="{531D8AC1-65C1-41F4-8E93-87A20E90C01E}"/>
              </a:ext>
            </a:extLst>
          </p:cNvPr>
          <p:cNvSpPr>
            <a:spLocks xmlns:a="http://schemas.openxmlformats.org/drawingml/2006/main" noGrp="1"/>
          </p:cNvSpPr>
          <p:nvPr/>
        </p:nvSpPr>
        <p:spPr>
          <a:xfrm xmlns:a="http://schemas.openxmlformats.org/drawingml/2006/main">
            <a:off x="704850" y="179070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Tang et al., 2025</a:t>
            </a:r>
          </a:p>
        </p:txBody>
      </p:sp>
      <p:sp>
        <p:nvSpPr>
          <p:cNvPr id="4" name="">
            <a:extLst xmlns:a="http://schemas.openxmlformats.org/drawingml/2006/main">
              <a:ext uri="{FF2B5EF4-FFF2-40B4-BE49-F238E27FC236}">
                <a16:creationId xmlns:a16="http://schemas.microsoft.com/office/drawing/2014/main" id="{279E8E7A-C8C0-4BF9-B42A-BE2AA8BBEFCB}"/>
              </a:ext>
            </a:extLst>
          </p:cNvPr>
          <p:cNvSpPr>
            <a:spLocks xmlns:a="http://schemas.openxmlformats.org/drawingml/2006/main" noGrp="1"/>
          </p:cNvSpPr>
          <p:nvPr/>
        </p:nvSpPr>
        <p:spPr>
          <a:xfrm xmlns:a="http://schemas.openxmlformats.org/drawingml/2006/main">
            <a:off x="3476625" y="1790700"/>
            <a:ext cx="7953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골격에서 추출한 운동 특징을 LLM에 제공</a:t>
            </a:r>
          </a:p>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운동 수행 평가와 언어 피드백을 생성</a:t>
            </a:r>
          </a:p>
        </p:txBody>
      </p:sp>
      <p:sp>
        <p:nvSpPr>
          <p:cNvPr id="5" name="">
            <a:extLst xmlns:a="http://schemas.openxmlformats.org/drawingml/2006/main">
              <a:ext uri="{FF2B5EF4-FFF2-40B4-BE49-F238E27FC236}">
                <a16:creationId xmlns:a16="http://schemas.microsoft.com/office/drawing/2014/main" id="{5306BB04-CA3B-4B41-B25C-5C23DDFFB3C3}"/>
              </a:ext>
            </a:extLst>
          </p:cNvPr>
          <p:cNvSpPr>
            <a:spLocks xmlns:a="http://schemas.openxmlformats.org/drawingml/2006/main" noGrp="1"/>
          </p:cNvSpPr>
          <p:nvPr/>
        </p:nvSpPr>
        <p:spPr>
          <a:xfrm xmlns:a="http://schemas.openxmlformats.org/drawingml/2006/main">
            <a:off x="704850" y="310515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Thanh, 2026</a:t>
            </a:r>
          </a:p>
        </p:txBody>
      </p:sp>
      <p:sp>
        <p:nvSpPr>
          <p:cNvPr id="6" name="">
            <a:extLst xmlns:a="http://schemas.openxmlformats.org/drawingml/2006/main">
              <a:ext uri="{FF2B5EF4-FFF2-40B4-BE49-F238E27FC236}">
                <a16:creationId xmlns:a16="http://schemas.microsoft.com/office/drawing/2014/main" id="{D6BE7BF7-5BB3-4504-9B10-20C0E2BAD4EE}"/>
              </a:ext>
            </a:extLst>
          </p:cNvPr>
          <p:cNvSpPr>
            <a:spLocks xmlns:a="http://schemas.openxmlformats.org/drawingml/2006/main" noGrp="1"/>
          </p:cNvSpPr>
          <p:nvPr/>
        </p:nvSpPr>
        <p:spPr>
          <a:xfrm xmlns:a="http://schemas.openxmlformats.org/drawingml/2006/main">
            <a:off x="3476625" y="3105150"/>
            <a:ext cx="7953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영상의 흐림 품질을 검사해 VLM 처리 경로를 결정</a:t>
            </a:r>
          </a:p>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입력 품질을 먼저 확인하는 접근을 제시</a:t>
            </a:r>
          </a:p>
        </p:txBody>
      </p:sp>
      <p:sp>
        <p:nvSpPr>
          <p:cNvPr id="7" name="">
            <a:extLst xmlns:a="http://schemas.openxmlformats.org/drawingml/2006/main">
              <a:ext uri="{FF2B5EF4-FFF2-40B4-BE49-F238E27FC236}">
                <a16:creationId xmlns:a16="http://schemas.microsoft.com/office/drawing/2014/main" id="{D6B7B6EB-4E71-4334-B96B-B737536421D1}"/>
              </a:ext>
            </a:extLst>
          </p:cNvPr>
          <p:cNvSpPr>
            <a:spLocks xmlns:a="http://schemas.openxmlformats.org/drawingml/2006/main" noGrp="1"/>
          </p:cNvSpPr>
          <p:nvPr/>
        </p:nvSpPr>
        <p:spPr>
          <a:xfrm xmlns:a="http://schemas.openxmlformats.org/drawingml/2006/main">
            <a:off x="704850" y="5591175"/>
            <a:ext cx="1076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이번 연구는 운동학 수치의 선별이 ARAT 채점에 주는 효과를 검증합니다</a:t>
            </a:r>
          </a:p>
        </p:txBody>
      </p:sp>
      <p:sp>
        <p:nvSpPr>
          <p:cNvPr id="8" name="">
            <a:extLst xmlns:a="http://schemas.openxmlformats.org/drawingml/2006/main">
              <a:ext uri="{FF2B5EF4-FFF2-40B4-BE49-F238E27FC236}">
                <a16:creationId xmlns:a16="http://schemas.microsoft.com/office/drawing/2014/main" id="{AD19BB3A-CDB8-4C51-A02C-9C3AE77169DD}"/>
              </a:ext>
            </a:extLst>
          </p:cNvPr>
          <p:cNvSpPr>
            <a:spLocks xmlns:a="http://schemas.openxmlformats.org/drawingml/2006/main" noGrp="1"/>
          </p:cNvSpPr>
          <p:nvPr/>
        </p:nvSpPr>
        <p:spPr>
          <a:xfrm xmlns:a="http://schemas.openxmlformats.org/drawingml/2006/main">
            <a:off x="704850" y="6372225"/>
            <a:ext cx="1009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000000"/>
                </a:solidFill>
                <a:latin typeface="Malgun Gothic"/>
                <a:ea typeface="Malgun Gothic"/>
                <a:cs typeface="Malgun Gothic"/>
              </a:defRPr>
            </a:pPr>
            <a:r>
              <a:rPr sz="1125" b="0">
                <a:solidFill>
                  <a:srgbClr val="000000"/>
                </a:solidFill>
                <a:latin typeface="Malgun Gothic"/>
                <a:ea typeface="Malgun Gothic"/>
                <a:cs typeface="Malgun Gothic"/>
              </a:rPr>
              <a:t>두 연구 모두 preprint. arXiv:2505.18412 / arXiv:2606.25838</a:t>
            </a:r>
          </a:p>
        </p:txBody>
      </p:sp>
    </p:spTree>
    <p:extLst>
      <p:ext uri="{BB962C8B-B14F-4D97-AF65-F5344CB8AC3E}">
        <p14:creationId xmlns:p14="http://schemas.microsoft.com/office/powerpoint/2010/main" val="67966038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316DA15-FF41-4DDC-BA93-08A826EEB0A6}"/>
              </a:ext>
            </a:extLst>
          </p:cNvPr>
          <p:cNvSpPr>
            <a:spLocks xmlns:a="http://schemas.openxmlformats.org/drawingml/2006/main" noGrp="1"/>
          </p:cNvSpPr>
          <p:nvPr/>
        </p:nvSpPr>
        <p:spPr>
          <a:xfrm xmlns:a="http://schemas.openxmlformats.org/drawingml/2006/main">
            <a:off x="685800" y="51435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00000"/>
                </a:solidFill>
                <a:latin typeface="Malgun Gothic"/>
                <a:ea typeface="Malgun Gothic"/>
                <a:cs typeface="Malgun Gothic"/>
              </a:defRPr>
            </a:pPr>
            <a:r>
              <a:rPr sz="3225" b="1">
                <a:solidFill>
                  <a:srgbClr val="000000"/>
                </a:solidFill>
                <a:latin typeface="Malgun Gothic"/>
                <a:ea typeface="Malgun Gothic"/>
                <a:cs typeface="Malgun Gothic"/>
              </a:rPr>
              <a:t>연구 공백. 무엇을 추가로 검증할 것인가</a:t>
            </a:r>
          </a:p>
        </p:txBody>
      </p:sp>
      <p:sp>
        <p:nvSpPr>
          <p:cNvPr id="2" name="">
            <a:extLst xmlns:a="http://schemas.openxmlformats.org/drawingml/2006/main">
              <a:ext uri="{FF2B5EF4-FFF2-40B4-BE49-F238E27FC236}">
                <a16:creationId xmlns:a16="http://schemas.microsoft.com/office/drawing/2014/main" id="{EA38D278-8E1F-475E-896E-0BB6F3046104}"/>
              </a:ext>
            </a:extLst>
          </p:cNvPr>
          <p:cNvSpPr>
            <a:spLocks xmlns:a="http://schemas.openxmlformats.org/drawingml/2006/main" noGrp="1"/>
          </p:cNvSpPr>
          <p:nvPr/>
        </p:nvSpPr>
        <p:spPr>
          <a:xfrm xmlns:a="http://schemas.openxmlformats.org/drawingml/2006/main">
            <a:off x="110299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000000"/>
                </a:solidFill>
                <a:latin typeface="Malgun Gothic"/>
                <a:ea typeface="Malgun Gothic"/>
                <a:cs typeface="Malgun Gothic"/>
              </a:defRPr>
            </a:pPr>
            <a:r>
              <a:rPr sz="1200" b="0">
                <a:solidFill>
                  <a:srgbClr val="000000"/>
                </a:solidFill>
                <a:latin typeface="Malgun Gothic"/>
                <a:ea typeface="Malgun Gothic"/>
                <a:cs typeface="Malgun Gothic"/>
              </a:rPr>
              <a:t>05</a:t>
            </a:r>
          </a:p>
        </p:txBody>
      </p:sp>
      <p:sp>
        <p:nvSpPr>
          <p:cNvPr id="3" name="">
            <a:extLst xmlns:a="http://schemas.openxmlformats.org/drawingml/2006/main">
              <a:ext uri="{FF2B5EF4-FFF2-40B4-BE49-F238E27FC236}">
                <a16:creationId xmlns:a16="http://schemas.microsoft.com/office/drawing/2014/main" id="{47E32B09-810C-4B7E-98DA-94CDAA253E62}"/>
              </a:ext>
            </a:extLst>
          </p:cNvPr>
          <p:cNvSpPr>
            <a:spLocks xmlns:a="http://schemas.openxmlformats.org/drawingml/2006/main" noGrp="1"/>
          </p:cNvSpPr>
          <p:nvPr/>
        </p:nvSpPr>
        <p:spPr>
          <a:xfrm xmlns:a="http://schemas.openxmlformats.org/drawingml/2006/main">
            <a:off x="704850" y="1762125"/>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수치의 신뢰성</a:t>
            </a:r>
          </a:p>
        </p:txBody>
      </p:sp>
      <p:sp>
        <p:nvSpPr>
          <p:cNvPr id="4" name="">
            <a:extLst xmlns:a="http://schemas.openxmlformats.org/drawingml/2006/main">
              <a:ext uri="{FF2B5EF4-FFF2-40B4-BE49-F238E27FC236}">
                <a16:creationId xmlns:a16="http://schemas.microsoft.com/office/drawing/2014/main" id="{D41A1F85-CC1A-4D97-B77F-FA0CE6B86098}"/>
              </a:ext>
            </a:extLst>
          </p:cNvPr>
          <p:cNvSpPr>
            <a:spLocks xmlns:a="http://schemas.openxmlformats.org/drawingml/2006/main" noGrp="1"/>
          </p:cNvSpPr>
          <p:nvPr/>
        </p:nvSpPr>
        <p:spPr>
          <a:xfrm xmlns:a="http://schemas.openxmlformats.org/drawingml/2006/main">
            <a:off x="3476625" y="1762125"/>
            <a:ext cx="7953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가림·깊이 오류가 있는 수치를 제공해도 도움이 되는가?</a:t>
            </a:r>
          </a:p>
        </p:txBody>
      </p:sp>
      <p:sp>
        <p:nvSpPr>
          <p:cNvPr id="5" name="">
            <a:extLst xmlns:a="http://schemas.openxmlformats.org/drawingml/2006/main">
              <a:ext uri="{FF2B5EF4-FFF2-40B4-BE49-F238E27FC236}">
                <a16:creationId xmlns:a16="http://schemas.microsoft.com/office/drawing/2014/main" id="{C6A861DA-8C7D-47E2-9E23-51FD828398E4}"/>
              </a:ext>
            </a:extLst>
          </p:cNvPr>
          <p:cNvSpPr>
            <a:spLocks xmlns:a="http://schemas.openxmlformats.org/drawingml/2006/main" noGrp="1"/>
          </p:cNvSpPr>
          <p:nvPr/>
        </p:nvSpPr>
        <p:spPr>
          <a:xfrm xmlns:a="http://schemas.openxmlformats.org/drawingml/2006/main">
            <a:off x="704850" y="3000375"/>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선별의 고유 효과</a:t>
            </a:r>
          </a:p>
        </p:txBody>
      </p:sp>
      <p:sp>
        <p:nvSpPr>
          <p:cNvPr id="6" name="">
            <a:extLst xmlns:a="http://schemas.openxmlformats.org/drawingml/2006/main">
              <a:ext uri="{FF2B5EF4-FFF2-40B4-BE49-F238E27FC236}">
                <a16:creationId xmlns:a16="http://schemas.microsoft.com/office/drawing/2014/main" id="{529839E9-3CEB-4874-A904-096019BC024A}"/>
              </a:ext>
            </a:extLst>
          </p:cNvPr>
          <p:cNvSpPr>
            <a:spLocks xmlns:a="http://schemas.openxmlformats.org/drawingml/2006/main" noGrp="1"/>
          </p:cNvSpPr>
          <p:nvPr/>
        </p:nvSpPr>
        <p:spPr>
          <a:xfrm xmlns:a="http://schemas.openxmlformats.org/drawingml/2006/main">
            <a:off x="3476625" y="3000375"/>
            <a:ext cx="7953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나쁜 수치를 뺀 효과와 입력량을 줄인 효과를 구분했는가?</a:t>
            </a:r>
          </a:p>
        </p:txBody>
      </p:sp>
      <p:sp>
        <p:nvSpPr>
          <p:cNvPr id="7" name="">
            <a:extLst xmlns:a="http://schemas.openxmlformats.org/drawingml/2006/main">
              <a:ext uri="{FF2B5EF4-FFF2-40B4-BE49-F238E27FC236}">
                <a16:creationId xmlns:a16="http://schemas.microsoft.com/office/drawing/2014/main" id="{553BFE52-26A6-47BE-8497-ADD03D7077F5}"/>
              </a:ext>
            </a:extLst>
          </p:cNvPr>
          <p:cNvSpPr>
            <a:spLocks xmlns:a="http://schemas.openxmlformats.org/drawingml/2006/main" noGrp="1"/>
          </p:cNvSpPr>
          <p:nvPr/>
        </p:nvSpPr>
        <p:spPr>
          <a:xfrm xmlns:a="http://schemas.openxmlformats.org/drawingml/2006/main">
            <a:off x="704850" y="4238625"/>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실용적 대가</a:t>
            </a:r>
          </a:p>
        </p:txBody>
      </p:sp>
      <p:sp>
        <p:nvSpPr>
          <p:cNvPr id="8" name="">
            <a:extLst xmlns:a="http://schemas.openxmlformats.org/drawingml/2006/main">
              <a:ext uri="{FF2B5EF4-FFF2-40B4-BE49-F238E27FC236}">
                <a16:creationId xmlns:a16="http://schemas.microsoft.com/office/drawing/2014/main" id="{7E8930AC-D312-47CF-83B6-E6C232CB39B9}"/>
              </a:ext>
            </a:extLst>
          </p:cNvPr>
          <p:cNvSpPr>
            <a:spLocks xmlns:a="http://schemas.openxmlformats.org/drawingml/2006/main" noGrp="1"/>
          </p:cNvSpPr>
          <p:nvPr/>
        </p:nvSpPr>
        <p:spPr>
          <a:xfrm xmlns:a="http://schemas.openxmlformats.org/drawingml/2006/main">
            <a:off x="3476625" y="4238625"/>
            <a:ext cx="7953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오차가 줄더라도 너무 많은 수치를 버리지는 않는가?</a:t>
            </a:r>
          </a:p>
        </p:txBody>
      </p:sp>
      <p:sp>
        <p:nvSpPr>
          <p:cNvPr id="9" name="">
            <a:extLst xmlns:a="http://schemas.openxmlformats.org/drawingml/2006/main">
              <a:ext uri="{FF2B5EF4-FFF2-40B4-BE49-F238E27FC236}">
                <a16:creationId xmlns:a16="http://schemas.microsoft.com/office/drawing/2014/main" id="{1914993C-8645-4EAC-B735-8287C06DAB8B}"/>
              </a:ext>
            </a:extLst>
          </p:cNvPr>
          <p:cNvSpPr>
            <a:spLocks xmlns:a="http://schemas.openxmlformats.org/drawingml/2006/main" noGrp="1"/>
          </p:cNvSpPr>
          <p:nvPr/>
        </p:nvSpPr>
        <p:spPr>
          <a:xfrm xmlns:a="http://schemas.openxmlformats.org/drawingml/2006/main">
            <a:off x="704850" y="5591175"/>
            <a:ext cx="1076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같은 영상에서 수치의 품질과 양을 나눠 통제하는 비교가 필요합니다</a:t>
            </a:r>
          </a:p>
        </p:txBody>
      </p:sp>
    </p:spTree>
    <p:extLst>
      <p:ext uri="{BB962C8B-B14F-4D97-AF65-F5344CB8AC3E}">
        <p14:creationId xmlns:p14="http://schemas.microsoft.com/office/powerpoint/2010/main" val="192051002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19B3996-3849-450A-A9F9-0B3A039A1EEB}"/>
              </a:ext>
            </a:extLst>
          </p:cNvPr>
          <p:cNvSpPr>
            <a:spLocks xmlns:a="http://schemas.openxmlformats.org/drawingml/2006/main" noGrp="1"/>
          </p:cNvSpPr>
          <p:nvPr/>
        </p:nvSpPr>
        <p:spPr>
          <a:xfrm xmlns:a="http://schemas.openxmlformats.org/drawingml/2006/main">
            <a:off x="685800" y="51435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00000"/>
                </a:solidFill>
                <a:latin typeface="Malgun Gothic"/>
                <a:ea typeface="Malgun Gothic"/>
                <a:cs typeface="Malgun Gothic"/>
              </a:defRPr>
            </a:pPr>
            <a:r>
              <a:rPr sz="3225" b="1">
                <a:solidFill>
                  <a:srgbClr val="000000"/>
                </a:solidFill>
                <a:latin typeface="Malgun Gothic"/>
                <a:ea typeface="Malgun Gothic"/>
                <a:cs typeface="Malgun Gothic"/>
              </a:rPr>
              <a:t>제안 방법. 영상에 품질을 통과한 수치만 제공</a:t>
            </a:r>
          </a:p>
        </p:txBody>
      </p:sp>
      <p:sp>
        <p:nvSpPr>
          <p:cNvPr id="2" name="">
            <a:extLst xmlns:a="http://schemas.openxmlformats.org/drawingml/2006/main">
              <a:ext uri="{FF2B5EF4-FFF2-40B4-BE49-F238E27FC236}">
                <a16:creationId xmlns:a16="http://schemas.microsoft.com/office/drawing/2014/main" id="{61D15B25-EC57-41B1-87C8-2EE19CF4AF8F}"/>
              </a:ext>
            </a:extLst>
          </p:cNvPr>
          <p:cNvSpPr>
            <a:spLocks xmlns:a="http://schemas.openxmlformats.org/drawingml/2006/main" noGrp="1"/>
          </p:cNvSpPr>
          <p:nvPr/>
        </p:nvSpPr>
        <p:spPr>
          <a:xfrm xmlns:a="http://schemas.openxmlformats.org/drawingml/2006/main">
            <a:off x="110299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000000"/>
                </a:solidFill>
                <a:latin typeface="Malgun Gothic"/>
                <a:ea typeface="Malgun Gothic"/>
                <a:cs typeface="Malgun Gothic"/>
              </a:defRPr>
            </a:pPr>
            <a:r>
              <a:rPr sz="1200" b="0">
                <a:solidFill>
                  <a:srgbClr val="000000"/>
                </a:solidFill>
                <a:latin typeface="Malgun Gothic"/>
                <a:ea typeface="Malgun Gothic"/>
                <a:cs typeface="Malgun Gothic"/>
              </a:rPr>
              <a:t>06</a:t>
            </a:r>
          </a:p>
        </p:txBody>
      </p:sp>
      <p:sp>
        <p:nvSpPr>
          <p:cNvPr id="3" name="">
            <a:extLst xmlns:a="http://schemas.openxmlformats.org/drawingml/2006/main">
              <a:ext uri="{FF2B5EF4-FFF2-40B4-BE49-F238E27FC236}">
                <a16:creationId xmlns:a16="http://schemas.microsoft.com/office/drawing/2014/main" id="{A9FBBC21-38FE-4FDB-A24C-B7000F2026F9}"/>
              </a:ext>
            </a:extLst>
          </p:cNvPr>
          <p:cNvSpPr>
            <a:spLocks xmlns:a="http://schemas.openxmlformats.org/drawingml/2006/main" noGrp="1"/>
          </p:cNvSpPr>
          <p:nvPr/>
        </p:nvSpPr>
        <p:spPr>
          <a:xfrm xmlns:a="http://schemas.openxmlformats.org/drawingml/2006/main">
            <a:off x="704850" y="1724025"/>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01  영상과 수치</a:t>
            </a:r>
          </a:p>
        </p:txBody>
      </p:sp>
      <p:sp>
        <p:nvSpPr>
          <p:cNvPr id="4" name="">
            <a:extLst xmlns:a="http://schemas.openxmlformats.org/drawingml/2006/main">
              <a:ext uri="{FF2B5EF4-FFF2-40B4-BE49-F238E27FC236}">
                <a16:creationId xmlns:a16="http://schemas.microsoft.com/office/drawing/2014/main" id="{2C7C924E-BCF0-4C5B-84A0-6E8E930A4C61}"/>
              </a:ext>
            </a:extLst>
          </p:cNvPr>
          <p:cNvSpPr>
            <a:spLocks xmlns:a="http://schemas.openxmlformats.org/drawingml/2006/main" noGrp="1"/>
          </p:cNvSpPr>
          <p:nvPr/>
        </p:nvSpPr>
        <p:spPr>
          <a:xfrm xmlns:a="http://schemas.openxmlformats.org/drawingml/2006/main">
            <a:off x="3476625" y="1724025"/>
            <a:ext cx="7953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RGB-D 1대로 촬영하고 K1·K2를 계산</a:t>
            </a:r>
          </a:p>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K1: 엄지–검지 거리 P95 / K2: 손목 속도 P95</a:t>
            </a:r>
          </a:p>
        </p:txBody>
      </p:sp>
      <p:sp>
        <p:nvSpPr>
          <p:cNvPr id="5" name="">
            <a:extLst xmlns:a="http://schemas.openxmlformats.org/drawingml/2006/main">
              <a:ext uri="{FF2B5EF4-FFF2-40B4-BE49-F238E27FC236}">
                <a16:creationId xmlns:a16="http://schemas.microsoft.com/office/drawing/2014/main" id="{7399B863-25BC-4D8F-BAAF-47ABDF490A44}"/>
              </a:ext>
            </a:extLst>
          </p:cNvPr>
          <p:cNvSpPr>
            <a:spLocks xmlns:a="http://schemas.openxmlformats.org/drawingml/2006/main" noGrp="1"/>
          </p:cNvSpPr>
          <p:nvPr/>
        </p:nvSpPr>
        <p:spPr>
          <a:xfrm xmlns:a="http://schemas.openxmlformats.org/drawingml/2006/main">
            <a:off x="704850" y="3038475"/>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02  품질 검사</a:t>
            </a:r>
          </a:p>
        </p:txBody>
      </p:sp>
      <p:sp>
        <p:nvSpPr>
          <p:cNvPr id="6" name="">
            <a:extLst xmlns:a="http://schemas.openxmlformats.org/drawingml/2006/main">
              <a:ext uri="{FF2B5EF4-FFF2-40B4-BE49-F238E27FC236}">
                <a16:creationId xmlns:a16="http://schemas.microsoft.com/office/drawing/2014/main" id="{F961E470-23B8-4AEB-A5AB-1E0AFB8B5AE7}"/>
              </a:ext>
            </a:extLst>
          </p:cNvPr>
          <p:cNvSpPr>
            <a:spLocks xmlns:a="http://schemas.openxmlformats.org/drawingml/2006/main" noGrp="1"/>
          </p:cNvSpPr>
          <p:nvPr/>
        </p:nvSpPr>
        <p:spPr>
          <a:xfrm xmlns:a="http://schemas.openxmlformats.org/drawingml/2006/main">
            <a:off x="3476625" y="3038475"/>
            <a:ext cx="7953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유효 깊이·추적 결측·가림을 기준으로 수치 사용 결정</a:t>
            </a:r>
          </a:p>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기준 미달 수치는 결측으로 표시</a:t>
            </a:r>
          </a:p>
        </p:txBody>
      </p:sp>
      <p:sp>
        <p:nvSpPr>
          <p:cNvPr id="7" name="">
            <a:extLst xmlns:a="http://schemas.openxmlformats.org/drawingml/2006/main">
              <a:ext uri="{FF2B5EF4-FFF2-40B4-BE49-F238E27FC236}">
                <a16:creationId xmlns:a16="http://schemas.microsoft.com/office/drawing/2014/main" id="{9637793B-A0C0-4705-AA2D-31E34B48F23C}"/>
              </a:ext>
            </a:extLst>
          </p:cNvPr>
          <p:cNvSpPr>
            <a:spLocks xmlns:a="http://schemas.openxmlformats.org/drawingml/2006/main" noGrp="1"/>
          </p:cNvSpPr>
          <p:nvPr/>
        </p:nvSpPr>
        <p:spPr>
          <a:xfrm xmlns:a="http://schemas.openxmlformats.org/drawingml/2006/main">
            <a:off x="704850" y="4352925"/>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03  AI 채점</a:t>
            </a:r>
          </a:p>
        </p:txBody>
      </p:sp>
      <p:sp>
        <p:nvSpPr>
          <p:cNvPr id="8" name="">
            <a:extLst xmlns:a="http://schemas.openxmlformats.org/drawingml/2006/main">
              <a:ext uri="{FF2B5EF4-FFF2-40B4-BE49-F238E27FC236}">
                <a16:creationId xmlns:a16="http://schemas.microsoft.com/office/drawing/2014/main" id="{B15D0C22-EE06-45AC-A477-36A93AD0DB06}"/>
              </a:ext>
            </a:extLst>
          </p:cNvPr>
          <p:cNvSpPr>
            <a:spLocks xmlns:a="http://schemas.openxmlformats.org/drawingml/2006/main" noGrp="1"/>
          </p:cNvSpPr>
          <p:nvPr/>
        </p:nvSpPr>
        <p:spPr>
          <a:xfrm xmlns:a="http://schemas.openxmlformats.org/drawingml/2006/main">
            <a:off x="3476625" y="4352925"/>
            <a:ext cx="7953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동일한 영상·과제 설명·시간에 통과 수치를 추가</a:t>
            </a:r>
          </a:p>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ARAT 선택 항목의 0~3점 예측</a:t>
            </a:r>
          </a:p>
        </p:txBody>
      </p:sp>
      <p:sp>
        <p:nvSpPr>
          <p:cNvPr id="9" name="">
            <a:extLst xmlns:a="http://schemas.openxmlformats.org/drawingml/2006/main">
              <a:ext uri="{FF2B5EF4-FFF2-40B4-BE49-F238E27FC236}">
                <a16:creationId xmlns:a16="http://schemas.microsoft.com/office/drawing/2014/main" id="{D68B1E38-6638-4376-B30C-BA9F01BCF56E}"/>
              </a:ext>
            </a:extLst>
          </p:cNvPr>
          <p:cNvSpPr>
            <a:spLocks xmlns:a="http://schemas.openxmlformats.org/drawingml/2006/main" noGrp="1"/>
          </p:cNvSpPr>
          <p:nvPr/>
        </p:nvSpPr>
        <p:spPr>
          <a:xfrm xmlns:a="http://schemas.openxmlformats.org/drawingml/2006/main">
            <a:off x="704850" y="6372225"/>
            <a:ext cx="1009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000000"/>
                </a:solidFill>
                <a:latin typeface="Malgun Gothic"/>
                <a:ea typeface="Malgun Gothic"/>
                <a:cs typeface="Malgun Gothic"/>
              </a:defRPr>
            </a:pPr>
            <a:r>
              <a:rPr sz="1125" b="0">
                <a:solidFill>
                  <a:srgbClr val="000000"/>
                </a:solidFill>
                <a:latin typeface="Malgun Gothic"/>
                <a:ea typeface="Malgun Gothic"/>
                <a:cs typeface="Malgun Gothic"/>
              </a:rPr>
              <a:t>연구계획 v6.3 §5–6. 품질(Q)은 장애 중증도가 아니라 측정의 신뢰성을 뜻함</a:t>
            </a:r>
          </a:p>
        </p:txBody>
      </p:sp>
    </p:spTree>
    <p:extLst>
      <p:ext uri="{BB962C8B-B14F-4D97-AF65-F5344CB8AC3E}">
        <p14:creationId xmlns:p14="http://schemas.microsoft.com/office/powerpoint/2010/main" val="188754952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CA3A28B-733D-4F69-952F-C18B87C200BE}"/>
              </a:ext>
            </a:extLst>
          </p:cNvPr>
          <p:cNvSpPr>
            <a:spLocks xmlns:a="http://schemas.openxmlformats.org/drawingml/2006/main" noGrp="1"/>
          </p:cNvSpPr>
          <p:nvPr/>
        </p:nvSpPr>
        <p:spPr>
          <a:xfrm xmlns:a="http://schemas.openxmlformats.org/drawingml/2006/main">
            <a:off x="685800" y="51435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00000"/>
                </a:solidFill>
                <a:latin typeface="Malgun Gothic"/>
                <a:ea typeface="Malgun Gothic"/>
                <a:cs typeface="Malgun Gothic"/>
              </a:defRPr>
            </a:pPr>
            <a:r>
              <a:rPr sz="3225" b="1">
                <a:solidFill>
                  <a:srgbClr val="000000"/>
                </a:solidFill>
                <a:latin typeface="Malgun Gothic"/>
                <a:ea typeface="Malgun Gothic"/>
                <a:cs typeface="Malgun Gothic"/>
              </a:rPr>
              <a:t>과제와 지표를 이렇게 선택한 이유</a:t>
            </a:r>
          </a:p>
        </p:txBody>
      </p:sp>
      <p:sp>
        <p:nvSpPr>
          <p:cNvPr id="2" name="">
            <a:extLst xmlns:a="http://schemas.openxmlformats.org/drawingml/2006/main">
              <a:ext uri="{FF2B5EF4-FFF2-40B4-BE49-F238E27FC236}">
                <a16:creationId xmlns:a16="http://schemas.microsoft.com/office/drawing/2014/main" id="{22105032-F6FE-4F31-A424-BD8343E3055D}"/>
              </a:ext>
            </a:extLst>
          </p:cNvPr>
          <p:cNvSpPr>
            <a:spLocks xmlns:a="http://schemas.openxmlformats.org/drawingml/2006/main" noGrp="1"/>
          </p:cNvSpPr>
          <p:nvPr/>
        </p:nvSpPr>
        <p:spPr>
          <a:xfrm xmlns:a="http://schemas.openxmlformats.org/drawingml/2006/main">
            <a:off x="110299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000000"/>
                </a:solidFill>
                <a:latin typeface="Malgun Gothic"/>
                <a:ea typeface="Malgun Gothic"/>
                <a:cs typeface="Malgun Gothic"/>
              </a:defRPr>
            </a:pPr>
            <a:r>
              <a:rPr sz="1200" b="0">
                <a:solidFill>
                  <a:srgbClr val="000000"/>
                </a:solidFill>
                <a:latin typeface="Malgun Gothic"/>
                <a:ea typeface="Malgun Gothic"/>
                <a:cs typeface="Malgun Gothic"/>
              </a:rPr>
              <a:t>07</a:t>
            </a:r>
          </a:p>
        </p:txBody>
      </p:sp>
      <p:sp>
        <p:nvSpPr>
          <p:cNvPr id="3" name="">
            <a:extLst xmlns:a="http://schemas.openxmlformats.org/drawingml/2006/main">
              <a:ext uri="{FF2B5EF4-FFF2-40B4-BE49-F238E27FC236}">
                <a16:creationId xmlns:a16="http://schemas.microsoft.com/office/drawing/2014/main" id="{96A2D310-2C30-41F6-AFB9-399A9A7E8607}"/>
              </a:ext>
            </a:extLst>
          </p:cNvPr>
          <p:cNvSpPr>
            <a:spLocks xmlns:a="http://schemas.openxmlformats.org/drawingml/2006/main" noGrp="1"/>
          </p:cNvSpPr>
          <p:nvPr/>
        </p:nvSpPr>
        <p:spPr>
          <a:xfrm xmlns:a="http://schemas.openxmlformats.org/drawingml/2006/main">
            <a:off x="704850" y="171450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T2  주 평가</a:t>
            </a:r>
          </a:p>
        </p:txBody>
      </p:sp>
      <p:sp>
        <p:nvSpPr>
          <p:cNvPr id="4" name="">
            <a:extLst xmlns:a="http://schemas.openxmlformats.org/drawingml/2006/main">
              <a:ext uri="{FF2B5EF4-FFF2-40B4-BE49-F238E27FC236}">
                <a16:creationId xmlns:a16="http://schemas.microsoft.com/office/drawing/2014/main" id="{B402D1E8-4B14-4F6B-9499-9BB55E30CAB5}"/>
              </a:ext>
            </a:extLst>
          </p:cNvPr>
          <p:cNvSpPr>
            <a:spLocks xmlns:a="http://schemas.openxmlformats.org/drawingml/2006/main" noGrp="1"/>
          </p:cNvSpPr>
          <p:nvPr/>
        </p:nvSpPr>
        <p:spPr>
          <a:xfrm xmlns:a="http://schemas.openxmlformats.org/drawingml/2006/main">
            <a:off x="3476625" y="1714500"/>
            <a:ext cx="7953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1.6 cm 구슬의 엄지–검지 파지</a:t>
            </a:r>
          </a:p>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K1이 과제에서 요구하는 손가락 쌍과 직접 연결</a:t>
            </a:r>
          </a:p>
        </p:txBody>
      </p:sp>
      <p:sp>
        <p:nvSpPr>
          <p:cNvPr id="5" name="">
            <a:extLst xmlns:a="http://schemas.openxmlformats.org/drawingml/2006/main">
              <a:ext uri="{FF2B5EF4-FFF2-40B4-BE49-F238E27FC236}">
                <a16:creationId xmlns:a16="http://schemas.microsoft.com/office/drawing/2014/main" id="{F17F5E54-1238-4172-B985-12B130A2CBC5}"/>
              </a:ext>
            </a:extLst>
          </p:cNvPr>
          <p:cNvSpPr>
            <a:spLocks xmlns:a="http://schemas.openxmlformats.org/drawingml/2006/main" noGrp="1"/>
          </p:cNvSpPr>
          <p:nvPr/>
        </p:nvSpPr>
        <p:spPr>
          <a:xfrm xmlns:a="http://schemas.openxmlformats.org/drawingml/2006/main">
            <a:off x="704850" y="3057525"/>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T1  참고 과제</a:t>
            </a:r>
          </a:p>
        </p:txBody>
      </p:sp>
      <p:sp>
        <p:nvSpPr>
          <p:cNvPr id="6" name="">
            <a:extLst xmlns:a="http://schemas.openxmlformats.org/drawingml/2006/main">
              <a:ext uri="{FF2B5EF4-FFF2-40B4-BE49-F238E27FC236}">
                <a16:creationId xmlns:a16="http://schemas.microsoft.com/office/drawing/2014/main" id="{D4F44F2D-E99F-4E05-824E-DCD33E970A28}"/>
              </a:ext>
            </a:extLst>
          </p:cNvPr>
          <p:cNvSpPr>
            <a:spLocks xmlns:a="http://schemas.openxmlformats.org/drawingml/2006/main" noGrp="1"/>
          </p:cNvSpPr>
          <p:nvPr/>
        </p:nvSpPr>
        <p:spPr>
          <a:xfrm xmlns:a="http://schemas.openxmlformats.org/drawingml/2006/main">
            <a:off x="3476625" y="3057525"/>
            <a:ext cx="7953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5 cm 블록 옮기기</a:t>
            </a:r>
          </a:p>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다양한 파지를 허용하므로 K1 해석을 제한</a:t>
            </a:r>
          </a:p>
        </p:txBody>
      </p:sp>
      <p:sp>
        <p:nvSpPr>
          <p:cNvPr id="7" name="">
            <a:extLst xmlns:a="http://schemas.openxmlformats.org/drawingml/2006/main">
              <a:ext uri="{FF2B5EF4-FFF2-40B4-BE49-F238E27FC236}">
                <a16:creationId xmlns:a16="http://schemas.microsoft.com/office/drawing/2014/main" id="{1A875BE5-25BC-4B21-A34F-F3A045DCB47E}"/>
              </a:ext>
            </a:extLst>
          </p:cNvPr>
          <p:cNvSpPr>
            <a:spLocks xmlns:a="http://schemas.openxmlformats.org/drawingml/2006/main" noGrp="1"/>
          </p:cNvSpPr>
          <p:nvPr/>
        </p:nvSpPr>
        <p:spPr>
          <a:xfrm xmlns:a="http://schemas.openxmlformats.org/drawingml/2006/main">
            <a:off x="704850" y="4371975"/>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K2  보완 지표</a:t>
            </a:r>
          </a:p>
        </p:txBody>
      </p:sp>
      <p:sp>
        <p:nvSpPr>
          <p:cNvPr id="8" name="">
            <a:extLst xmlns:a="http://schemas.openxmlformats.org/drawingml/2006/main">
              <a:ext uri="{FF2B5EF4-FFF2-40B4-BE49-F238E27FC236}">
                <a16:creationId xmlns:a16="http://schemas.microsoft.com/office/drawing/2014/main" id="{58BE8AB9-B8A1-4D0B-B080-CC380A43A7B2}"/>
              </a:ext>
            </a:extLst>
          </p:cNvPr>
          <p:cNvSpPr>
            <a:spLocks xmlns:a="http://schemas.openxmlformats.org/drawingml/2006/main" noGrp="1"/>
          </p:cNvSpPr>
          <p:nvPr/>
        </p:nvSpPr>
        <p:spPr>
          <a:xfrm xmlns:a="http://schemas.openxmlformats.org/drawingml/2006/main">
            <a:off x="3476625" y="4371975"/>
            <a:ext cx="7953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물체를 운반할 때 손목의 이동 속도를 반영</a:t>
            </a:r>
          </a:p>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실제 프레임 시간과 P95로 순간 이상치 영향을 줄임</a:t>
            </a:r>
          </a:p>
        </p:txBody>
      </p:sp>
      <p:sp>
        <p:nvSpPr>
          <p:cNvPr id="9" name="">
            <a:extLst xmlns:a="http://schemas.openxmlformats.org/drawingml/2006/main">
              <a:ext uri="{FF2B5EF4-FFF2-40B4-BE49-F238E27FC236}">
                <a16:creationId xmlns:a16="http://schemas.microsoft.com/office/drawing/2014/main" id="{D4619AED-C280-454A-83D0-E0A117348C8F}"/>
              </a:ext>
            </a:extLst>
          </p:cNvPr>
          <p:cNvSpPr>
            <a:spLocks xmlns:a="http://schemas.openxmlformats.org/drawingml/2006/main" noGrp="1"/>
          </p:cNvSpPr>
          <p:nvPr/>
        </p:nvSpPr>
        <p:spPr>
          <a:xfrm xmlns:a="http://schemas.openxmlformats.org/drawingml/2006/main">
            <a:off x="704850" y="6372225"/>
            <a:ext cx="1009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000000"/>
                </a:solidFill>
                <a:latin typeface="Malgun Gothic"/>
                <a:ea typeface="Malgun Gothic"/>
                <a:cs typeface="Malgun Gothic"/>
              </a:defRPr>
            </a:pPr>
            <a:r>
              <a:rPr sz="1125" b="0">
                <a:solidFill>
                  <a:srgbClr val="000000"/>
                </a:solidFill>
                <a:latin typeface="Malgun Gothic"/>
                <a:ea typeface="Malgun Gothic"/>
                <a:cs typeface="Malgun Gothic"/>
              </a:rPr>
              <a:t>연구계획 v6.3 §4–5. K1은 최대 벌림·접촉 여부의 직접 측정값으로 해석하지 않음</a:t>
            </a:r>
          </a:p>
        </p:txBody>
      </p:sp>
    </p:spTree>
    <p:extLst>
      <p:ext uri="{BB962C8B-B14F-4D97-AF65-F5344CB8AC3E}">
        <p14:creationId xmlns:p14="http://schemas.microsoft.com/office/powerpoint/2010/main" val="125112411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60182AB-508E-4155-ADF1-762F0FEE7F51}"/>
              </a:ext>
            </a:extLst>
          </p:cNvPr>
          <p:cNvSpPr>
            <a:spLocks xmlns:a="http://schemas.openxmlformats.org/drawingml/2006/main" noGrp="1"/>
          </p:cNvSpPr>
          <p:nvPr/>
        </p:nvSpPr>
        <p:spPr>
          <a:xfrm xmlns:a="http://schemas.openxmlformats.org/drawingml/2006/main">
            <a:off x="685800" y="51435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00000"/>
                </a:solidFill>
                <a:latin typeface="Malgun Gothic"/>
                <a:ea typeface="Malgun Gothic"/>
                <a:cs typeface="Malgun Gothic"/>
              </a:defRPr>
            </a:pPr>
            <a:r>
              <a:rPr sz="3225" b="1">
                <a:solidFill>
                  <a:srgbClr val="000000"/>
                </a:solidFill>
                <a:latin typeface="Malgun Gothic"/>
                <a:ea typeface="Malgun Gothic"/>
                <a:cs typeface="Malgun Gothic"/>
              </a:rPr>
              <a:t>품질 규칙도 독립적으로 검증합니다</a:t>
            </a:r>
          </a:p>
        </p:txBody>
      </p:sp>
      <p:sp>
        <p:nvSpPr>
          <p:cNvPr id="2" name="">
            <a:extLst xmlns:a="http://schemas.openxmlformats.org/drawingml/2006/main">
              <a:ext uri="{FF2B5EF4-FFF2-40B4-BE49-F238E27FC236}">
                <a16:creationId xmlns:a16="http://schemas.microsoft.com/office/drawing/2014/main" id="{9D3B8C8C-8170-4BFF-8B66-7280AB99AF4D}"/>
              </a:ext>
            </a:extLst>
          </p:cNvPr>
          <p:cNvSpPr>
            <a:spLocks xmlns:a="http://schemas.openxmlformats.org/drawingml/2006/main" noGrp="1"/>
          </p:cNvSpPr>
          <p:nvPr/>
        </p:nvSpPr>
        <p:spPr>
          <a:xfrm xmlns:a="http://schemas.openxmlformats.org/drawingml/2006/main">
            <a:off x="110299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000000"/>
                </a:solidFill>
                <a:latin typeface="Malgun Gothic"/>
                <a:ea typeface="Malgun Gothic"/>
                <a:cs typeface="Malgun Gothic"/>
              </a:defRPr>
            </a:pPr>
            <a:r>
              <a:rPr sz="1200" b="0">
                <a:solidFill>
                  <a:srgbClr val="000000"/>
                </a:solidFill>
                <a:latin typeface="Malgun Gothic"/>
                <a:ea typeface="Malgun Gothic"/>
                <a:cs typeface="Malgun Gothic"/>
              </a:rPr>
              <a:t>08</a:t>
            </a:r>
          </a:p>
        </p:txBody>
      </p:sp>
      <p:sp>
        <p:nvSpPr>
          <p:cNvPr id="3" name="">
            <a:extLst xmlns:a="http://schemas.openxmlformats.org/drawingml/2006/main">
              <a:ext uri="{FF2B5EF4-FFF2-40B4-BE49-F238E27FC236}">
                <a16:creationId xmlns:a16="http://schemas.microsoft.com/office/drawing/2014/main" id="{468E76FA-F0CF-44C2-A229-C00DEE17B211}"/>
              </a:ext>
            </a:extLst>
          </p:cNvPr>
          <p:cNvSpPr>
            <a:spLocks xmlns:a="http://schemas.openxmlformats.org/drawingml/2006/main" noGrp="1"/>
          </p:cNvSpPr>
          <p:nvPr/>
        </p:nvSpPr>
        <p:spPr>
          <a:xfrm xmlns:a="http://schemas.openxmlformats.org/drawingml/2006/main">
            <a:off x="704850" y="169545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측정 오차</a:t>
            </a:r>
          </a:p>
        </p:txBody>
      </p:sp>
      <p:sp>
        <p:nvSpPr>
          <p:cNvPr id="4" name="">
            <a:extLst xmlns:a="http://schemas.openxmlformats.org/drawingml/2006/main">
              <a:ext uri="{FF2B5EF4-FFF2-40B4-BE49-F238E27FC236}">
                <a16:creationId xmlns:a16="http://schemas.microsoft.com/office/drawing/2014/main" id="{FC2BCDCE-3D9D-43EA-B293-2D49AE730198}"/>
              </a:ext>
            </a:extLst>
          </p:cNvPr>
          <p:cNvSpPr>
            <a:spLocks xmlns:a="http://schemas.openxmlformats.org/drawingml/2006/main" noGrp="1"/>
          </p:cNvSpPr>
          <p:nvPr/>
        </p:nvSpPr>
        <p:spPr>
          <a:xfrm xmlns:a="http://schemas.openxmlformats.org/drawingml/2006/main">
            <a:off x="3476625" y="1695450"/>
            <a:ext cx="7953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기준 치구와 비교해 거리 오차를 확인</a:t>
            </a:r>
          </a:p>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속도 정확도는 별도 기준이 필요</a:t>
            </a:r>
          </a:p>
        </p:txBody>
      </p:sp>
      <p:sp>
        <p:nvSpPr>
          <p:cNvPr id="5" name="">
            <a:extLst xmlns:a="http://schemas.openxmlformats.org/drawingml/2006/main">
              <a:ext uri="{FF2B5EF4-FFF2-40B4-BE49-F238E27FC236}">
                <a16:creationId xmlns:a16="http://schemas.microsoft.com/office/drawing/2014/main" id="{5C3F0965-0966-4DCC-9D7B-2A4780BDB263}"/>
              </a:ext>
            </a:extLst>
          </p:cNvPr>
          <p:cNvSpPr>
            <a:spLocks xmlns:a="http://schemas.openxmlformats.org/drawingml/2006/main" noGrp="1"/>
          </p:cNvSpPr>
          <p:nvPr/>
        </p:nvSpPr>
        <p:spPr>
          <a:xfrm xmlns:a="http://schemas.openxmlformats.org/drawingml/2006/main">
            <a:off x="704850" y="300990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가림·추적 오류</a:t>
            </a:r>
          </a:p>
        </p:txBody>
      </p:sp>
      <p:sp>
        <p:nvSpPr>
          <p:cNvPr id="6" name="">
            <a:extLst xmlns:a="http://schemas.openxmlformats.org/drawingml/2006/main">
              <a:ext uri="{FF2B5EF4-FFF2-40B4-BE49-F238E27FC236}">
                <a16:creationId xmlns:a16="http://schemas.microsoft.com/office/drawing/2014/main" id="{DFFFE506-65B3-4FE5-8B6A-F52DC718CA6F}"/>
              </a:ext>
            </a:extLst>
          </p:cNvPr>
          <p:cNvSpPr>
            <a:spLocks xmlns:a="http://schemas.openxmlformats.org/drawingml/2006/main" noGrp="1"/>
          </p:cNvSpPr>
          <p:nvPr/>
        </p:nvSpPr>
        <p:spPr>
          <a:xfrm xmlns:a="http://schemas.openxmlformats.org/drawingml/2006/main">
            <a:off x="3476625" y="3009900"/>
            <a:ext cx="7953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깊이 결측과 손–손목 3D 일관성을 검사</a:t>
            </a:r>
          </a:p>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독립 가림 주석과 대조해 검출 성능을 평가</a:t>
            </a:r>
          </a:p>
        </p:txBody>
      </p:sp>
      <p:sp>
        <p:nvSpPr>
          <p:cNvPr id="7" name="">
            <a:extLst xmlns:a="http://schemas.openxmlformats.org/drawingml/2006/main">
              <a:ext uri="{FF2B5EF4-FFF2-40B4-BE49-F238E27FC236}">
                <a16:creationId xmlns:a16="http://schemas.microsoft.com/office/drawing/2014/main" id="{6341C1B9-4E67-4F3E-846A-EBE8CA4D08C3}"/>
              </a:ext>
            </a:extLst>
          </p:cNvPr>
          <p:cNvSpPr>
            <a:spLocks xmlns:a="http://schemas.openxmlformats.org/drawingml/2006/main" noGrp="1"/>
          </p:cNvSpPr>
          <p:nvPr/>
        </p:nvSpPr>
        <p:spPr>
          <a:xfrm xmlns:a="http://schemas.openxmlformats.org/drawingml/2006/main">
            <a:off x="704850" y="432435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규칙 동결</a:t>
            </a:r>
          </a:p>
        </p:txBody>
      </p:sp>
      <p:sp>
        <p:nvSpPr>
          <p:cNvPr id="8" name="">
            <a:extLst xmlns:a="http://schemas.openxmlformats.org/drawingml/2006/main">
              <a:ext uri="{FF2B5EF4-FFF2-40B4-BE49-F238E27FC236}">
                <a16:creationId xmlns:a16="http://schemas.microsoft.com/office/drawing/2014/main" id="{60E118DB-D8DC-4BBD-A866-7F375892186D}"/>
              </a:ext>
            </a:extLst>
          </p:cNvPr>
          <p:cNvSpPr>
            <a:spLocks xmlns:a="http://schemas.openxmlformats.org/drawingml/2006/main" noGrp="1"/>
          </p:cNvSpPr>
          <p:nvPr/>
        </p:nvSpPr>
        <p:spPr>
          <a:xfrm xmlns:a="http://schemas.openxmlformats.org/drawingml/2006/main">
            <a:off x="3476625" y="4324350"/>
            <a:ext cx="7953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개발군에서 결정한 규칙을 본평가 전에 고정</a:t>
            </a:r>
          </a:p>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AI 정답률을 보고 임계값을 조정하지 않음</a:t>
            </a:r>
          </a:p>
        </p:txBody>
      </p:sp>
      <p:sp>
        <p:nvSpPr>
          <p:cNvPr id="9" name="">
            <a:extLst xmlns:a="http://schemas.openxmlformats.org/drawingml/2006/main">
              <a:ext uri="{FF2B5EF4-FFF2-40B4-BE49-F238E27FC236}">
                <a16:creationId xmlns:a16="http://schemas.microsoft.com/office/drawing/2014/main" id="{B33B89F3-D606-4957-8CBB-4E4DB42AE1BB}"/>
              </a:ext>
            </a:extLst>
          </p:cNvPr>
          <p:cNvSpPr>
            <a:spLocks xmlns:a="http://schemas.openxmlformats.org/drawingml/2006/main" noGrp="1"/>
          </p:cNvSpPr>
          <p:nvPr/>
        </p:nvSpPr>
        <p:spPr>
          <a:xfrm xmlns:a="http://schemas.openxmlformats.org/drawingml/2006/main">
            <a:off x="704850" y="6372225"/>
            <a:ext cx="1009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000000"/>
                </a:solidFill>
                <a:latin typeface="Malgun Gothic"/>
                <a:ea typeface="Malgun Gothic"/>
                <a:cs typeface="Malgun Gothic"/>
              </a:defRPr>
            </a:pPr>
            <a:r>
              <a:rPr sz="1125" b="0">
                <a:solidFill>
                  <a:srgbClr val="000000"/>
                </a:solidFill>
                <a:latin typeface="Malgun Gothic"/>
                <a:ea typeface="Malgun Gothic"/>
                <a:cs typeface="Malgun Gothic"/>
              </a:rPr>
              <a:t>주의: 현재 Q5는 사람의 가림 주석을 사용하므로 완전 자동화로 주장하지 않음</a:t>
            </a:r>
          </a:p>
        </p:txBody>
      </p:sp>
    </p:spTree>
    <p:extLst>
      <p:ext uri="{BB962C8B-B14F-4D97-AF65-F5344CB8AC3E}">
        <p14:creationId xmlns:p14="http://schemas.microsoft.com/office/powerpoint/2010/main" val="177862287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0A73EAF-E692-46E4-909C-9EADBDCB7FFC}"/>
              </a:ext>
            </a:extLst>
          </p:cNvPr>
          <p:cNvSpPr>
            <a:spLocks xmlns:a="http://schemas.openxmlformats.org/drawingml/2006/main" noGrp="1"/>
          </p:cNvSpPr>
          <p:nvPr/>
        </p:nvSpPr>
        <p:spPr>
          <a:xfrm xmlns:a="http://schemas.openxmlformats.org/drawingml/2006/main">
            <a:off x="685800" y="51435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00000"/>
                </a:solidFill>
                <a:latin typeface="Malgun Gothic"/>
                <a:ea typeface="Malgun Gothic"/>
                <a:cs typeface="Malgun Gothic"/>
              </a:defRPr>
            </a:pPr>
            <a:r>
              <a:rPr sz="3225" b="1">
                <a:solidFill>
                  <a:srgbClr val="000000"/>
                </a:solidFill>
                <a:latin typeface="Malgun Gothic"/>
                <a:ea typeface="Malgun Gothic"/>
                <a:cs typeface="Malgun Gothic"/>
              </a:rPr>
              <a:t>비교 설계. 각 조건이 답하는 질문</a:t>
            </a:r>
          </a:p>
        </p:txBody>
      </p:sp>
      <p:sp>
        <p:nvSpPr>
          <p:cNvPr id="2" name="">
            <a:extLst xmlns:a="http://schemas.openxmlformats.org/drawingml/2006/main">
              <a:ext uri="{FF2B5EF4-FFF2-40B4-BE49-F238E27FC236}">
                <a16:creationId xmlns:a16="http://schemas.microsoft.com/office/drawing/2014/main" id="{7F7BB466-6F63-4C4D-9620-3536F1A9A027}"/>
              </a:ext>
            </a:extLst>
          </p:cNvPr>
          <p:cNvSpPr>
            <a:spLocks xmlns:a="http://schemas.openxmlformats.org/drawingml/2006/main" noGrp="1"/>
          </p:cNvSpPr>
          <p:nvPr/>
        </p:nvSpPr>
        <p:spPr>
          <a:xfrm xmlns:a="http://schemas.openxmlformats.org/drawingml/2006/main">
            <a:off x="110299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000000"/>
                </a:solidFill>
                <a:latin typeface="Malgun Gothic"/>
                <a:ea typeface="Malgun Gothic"/>
                <a:cs typeface="Malgun Gothic"/>
              </a:defRPr>
            </a:pPr>
            <a:r>
              <a:rPr sz="1200" b="0">
                <a:solidFill>
                  <a:srgbClr val="000000"/>
                </a:solidFill>
                <a:latin typeface="Malgun Gothic"/>
                <a:ea typeface="Malgun Gothic"/>
                <a:cs typeface="Malgun Gothic"/>
              </a:rPr>
              <a:t>09</a:t>
            </a:r>
          </a:p>
        </p:txBody>
      </p:sp>
      <p:graphicFrame>
        <p:nvGraphicFramePr>
          <p:cNvPr id="7" name=""/>
          <p:cNvGraphicFramePr/>
          <p:nvPr/>
        </p:nvGraphicFramePr>
        <p:xfrm>
          <a:off xmlns:a="http://schemas.openxmlformats.org/drawingml/2006/main" x="704850" y="1714500"/>
          <a:ext xmlns:a="http://schemas.openxmlformats.org/drawingml/2006/main" cx="10763250" cy="3600450"/>
        </p:xfrm>
        <a:graphic xmlns:a="http://schemas.openxmlformats.org/drawingml/2006/main">
          <a:graphicData uri="http://schemas.openxmlformats.org/drawingml/2006/table">
            <a:tbl>
              <a:tblPr/>
              <a:tblGrid>
                <a:gridCol w="2095500"/>
                <a:gridCol w="4381500"/>
                <a:gridCol w="4286250"/>
              </a:tblGrid>
              <a:tr h="600075">
                <a:tc>
                  <a:txBody>
                    <a:bodyPr/>
                    <a:lstStyle/>
                    <a:p>
                      <a:r>
                        <a:rPr sz="1725" b="1">
                          <a:solidFill>
                            <a:srgbClr val="000000"/>
                          </a:solidFill>
                          <a:latin typeface="Malgun Gothic"/>
                          <a:ea typeface="Malgun Gothic"/>
                          <a:cs typeface="Malgun Gothic"/>
                        </a:rPr>
                        <a:t>비교</a:t>
                      </a:r>
                    </a:p>
                  </a:txBody>
                  <a:tcPr marL="91440" marR="91440" marT="45720" marB="45720">
                    <a:solidFill>
                      <a:srgbClr val="FFFFFF"/>
                    </a:solidFill>
                  </a:tcPr>
                </a:tc>
                <a:tc>
                  <a:txBody>
                    <a:bodyPr/>
                    <a:lstStyle/>
                    <a:p>
                      <a:r>
                        <a:rPr sz="1725" b="1">
                          <a:solidFill>
                            <a:srgbClr val="000000"/>
                          </a:solidFill>
                          <a:latin typeface="Malgun Gothic"/>
                          <a:ea typeface="Malgun Gothic"/>
                          <a:cs typeface="Malgun Gothic"/>
                        </a:rPr>
                        <a:t>조건</a:t>
                      </a:r>
                    </a:p>
                  </a:txBody>
                  <a:tcPr marL="91440" marR="91440" marT="45720" marB="45720">
                    <a:solidFill>
                      <a:srgbClr val="FFFFFF"/>
                    </a:solidFill>
                  </a:tcPr>
                </a:tc>
                <a:tc>
                  <a:txBody>
                    <a:bodyPr/>
                    <a:lstStyle/>
                    <a:p>
                      <a:r>
                        <a:rPr sz="1725" b="1">
                          <a:solidFill>
                            <a:srgbClr val="000000"/>
                          </a:solidFill>
                          <a:latin typeface="Malgun Gothic"/>
                          <a:ea typeface="Malgun Gothic"/>
                          <a:cs typeface="Malgun Gothic"/>
                        </a:rPr>
                        <a:t>해석</a:t>
                      </a:r>
                    </a:p>
                  </a:txBody>
                  <a:tcPr marL="91440" marR="91440" marT="45720" marB="45720">
                    <a:solidFill>
                      <a:srgbClr val="FFFFFF"/>
                    </a:solidFill>
                  </a:tcPr>
                </a:tc>
              </a:tr>
              <a:tr h="600075">
                <a:tc>
                  <a:txBody>
                    <a:bodyPr/>
                    <a:lstStyle/>
                    <a:p>
                      <a:r>
                        <a:rPr sz="1725" b="0">
                          <a:solidFill>
                            <a:srgbClr val="000000"/>
                          </a:solidFill>
                          <a:latin typeface="Malgun Gothic"/>
                          <a:ea typeface="Malgun Gothic"/>
                          <a:cs typeface="Malgun Gothic"/>
                        </a:rPr>
                        <a:t>A2 vs A1</a:t>
                      </a:r>
                    </a:p>
                  </a:txBody>
                  <a:tcPr marL="91440" marR="91440" marT="45720" marB="45720">
                    <a:solidFill>
                      <a:srgbClr val="FFFFFF"/>
                    </a:solidFill>
                  </a:tcPr>
                </a:tc>
                <a:tc>
                  <a:txBody>
                    <a:bodyPr/>
                    <a:lstStyle/>
                    <a:p>
                      <a:r>
                        <a:rPr sz="1725" b="0">
                          <a:solidFill>
                            <a:srgbClr val="000000"/>
                          </a:solidFill>
                          <a:latin typeface="Malgun Gothic"/>
                          <a:ea typeface="Malgun Gothic"/>
                          <a:cs typeface="Malgun Gothic"/>
                        </a:rPr>
                        <a:t>모든 수치 / 수치 없음</a:t>
                      </a:r>
                    </a:p>
                  </a:txBody>
                  <a:tcPr marL="91440" marR="91440" marT="45720" marB="45720">
                    <a:solidFill>
                      <a:srgbClr val="FFFFFF"/>
                    </a:solidFill>
                  </a:tcPr>
                </a:tc>
                <a:tc>
                  <a:txBody>
                    <a:bodyPr/>
                    <a:lstStyle/>
                    <a:p>
                      <a:r>
                        <a:rPr sz="1725" b="0">
                          <a:solidFill>
                            <a:srgbClr val="000000"/>
                          </a:solidFill>
                          <a:latin typeface="Malgun Gothic"/>
                          <a:ea typeface="Malgun Gothic"/>
                          <a:cs typeface="Malgun Gothic"/>
                        </a:rPr>
                        <a:t>수치 추가의 이득 또는 위험</a:t>
                      </a:r>
                    </a:p>
                  </a:txBody>
                  <a:tcPr marL="91440" marR="91440" marT="45720" marB="45720">
                    <a:solidFill>
                      <a:srgbClr val="FFFFFF"/>
                    </a:solidFill>
                  </a:tcPr>
                </a:tc>
              </a:tr>
              <a:tr h="600075">
                <a:tc>
                  <a:txBody>
                    <a:bodyPr/>
                    <a:lstStyle/>
                    <a:p>
                      <a:r>
                        <a:rPr sz="1725" b="0">
                          <a:solidFill>
                            <a:srgbClr val="000000"/>
                          </a:solidFill>
                          <a:latin typeface="Malgun Gothic"/>
                          <a:ea typeface="Malgun Gothic"/>
                          <a:cs typeface="Malgun Gothic"/>
                        </a:rPr>
                        <a:t>A3 vs A2</a:t>
                      </a:r>
                    </a:p>
                  </a:txBody>
                  <a:tcPr marL="91440" marR="91440" marT="45720" marB="45720">
                    <a:solidFill>
                      <a:srgbClr val="FFFFFF"/>
                    </a:solidFill>
                  </a:tcPr>
                </a:tc>
                <a:tc>
                  <a:txBody>
                    <a:bodyPr/>
                    <a:lstStyle/>
                    <a:p>
                      <a:r>
                        <a:rPr sz="1725" b="0">
                          <a:solidFill>
                            <a:srgbClr val="000000"/>
                          </a:solidFill>
                          <a:latin typeface="Malgun Gothic"/>
                          <a:ea typeface="Malgun Gothic"/>
                          <a:cs typeface="Malgun Gothic"/>
                        </a:rPr>
                        <a:t>품질 선별 / 모든 수치</a:t>
                      </a:r>
                    </a:p>
                  </a:txBody>
                  <a:tcPr marL="91440" marR="91440" marT="45720" marB="45720">
                    <a:solidFill>
                      <a:srgbClr val="FFFFFF"/>
                    </a:solidFill>
                  </a:tcPr>
                </a:tc>
                <a:tc>
                  <a:txBody>
                    <a:bodyPr/>
                    <a:lstStyle/>
                    <a:p>
                      <a:r>
                        <a:rPr sz="1725" b="0">
                          <a:solidFill>
                            <a:srgbClr val="000000"/>
                          </a:solidFill>
                          <a:latin typeface="Malgun Gothic"/>
                          <a:ea typeface="Malgun Gothic"/>
                          <a:cs typeface="Malgun Gothic"/>
                        </a:rPr>
                        <a:t>품질 선별의 효과</a:t>
                      </a:r>
                    </a:p>
                  </a:txBody>
                  <a:tcPr marL="91440" marR="91440" marT="45720" marB="45720">
                    <a:solidFill>
                      <a:srgbClr val="FFFFFF"/>
                    </a:solidFill>
                  </a:tcPr>
                </a:tc>
              </a:tr>
              <a:tr h="600075">
                <a:tc>
                  <a:txBody>
                    <a:bodyPr/>
                    <a:lstStyle/>
                    <a:p>
                      <a:r>
                        <a:rPr sz="1725" b="1">
                          <a:solidFill>
                            <a:srgbClr val="003399"/>
                          </a:solidFill>
                          <a:latin typeface="Malgun Gothic"/>
                          <a:ea typeface="Malgun Gothic"/>
                          <a:cs typeface="Malgun Gothic"/>
                        </a:rPr>
                        <a:t>A3 vs R</a:t>
                      </a:r>
                    </a:p>
                  </a:txBody>
                  <a:tcPr marL="91440" marR="91440" marT="45720" marB="45720">
                    <a:solidFill>
                      <a:srgbClr val="FFFFFF"/>
                    </a:solidFill>
                  </a:tcPr>
                </a:tc>
                <a:tc>
                  <a:txBody>
                    <a:bodyPr/>
                    <a:lstStyle/>
                    <a:p>
                      <a:r>
                        <a:rPr sz="1725" b="1">
                          <a:solidFill>
                            <a:srgbClr val="003399"/>
                          </a:solidFill>
                          <a:latin typeface="Malgun Gothic"/>
                          <a:ea typeface="Malgun Gothic"/>
                          <a:cs typeface="Malgun Gothic"/>
                        </a:rPr>
                        <a:t>품질 선별 / 같은 양 무작위 제외</a:t>
                      </a:r>
                    </a:p>
                  </a:txBody>
                  <a:tcPr marL="91440" marR="91440" marT="45720" marB="45720">
                    <a:solidFill>
                      <a:srgbClr val="FFFFFF"/>
                    </a:solidFill>
                  </a:tcPr>
                </a:tc>
                <a:tc>
                  <a:txBody>
                    <a:bodyPr/>
                    <a:lstStyle/>
                    <a:p>
                      <a:r>
                        <a:rPr sz="1725" b="1">
                          <a:solidFill>
                            <a:srgbClr val="003399"/>
                          </a:solidFill>
                          <a:latin typeface="Malgun Gothic"/>
                          <a:ea typeface="Malgun Gothic"/>
                          <a:cs typeface="Malgun Gothic"/>
                        </a:rPr>
                        <a:t>정보량 감소와 구분한 효과</a:t>
                      </a:r>
                    </a:p>
                  </a:txBody>
                  <a:tcPr marL="91440" marR="91440" marT="45720" marB="45720">
                    <a:solidFill>
                      <a:srgbClr val="FFFFFF"/>
                    </a:solidFill>
                  </a:tcPr>
                </a:tc>
              </a:tr>
              <a:tr h="600075">
                <a:tc>
                  <a:txBody>
                    <a:bodyPr/>
                    <a:lstStyle/>
                    <a:p>
                      <a:r>
                        <a:rPr sz="1725" b="0">
                          <a:solidFill>
                            <a:srgbClr val="000000"/>
                          </a:solidFill>
                          <a:latin typeface="Malgun Gothic"/>
                          <a:ea typeface="Malgun Gothic"/>
                          <a:cs typeface="Malgun Gothic"/>
                        </a:rPr>
                        <a:t>A3 vs A4</a:t>
                      </a:r>
                    </a:p>
                  </a:txBody>
                  <a:tcPr marL="91440" marR="91440" marT="45720" marB="45720">
                    <a:solidFill>
                      <a:srgbClr val="FFFFFF"/>
                    </a:solidFill>
                  </a:tcPr>
                </a:tc>
                <a:tc>
                  <a:txBody>
                    <a:bodyPr/>
                    <a:lstStyle/>
                    <a:p>
                      <a:r>
                        <a:rPr sz="1725" b="0">
                          <a:solidFill>
                            <a:srgbClr val="000000"/>
                          </a:solidFill>
                          <a:latin typeface="Malgun Gothic"/>
                          <a:ea typeface="Malgun Gothic"/>
                          <a:cs typeface="Malgun Gothic"/>
                        </a:rPr>
                        <a:t>영상 있음 / 없음</a:t>
                      </a:r>
                    </a:p>
                  </a:txBody>
                  <a:tcPr marL="91440" marR="91440" marT="45720" marB="45720">
                    <a:solidFill>
                      <a:srgbClr val="FFFFFF"/>
                    </a:solidFill>
                  </a:tcPr>
                </a:tc>
                <a:tc>
                  <a:txBody>
                    <a:bodyPr/>
                    <a:lstStyle/>
                    <a:p>
                      <a:r>
                        <a:rPr sz="1725" b="0">
                          <a:solidFill>
                            <a:srgbClr val="000000"/>
                          </a:solidFill>
                          <a:latin typeface="Malgun Gothic"/>
                          <a:ea typeface="Malgun Gothic"/>
                          <a:cs typeface="Malgun Gothic"/>
                        </a:rPr>
                        <a:t>영상의 추가 가치</a:t>
                      </a:r>
                    </a:p>
                  </a:txBody>
                  <a:tcPr marL="91440" marR="91440" marT="45720" marB="45720">
                    <a:solidFill>
                      <a:srgbClr val="FFFFFF"/>
                    </a:solidFill>
                  </a:tcPr>
                </a:tc>
              </a:tr>
              <a:tr h="600075">
                <a:tc>
                  <a:txBody>
                    <a:bodyPr/>
                    <a:lstStyle/>
                    <a:p>
                      <a:r>
                        <a:rPr sz="1725" b="0">
                          <a:solidFill>
                            <a:srgbClr val="000000"/>
                          </a:solidFill>
                          <a:latin typeface="Malgun Gothic"/>
                          <a:ea typeface="Malgun Gothic"/>
                          <a:cs typeface="Malgun Gothic"/>
                        </a:rPr>
                        <a:t>A3 vs A0</a:t>
                      </a:r>
                    </a:p>
                  </a:txBody>
                  <a:tcPr marL="91440" marR="91440" marT="45720" marB="45720">
                    <a:solidFill>
                      <a:srgbClr val="FFFFFF"/>
                    </a:solidFill>
                  </a:tcPr>
                </a:tc>
                <a:tc>
                  <a:txBody>
                    <a:bodyPr/>
                    <a:lstStyle/>
                    <a:p>
                      <a:r>
                        <a:rPr sz="1725" b="0">
                          <a:solidFill>
                            <a:srgbClr val="000000"/>
                          </a:solidFill>
                          <a:latin typeface="Malgun Gothic"/>
                          <a:ea typeface="Malgun Gothic"/>
                          <a:cs typeface="Malgun Gothic"/>
                        </a:rPr>
                        <a:t>VLM / 통계모형</a:t>
                      </a:r>
                    </a:p>
                  </a:txBody>
                  <a:tcPr marL="91440" marR="91440" marT="45720" marB="45720">
                    <a:solidFill>
                      <a:srgbClr val="FFFFFF"/>
                    </a:solidFill>
                  </a:tcPr>
                </a:tc>
                <a:tc>
                  <a:txBody>
                    <a:bodyPr/>
                    <a:lstStyle/>
                    <a:p>
                      <a:r>
                        <a:rPr sz="1725" b="0">
                          <a:solidFill>
                            <a:srgbClr val="000000"/>
                          </a:solidFill>
                          <a:latin typeface="Malgun Gothic"/>
                          <a:ea typeface="Malgun Gothic"/>
                          <a:cs typeface="Malgun Gothic"/>
                        </a:rPr>
                        <a:t>복잡한 모델이 필요한가</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A432300-3E5D-4317-87A1-899B882B691F}"/>
              </a:ext>
            </a:extLst>
          </p:cNvPr>
          <p:cNvSpPr>
            <a:spLocks xmlns:a="http://schemas.openxmlformats.org/drawingml/2006/main" noGrp="1"/>
          </p:cNvSpPr>
          <p:nvPr/>
        </p:nvSpPr>
        <p:spPr>
          <a:xfrm xmlns:a="http://schemas.openxmlformats.org/drawingml/2006/main">
            <a:off x="704850" y="5591175"/>
            <a:ext cx="1076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영상·평가 점수·프롬프트 형식을 조건 간 최대한 동일하게 유지합니다</a:t>
            </a:r>
          </a:p>
        </p:txBody>
      </p:sp>
    </p:spTree>
    <p:extLst>
      <p:ext uri="{BB962C8B-B14F-4D97-AF65-F5344CB8AC3E}">
        <p14:creationId xmlns:p14="http://schemas.microsoft.com/office/powerpoint/2010/main" val="52162854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75E7ACC-317D-4304-9479-55BBCF42E4B1}"/>
              </a:ext>
            </a:extLst>
          </p:cNvPr>
          <p:cNvSpPr>
            <a:spLocks xmlns:a="http://schemas.openxmlformats.org/drawingml/2006/main" noGrp="1"/>
          </p:cNvSpPr>
          <p:nvPr/>
        </p:nvSpPr>
        <p:spPr>
          <a:xfrm xmlns:a="http://schemas.openxmlformats.org/drawingml/2006/main">
            <a:off x="685800" y="51435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00000"/>
                </a:solidFill>
                <a:latin typeface="Malgun Gothic"/>
                <a:ea typeface="Malgun Gothic"/>
                <a:cs typeface="Malgun Gothic"/>
              </a:defRPr>
            </a:pPr>
            <a:r>
              <a:rPr sz="3225" b="1">
                <a:solidFill>
                  <a:srgbClr val="000000"/>
                </a:solidFill>
                <a:latin typeface="Malgun Gothic"/>
                <a:ea typeface="Malgun Gothic"/>
                <a:cs typeface="Malgun Gothic"/>
              </a:rPr>
              <a:t>평가 계획. 사람 단위로 효과를 판단</a:t>
            </a:r>
          </a:p>
        </p:txBody>
      </p:sp>
      <p:sp>
        <p:nvSpPr>
          <p:cNvPr id="2" name="">
            <a:extLst xmlns:a="http://schemas.openxmlformats.org/drawingml/2006/main">
              <a:ext uri="{FF2B5EF4-FFF2-40B4-BE49-F238E27FC236}">
                <a16:creationId xmlns:a16="http://schemas.microsoft.com/office/drawing/2014/main" id="{B8E1C18D-3F0F-481F-8AF4-35F459F795CA}"/>
              </a:ext>
            </a:extLst>
          </p:cNvPr>
          <p:cNvSpPr>
            <a:spLocks xmlns:a="http://schemas.openxmlformats.org/drawingml/2006/main" noGrp="1"/>
          </p:cNvSpPr>
          <p:nvPr/>
        </p:nvSpPr>
        <p:spPr>
          <a:xfrm xmlns:a="http://schemas.openxmlformats.org/drawingml/2006/main">
            <a:off x="110299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000000"/>
                </a:solidFill>
                <a:latin typeface="Malgun Gothic"/>
                <a:ea typeface="Malgun Gothic"/>
                <a:cs typeface="Malgun Gothic"/>
              </a:defRPr>
            </a:pPr>
            <a:r>
              <a:rPr sz="1200" b="0">
                <a:solidFill>
                  <a:srgbClr val="000000"/>
                </a:solidFill>
                <a:latin typeface="Malgun Gothic"/>
                <a:ea typeface="Malgun Gothic"/>
                <a:cs typeface="Malgun Gothic"/>
              </a:rPr>
              <a:t>10</a:t>
            </a:r>
          </a:p>
        </p:txBody>
      </p:sp>
      <p:sp>
        <p:nvSpPr>
          <p:cNvPr id="3" name="">
            <a:extLst xmlns:a="http://schemas.openxmlformats.org/drawingml/2006/main">
              <a:ext uri="{FF2B5EF4-FFF2-40B4-BE49-F238E27FC236}">
                <a16:creationId xmlns:a16="http://schemas.microsoft.com/office/drawing/2014/main" id="{224DBC17-D127-49DE-9066-F2FDB2C6CAA9}"/>
              </a:ext>
            </a:extLst>
          </p:cNvPr>
          <p:cNvSpPr>
            <a:spLocks xmlns:a="http://schemas.openxmlformats.org/drawingml/2006/main" noGrp="1"/>
          </p:cNvSpPr>
          <p:nvPr/>
        </p:nvSpPr>
        <p:spPr>
          <a:xfrm xmlns:a="http://schemas.openxmlformats.org/drawingml/2006/main">
            <a:off x="704850" y="171450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표본과 분리</a:t>
            </a:r>
          </a:p>
        </p:txBody>
      </p:sp>
      <p:sp>
        <p:nvSpPr>
          <p:cNvPr id="4" name="">
            <a:extLst xmlns:a="http://schemas.openxmlformats.org/drawingml/2006/main">
              <a:ext uri="{FF2B5EF4-FFF2-40B4-BE49-F238E27FC236}">
                <a16:creationId xmlns:a16="http://schemas.microsoft.com/office/drawing/2014/main" id="{8C13B1B0-AC21-430A-9C6B-F6317C633FB4}"/>
              </a:ext>
            </a:extLst>
          </p:cNvPr>
          <p:cNvSpPr>
            <a:spLocks xmlns:a="http://schemas.openxmlformats.org/drawingml/2006/main" noGrp="1"/>
          </p:cNvSpPr>
          <p:nvPr/>
        </p:nvSpPr>
        <p:spPr>
          <a:xfrm xmlns:a="http://schemas.openxmlformats.org/drawingml/2006/main">
            <a:off x="3476625" y="1714500"/>
            <a:ext cx="7953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뇌졸중: 개발 3명 + 본평가 20명</a:t>
            </a:r>
          </a:p>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비장애인: 개발 6명 + 측정 검증 16명</a:t>
            </a:r>
          </a:p>
        </p:txBody>
      </p:sp>
      <p:sp>
        <p:nvSpPr>
          <p:cNvPr id="5" name="">
            <a:extLst xmlns:a="http://schemas.openxmlformats.org/drawingml/2006/main">
              <a:ext uri="{FF2B5EF4-FFF2-40B4-BE49-F238E27FC236}">
                <a16:creationId xmlns:a16="http://schemas.microsoft.com/office/drawing/2014/main" id="{6A9A6015-051F-4B37-86B1-37AE138ED3C9}"/>
              </a:ext>
            </a:extLst>
          </p:cNvPr>
          <p:cNvSpPr>
            <a:spLocks xmlns:a="http://schemas.openxmlformats.org/drawingml/2006/main" noGrp="1"/>
          </p:cNvSpPr>
          <p:nvPr/>
        </p:nvSpPr>
        <p:spPr>
          <a:xfrm xmlns:a="http://schemas.openxmlformats.org/drawingml/2006/main">
            <a:off x="704850" y="3057525"/>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주 비교 3개</a:t>
            </a:r>
          </a:p>
        </p:txBody>
      </p:sp>
      <p:sp>
        <p:nvSpPr>
          <p:cNvPr id="6" name="">
            <a:extLst xmlns:a="http://schemas.openxmlformats.org/drawingml/2006/main">
              <a:ext uri="{FF2B5EF4-FFF2-40B4-BE49-F238E27FC236}">
                <a16:creationId xmlns:a16="http://schemas.microsoft.com/office/drawing/2014/main" id="{E20BD0D7-F85A-4152-ABAD-54220B7F02C1}"/>
              </a:ext>
            </a:extLst>
          </p:cNvPr>
          <p:cNvSpPr>
            <a:spLocks xmlns:a="http://schemas.openxmlformats.org/drawingml/2006/main" noGrp="1"/>
          </p:cNvSpPr>
          <p:nvPr/>
        </p:nvSpPr>
        <p:spPr>
          <a:xfrm xmlns:a="http://schemas.openxmlformats.org/drawingml/2006/main">
            <a:off x="3476625" y="3057525"/>
            <a:ext cx="7953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수치 주입 A2−A1 / 선별 A2−A3 / 고유 효과 R−A3</a:t>
            </a:r>
          </a:p>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대상자별 MAE 차이, bootstrap 신뢰구간, Holm 보정</a:t>
            </a:r>
          </a:p>
        </p:txBody>
      </p:sp>
      <p:sp>
        <p:nvSpPr>
          <p:cNvPr id="7" name="">
            <a:extLst xmlns:a="http://schemas.openxmlformats.org/drawingml/2006/main">
              <a:ext uri="{FF2B5EF4-FFF2-40B4-BE49-F238E27FC236}">
                <a16:creationId xmlns:a16="http://schemas.microsoft.com/office/drawing/2014/main" id="{274ABED1-13E4-43AD-B91B-203D3692CF75}"/>
              </a:ext>
            </a:extLst>
          </p:cNvPr>
          <p:cNvSpPr>
            <a:spLocks xmlns:a="http://schemas.openxmlformats.org/drawingml/2006/main" noGrp="1"/>
          </p:cNvSpPr>
          <p:nvPr/>
        </p:nvSpPr>
        <p:spPr>
          <a:xfrm xmlns:a="http://schemas.openxmlformats.org/drawingml/2006/main">
            <a:off x="704850" y="440055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함께 보고할 값</a:t>
            </a:r>
          </a:p>
        </p:txBody>
      </p:sp>
      <p:sp>
        <p:nvSpPr>
          <p:cNvPr id="8" name="">
            <a:extLst xmlns:a="http://schemas.openxmlformats.org/drawingml/2006/main">
              <a:ext uri="{FF2B5EF4-FFF2-40B4-BE49-F238E27FC236}">
                <a16:creationId xmlns:a16="http://schemas.microsoft.com/office/drawing/2014/main" id="{4278633A-4297-425A-BAB5-0D32D83EB5AE}"/>
              </a:ext>
            </a:extLst>
          </p:cNvPr>
          <p:cNvSpPr>
            <a:spLocks xmlns:a="http://schemas.openxmlformats.org/drawingml/2006/main" noGrp="1"/>
          </p:cNvSpPr>
          <p:nvPr/>
        </p:nvSpPr>
        <p:spPr>
          <a:xfrm xmlns:a="http://schemas.openxmlformats.org/drawingml/2006/main">
            <a:off x="3476625" y="4400550"/>
            <a:ext cx="7953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수치 보류율, 큰 오차(2점 이상), 평가자 불일치</a:t>
            </a:r>
          </a:p>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보조 모델에서 효과 방향이 같은지 확인</a:t>
            </a:r>
          </a:p>
        </p:txBody>
      </p:sp>
      <p:sp>
        <p:nvSpPr>
          <p:cNvPr id="9" name="">
            <a:extLst xmlns:a="http://schemas.openxmlformats.org/drawingml/2006/main">
              <a:ext uri="{FF2B5EF4-FFF2-40B4-BE49-F238E27FC236}">
                <a16:creationId xmlns:a16="http://schemas.microsoft.com/office/drawing/2014/main" id="{0381B270-1BF4-47B7-BD3D-5B8D99731F5B}"/>
              </a:ext>
            </a:extLst>
          </p:cNvPr>
          <p:cNvSpPr>
            <a:spLocks xmlns:a="http://schemas.openxmlformats.org/drawingml/2006/main" noGrp="1"/>
          </p:cNvSpPr>
          <p:nvPr/>
        </p:nvSpPr>
        <p:spPr>
          <a:xfrm xmlns:a="http://schemas.openxmlformats.org/drawingml/2006/main">
            <a:off x="704850" y="6372225"/>
            <a:ext cx="1009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000000"/>
                </a:solidFill>
                <a:latin typeface="Malgun Gothic"/>
                <a:ea typeface="Malgun Gothic"/>
                <a:cs typeface="Malgun Gothic"/>
              </a:defRPr>
            </a:pPr>
            <a:r>
              <a:rPr sz="1125" b="0">
                <a:solidFill>
                  <a:srgbClr val="000000"/>
                </a:solidFill>
                <a:latin typeface="Malgun Gothic"/>
                <a:ea typeface="Malgun Gothic"/>
                <a:cs typeface="Malgun Gothic"/>
              </a:rPr>
              <a:t>MAE = 평균 절대 오차. 독립 표본은 본평가 대상자 20명이며 반복 영상 수가 아님</a:t>
            </a:r>
          </a:p>
        </p:txBody>
      </p:sp>
    </p:spTree>
    <p:extLst>
      <p:ext uri="{BB962C8B-B14F-4D97-AF65-F5344CB8AC3E}">
        <p14:creationId xmlns:p14="http://schemas.microsoft.com/office/powerpoint/2010/main" val="14781439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696F606-7F1D-446A-8CF4-9D3CEA21E5B9}"/>
              </a:ext>
            </a:extLst>
          </p:cNvPr>
          <p:cNvSpPr>
            <a:spLocks xmlns:a="http://schemas.openxmlformats.org/drawingml/2006/main" noGrp="1"/>
          </p:cNvSpPr>
          <p:nvPr/>
        </p:nvSpPr>
        <p:spPr>
          <a:xfrm xmlns:a="http://schemas.openxmlformats.org/drawingml/2006/main">
            <a:off x="685800" y="51435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00000"/>
                </a:solidFill>
                <a:latin typeface="Malgun Gothic"/>
                <a:ea typeface="Malgun Gothic"/>
                <a:cs typeface="Malgun Gothic"/>
              </a:defRPr>
            </a:pPr>
            <a:r>
              <a:rPr sz="3225" b="1">
                <a:solidFill>
                  <a:srgbClr val="000000"/>
                </a:solidFill>
                <a:latin typeface="Malgun Gothic"/>
                <a:ea typeface="Malgun Gothic"/>
                <a:cs typeface="Malgun Gothic"/>
              </a:rPr>
              <a:t>예상 결과. 품질 선별이 유효하다면</a:t>
            </a:r>
          </a:p>
        </p:txBody>
      </p:sp>
      <p:sp>
        <p:nvSpPr>
          <p:cNvPr id="2" name="">
            <a:extLst xmlns:a="http://schemas.openxmlformats.org/drawingml/2006/main">
              <a:ext uri="{FF2B5EF4-FFF2-40B4-BE49-F238E27FC236}">
                <a16:creationId xmlns:a16="http://schemas.microsoft.com/office/drawing/2014/main" id="{B4AA05BD-E4D8-42C2-A7D1-BF6D9F4B5BBC}"/>
              </a:ext>
            </a:extLst>
          </p:cNvPr>
          <p:cNvSpPr>
            <a:spLocks xmlns:a="http://schemas.openxmlformats.org/drawingml/2006/main" noGrp="1"/>
          </p:cNvSpPr>
          <p:nvPr/>
        </p:nvSpPr>
        <p:spPr>
          <a:xfrm xmlns:a="http://schemas.openxmlformats.org/drawingml/2006/main">
            <a:off x="110299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000000"/>
                </a:solidFill>
                <a:latin typeface="Malgun Gothic"/>
                <a:ea typeface="Malgun Gothic"/>
                <a:cs typeface="Malgun Gothic"/>
              </a:defRPr>
            </a:pPr>
            <a:r>
              <a:rPr sz="1200" b="0">
                <a:solidFill>
                  <a:srgbClr val="000000"/>
                </a:solidFill>
                <a:latin typeface="Malgun Gothic"/>
                <a:ea typeface="Malgun Gothic"/>
                <a:cs typeface="Malgun Gothic"/>
              </a:rPr>
              <a:t>11</a:t>
            </a:r>
          </a:p>
        </p:txBody>
      </p:sp>
      <p:sp>
        <p:nvSpPr>
          <p:cNvPr id="3" name="">
            <a:extLst xmlns:a="http://schemas.openxmlformats.org/drawingml/2006/main">
              <a:ext uri="{FF2B5EF4-FFF2-40B4-BE49-F238E27FC236}">
                <a16:creationId xmlns:a16="http://schemas.microsoft.com/office/drawing/2014/main" id="{A5ABC6D3-F715-40F8-8533-BD9CEBE2B42A}"/>
              </a:ext>
            </a:extLst>
          </p:cNvPr>
          <p:cNvSpPr>
            <a:spLocks xmlns:a="http://schemas.openxmlformats.org/drawingml/2006/main" noGrp="1"/>
          </p:cNvSpPr>
          <p:nvPr/>
        </p:nvSpPr>
        <p:spPr>
          <a:xfrm xmlns:a="http://schemas.openxmlformats.org/drawingml/2006/main">
            <a:off x="704850" y="171450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기대하는 패턴</a:t>
            </a:r>
          </a:p>
        </p:txBody>
      </p:sp>
      <p:sp>
        <p:nvSpPr>
          <p:cNvPr id="4" name="">
            <a:extLst xmlns:a="http://schemas.openxmlformats.org/drawingml/2006/main">
              <a:ext uri="{FF2B5EF4-FFF2-40B4-BE49-F238E27FC236}">
                <a16:creationId xmlns:a16="http://schemas.microsoft.com/office/drawing/2014/main" id="{6017B1E3-2C18-49C8-8CF6-9EAFBDC44503}"/>
              </a:ext>
            </a:extLst>
          </p:cNvPr>
          <p:cNvSpPr>
            <a:spLocks xmlns:a="http://schemas.openxmlformats.org/drawingml/2006/main" noGrp="1"/>
          </p:cNvSpPr>
          <p:nvPr/>
        </p:nvSpPr>
        <p:spPr>
          <a:xfrm xmlns:a="http://schemas.openxmlformats.org/drawingml/2006/main">
            <a:off x="3476625" y="1714500"/>
            <a:ext cx="7953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MAE(A3) &lt; MAE(A2), 그리고 MAE(A3) &lt; MAE(R)</a:t>
            </a:r>
          </a:p>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품질에 따라 수치를 고르는 방식의 유효성을 지지</a:t>
            </a:r>
          </a:p>
        </p:txBody>
      </p:sp>
      <p:sp>
        <p:nvSpPr>
          <p:cNvPr id="5" name="">
            <a:extLst xmlns:a="http://schemas.openxmlformats.org/drawingml/2006/main">
              <a:ext uri="{FF2B5EF4-FFF2-40B4-BE49-F238E27FC236}">
                <a16:creationId xmlns:a16="http://schemas.microsoft.com/office/drawing/2014/main" id="{CEC87778-F2D7-4506-891F-E8747E853755}"/>
              </a:ext>
            </a:extLst>
          </p:cNvPr>
          <p:cNvSpPr>
            <a:spLocks xmlns:a="http://schemas.openxmlformats.org/drawingml/2006/main" noGrp="1"/>
          </p:cNvSpPr>
          <p:nvPr/>
        </p:nvSpPr>
        <p:spPr>
          <a:xfrm xmlns:a="http://schemas.openxmlformats.org/drawingml/2006/main">
            <a:off x="704850" y="3095625"/>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더 설득력 있는 결과</a:t>
            </a:r>
          </a:p>
        </p:txBody>
      </p:sp>
      <p:sp>
        <p:nvSpPr>
          <p:cNvPr id="6" name="">
            <a:extLst xmlns:a="http://schemas.openxmlformats.org/drawingml/2006/main">
              <a:ext uri="{FF2B5EF4-FFF2-40B4-BE49-F238E27FC236}">
                <a16:creationId xmlns:a16="http://schemas.microsoft.com/office/drawing/2014/main" id="{2573857E-C4CB-4C7C-9674-D1E0D621FFE5}"/>
              </a:ext>
            </a:extLst>
          </p:cNvPr>
          <p:cNvSpPr>
            <a:spLocks xmlns:a="http://schemas.openxmlformats.org/drawingml/2006/main" noGrp="1"/>
          </p:cNvSpPr>
          <p:nvPr/>
        </p:nvSpPr>
        <p:spPr>
          <a:xfrm xmlns:a="http://schemas.openxmlformats.org/drawingml/2006/main">
            <a:off x="3476625" y="3095625"/>
            <a:ext cx="7953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낮은 보류율에서도 오차 감소가 유지</a:t>
            </a:r>
          </a:p>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보조 모델에서도 같은 방향의 효과</a:t>
            </a:r>
          </a:p>
        </p:txBody>
      </p:sp>
      <p:sp>
        <p:nvSpPr>
          <p:cNvPr id="7" name="">
            <a:extLst xmlns:a="http://schemas.openxmlformats.org/drawingml/2006/main">
              <a:ext uri="{FF2B5EF4-FFF2-40B4-BE49-F238E27FC236}">
                <a16:creationId xmlns:a16="http://schemas.microsoft.com/office/drawing/2014/main" id="{6AFFFA25-D6E7-474C-A83E-0A068B908702}"/>
              </a:ext>
            </a:extLst>
          </p:cNvPr>
          <p:cNvSpPr>
            <a:spLocks xmlns:a="http://schemas.openxmlformats.org/drawingml/2006/main" noGrp="1"/>
          </p:cNvSpPr>
          <p:nvPr/>
        </p:nvSpPr>
        <p:spPr>
          <a:xfrm xmlns:a="http://schemas.openxmlformats.org/drawingml/2006/main">
            <a:off x="704850" y="4429125"/>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예상되는 한계</a:t>
            </a:r>
          </a:p>
        </p:txBody>
      </p:sp>
      <p:sp>
        <p:nvSpPr>
          <p:cNvPr id="8" name="">
            <a:extLst xmlns:a="http://schemas.openxmlformats.org/drawingml/2006/main">
              <a:ext uri="{FF2B5EF4-FFF2-40B4-BE49-F238E27FC236}">
                <a16:creationId xmlns:a16="http://schemas.microsoft.com/office/drawing/2014/main" id="{1EE8DAF0-A018-4BCC-81DA-E21C2E45474F}"/>
              </a:ext>
            </a:extLst>
          </p:cNvPr>
          <p:cNvSpPr>
            <a:spLocks xmlns:a="http://schemas.openxmlformats.org/drawingml/2006/main" noGrp="1"/>
          </p:cNvSpPr>
          <p:nvPr/>
        </p:nvSpPr>
        <p:spPr>
          <a:xfrm xmlns:a="http://schemas.openxmlformats.org/drawingml/2006/main">
            <a:off x="3476625" y="4429125"/>
            <a:ext cx="7953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임계값이 지나치게 엄격하면 정보 손실이 커져</a:t>
            </a:r>
          </a:p>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개선이 정체되거나 오차가 다시 증가할 수 있음</a:t>
            </a:r>
          </a:p>
        </p:txBody>
      </p:sp>
      <p:sp>
        <p:nvSpPr>
          <p:cNvPr id="9" name="">
            <a:extLst xmlns:a="http://schemas.openxmlformats.org/drawingml/2006/main">
              <a:ext uri="{FF2B5EF4-FFF2-40B4-BE49-F238E27FC236}">
                <a16:creationId xmlns:a16="http://schemas.microsoft.com/office/drawing/2014/main" id="{FDC7A4DC-3252-4A20-8653-EA1136158686}"/>
              </a:ext>
            </a:extLst>
          </p:cNvPr>
          <p:cNvSpPr>
            <a:spLocks xmlns:a="http://schemas.openxmlformats.org/drawingml/2006/main" noGrp="1"/>
          </p:cNvSpPr>
          <p:nvPr/>
        </p:nvSpPr>
        <p:spPr>
          <a:xfrm xmlns:a="http://schemas.openxmlformats.org/drawingml/2006/main">
            <a:off x="704850" y="6372225"/>
            <a:ext cx="1009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000000"/>
                </a:solidFill>
                <a:latin typeface="Malgun Gothic"/>
                <a:ea typeface="Malgun Gothic"/>
                <a:cs typeface="Malgun Gothic"/>
              </a:defRPr>
            </a:pPr>
            <a:r>
              <a:rPr sz="1125" b="0">
                <a:solidFill>
                  <a:srgbClr val="000000"/>
                </a:solidFill>
                <a:latin typeface="Malgun Gothic"/>
                <a:ea typeface="Malgun Gothic"/>
                <a:cs typeface="Malgun Gothic"/>
              </a:rPr>
              <a:t>검증 전 가설. 효과의 방향과 크기는 본평가 데이터로 판단</a:t>
            </a:r>
          </a:p>
        </p:txBody>
      </p:sp>
    </p:spTree>
    <p:extLst>
      <p:ext uri="{BB962C8B-B14F-4D97-AF65-F5344CB8AC3E}">
        <p14:creationId xmlns:p14="http://schemas.microsoft.com/office/powerpoint/2010/main" val="146343462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5BC6D39-D2B2-4EEA-B467-872F64D086B8}"/>
              </a:ext>
            </a:extLst>
          </p:cNvPr>
          <p:cNvSpPr>
            <a:spLocks xmlns:a="http://schemas.openxmlformats.org/drawingml/2006/main" noGrp="1"/>
          </p:cNvSpPr>
          <p:nvPr/>
        </p:nvSpPr>
        <p:spPr>
          <a:xfrm xmlns:a="http://schemas.openxmlformats.org/drawingml/2006/main">
            <a:off x="685800" y="51435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00000"/>
                </a:solidFill>
                <a:latin typeface="Malgun Gothic"/>
                <a:ea typeface="Malgun Gothic"/>
                <a:cs typeface="Malgun Gothic"/>
              </a:defRPr>
            </a:pPr>
            <a:r>
              <a:rPr sz="3225" b="1">
                <a:solidFill>
                  <a:srgbClr val="000000"/>
                </a:solidFill>
                <a:latin typeface="Malgun Gothic"/>
                <a:ea typeface="Malgun Gothic"/>
                <a:cs typeface="Malgun Gothic"/>
              </a:rPr>
              <a:t>결과가 다르게 나오면 무엇을 배울 것인가</a:t>
            </a:r>
          </a:p>
        </p:txBody>
      </p:sp>
      <p:sp>
        <p:nvSpPr>
          <p:cNvPr id="2" name="">
            <a:extLst xmlns:a="http://schemas.openxmlformats.org/drawingml/2006/main">
              <a:ext uri="{FF2B5EF4-FFF2-40B4-BE49-F238E27FC236}">
                <a16:creationId xmlns:a16="http://schemas.microsoft.com/office/drawing/2014/main" id="{771DEEE2-2632-4056-8B70-81C7B146299C}"/>
              </a:ext>
            </a:extLst>
          </p:cNvPr>
          <p:cNvSpPr>
            <a:spLocks xmlns:a="http://schemas.openxmlformats.org/drawingml/2006/main" noGrp="1"/>
          </p:cNvSpPr>
          <p:nvPr/>
        </p:nvSpPr>
        <p:spPr>
          <a:xfrm xmlns:a="http://schemas.openxmlformats.org/drawingml/2006/main">
            <a:off x="110299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000000"/>
                </a:solidFill>
                <a:latin typeface="Malgun Gothic"/>
                <a:ea typeface="Malgun Gothic"/>
                <a:cs typeface="Malgun Gothic"/>
              </a:defRPr>
            </a:pPr>
            <a:r>
              <a:rPr sz="1200" b="0">
                <a:solidFill>
                  <a:srgbClr val="000000"/>
                </a:solidFill>
                <a:latin typeface="Malgun Gothic"/>
                <a:ea typeface="Malgun Gothic"/>
                <a:cs typeface="Malgun Gothic"/>
              </a:rPr>
              <a:t>12</a:t>
            </a:r>
          </a:p>
        </p:txBody>
      </p:sp>
      <p:sp>
        <p:nvSpPr>
          <p:cNvPr id="3" name="">
            <a:extLst xmlns:a="http://schemas.openxmlformats.org/drawingml/2006/main">
              <a:ext uri="{FF2B5EF4-FFF2-40B4-BE49-F238E27FC236}">
                <a16:creationId xmlns:a16="http://schemas.microsoft.com/office/drawing/2014/main" id="{380E59A0-4DDD-4A0F-9001-EE9252F67C54}"/>
              </a:ext>
            </a:extLst>
          </p:cNvPr>
          <p:cNvSpPr>
            <a:spLocks xmlns:a="http://schemas.openxmlformats.org/drawingml/2006/main" noGrp="1"/>
          </p:cNvSpPr>
          <p:nvPr/>
        </p:nvSpPr>
        <p:spPr>
          <a:xfrm xmlns:a="http://schemas.openxmlformats.org/drawingml/2006/main">
            <a:off x="704850" y="171450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A2가 A1보다 악화</a:t>
            </a:r>
          </a:p>
        </p:txBody>
      </p:sp>
      <p:sp>
        <p:nvSpPr>
          <p:cNvPr id="4" name="">
            <a:extLst xmlns:a="http://schemas.openxmlformats.org/drawingml/2006/main">
              <a:ext uri="{FF2B5EF4-FFF2-40B4-BE49-F238E27FC236}">
                <a16:creationId xmlns:a16="http://schemas.microsoft.com/office/drawing/2014/main" id="{074171A7-DD09-4AE2-87EE-31F87EDBD58F}"/>
              </a:ext>
            </a:extLst>
          </p:cNvPr>
          <p:cNvSpPr>
            <a:spLocks xmlns:a="http://schemas.openxmlformats.org/drawingml/2006/main" noGrp="1"/>
          </p:cNvSpPr>
          <p:nvPr/>
        </p:nvSpPr>
        <p:spPr>
          <a:xfrm xmlns:a="http://schemas.openxmlformats.org/drawingml/2006/main">
            <a:off x="3476625" y="1714500"/>
            <a:ext cx="7953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측정 수치를 추가하는 것 자체가 위험할 수 있음</a:t>
            </a:r>
          </a:p>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A3가 이 악화를 줄이는지 확인</a:t>
            </a:r>
          </a:p>
        </p:txBody>
      </p:sp>
      <p:sp>
        <p:nvSpPr>
          <p:cNvPr id="5" name="">
            <a:extLst xmlns:a="http://schemas.openxmlformats.org/drawingml/2006/main">
              <a:ext uri="{FF2B5EF4-FFF2-40B4-BE49-F238E27FC236}">
                <a16:creationId xmlns:a16="http://schemas.microsoft.com/office/drawing/2014/main" id="{190FD67F-3F97-4876-93B7-FAEE2F468770}"/>
              </a:ext>
            </a:extLst>
          </p:cNvPr>
          <p:cNvSpPr>
            <a:spLocks xmlns:a="http://schemas.openxmlformats.org/drawingml/2006/main" noGrp="1"/>
          </p:cNvSpPr>
          <p:nvPr/>
        </p:nvSpPr>
        <p:spPr>
          <a:xfrm xmlns:a="http://schemas.openxmlformats.org/drawingml/2006/main">
            <a:off x="704850" y="3076575"/>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A3와 R 차이 미확인</a:t>
            </a:r>
          </a:p>
        </p:txBody>
      </p:sp>
      <p:sp>
        <p:nvSpPr>
          <p:cNvPr id="6" name="">
            <a:extLst xmlns:a="http://schemas.openxmlformats.org/drawingml/2006/main">
              <a:ext uri="{FF2B5EF4-FFF2-40B4-BE49-F238E27FC236}">
                <a16:creationId xmlns:a16="http://schemas.microsoft.com/office/drawing/2014/main" id="{74FC3AEA-12BD-4045-B39D-96E79FC6E6FF}"/>
              </a:ext>
            </a:extLst>
          </p:cNvPr>
          <p:cNvSpPr>
            <a:spLocks xmlns:a="http://schemas.openxmlformats.org/drawingml/2006/main" noGrp="1"/>
          </p:cNvSpPr>
          <p:nvPr/>
        </p:nvSpPr>
        <p:spPr>
          <a:xfrm xmlns:a="http://schemas.openxmlformats.org/drawingml/2006/main">
            <a:off x="3476625" y="3076575"/>
            <a:ext cx="7953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품질 규칙의 고유 효과를 입증하지 못함</a:t>
            </a:r>
          </a:p>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정보량 감소 또는 작은 표본의 영향을 검토</a:t>
            </a:r>
          </a:p>
        </p:txBody>
      </p:sp>
      <p:sp>
        <p:nvSpPr>
          <p:cNvPr id="7" name="">
            <a:extLst xmlns:a="http://schemas.openxmlformats.org/drawingml/2006/main">
              <a:ext uri="{FF2B5EF4-FFF2-40B4-BE49-F238E27FC236}">
                <a16:creationId xmlns:a16="http://schemas.microsoft.com/office/drawing/2014/main" id="{AC037DFA-E62C-42D9-9439-B51E446CA661}"/>
              </a:ext>
            </a:extLst>
          </p:cNvPr>
          <p:cNvSpPr>
            <a:spLocks xmlns:a="http://schemas.openxmlformats.org/drawingml/2006/main" noGrp="1"/>
          </p:cNvSpPr>
          <p:nvPr/>
        </p:nvSpPr>
        <p:spPr>
          <a:xfrm xmlns:a="http://schemas.openxmlformats.org/drawingml/2006/main">
            <a:off x="704850" y="443865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높은 보류율</a:t>
            </a:r>
          </a:p>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개선 없음</a:t>
            </a:r>
          </a:p>
        </p:txBody>
      </p:sp>
      <p:sp>
        <p:nvSpPr>
          <p:cNvPr id="8" name="">
            <a:extLst xmlns:a="http://schemas.openxmlformats.org/drawingml/2006/main">
              <a:ext uri="{FF2B5EF4-FFF2-40B4-BE49-F238E27FC236}">
                <a16:creationId xmlns:a16="http://schemas.microsoft.com/office/drawing/2014/main" id="{6F477D92-AB3F-4F84-8F3A-BFFC5CCE712E}"/>
              </a:ext>
            </a:extLst>
          </p:cNvPr>
          <p:cNvSpPr>
            <a:spLocks xmlns:a="http://schemas.openxmlformats.org/drawingml/2006/main" noGrp="1"/>
          </p:cNvSpPr>
          <p:nvPr/>
        </p:nvSpPr>
        <p:spPr>
          <a:xfrm xmlns:a="http://schemas.openxmlformats.org/drawingml/2006/main">
            <a:off x="3476625" y="4438650"/>
            <a:ext cx="7953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정보는 버리지만 채점은 나아지지 않는 상황</a:t>
            </a:r>
          </a:p>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품질 규칙과 측정 지표를 재검토</a:t>
            </a:r>
          </a:p>
        </p:txBody>
      </p:sp>
      <p:sp>
        <p:nvSpPr>
          <p:cNvPr id="9" name="">
            <a:extLst xmlns:a="http://schemas.openxmlformats.org/drawingml/2006/main">
              <a:ext uri="{FF2B5EF4-FFF2-40B4-BE49-F238E27FC236}">
                <a16:creationId xmlns:a16="http://schemas.microsoft.com/office/drawing/2014/main" id="{0F7BC35F-836C-46D6-8C3F-F40E22345538}"/>
              </a:ext>
            </a:extLst>
          </p:cNvPr>
          <p:cNvSpPr>
            <a:spLocks xmlns:a="http://schemas.openxmlformats.org/drawingml/2006/main" noGrp="1"/>
          </p:cNvSpPr>
          <p:nvPr/>
        </p:nvSpPr>
        <p:spPr>
          <a:xfrm xmlns:a="http://schemas.openxmlformats.org/drawingml/2006/main">
            <a:off x="704850" y="6372225"/>
            <a:ext cx="1009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000000"/>
                </a:solidFill>
                <a:latin typeface="Malgun Gothic"/>
                <a:ea typeface="Malgun Gothic"/>
                <a:cs typeface="Malgun Gothic"/>
              </a:defRPr>
            </a:pPr>
            <a:r>
              <a:rPr sz="1125" b="0">
                <a:solidFill>
                  <a:srgbClr val="000000"/>
                </a:solidFill>
                <a:latin typeface="Malgun Gothic"/>
                <a:ea typeface="Malgun Gothic"/>
                <a:cs typeface="Malgun Gothic"/>
              </a:rPr>
              <a:t>차이가 유의하지 않다는 사실만으로 두 조건의 성능이 같다고 결론 내리지 않음</a:t>
            </a:r>
          </a:p>
        </p:txBody>
      </p:sp>
    </p:spTree>
    <p:extLst>
      <p:ext uri="{BB962C8B-B14F-4D97-AF65-F5344CB8AC3E}">
        <p14:creationId xmlns:p14="http://schemas.microsoft.com/office/powerpoint/2010/main" val="130423453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C89FD9D-F188-42F0-8D71-6963B8D6354F}"/>
              </a:ext>
            </a:extLst>
          </p:cNvPr>
          <p:cNvSpPr>
            <a:spLocks xmlns:a="http://schemas.openxmlformats.org/drawingml/2006/main" noGrp="1"/>
          </p:cNvSpPr>
          <p:nvPr/>
        </p:nvSpPr>
        <p:spPr>
          <a:xfrm xmlns:a="http://schemas.openxmlformats.org/drawingml/2006/main">
            <a:off x="685800" y="51435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00000"/>
                </a:solidFill>
                <a:latin typeface="Malgun Gothic"/>
                <a:ea typeface="Malgun Gothic"/>
                <a:cs typeface="Malgun Gothic"/>
              </a:defRPr>
            </a:pPr>
            <a:r>
              <a:rPr sz="3225" b="1">
                <a:solidFill>
                  <a:srgbClr val="000000"/>
                </a:solidFill>
                <a:latin typeface="Malgun Gothic"/>
                <a:ea typeface="Malgun Gothic"/>
                <a:cs typeface="Malgun Gothic"/>
              </a:rPr>
              <a:t>연구의 기여와 착수 전 결정</a:t>
            </a:r>
          </a:p>
        </p:txBody>
      </p:sp>
      <p:sp>
        <p:nvSpPr>
          <p:cNvPr id="2" name="">
            <a:extLst xmlns:a="http://schemas.openxmlformats.org/drawingml/2006/main">
              <a:ext uri="{FF2B5EF4-FFF2-40B4-BE49-F238E27FC236}">
                <a16:creationId xmlns:a16="http://schemas.microsoft.com/office/drawing/2014/main" id="{62345113-E162-4B6C-B6B5-495417412262}"/>
              </a:ext>
            </a:extLst>
          </p:cNvPr>
          <p:cNvSpPr>
            <a:spLocks xmlns:a="http://schemas.openxmlformats.org/drawingml/2006/main" noGrp="1"/>
          </p:cNvSpPr>
          <p:nvPr/>
        </p:nvSpPr>
        <p:spPr>
          <a:xfrm xmlns:a="http://schemas.openxmlformats.org/drawingml/2006/main">
            <a:off x="110299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000000"/>
                </a:solidFill>
                <a:latin typeface="Malgun Gothic"/>
                <a:ea typeface="Malgun Gothic"/>
                <a:cs typeface="Malgun Gothic"/>
              </a:defRPr>
            </a:pPr>
            <a:r>
              <a:rPr sz="1200" b="0">
                <a:solidFill>
                  <a:srgbClr val="000000"/>
                </a:solidFill>
                <a:latin typeface="Malgun Gothic"/>
                <a:ea typeface="Malgun Gothic"/>
                <a:cs typeface="Malgun Gothic"/>
              </a:rPr>
              <a:t>13</a:t>
            </a:r>
          </a:p>
        </p:txBody>
      </p:sp>
      <p:sp>
        <p:nvSpPr>
          <p:cNvPr id="3" name="">
            <a:extLst xmlns:a="http://schemas.openxmlformats.org/drawingml/2006/main">
              <a:ext uri="{FF2B5EF4-FFF2-40B4-BE49-F238E27FC236}">
                <a16:creationId xmlns:a16="http://schemas.microsoft.com/office/drawing/2014/main" id="{52F72E98-BD5F-42E6-9B28-607D0A3F7BF3}"/>
              </a:ext>
            </a:extLst>
          </p:cNvPr>
          <p:cNvSpPr>
            <a:spLocks xmlns:a="http://schemas.openxmlformats.org/drawingml/2006/main" noGrp="1"/>
          </p:cNvSpPr>
          <p:nvPr/>
        </p:nvSpPr>
        <p:spPr>
          <a:xfrm xmlns:a="http://schemas.openxmlformats.org/drawingml/2006/main">
            <a:off x="704850" y="1733550"/>
            <a:ext cx="1062037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03399"/>
                </a:solidFill>
                <a:latin typeface="Malgun Gothic"/>
                <a:ea typeface="Malgun Gothic"/>
                <a:cs typeface="Malgun Gothic"/>
              </a:defRPr>
            </a:pPr>
            <a:r>
              <a:rPr sz="2925" b="1">
                <a:solidFill>
                  <a:srgbClr val="003399"/>
                </a:solidFill>
                <a:latin typeface="Malgun Gothic"/>
                <a:ea typeface="Malgun Gothic"/>
                <a:cs typeface="Malgun Gothic"/>
              </a:rPr>
              <a:t>품질 선별의 이득과 정보 손실을</a:t>
            </a:r>
          </a:p>
          <a:p xmlns:a="http://schemas.openxmlformats.org/drawingml/2006/main">
            <a:pPr>
              <a:defRPr sz="2925" b="1">
                <a:solidFill>
                  <a:srgbClr val="003399"/>
                </a:solidFill>
                <a:latin typeface="Malgun Gothic"/>
                <a:ea typeface="Malgun Gothic"/>
                <a:cs typeface="Malgun Gothic"/>
              </a:defRPr>
            </a:pPr>
            <a:r>
              <a:rPr sz="2925" b="1">
                <a:solidFill>
                  <a:srgbClr val="003399"/>
                </a:solidFill>
                <a:latin typeface="Malgun Gothic"/>
                <a:ea typeface="Malgun Gothic"/>
                <a:cs typeface="Malgun Gothic"/>
              </a:rPr>
              <a:t>같은 실험에서 분리해 측정합니다</a:t>
            </a:r>
          </a:p>
        </p:txBody>
      </p:sp>
      <p:sp>
        <p:nvSpPr>
          <p:cNvPr id="4" name="">
            <a:extLst xmlns:a="http://schemas.openxmlformats.org/drawingml/2006/main">
              <a:ext uri="{FF2B5EF4-FFF2-40B4-BE49-F238E27FC236}">
                <a16:creationId xmlns:a16="http://schemas.microsoft.com/office/drawing/2014/main" id="{3D588562-944F-447F-9D39-8B21E21BA7E6}"/>
              </a:ext>
            </a:extLst>
          </p:cNvPr>
          <p:cNvSpPr>
            <a:spLocks xmlns:a="http://schemas.openxmlformats.org/drawingml/2006/main" noGrp="1"/>
          </p:cNvSpPr>
          <p:nvPr/>
        </p:nvSpPr>
        <p:spPr>
          <a:xfrm xmlns:a="http://schemas.openxmlformats.org/drawingml/2006/main">
            <a:off x="704850" y="340995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착수 전</a:t>
            </a:r>
          </a:p>
        </p:txBody>
      </p:sp>
      <p:sp>
        <p:nvSpPr>
          <p:cNvPr id="5" name="">
            <a:extLst xmlns:a="http://schemas.openxmlformats.org/drawingml/2006/main">
              <a:ext uri="{FF2B5EF4-FFF2-40B4-BE49-F238E27FC236}">
                <a16:creationId xmlns:a16="http://schemas.microsoft.com/office/drawing/2014/main" id="{809AF34E-534D-4BAF-B452-3E4B4AE28154}"/>
              </a:ext>
            </a:extLst>
          </p:cNvPr>
          <p:cNvSpPr>
            <a:spLocks xmlns:a="http://schemas.openxmlformats.org/drawingml/2006/main" noGrp="1"/>
          </p:cNvSpPr>
          <p:nvPr/>
        </p:nvSpPr>
        <p:spPr>
          <a:xfrm xmlns:a="http://schemas.openxmlformats.org/drawingml/2006/main">
            <a:off x="3476625" y="3409950"/>
            <a:ext cx="7953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계획과 코드의 K1·K2 및 과제 정의 일치</a:t>
            </a:r>
          </a:p>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원시 깊이 저장과 프레임 시간 계산 확인</a:t>
            </a:r>
          </a:p>
        </p:txBody>
      </p:sp>
      <p:sp>
        <p:nvSpPr>
          <p:cNvPr id="6" name="">
            <a:extLst xmlns:a="http://schemas.openxmlformats.org/drawingml/2006/main">
              <a:ext uri="{FF2B5EF4-FFF2-40B4-BE49-F238E27FC236}">
                <a16:creationId xmlns:a16="http://schemas.microsoft.com/office/drawing/2014/main" id="{FB0DAAB3-8EA4-4EC0-B759-4A846FF28641}"/>
              </a:ext>
            </a:extLst>
          </p:cNvPr>
          <p:cNvSpPr>
            <a:spLocks xmlns:a="http://schemas.openxmlformats.org/drawingml/2006/main" noGrp="1"/>
          </p:cNvSpPr>
          <p:nvPr/>
        </p:nvSpPr>
        <p:spPr>
          <a:xfrm xmlns:a="http://schemas.openxmlformats.org/drawingml/2006/main">
            <a:off x="704850" y="4676775"/>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399"/>
                </a:solidFill>
                <a:latin typeface="Malgun Gothic"/>
                <a:ea typeface="Malgun Gothic"/>
                <a:cs typeface="Malgun Gothic"/>
              </a:defRPr>
            </a:pPr>
            <a:r>
              <a:rPr sz="2025" b="1">
                <a:solidFill>
                  <a:srgbClr val="003399"/>
                </a:solidFill>
                <a:latin typeface="Malgun Gothic"/>
                <a:ea typeface="Malgun Gothic"/>
                <a:cs typeface="Malgun Gothic"/>
              </a:rPr>
              <a:t>랩미팅 논의</a:t>
            </a:r>
          </a:p>
        </p:txBody>
      </p:sp>
      <p:sp>
        <p:nvSpPr>
          <p:cNvPr id="7" name="">
            <a:extLst xmlns:a="http://schemas.openxmlformats.org/drawingml/2006/main">
              <a:ext uri="{FF2B5EF4-FFF2-40B4-BE49-F238E27FC236}">
                <a16:creationId xmlns:a16="http://schemas.microsoft.com/office/drawing/2014/main" id="{C36051F7-943B-4D8D-B34E-3F0D8BB816EA}"/>
              </a:ext>
            </a:extLst>
          </p:cNvPr>
          <p:cNvSpPr>
            <a:spLocks xmlns:a="http://schemas.openxmlformats.org/drawingml/2006/main" noGrp="1"/>
          </p:cNvSpPr>
          <p:nvPr/>
        </p:nvSpPr>
        <p:spPr>
          <a:xfrm xmlns:a="http://schemas.openxmlformats.org/drawingml/2006/main">
            <a:off x="3476625" y="4676775"/>
            <a:ext cx="7953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Q 규칙과 3개 주 비교 동결</a:t>
            </a:r>
          </a:p>
          <a:p xmlns:a="http://schemas.openxmlformats.org/drawingml/2006/main">
            <a:pPr>
              <a:defRPr sz="2100" b="0">
                <a:solidFill>
                  <a:srgbClr val="000000"/>
                </a:solidFill>
                <a:latin typeface="Malgun Gothic"/>
                <a:ea typeface="Malgun Gothic"/>
                <a:cs typeface="Malgun Gothic"/>
              </a:defRPr>
            </a:pPr>
            <a:r>
              <a:rPr sz="2100" b="0">
                <a:solidFill>
                  <a:srgbClr val="000000"/>
                </a:solidFill>
                <a:latin typeface="Malgun Gothic"/>
                <a:ea typeface="Malgun Gothic"/>
                <a:cs typeface="Malgun Gothic"/>
              </a:rPr>
              <a:t>본평가 20명 모집 및 모델 실행 환경 확보</a:t>
            </a:r>
          </a:p>
        </p:txBody>
      </p:sp>
    </p:spTree>
    <p:extLst>
      <p:ext uri="{BB962C8B-B14F-4D97-AF65-F5344CB8AC3E}">
        <p14:creationId xmlns:p14="http://schemas.microsoft.com/office/powerpoint/2010/main" val="153768025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37A93F4-7764-4512-88D8-21EF733EA9BB}"/>
              </a:ext>
            </a:extLst>
          </p:cNvPr>
          <p:cNvSpPr>
            <a:spLocks xmlns:a="http://schemas.openxmlformats.org/drawingml/2006/main" noGrp="1"/>
          </p:cNvSpPr>
          <p:nvPr/>
        </p:nvSpPr>
        <p:spPr>
          <a:xfrm xmlns:a="http://schemas.openxmlformats.org/drawingml/2006/main">
            <a:off x="685800" y="51435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00000"/>
                </a:solidFill>
                <a:latin typeface="Malgun Gothic"/>
                <a:ea typeface="Malgun Gothic"/>
                <a:cs typeface="Malgun Gothic"/>
              </a:defRPr>
            </a:pPr>
            <a:r>
              <a:rPr sz="3225" b="1">
                <a:solidFill>
                  <a:srgbClr val="000000"/>
                </a:solidFill>
                <a:latin typeface="Malgun Gothic"/>
                <a:ea typeface="Malgun Gothic"/>
                <a:cs typeface="Malgun Gothic"/>
              </a:rPr>
              <a:t>주요 참고문헌</a:t>
            </a:r>
          </a:p>
        </p:txBody>
      </p:sp>
      <p:sp>
        <p:nvSpPr>
          <p:cNvPr id="2" name="">
            <a:extLst xmlns:a="http://schemas.openxmlformats.org/drawingml/2006/main">
              <a:ext uri="{FF2B5EF4-FFF2-40B4-BE49-F238E27FC236}">
                <a16:creationId xmlns:a16="http://schemas.microsoft.com/office/drawing/2014/main" id="{11541FAB-3B08-4108-A142-35A29E0A9D34}"/>
              </a:ext>
            </a:extLst>
          </p:cNvPr>
          <p:cNvSpPr>
            <a:spLocks xmlns:a="http://schemas.openxmlformats.org/drawingml/2006/main" noGrp="1"/>
          </p:cNvSpPr>
          <p:nvPr/>
        </p:nvSpPr>
        <p:spPr>
          <a:xfrm xmlns:a="http://schemas.openxmlformats.org/drawingml/2006/main">
            <a:off x="110299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000000"/>
                </a:solidFill>
                <a:latin typeface="Malgun Gothic"/>
                <a:ea typeface="Malgun Gothic"/>
                <a:cs typeface="Malgun Gothic"/>
              </a:defRPr>
            </a:pPr>
            <a:r>
              <a:rPr sz="1200" b="0">
                <a:solidFill>
                  <a:srgbClr val="000000"/>
                </a:solidFill>
                <a:latin typeface="Malgun Gothic"/>
                <a:ea typeface="Malgun Gothic"/>
                <a:cs typeface="Malgun Gothic"/>
              </a:rPr>
              <a:t>14</a:t>
            </a:r>
          </a:p>
        </p:txBody>
      </p:sp>
      <p:sp>
        <p:nvSpPr>
          <p:cNvPr id="3" name="">
            <a:extLst xmlns:a="http://schemas.openxmlformats.org/drawingml/2006/main">
              <a:ext uri="{FF2B5EF4-FFF2-40B4-BE49-F238E27FC236}">
                <a16:creationId xmlns:a16="http://schemas.microsoft.com/office/drawing/2014/main" id="{1FF982B3-5423-4612-BDB9-6257B0264CA0}"/>
              </a:ext>
            </a:extLst>
          </p:cNvPr>
          <p:cNvSpPr>
            <a:spLocks xmlns:a="http://schemas.openxmlformats.org/drawingml/2006/main" noGrp="1"/>
          </p:cNvSpPr>
          <p:nvPr/>
        </p:nvSpPr>
        <p:spPr>
          <a:xfrm xmlns:a="http://schemas.openxmlformats.org/drawingml/2006/main">
            <a:off x="704850" y="167640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0000"/>
                </a:solidFill>
                <a:latin typeface="Malgun Gothic"/>
                <a:ea typeface="Malgun Gothic"/>
                <a:cs typeface="Malgun Gothic"/>
              </a:defRPr>
            </a:pPr>
            <a:r>
              <a:rPr sz="1950" b="1">
                <a:solidFill>
                  <a:srgbClr val="000000"/>
                </a:solidFill>
                <a:latin typeface="Malgun Gothic"/>
                <a:ea typeface="Malgun Gothic"/>
                <a:cs typeface="Malgun Gothic"/>
              </a:rPr>
              <a:t>Li Y et al. (2022), Brain Sciences</a:t>
            </a:r>
          </a:p>
        </p:txBody>
      </p:sp>
      <p:sp>
        <p:nvSpPr>
          <p:cNvPr id="4" name="">
            <a:extLst xmlns:a="http://schemas.openxmlformats.org/drawingml/2006/main">
              <a:ext uri="{FF2B5EF4-FFF2-40B4-BE49-F238E27FC236}">
                <a16:creationId xmlns:a16="http://schemas.microsoft.com/office/drawing/2014/main" id="{475A9D35-DDF6-4AAE-9A2F-8FC8C470D862}"/>
              </a:ext>
            </a:extLst>
          </p:cNvPr>
          <p:cNvSpPr>
            <a:spLocks xmlns:a="http://schemas.openxmlformats.org/drawingml/2006/main" noGrp="1"/>
          </p:cNvSpPr>
          <p:nvPr/>
        </p:nvSpPr>
        <p:spPr>
          <a:xfrm xmlns:a="http://schemas.openxmlformats.org/drawingml/2006/main">
            <a:off x="704850" y="20383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000000"/>
                </a:solidFill>
                <a:latin typeface="Malgun Gothic"/>
                <a:ea typeface="Malgun Gothic"/>
                <a:cs typeface="Malgun Gothic"/>
              </a:defRPr>
            </a:pPr>
            <a:r>
              <a:rPr sz="1650" b="0">
                <a:solidFill>
                  <a:srgbClr val="000000"/>
                </a:solidFill>
                <a:latin typeface="Malgun Gothic"/>
                <a:ea typeface="Malgun Gothic"/>
                <a:cs typeface="Malgun Gothic"/>
              </a:rPr>
              <a:t>Automated RGB-D measurement of voluntary FMA-UE items</a:t>
            </a:r>
          </a:p>
          <a:p xmlns:a="http://schemas.openxmlformats.org/drawingml/2006/main">
            <a:pPr>
              <a:defRPr sz="1650" b="0">
                <a:solidFill>
                  <a:srgbClr val="000000"/>
                </a:solidFill>
                <a:latin typeface="Malgun Gothic"/>
                <a:ea typeface="Malgun Gothic"/>
                <a:cs typeface="Malgun Gothic"/>
              </a:defRPr>
            </a:pPr>
            <a:r>
              <a:rPr sz="1650" b="0">
                <a:solidFill>
                  <a:srgbClr val="000000"/>
                </a:solidFill>
                <a:latin typeface="Malgun Gothic"/>
                <a:ea typeface="Malgun Gothic"/>
                <a:cs typeface="Malgun Gothic"/>
              </a:rPr>
              <a:t>10.3390/brainsci12101380</a:t>
            </a:r>
          </a:p>
        </p:txBody>
      </p:sp>
      <p:sp>
        <p:nvSpPr>
          <p:cNvPr id="5" name="">
            <a:extLst xmlns:a="http://schemas.openxmlformats.org/drawingml/2006/main">
              <a:ext uri="{FF2B5EF4-FFF2-40B4-BE49-F238E27FC236}">
                <a16:creationId xmlns:a16="http://schemas.microsoft.com/office/drawing/2014/main" id="{C87A0757-6791-429A-85AC-F011CC05C0CF}"/>
              </a:ext>
            </a:extLst>
          </p:cNvPr>
          <p:cNvSpPr>
            <a:spLocks xmlns:a="http://schemas.openxmlformats.org/drawingml/2006/main" noGrp="1"/>
          </p:cNvSpPr>
          <p:nvPr/>
        </p:nvSpPr>
        <p:spPr>
          <a:xfrm xmlns:a="http://schemas.openxmlformats.org/drawingml/2006/main">
            <a:off x="704850" y="274320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0000"/>
                </a:solidFill>
                <a:latin typeface="Malgun Gothic"/>
                <a:ea typeface="Malgun Gothic"/>
                <a:cs typeface="Malgun Gothic"/>
              </a:defRPr>
            </a:pPr>
            <a:r>
              <a:rPr sz="1950" b="1">
                <a:solidFill>
                  <a:srgbClr val="000000"/>
                </a:solidFill>
                <a:latin typeface="Malgun Gothic"/>
                <a:ea typeface="Malgun Gothic"/>
                <a:cs typeface="Malgun Gothic"/>
              </a:rPr>
              <a:t>Li V et al. (2026), PLOS Digital Health</a:t>
            </a:r>
          </a:p>
        </p:txBody>
      </p:sp>
      <p:sp>
        <p:nvSpPr>
          <p:cNvPr id="6" name="">
            <a:extLst xmlns:a="http://schemas.openxmlformats.org/drawingml/2006/main">
              <a:ext uri="{FF2B5EF4-FFF2-40B4-BE49-F238E27FC236}">
                <a16:creationId xmlns:a16="http://schemas.microsoft.com/office/drawing/2014/main" id="{ECC11456-9F20-4665-8F72-6D37F0019B53}"/>
              </a:ext>
            </a:extLst>
          </p:cNvPr>
          <p:cNvSpPr>
            <a:spLocks xmlns:a="http://schemas.openxmlformats.org/drawingml/2006/main" noGrp="1"/>
          </p:cNvSpPr>
          <p:nvPr/>
        </p:nvSpPr>
        <p:spPr>
          <a:xfrm xmlns:a="http://schemas.openxmlformats.org/drawingml/2006/main">
            <a:off x="704850" y="31051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000000"/>
                </a:solidFill>
                <a:latin typeface="Malgun Gothic"/>
                <a:ea typeface="Malgun Gothic"/>
                <a:cs typeface="Malgun Gothic"/>
              </a:defRPr>
            </a:pPr>
            <a:r>
              <a:rPr sz="1650" b="0">
                <a:solidFill>
                  <a:srgbClr val="000000"/>
                </a:solidFill>
                <a:latin typeface="Malgun Gothic"/>
                <a:ea typeface="Malgun Gothic"/>
                <a:cs typeface="Malgun Gothic"/>
              </a:rPr>
              <a:t>Vision-language models for human motion understanding</a:t>
            </a:r>
          </a:p>
          <a:p xmlns:a="http://schemas.openxmlformats.org/drawingml/2006/main">
            <a:pPr>
              <a:defRPr sz="1650" b="0">
                <a:solidFill>
                  <a:srgbClr val="000000"/>
                </a:solidFill>
                <a:latin typeface="Malgun Gothic"/>
                <a:ea typeface="Malgun Gothic"/>
                <a:cs typeface="Malgun Gothic"/>
              </a:defRPr>
            </a:pPr>
            <a:r>
              <a:rPr sz="1650" b="0">
                <a:solidFill>
                  <a:srgbClr val="000000"/>
                </a:solidFill>
                <a:latin typeface="Malgun Gothic"/>
                <a:ea typeface="Malgun Gothic"/>
                <a:cs typeface="Malgun Gothic"/>
              </a:rPr>
              <a:t>10.1371/journal.pdig.0001506</a:t>
            </a:r>
          </a:p>
        </p:txBody>
      </p:sp>
      <p:sp>
        <p:nvSpPr>
          <p:cNvPr id="7" name="">
            <a:extLst xmlns:a="http://schemas.openxmlformats.org/drawingml/2006/main">
              <a:ext uri="{FF2B5EF4-FFF2-40B4-BE49-F238E27FC236}">
                <a16:creationId xmlns:a16="http://schemas.microsoft.com/office/drawing/2014/main" id="{098FE509-5E58-4AB0-94DA-545F87637D72}"/>
              </a:ext>
            </a:extLst>
          </p:cNvPr>
          <p:cNvSpPr>
            <a:spLocks xmlns:a="http://schemas.openxmlformats.org/drawingml/2006/main" noGrp="1"/>
          </p:cNvSpPr>
          <p:nvPr/>
        </p:nvSpPr>
        <p:spPr>
          <a:xfrm xmlns:a="http://schemas.openxmlformats.org/drawingml/2006/main">
            <a:off x="704850" y="381000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0000"/>
                </a:solidFill>
                <a:latin typeface="Malgun Gothic"/>
                <a:ea typeface="Malgun Gothic"/>
                <a:cs typeface="Malgun Gothic"/>
              </a:defRPr>
            </a:pPr>
            <a:r>
              <a:rPr sz="1950" b="1">
                <a:solidFill>
                  <a:srgbClr val="000000"/>
                </a:solidFill>
                <a:latin typeface="Malgun Gothic"/>
                <a:ea typeface="Malgun Gothic"/>
                <a:cs typeface="Malgun Gothic"/>
              </a:rPr>
              <a:t>Tang J et al. (2025), preprint</a:t>
            </a:r>
          </a:p>
        </p:txBody>
      </p:sp>
      <p:sp>
        <p:nvSpPr>
          <p:cNvPr id="8" name="">
            <a:extLst xmlns:a="http://schemas.openxmlformats.org/drawingml/2006/main">
              <a:ext uri="{FF2B5EF4-FFF2-40B4-BE49-F238E27FC236}">
                <a16:creationId xmlns:a16="http://schemas.microsoft.com/office/drawing/2014/main" id="{5E575F95-B66A-4D44-846E-CE06FC33D604}"/>
              </a:ext>
            </a:extLst>
          </p:cNvPr>
          <p:cNvSpPr>
            <a:spLocks xmlns:a="http://schemas.openxmlformats.org/drawingml/2006/main" noGrp="1"/>
          </p:cNvSpPr>
          <p:nvPr/>
        </p:nvSpPr>
        <p:spPr>
          <a:xfrm xmlns:a="http://schemas.openxmlformats.org/drawingml/2006/main">
            <a:off x="704850" y="41719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000000"/>
                </a:solidFill>
                <a:latin typeface="Malgun Gothic"/>
                <a:ea typeface="Malgun Gothic"/>
                <a:cs typeface="Malgun Gothic"/>
              </a:defRPr>
            </a:pPr>
            <a:r>
              <a:rPr sz="1650" b="0">
                <a:solidFill>
                  <a:srgbClr val="000000"/>
                </a:solidFill>
                <a:latin typeface="Malgun Gothic"/>
                <a:ea typeface="Malgun Gothic"/>
                <a:cs typeface="Malgun Gothic"/>
              </a:rPr>
              <a:t>Rehabilitation exercise assessment with LLMs and prompting</a:t>
            </a:r>
          </a:p>
          <a:p xmlns:a="http://schemas.openxmlformats.org/drawingml/2006/main">
            <a:pPr>
              <a:defRPr sz="1650" b="0">
                <a:solidFill>
                  <a:srgbClr val="000000"/>
                </a:solidFill>
                <a:latin typeface="Malgun Gothic"/>
                <a:ea typeface="Malgun Gothic"/>
                <a:cs typeface="Malgun Gothic"/>
              </a:defRPr>
            </a:pPr>
            <a:r>
              <a:rPr sz="1650" b="0">
                <a:solidFill>
                  <a:srgbClr val="000000"/>
                </a:solidFill>
                <a:latin typeface="Malgun Gothic"/>
                <a:ea typeface="Malgun Gothic"/>
                <a:cs typeface="Malgun Gothic"/>
              </a:rPr>
              <a:t>arXiv:2505.18412</a:t>
            </a:r>
          </a:p>
        </p:txBody>
      </p:sp>
      <p:sp>
        <p:nvSpPr>
          <p:cNvPr id="9" name="">
            <a:extLst xmlns:a="http://schemas.openxmlformats.org/drawingml/2006/main">
              <a:ext uri="{FF2B5EF4-FFF2-40B4-BE49-F238E27FC236}">
                <a16:creationId xmlns:a16="http://schemas.microsoft.com/office/drawing/2014/main" id="{9E17F93A-C756-4A49-8341-ECAD61600CF4}"/>
              </a:ext>
            </a:extLst>
          </p:cNvPr>
          <p:cNvSpPr>
            <a:spLocks xmlns:a="http://schemas.openxmlformats.org/drawingml/2006/main" noGrp="1"/>
          </p:cNvSpPr>
          <p:nvPr/>
        </p:nvSpPr>
        <p:spPr>
          <a:xfrm xmlns:a="http://schemas.openxmlformats.org/drawingml/2006/main">
            <a:off x="704850" y="487680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0000"/>
                </a:solidFill>
                <a:latin typeface="Malgun Gothic"/>
                <a:ea typeface="Malgun Gothic"/>
                <a:cs typeface="Malgun Gothic"/>
              </a:defRPr>
            </a:pPr>
            <a:r>
              <a:rPr sz="1950" b="1">
                <a:solidFill>
                  <a:srgbClr val="000000"/>
                </a:solidFill>
                <a:latin typeface="Malgun Gothic"/>
                <a:ea typeface="Malgun Gothic"/>
                <a:cs typeface="Malgun Gothic"/>
              </a:rPr>
              <a:t>Thanh DT (2026), preprint</a:t>
            </a:r>
          </a:p>
        </p:txBody>
      </p:sp>
      <p:sp>
        <p:nvSpPr>
          <p:cNvPr id="10" name="">
            <a:extLst xmlns:a="http://schemas.openxmlformats.org/drawingml/2006/main">
              <a:ext uri="{FF2B5EF4-FFF2-40B4-BE49-F238E27FC236}">
                <a16:creationId xmlns:a16="http://schemas.microsoft.com/office/drawing/2014/main" id="{AFA57744-6EAC-4D91-B4B5-FF10D5E6AC5E}"/>
              </a:ext>
            </a:extLst>
          </p:cNvPr>
          <p:cNvSpPr>
            <a:spLocks xmlns:a="http://schemas.openxmlformats.org/drawingml/2006/main" noGrp="1"/>
          </p:cNvSpPr>
          <p:nvPr/>
        </p:nvSpPr>
        <p:spPr>
          <a:xfrm xmlns:a="http://schemas.openxmlformats.org/drawingml/2006/main">
            <a:off x="704850" y="52387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000000"/>
                </a:solidFill>
                <a:latin typeface="Malgun Gothic"/>
                <a:ea typeface="Malgun Gothic"/>
                <a:cs typeface="Malgun Gothic"/>
              </a:defRPr>
            </a:pPr>
            <a:r>
              <a:rPr sz="1650" b="0">
                <a:solidFill>
                  <a:srgbClr val="000000"/>
                </a:solidFill>
                <a:latin typeface="Malgun Gothic"/>
                <a:ea typeface="Malgun Gothic"/>
                <a:cs typeface="Malgun Gothic"/>
              </a:rPr>
              <a:t>Edges Before Embeddings: a confidence-aware blur gate</a:t>
            </a:r>
          </a:p>
          <a:p xmlns:a="http://schemas.openxmlformats.org/drawingml/2006/main">
            <a:pPr>
              <a:defRPr sz="1650" b="0">
                <a:solidFill>
                  <a:srgbClr val="000000"/>
                </a:solidFill>
                <a:latin typeface="Malgun Gothic"/>
                <a:ea typeface="Malgun Gothic"/>
                <a:cs typeface="Malgun Gothic"/>
              </a:defRPr>
            </a:pPr>
            <a:r>
              <a:rPr sz="1650" b="0">
                <a:solidFill>
                  <a:srgbClr val="000000"/>
                </a:solidFill>
                <a:latin typeface="Malgun Gothic"/>
                <a:ea typeface="Malgun Gothic"/>
                <a:cs typeface="Malgun Gothic"/>
              </a:rPr>
              <a:t>arXiv:2606.25838</a:t>
            </a:r>
          </a:p>
        </p:txBody>
      </p:sp>
    </p:spTree>
    <p:extLst>
      <p:ext uri="{BB962C8B-B14F-4D97-AF65-F5344CB8AC3E}">
        <p14:creationId xmlns:p14="http://schemas.microsoft.com/office/powerpoint/2010/main" val="9160538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2026-09-28T05:00:11.2210000Z</dcterms:created>
  <dcterms:modified xsi:type="dcterms:W3CDTF">2026-09-28T05:00:11.2210000Z</dcterms:modified>
</coreProperties>
</file>