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292840" cy="0"/>
          </a:xfrm>
          <a:prstGeom prst="line">
            <a:avLst/>
          </a:prstGeom>
          <a:noFill/>
          <a:ln w="12700">
            <a:solidFill>
              <a:srgbClr val="D7DC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6404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7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[연구계획 발표]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143000" y="1847088"/>
            <a:ext cx="5623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운동학 정보를 활용한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기반 손 기능 평가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30906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Kinematics-Augmented Vision-Language Assessment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57400" y="4617720"/>
            <a:ext cx="3429000" cy="676656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30552" y="477316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한동대학교 · Human Robotics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rot="1080000">
            <a:off x="7452360" y="228600"/>
            <a:ext cx="4572000" cy="256032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">
            <a:off x="7818120" y="2697480"/>
            <a:ext cx="4160520" cy="2103120"/>
          </a:xfrm>
          <a:prstGeom prst="chevron">
            <a:avLst/>
          </a:prstGeom>
          <a:solidFill>
            <a:srgbClr val="F1EFF3"/>
          </a:solidFill>
          <a:ln w="12700">
            <a:solidFill>
              <a:srgbClr val="F1EF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">
            <a:off x="7360920" y="4754880"/>
            <a:ext cx="4572000" cy="182880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0" y="5486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3560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42432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연구의 배경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42432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연구의 필요성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연구의 배경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[연구의 배경]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 보는 VLM은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 손 기능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평가에 한계가 있음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349240" cy="4114800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709928"/>
            <a:ext cx="3840480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64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접근의 한계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2128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2194560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모양은 보지만 </a:t>
            </a:r>
            <a:pPr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거리·시간</a:t>
            </a:r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직접 측정하기 어려움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27066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2688336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접촉·해제 같은 </a:t>
            </a:r>
            <a:pPr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 사건</a:t>
            </a:r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판단이 불안정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" y="3200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3182112"/>
            <a:ext cx="46360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환자의 불규칙한 움직임에서 오차 증가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41248" y="4224528"/>
            <a:ext cx="4572000" cy="14173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352544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그림 / 사례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2416" y="4791456"/>
            <a:ext cx="416966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영상-only VLM이 손 파지·해제 판단을 놓치는 예시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1847088"/>
            <a:ext cx="5440680" cy="4114800"/>
          </a:xfrm>
          <a:prstGeom prst="rect">
            <a:avLst/>
          </a:prstGeom>
          <a:solidFill>
            <a:srgbClr val="F4F7F8"/>
          </a:solidFill>
          <a:ln w="12700">
            <a:solidFill>
              <a:srgbClr val="4C5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70992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764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필요성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9088" y="22128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2194560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RGB-D로 </a:t>
            </a:r>
            <a:pPr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MGA·시간·해제 궤적</a:t>
            </a:r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별도 측정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19088" y="27066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2688336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VLM에는 영상 + 검증된 수치 제공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3200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3182112"/>
            <a:ext cx="472744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전문가 평가와의 일치도 향상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56248" y="4224528"/>
            <a:ext cx="4617720" cy="14173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4352544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57416" y="4791456"/>
            <a:ext cx="4215384" cy="704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카메라 + 손 + 물체 + 3D 거리 개념도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연구의 필요성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[제안 개념]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VLM의 약한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fine-motion perception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RGB-D 운동학이 보완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8DA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53288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78992" y="29535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1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모양·접촉·해제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01568" y="2670048"/>
            <a:ext cx="566928" cy="56692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331720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E8F1F5"/>
          </a:solidFill>
          <a:ln w="15240">
            <a:solidFill>
              <a:srgbClr val="8DA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53288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325112" y="29535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1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MGA·TMGA·시간·품질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47688" y="2670048"/>
            <a:ext cx="566928" cy="56692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331720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29457A"/>
          </a:solidFill>
          <a:ln w="15240">
            <a:solidFill>
              <a:srgbClr val="2945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253288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평가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571232" y="29535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판독에 가까운가?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8823960" cy="12344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379976"/>
            <a:ext cx="8604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5568" y="4818888"/>
            <a:ext cx="8421624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시행에서 RGB 프레임과 3D 엄지–검지 거리 곡선이 함께 보이는 예시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12680" y="23591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39528" y="27889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“수치를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추가하면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정확한가?”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3560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42432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목적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42432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전체 연구 설계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42432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모델 비교 조건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목적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[핵심 연구 질문]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환자의 같은 시행에서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입력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전문가 판단에 가장 가까운가?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2148840"/>
            <a:ext cx="2121408" cy="1097280"/>
          </a:xfrm>
          <a:prstGeom prst="rect">
            <a:avLst/>
          </a:prstGeom>
          <a:solidFill>
            <a:srgbClr val="29457A"/>
          </a:solidFill>
          <a:ln w="13970">
            <a:solidFill>
              <a:srgbClr val="2945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 + 참조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0" y="2148840"/>
            <a:ext cx="2121408" cy="1097280"/>
          </a:xfrm>
          <a:prstGeom prst="rect">
            <a:avLst/>
          </a:prstGeom>
          <a:solidFill>
            <a:srgbClr val="E8F1F5"/>
          </a:solidFill>
          <a:ln w="13970">
            <a:solidFill>
              <a:srgbClr val="8EA0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참조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84080" y="2148840"/>
            <a:ext cx="2121408" cy="1097280"/>
          </a:xfrm>
          <a:prstGeom prst="rect">
            <a:avLst/>
          </a:prstGeom>
          <a:solidFill>
            <a:srgbClr val="59636E"/>
          </a:solidFill>
          <a:ln w="13970">
            <a:solidFill>
              <a:srgbClr val="8EA0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921240" y="27066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모델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828800" y="3858768"/>
            <a:ext cx="35661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2945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40233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  A3 − A1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965960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운동학·건강인 참조의 추가 효과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29400" y="3858768"/>
            <a:ext cx="35661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2945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02336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비교  A3 − A4 / A0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66560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영상의 추가 가치 · VLM 필요성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전체 연구 설계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[전체 연구 설계]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측정값을 먼저 검증하고 → 건강인 참조 구축 → 환자에서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검증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2880360" cy="1965960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789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67712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측정 검증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761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4명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8952" y="327355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66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오차·유효률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93592" y="2697480"/>
            <a:ext cx="658368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2029968"/>
            <a:ext cx="2880360" cy="1965960"/>
          </a:xfrm>
          <a:prstGeom prst="roundRect">
            <a:avLst/>
          </a:prstGeom>
          <a:solidFill>
            <a:srgbClr val="ECF3F6"/>
          </a:solidFill>
          <a:ln w="15240">
            <a:solidFill>
              <a:srgbClr val="789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267712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건강인 참조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2761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20명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25112" y="327355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66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3과제 × 양손 × 5회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9752" y="2697480"/>
            <a:ext cx="658368" cy="658368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2029968"/>
            <a:ext cx="2880360" cy="1965960"/>
          </a:xfrm>
          <a:prstGeom prst="roundRect">
            <a:avLst/>
          </a:prstGeom>
          <a:solidFill>
            <a:srgbClr val="29457A"/>
          </a:solidFill>
          <a:ln w="15240">
            <a:solidFill>
              <a:srgbClr val="2945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2267712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환자 VLM 검증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0" y="2761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15명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891272" y="3273552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3과제 × 5회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617720"/>
            <a:ext cx="9372600" cy="105156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745736"/>
            <a:ext cx="9153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5184648"/>
            <a:ext cx="8970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검증 → 건강인 reference → 환자 AI 검증을 한눈에 보여주는 연구 흐름도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5779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최대 225 시행이지만 독립 표본은 환자 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3560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42432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파지 과제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42432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42432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전문가 평가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실험 과제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 시행의 흐름]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이동은 최소화하고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형성–유지–능동 해제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평가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홈 패드 장면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패드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41448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이동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0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물체 가까이 장면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가까이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27448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목표 형태 장면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형태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13448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0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유지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62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형태 유지 장면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유지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99448" y="2779776"/>
            <a:ext cx="530352" cy="530352"/>
          </a:xfrm>
          <a:prstGeom prst="chevron">
            <a:avLst/>
          </a:prstGeom>
          <a:solidFill>
            <a:srgbClr val="08A7D8"/>
          </a:solidFill>
          <a:ln w="12700">
            <a:solidFill>
              <a:srgbClr val="08A7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2011680"/>
            <a:ext cx="1874520" cy="210312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6648" y="2139696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해제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48088" y="2578608"/>
            <a:ext cx="1472184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손가락 펴기 장면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46920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펴기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0120" y="5010912"/>
            <a:ext cx="10195560" cy="804672"/>
          </a:xfrm>
          <a:prstGeom prst="rect">
            <a:avLst/>
          </a:prstGeom>
          <a:solidFill>
            <a:srgbClr val="E8F1F5"/>
          </a:solidFill>
          <a:ln w="12700">
            <a:solidFill>
              <a:srgbClr val="819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248656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 5 cm   ·   구 7 cm   ·   측면집기 1.5 cm   |   각 과제 기록 5회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[자료 및 변수]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입력은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소수의 운동학 특징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제한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703320" cy="4160520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783080"/>
            <a:ext cx="3483864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83794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2304288"/>
            <a:ext cx="3136392" cy="30632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32304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측정 개념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871216"/>
            <a:ext cx="2734056" cy="2350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D455 + MediaPipe 21 landmarks + 엄지–검지 3D 거리 곡선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1920240"/>
            <a:ext cx="2011680" cy="384048"/>
          </a:xfrm>
          <a:prstGeom prst="rect">
            <a:avLst/>
          </a:prstGeom>
          <a:solidFill>
            <a:srgbClr val="2945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변수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98848" y="2468880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41264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파지구경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498848" y="3182112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TMGA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41264" y="3291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 발생 시점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98848" y="3895344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005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준비시간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41264" y="40050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→ 준비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98848" y="4608576"/>
            <a:ext cx="3017520" cy="548640"/>
          </a:xfrm>
          <a:prstGeom prst="rect">
            <a:avLst/>
          </a:prstGeom>
          <a:solidFill>
            <a:srgbClr val="ECF3F6"/>
          </a:solidFill>
          <a:ln w="12700">
            <a:solidFill>
              <a:srgbClr val="9AAE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41264" y="47183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 거리 변화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955280" y="1920240"/>
            <a:ext cx="2057400" cy="384048"/>
          </a:xfrm>
          <a:prstGeom prst="rect">
            <a:avLst/>
          </a:prstGeom>
          <a:solidFill>
            <a:srgbClr val="77777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변수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955280" y="2468880"/>
            <a:ext cx="32461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2596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 frame %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955280" y="3291840"/>
            <a:ext cx="32461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34198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Longest gap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955280" y="4114800"/>
            <a:ext cx="324612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4242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valid?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001000" y="5285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PIP/DIP/TAM/SPARC는 검증 성공 시 보조 특징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모델·전문가 평가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[모델 입력과 정답]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조건은 같은 시행을 사용하고,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라벨은 모델에 제공하지 않음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5349240" cy="3977640"/>
          </a:xfrm>
          <a:prstGeom prst="rect">
            <a:avLst/>
          </a:prstGeom>
          <a:solidFill>
            <a:srgbClr val="E8F1F5"/>
          </a:solidFill>
          <a:ln w="12700">
            <a:solidFill>
              <a:srgbClr val="4C5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801368"/>
            <a:ext cx="3840480" cy="420624"/>
          </a:xfrm>
          <a:prstGeom prst="rect">
            <a:avLst/>
          </a:prstGeom>
          <a:solidFill>
            <a:srgbClr val="0A2140"/>
          </a:solidFill>
          <a:ln w="12700">
            <a:solidFill>
              <a:srgbClr val="0A2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56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입력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395728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영상: 14 프레임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2907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889504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수치: MGA·시간·Release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3401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383280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참조: 건강인 분포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38953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877056"/>
            <a:ext cx="44074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모델·동일 프롬프트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0120" y="4462272"/>
            <a:ext cx="4434840" cy="1024128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590288"/>
            <a:ext cx="4215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1288" y="5029200"/>
            <a:ext cx="403250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A1~A4 입력 예시 화면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1938528"/>
            <a:ext cx="5349240" cy="3977640"/>
          </a:xfrm>
          <a:prstGeom prst="rect">
            <a:avLst/>
          </a:prstGeom>
          <a:solidFill>
            <a:srgbClr val="F5F7F8"/>
          </a:solidFill>
          <a:ln w="12700">
            <a:solidFill>
              <a:srgbClr val="4C5A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180136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8562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Ground Truth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37960" y="2450592"/>
            <a:ext cx="4754880" cy="585216"/>
          </a:xfrm>
          <a:prstGeom prst="rect">
            <a:avLst/>
          </a:prstGeom>
          <a:solidFill>
            <a:srgbClr val="EDF2F5"/>
          </a:solidFill>
          <a:ln w="12700">
            <a:solidFill>
              <a:srgbClr val="A6B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2578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형태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58200" y="2578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/ 미완료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37960" y="3236976"/>
            <a:ext cx="4754880" cy="585216"/>
          </a:xfrm>
          <a:prstGeom prst="rect">
            <a:avLst/>
          </a:prstGeom>
          <a:solidFill>
            <a:srgbClr val="EDF2F5"/>
          </a:solidFill>
          <a:ln w="12700">
            <a:solidFill>
              <a:srgbClr val="A6B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유지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458200" y="3364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/ 미완료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37960" y="4023360"/>
            <a:ext cx="4754880" cy="585216"/>
          </a:xfrm>
          <a:prstGeom prst="rect">
            <a:avLst/>
          </a:prstGeom>
          <a:solidFill>
            <a:srgbClr val="EDF2F5"/>
          </a:solidFill>
          <a:ln w="12700">
            <a:solidFill>
              <a:srgbClr val="A6B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4151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해제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458200" y="41513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/ 미완료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83680" y="510235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= 파지 실패   ·   1 = 유지/해제 미완료   ·   2 = 모두 완료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3560" y="22677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D41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42432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42432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보조 분석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42432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0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예상 해석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rot="1080000">
            <a:off x="2514600" y="3703320"/>
            <a:ext cx="1143000" cy="941832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2971800" y="2971800"/>
            <a:ext cx="621792" cy="502920"/>
          </a:xfrm>
          <a:prstGeom prst="chevron">
            <a:avLst/>
          </a:prstGeom>
          <a:solidFill>
            <a:srgbClr val="08A7D8">
              <a:alpha val="75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">
            <a:off x="0" y="5074920"/>
            <a:ext cx="2514600" cy="1508760"/>
          </a:xfrm>
          <a:prstGeom prst="chevron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">
            <a:off x="45720" y="5440680"/>
            <a:ext cx="2697480" cy="1051560"/>
          </a:xfrm>
          <a:prstGeom prst="chevron">
            <a:avLst/>
          </a:prstGeom>
          <a:solidFill>
            <a:srgbClr val="08A7D8">
              <a:alpha val="30000"/>
            </a:srgbClr>
          </a:solidFill>
          <a:ln w="12700">
            <a:solidFill>
              <a:srgbClr val="08A7D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[분석 방법]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단위 paired comparison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A3와 A1을 비교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2148840" cy="1417320"/>
          </a:xfrm>
          <a:prstGeom prst="chevron">
            <a:avLst/>
          </a:prstGeom>
          <a:solidFill>
            <a:srgbClr val="D8E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정답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 /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2395728"/>
            <a:ext cx="2148840" cy="1417320"/>
          </a:xfrm>
          <a:prstGeom prst="chevron">
            <a:avLst/>
          </a:prstGeom>
          <a:solidFill>
            <a:srgbClr val="B8D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조건별 예측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A1·A2·A3·A4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77840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2395728"/>
            <a:ext cx="2148840" cy="1417320"/>
          </a:xfrm>
          <a:prstGeom prst="chevron">
            <a:avLst/>
          </a:prstGeom>
          <a:solidFill>
            <a:srgbClr val="87C6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4A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MAE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3과제 동일 가중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58200" y="3108960"/>
            <a:ext cx="548640" cy="0"/>
          </a:xfrm>
          <a:prstGeom prst="line">
            <a:avLst/>
          </a:prstGeom>
          <a:noFill/>
          <a:ln w="25400">
            <a:solidFill>
              <a:srgbClr val="2945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81160" y="2395728"/>
            <a:ext cx="2148840" cy="1417320"/>
          </a:xfrm>
          <a:prstGeom prst="ellipse">
            <a:avLst/>
          </a:prstGeom>
          <a:solidFill>
            <a:srgbClr val="275D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6334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6404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ΔMAE &lt; 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4480560"/>
            <a:ext cx="10652760" cy="1051560"/>
          </a:xfrm>
          <a:prstGeom prst="rect">
            <a:avLst/>
          </a:prstGeom>
          <a:solidFill>
            <a:srgbClr val="F7F9FA"/>
          </a:solidFill>
          <a:ln w="12700">
            <a:solidFill>
              <a:srgbClr val="CB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681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057400" y="46634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A3−A1 MAE 차이 · paired bootstrap 95% CI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65392" y="46817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18120" y="4663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일치율 · weighted κ · 판독 가능률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A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예상 해석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[예상 결과 해석]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842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결과만 찾는 것이 아니라 </a:t>
            </a:r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VLM이 실제로 필요한지</a:t>
            </a:r>
            <a:pPr algn="ctr" indent="0" marL="0">
              <a:buNone/>
            </a:pPr>
            <a:r>
              <a:rPr lang="en-US" sz="20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검증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&lt; A1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수치가 영상-only를 보완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2770632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895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54680" y="2862072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참조가 추가 문맥 제공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3529584"/>
            <a:ext cx="1874520" cy="548640"/>
          </a:xfrm>
          <a:prstGeom prst="rect">
            <a:avLst/>
          </a:prstGeom>
          <a:solidFill>
            <a:srgbClr val="29457A"/>
          </a:solidFill>
          <a:ln w="12700">
            <a:solidFill>
              <a:srgbClr val="9AAD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6484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154680" y="362102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영상이 숫자에 없는 정보 추가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536"/>
            <a:ext cx="1874520" cy="548640"/>
          </a:xfrm>
          <a:prstGeom prst="rect">
            <a:avLst/>
          </a:prstGeom>
          <a:solidFill>
            <a:srgbClr val="E8F1F5"/>
          </a:solidFill>
          <a:ln w="12700">
            <a:solidFill>
              <a:srgbClr val="9AAD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07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154680" y="4379976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채점 이익은 제한적일 수 있음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5230368"/>
            <a:ext cx="9235440" cy="713232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8AA6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358384"/>
            <a:ext cx="9015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4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5797296"/>
            <a:ext cx="8833104" cy="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>
            <a:lvl1pPr algn="l"/>
          </a:lstStyle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그림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7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가상의 A1~A4/A0 성능 막대그래프 또는 환자별 ΔMAE 점도표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605332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기여: 영상 · 수치 · 참조정보의 기여를 직접 분리해서 검증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4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794760" y="384048"/>
            <a:ext cx="4526280" cy="566928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67912" y="448056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[핵심 참고문헌]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835640" cy="4434840"/>
          </a:xfrm>
          <a:prstGeom prst="rect">
            <a:avLst/>
          </a:prstGeom>
          <a:solidFill>
            <a:srgbClr val="F7FAFB"/>
          </a:solidFill>
          <a:ln w="12700">
            <a:solidFill>
              <a:srgbClr val="4C5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527048"/>
            <a:ext cx="3840480" cy="420624"/>
          </a:xfrm>
          <a:prstGeom prst="rect">
            <a:avLst/>
          </a:prstGeom>
          <a:solidFill>
            <a:srgbClr val="29457A"/>
          </a:solidFill>
          <a:ln w="12700">
            <a:solidFill>
              <a:srgbClr val="2945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819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148840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et al. (2026)  PLOS Digital Health  — VLM의 stroke rehabilitation motion 이해 한계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6609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642616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 et al. (2025)  — Kinematic features + LLM 재활운동 평가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136392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Amprimo et al. (2024)  Biomedical Signal Processing and Control  — MediaPipe + depth 검증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6484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630168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Broome et al. (2019)  Frontiers in Neurology  — Stroke reach-to-grasp kinematics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1422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4123944"/>
            <a:ext cx="984808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2A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Qiu et al. (2022)  IEEE EMBC  — 3D reach-to-grasp와 임상 회복 지표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5806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 본문에는 핵심 인용만 제시하고, 세부 서지는 최종 원고에서 정리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6556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RGB-D·VLM 손 기능 평가 연구계획 발표</dc:title>
  <dc:subject>RGB-D VLM Hand Function Assessment Research Plan</dc:subject>
  <dc:creator>OpenAI</dc:creator>
  <cp:lastModifiedBy>OpenAI</cp:lastModifiedBy>
  <cp:revision>1</cp:revision>
  <dcterms:created xsi:type="dcterms:W3CDTF">2026-09-08T11:29:04Z</dcterms:created>
  <dcterms:modified xsi:type="dcterms:W3CDTF">2026-09-08T11:29:04Z</dcterms:modified>
</cp:coreProperties>
</file>