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371600" cy="68580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Malgun Gothic"/>
                <a:ea typeface="Malgun Gothic"/>
              </a:rPr>
              <a:t>수치를 넣으면 VLM 채점이 좋아지는가,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1000"/>
              </a:spcAft>
            </a:pPr>
            <a:r>
              <a:rPr sz="3100" b="1">
                <a:solidFill>
                  <a:srgbClr val="FFFFFF"/>
                </a:solidFill>
                <a:latin typeface="Malgun Gothic"/>
                <a:ea typeface="Malgun Gothic"/>
              </a:rPr>
              <a:t>아니면 나빠지는가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A8C6D8"/>
                </a:solidFill>
                <a:latin typeface="Malgun Gothic"/>
                <a:ea typeface="Malgun Gothic"/>
              </a:rPr>
              <a:t>— ARAT 두 항목에서 품질 기반 수치 선별의 효과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이재용  22000561  |  한동대학교 기계제어공학부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8FA8BE"/>
                </a:solidFill>
                <a:latin typeface="Malgun Gothic"/>
                <a:ea typeface="Malgun Gothic"/>
              </a:rPr>
              <a:t>연구계획 발표  ·  2026-09-28  ·  설계 정본 v6.3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5156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D9B06B"/>
                </a:solidFill>
                <a:latin typeface="Malgun Gothic"/>
                <a:ea typeface="Malgun Gothic"/>
              </a:rPr>
              <a:t>※ 모든 수치는 계획값이며, 본평가 결과가 아니다 (실증 데이터 아직 수집 전).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이 연구는 무엇을 하는가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질문 · 개입 · 대상 · 결과를 한 장에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0292" cy="2148839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71016"/>
            <a:ext cx="5184648" cy="22037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연구 질문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① 수치를 주면 VLM 채점이 좋아지는가, 나빠지는가?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② 품질로 골라 주면 그 해로움이 줄어드는가?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③ 그 대가는 '과잉 보류'인가?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07008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0292" cy="2148839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271016"/>
            <a:ext cx="5047488" cy="22037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개입(intervention)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같은 영상 · 같은 사람 · 같은 시행에서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VLM에 넣는 수치의 양과 품질만 바꾼다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A1 없음 · A2 전체 · A3 품질선별 · R 무작위제외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75887"/>
            <a:ext cx="55321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67327"/>
            <a:ext cx="50292" cy="2423160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739896"/>
            <a:ext cx="5184648" cy="24780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대상과 규모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뇌졸중 23명(개발 3 + 본평가 20)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비장애인 22명(개발 6 + 검증 16)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본평가: 20명 × 2과제 × 3시행 = 120영상 × 2모델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독립 분석 단위 = 사람(20명)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75887"/>
            <a:ext cx="539496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767327"/>
            <a:ext cx="50292" cy="24231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739896"/>
            <a:ext cx="5047488" cy="24780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주 결과 3개 (확증, Holm k=3)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PR-1  수치 주입 효과    MAE(A2) − MAE(A1)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PR-2  게이팅 효과        MAE(A2) − MAE(A3)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PR-3  게이팅 고유가치  MAE(R) − MAE(A3)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algun Gothic"/>
                <a:ea typeface="Malgun Gothic"/>
              </a:rPr>
              <a:t>부호 + = 나쁜 방향. 보류율·Pareto도 1급 보고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정본: outputs/research-plan-v6.md (v6.3, 2026-09-28)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왜 필요한가 — 임상 평가의 한계와 VLM의 실패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두 문제가 동시에 존재한다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BACKGROUND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553212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0292" cy="361188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71016"/>
            <a:ext cx="5184648" cy="3666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문제 ①  임상 평가(ARAT·FMA-UE)의 구조적 한계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평가자 주관성 — 항목 일치 &gt;90%여도 갈리는 항목 4/33 (Hernández 2019)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천장/바닥 효과 — ARAT 발병 3일 바닥 38%, 4주 천장 21.3% (Kristersson 2019)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긴 소요 시간 — 전 항목 수행은 임상 현장에서 부담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점수는 맞아도 수치는 틀릴 수 있음 — 손목 96 mm 오차인데 r=0.981 (Li 2022)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B86A00"/>
                </a:solidFill>
                <a:latin typeface="Malgun Gothic"/>
                <a:ea typeface="Malgun Gothic"/>
              </a:rPr>
              <a:t>→ 점수로는 안 보이는 손가락 손상·보상 전략이 존재 (Padilla-Magaña 2022)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07008"/>
            <a:ext cx="539496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0292" cy="361188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271016"/>
            <a:ext cx="5047488" cy="3666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문제 ②  VLM 단독 채점의 실패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Li 2026 (PLOS Digit Health 5(7):e0001506, PMID 42406872)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코호트: 비장애 20 + 뇌졸중 51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Qwen2.5-VL-72B에 영상+지침만 입력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B32D2D"/>
                </a:solidFill>
                <a:latin typeface="Malgun Gothic"/>
                <a:ea typeface="Malgun Gothic"/>
              </a:rPr>
              <a:t>→ FMA 총점 예측이 중증도와 무관하게 '평탄'(essentially constant)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B32D2D"/>
                </a:solidFill>
                <a:latin typeface="Malgun Gothic"/>
                <a:ea typeface="Malgun Gothic"/>
              </a:rPr>
              <a:t>→ '무조건 1점' 기준선과 오차가 비슷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B32D2D"/>
                </a:solidFill>
                <a:latin typeface="Malgun Gothic"/>
                <a:ea typeface="Malgun Gothic"/>
              </a:rPr>
              <a:t>→ 정밀 운동 이해 부족. dose는 시각정보 제외 기준선과 유사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※ 우리 VLM = Li 2026과 같은 모델 → 직접 비교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핵심: 점수로는 안 보이고, 영상만으로는 못 잡는다 → 그 사이에 '수치를 어떻게 넣을 것인가'가 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연구 질문 — 수치를 '다' 줄까, '골라서' 줄까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정보를 더 주는 것이 항상 이롭지 않다는 근거에서 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0292" cy="1188720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98448"/>
            <a:ext cx="10808207" cy="12435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500" b="1">
                <a:solidFill>
                  <a:srgbClr val="142A4C"/>
                </a:solidFill>
                <a:latin typeface="Malgun Gothic"/>
                <a:ea typeface="Malgun Gothic"/>
              </a:rPr>
              <a:t>한 문장 질문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algun Gothic"/>
                <a:ea typeface="Malgun Gothic"/>
              </a:rPr>
              <a:t>수치를 주면 채점이 좋아지는가, 나빠지는가 — 그리고 품질이 확인된 수치만 주면 그 나쁨이 줄어드는가, 그 대가는 과잉 보류인가?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61488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52928"/>
            <a:ext cx="50292" cy="2926079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825496"/>
            <a:ext cx="3218688" cy="29809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① 왜 '수치 주입'이 위험한가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Tang 2025: 예시 3개가 최적, 4개에서 0.42로 붕괴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→ 정보를 더 주면 모델이 망가질 수 있다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Li 2026은 영상만 줬음 → '수치를 줄 때의 위험'은 미측정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761488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852928"/>
            <a:ext cx="50292" cy="2926079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825496"/>
            <a:ext cx="3218688" cy="29809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② 왜 '품질 선별'이 필요한가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RGB-D는 가림·깊이 오류로 수치가 조용히 틀린다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그 수치를 그대로 믿으면 오류가 채점으로 전파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→ 관측 가능성 Q로 골라서 제공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761488"/>
            <a:ext cx="359359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2852928"/>
            <a:ext cx="50292" cy="2926079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825496"/>
            <a:ext cx="3246120" cy="29809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③ 왜 '무작위 제외'와 비교하나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선별이 좋아 보여도 '숫자를 덜 봐서'일 수 있다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같은 양을 무작위로 빼는 R 조건 필요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→ 품질 규칙 자체의 기여를 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탐색적(보정 없음): A0·A0-time·A4·오류주입(bias/burst) 기전 — 주 비교 아님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실험 세팅 — 환경과 기록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피드백 반영 ① · 무엇을 어떤 환경에서 어떻게 기록하는가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365760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0292" cy="221284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52728"/>
            <a:ext cx="3310128" cy="22677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장비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Intel RealSense D455 × 1대 (단일 RGB-D)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RGB 1280×800 / depth 1280×720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스펙 30 fps, 실측 16.9·24.6 fps (dt 불규칙)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86A00"/>
                </a:solidFill>
                <a:latin typeface="Malgun Gothic"/>
                <a:ea typeface="Malgun Gothic"/>
              </a:rPr>
              <a:t>→ 실제 프레임 타임스탬프로 dt 계산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삼각대 · 작업거리 0.65–0.85 m · 아래 30–45°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188720"/>
            <a:ext cx="365760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280160"/>
            <a:ext cx="50292" cy="221284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252728"/>
            <a:ext cx="3310128" cy="22677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환경 (ARAT 표준 배치)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테이블 높이 75 cm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의자 좌면 46 cm · 팔걸이 없음 · 등받이 계속 접촉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선반: 테이블면에서 37 cm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물체 위치: 정중시상면과 액와선의 중간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188720"/>
            <a:ext cx="3593592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280160"/>
            <a:ext cx="50292" cy="221284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252728"/>
            <a:ext cx="3246120" cy="22677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대상자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비장애인 22명 (개발 6 + 독립검증 16)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뇌졸중 23명 (개발 3 + 본평가 20)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성인 일측성 뇌졸중 · 임상적으로 안정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점수를 보고 대상자를 빼거나 더하지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5870448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94759"/>
            <a:ext cx="50292" cy="2395727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767328"/>
            <a:ext cx="5522976" cy="2450591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절차와 저장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연습 2회 → 본 시행(연습 제외 후 첫 3회를 사전 고정)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T1 → 휴식 2분 → T2 · 시행마다 즉시 채점 (치료사 1인)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독립 영상 평가자: 장애인당 12영상, 모델 출력에 눈가림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저장 계층: L0 원본 RGB+원시 depth+타임스탬프 → L1 랜드마크 → L2 K1·K2 JSON → L3 VLM 프레임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86A00"/>
                </a:solidFill>
                <a:latin typeface="Malgun Gothic"/>
                <a:ea typeface="Malgun Gothic"/>
              </a:rPr>
              <a:t>→ 원시 depth는 반드시 보존 (PNG 수 == 프레임 수 검증)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703320"/>
            <a:ext cx="5074920" cy="257860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</a:rPr>
              <a:t>[ 사진 자리 ]  실험 세팅 전경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카메라(D455)+삼각대 위치, 대상자 기준 작업거리 0.65–0.85 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테이블 75 cm + 선반 37 cm + 팔걸이 없는 의자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환측 손과 블록/구슬/뚜껑이 함께 보이는 구도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가능하면 측면 30–45° 시점 1장 + 위에서 본 배치 도면 1장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사진/도면을 넣어 주세요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ARAT 표준 물성·배치: Yozbatiran et al. 2008 (doi 10.1177/1545968307305353), Lyle 1981 원형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왜 이 2개 동작인가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피드백 반영 ② · "가장 어려운 것 하나면 되지 않나?" — ARAT 위계 질문에 대한 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RATIONALE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1115568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0292" cy="786384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52728"/>
            <a:ext cx="10808207" cy="8412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350" b="1">
                <a:solidFill>
                  <a:srgbClr val="142A4C"/>
                </a:solidFill>
                <a:latin typeface="Malgun Gothic"/>
                <a:ea typeface="Malgun Gothic"/>
              </a:rPr>
              <a:t>질문의 전제부터 확인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F2A37"/>
                </a:solidFill>
                <a:latin typeface="Malgun Gothic"/>
                <a:ea typeface="Malgun Gothic"/>
              </a:rPr>
              <a:t>ARAT의 건너뛰기 규칙은 '가장 어려운 것을 통과하면 아래를 만점 처리'가 맞다 — 단, 그 규칙은 하위검사(subtest) 안에서만 적용된다.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3611880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50292" cy="376732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350008"/>
            <a:ext cx="3264408" cy="38221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① 규칙은 하위검사 내부 전용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Lyle 1981 / Yozbatiran 2008 / ARAT 채점지: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5B6B80"/>
                </a:solidFill>
                <a:latin typeface="Malgun Gothic"/>
                <a:ea typeface="Malgun Gothic"/>
              </a:rPr>
              <a:t>"if the subject passes the first, no more need to be administered and he scores top marks for that subtest"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Grasp·Grip·Pinch·Gross 각각 따로 적용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142A4C"/>
                </a:solidFill>
                <a:latin typeface="Malgun Gothic"/>
                <a:ea typeface="Malgun Gothic"/>
              </a:rPr>
              <a:t>→ T1 = ARAT 3번 = Grasp 소척도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142A4C"/>
                </a:solidFill>
                <a:latin typeface="Malgun Gothic"/>
                <a:ea typeface="Malgun Gothic"/>
              </a:rPr>
              <a:t>→ T2 = ARAT 12번 = Pinch 소척도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1E7A46"/>
                </a:solidFill>
                <a:latin typeface="Malgun Gothic"/>
                <a:ea typeface="Malgun Gothic"/>
              </a:rPr>
              <a:t>→ 서로 다른 하위검사이므로 중복이 아니다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2286000"/>
            <a:ext cx="3611880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2377440"/>
            <a:ext cx="50292" cy="376732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350008"/>
            <a:ext cx="3264408" cy="38221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② 위계 자체가 완전하지 않다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Koh 2006 (n=351, Mokken+Rasch)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B32D2D"/>
                </a:solidFill>
                <a:latin typeface="Malgun Gothic"/>
                <a:ea typeface="Malgun Gothic"/>
              </a:rPr>
              <a:t>19개 중 유일하게 위계를 깨는 항목 = "pinch ball bearing 3rd finger and thumb"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→ 위반이 하필 pinch 계열에서 나타난다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van der Lee 2002 (n=63)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B32D2D"/>
                </a:solidFill>
                <a:latin typeface="Malgun Gothic"/>
                <a:ea typeface="Malgun Gothic"/>
              </a:rPr>
              <a:t>19개 중 15개만 불변 위계 · 소척도 구조는 경험적으로 지지 안 됨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→ '하나면 나머지 자동' 가정은 성립하지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4" y="2286000"/>
            <a:ext cx="3694176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4424" y="2377440"/>
            <a:ext cx="50292" cy="376732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350008"/>
            <a:ext cx="3346704" cy="38221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③ 우리 목적은 '총점 추정'이 아니다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우리는 한 시행의 VLM 채점과 그때 넣는 수치의 의미를 본다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Koh 2006: ARAT 원점수는 순서 정보만 줌 (정확한 기능 수준은 아님)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1E7A46"/>
                </a:solidFill>
                <a:latin typeface="Malgun Gothic"/>
                <a:ea typeface="Malgun Gothic"/>
              </a:rPr>
              <a:t>T2(구슬, 엄지+검지 패드 강제)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→ K1(엄지–검지 표면점 거리)의 의미가 정의상 성립 → 주 결과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B86A00"/>
                </a:solidFill>
                <a:latin typeface="Malgun Gothic"/>
                <a:ea typeface="Malgun Gothic"/>
              </a:rPr>
              <a:t>T1(블록, opposition이면 어떤 파지든 허용)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1F2A37"/>
                </a:solidFill>
                <a:latin typeface="Malgun Gothic"/>
                <a:ea typeface="Malgun Gothic"/>
              </a:rPr>
              <a:t>→ K1 의미가 애매 → 참고용. 파지 유형이 바뀌어도 K1 해석이 버티는지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Koh 2006: PMID 17067971 (doi 10.1080/16501970600803252) · van der Lee 2002: Clin Rehabil 16(6):646-653 (doi 10.1191/0269215502cr534oa)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두 과제의 물성과 배치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ARAT 표준 (Yozbatiran 2008)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36576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0292" cy="2606039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71016"/>
            <a:ext cx="3310128" cy="26609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T2 · 주 결과  (ARAT 12번)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소척도: Pinch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물체: 구슬 지름 1.5 cm · 5.4 g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요구: 엄지 + 검지 '패드' 맞섬 강제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배치: 하부 뚜껑(근위연 5 cm) → 선반 위 상부 뚜껑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3점: 5초 이내 + 엄지+검지 패드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07008"/>
            <a:ext cx="36576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298448"/>
            <a:ext cx="50292" cy="2606039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271016"/>
            <a:ext cx="3310128" cy="26609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T1 · 참고  (ARAT 3번)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소척도: Grasp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물체: 목재 블록 5 cm · 55 g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요구: opposition이면 어떤 파지든 허용(손가락 쌍 미강제)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배치: 테이블 → 선반 37 cm 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3점: 5초 이내 정상 수행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207008"/>
            <a:ext cx="359359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298448"/>
            <a:ext cx="50292" cy="2606039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271016"/>
            <a:ext cx="3246120" cy="26609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채점 (공통)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0 = 60초 내 어떤 부분도 못함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1 = 60초 내 부분 수행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2 = 완료했으나 5–60초 또는 큰 어려움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3 = 5초 이내 정상 수행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32D2D"/>
                </a:solidFill>
                <a:latin typeface="Malgun Gothic"/>
                <a:ea typeface="Malgun Gothic"/>
              </a:rPr>
              <a:t>두 항목 합계 0–6점을 임상점수로 쓰지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14800"/>
            <a:ext cx="5577840" cy="216712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</a:rPr>
              <a:t>[ 사진 자리 ]  T1 · T2 물체와 배치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5 cm 목재 블록(55 g)과 구슬(1.5 cm, 5.4 g) 실물 비교 1장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선반 37 cm 위 상부 뚜껑에 구슬을 놓는 장면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테이블 위 배치 도면(물체 위치·뚜껑 2개·선반 높이)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사진/도면을 넣어 주세요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114800"/>
            <a:ext cx="5367528" cy="2167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206240"/>
            <a:ext cx="50292" cy="1984248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78808"/>
            <a:ext cx="5020056" cy="20391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무게·크기 차이가 만드는 질문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블록 55 g vs 구슬 5.4 g → 무게 약 10배, 크기 약 3.3배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구슬(12번)은 ARAT에서 두 번째로 어려운 난이도군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86A00"/>
                </a:solidFill>
                <a:latin typeface="Malgun Gothic"/>
                <a:ea typeface="Malgun Gothic"/>
              </a:rPr>
              <a:t>핵심 동작 = 37 cm 수직 들어올리기 → 카메라가 수직 시야를 확보해야 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출처: rgbd-grasp-vlm-protocol-analysis.md §0-1 (ARAT 19개 항목 물성표)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VLM에 넣는 두 수치 — K1 · K2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계산은 원본 프레임(L1)에서만. VLM 프레임에서 재계산하지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55321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0292" cy="1965960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71016"/>
            <a:ext cx="5184648" cy="2020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K1 — 엄지–검지 표면점 거리 (mm)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MediaPipe 랜드마크 4번(엄지끝)·8번(검지끝)의 표면점 사이 3D 거리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관찰 구간의 P95(95백분위수)로 요약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32D2D"/>
                </a:solidFill>
                <a:latin typeface="Malgun Gothic"/>
                <a:ea typeface="Malgun Gothic"/>
              </a:rPr>
              <a:t>금지 해석: PAp · 실제 최대 벌림 · 관절 중심 거리 · 접촉 여부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07008"/>
            <a:ext cx="541324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98448"/>
            <a:ext cx="50292" cy="1965960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71016"/>
            <a:ext cx="5065776" cy="2020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K2 — 손목 표면점 속도 (mm/s)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MediaPipe 0번(손목) 표면점의 3D 이동 속도의 P95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dt는 장치/프레임 타임스탬프에서만 (벽시계 금지), dt 하한 적용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32D2D"/>
                </a:solidFill>
                <a:latin typeface="Malgun Gothic"/>
                <a:ea typeface="Malgun Gothic"/>
              </a:rPr>
              <a:t>금지 해석: 손가락 민첩성 · 신경 회복량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55321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11880"/>
            <a:ext cx="50292" cy="2560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584448"/>
            <a:ext cx="5184648" cy="2615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계산 6단계 (요약)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① 랜드마크 픽셀 중심 5×5 depth 중앙값, 유효비율 ≥50%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② 역투영(intrinsics) → 3D 좌표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③ 손-일관성 검사: 3D 거리(손목–손끝) ∈ [60, 230] mm 밖이면 무효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5B6B80"/>
                </a:solidFill>
                <a:latin typeface="Malgun Gothic"/>
                <a:ea typeface="Malgun Gothic"/>
              </a:rPr>
              <a:t>   → 가려진 손가락이 배경에 찍히는 오류를 잡는다 (검사 OFF면 오염 110배)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④ K1 = 4–8번 거리, 양쪽 유효 프레임만, P95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⑤ K2 = 0번 속도, 연속 유효 쌍만, dt 하한 적용, P95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⑥ 검출 실패 = 하드 결측 (보간 금지)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520440"/>
            <a:ext cx="5413248" cy="2743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</a:rPr>
              <a:t>[ 사진 자리 ]  K1·K2 개념도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MediaPipe 21점 랜드마크 위에 4번·8번(빨강), 0번(파랑) 표시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K1 = 엄지–검지 표면점 거리 화살표, K2 = 손목 속도 벡터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가림 상황에서 랜드마크가 배경에 찍힌 '오염' 예시 vs 정상 예시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사진/도면을 넣어 주세요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P95 요약은 '표면점 대리값'이며 해부학적 관절 중심 거리가 아니다 (research-plan-v6.md §5)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품질 선별 규칙 Q — '믿을 만한 수치인가'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카메라 1대로는 정확도를 알 수 없다 → 관측 가능성(개연성·완전성)을 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67665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0292" cy="3063239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52728"/>
            <a:ext cx="6419088" cy="31181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규칙 5개 (본평가 전 동결)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Q1  깊이 유효 비율                 개발 자료에서 임계값 확정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Q2  최장 연속 결측                 &gt; 0.3초 → 보류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Q3  유효 표본 수                    &lt; 50개 → 보류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Q4  깊이 경계 혼합 의심            해당 프레임 &gt; 50% → 보류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Q5  손가락·손목 가림               2인 판정, &gt; 50% → 보류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1E7A46"/>
                </a:solidFill>
                <a:latin typeface="Malgun Gothic"/>
                <a:ea typeface="Malgun Gothic"/>
              </a:rPr>
              <a:t>걸린 K1 또는 K2는 null로 보류. 영상과 다른 유효 수치는 그대로 제공.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B32D2D"/>
                </a:solidFill>
                <a:latin typeface="Malgun Gothic"/>
                <a:ea typeface="Malgun Gothic"/>
              </a:rPr>
              <a:t>치료사 점수를 보고 임계값을 정하지 않는다 → 개발 자료에서 정한 뒤 본평가 전 고정.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188720"/>
            <a:ext cx="4087368" cy="32461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</a:rPr>
              <a:t>[ 사진 자리 ]  Q 판정 예시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정상 프레임 vs 가림 프레임 비교 (RGB)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depth 유효 마스크가 뚫린 예시(결측 구간 표시)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랜드마크가 물체 경계에 걸린 '경계 혼합' 예시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사진/도면을 넣어 주세요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90288"/>
            <a:ext cx="11155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681727"/>
            <a:ext cx="50292" cy="15087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4654296"/>
            <a:ext cx="10808207" cy="1563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R(무작위 제외) 조건과 한계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R = A3와 '같은 수'를 품질과 무관하게 무작위 제거 (지표별 제외 수 맞춤, 시드 3개)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원래 계산 불가능한 하드 결측은 모든 조건에서 유지 (R에서도 복원 금지)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86A00"/>
                </a:solidFill>
                <a:latin typeface="Malgun Gothic"/>
                <a:ea typeface="Malgun Gothic"/>
              </a:rPr>
              <a:t>지표별 제외 비율이 50%를 넘으면 그 지표의 R 비교는 제한한다.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Q는 '교정된 mm 오차 확률'이 아니며, 환자의 중증도가 아니다 (research-plan-v6.md §5.2·§12)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실험 조건과 세 가지 비교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같은 영상·같은 사람·같은 시행에서 수치의 양과 품질만 바꾼다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DESIGN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840480"/>
                <a:gridCol w="45720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조건</a:t>
                      </a:r>
                    </a:p>
                  </a:txBody>
                  <a:tcPr anchor="ctr" marL="91440" marR="9144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이름</a:t>
                      </a:r>
                    </a:p>
                  </a:txBody>
                  <a:tcPr anchor="ctr" marL="91440" marR="9144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VLM에 넣는 수치</a:t>
                      </a:r>
                    </a:p>
                  </a:txBody>
                  <a:tcPr anchor="ctr" marL="91440" marR="91440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비교 목적</a:t>
                      </a:r>
                    </a:p>
                  </a:txBody>
                  <a:tcPr anchor="ctr" marL="91440" marR="91440">
                    <a:solidFill>
                      <a:srgbClr val="14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A4C"/>
                          </a:solidFill>
                          <a:latin typeface="Malgun Gothic"/>
                          <a:ea typeface="Malgun Gothic"/>
                        </a:rPr>
                        <a:t>A1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영상 기준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K1·K2 제공하지 않음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영상만 있을 때의 기준선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A4C"/>
                          </a:solidFill>
                          <a:latin typeface="Malgun Gothic"/>
                          <a:ea typeface="Malgun Gothic"/>
                        </a:rPr>
                        <a:t>A2</a:t>
                      </a:r>
                    </a:p>
                  </a:txBody>
                  <a:tcPr anchor="ctr" marL="91440" marR="91440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전체 제공</a:t>
                      </a:r>
                    </a:p>
                  </a:txBody>
                  <a:tcPr anchor="ctr" marL="91440" marR="91440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계산 가능한 수치 모두 제공</a:t>
                      </a:r>
                    </a:p>
                  </a:txBody>
                  <a:tcPr anchor="ctr" marL="91440" marR="91440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A2 vs A1 → 수치 추가 효과 (PR-1)</a:t>
                      </a:r>
                    </a:p>
                  </a:txBody>
                  <a:tcPr anchor="ctr" marL="91440" marR="91440">
                    <a:solidFill>
                      <a:srgbClr val="EC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A4C"/>
                          </a:solidFill>
                          <a:latin typeface="Malgun Gothic"/>
                          <a:ea typeface="Malgun Gothic"/>
                        </a:rPr>
                        <a:t>A3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품질 선별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Q 통과 수치만 제공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A2 vs A3 → 게이팅 효과 (PR-2)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A4C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anchor="ctr" marL="91440" marR="91440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무작위 제외</a:t>
                      </a:r>
                    </a:p>
                  </a:txBody>
                  <a:tcPr anchor="ctr" marL="91440" marR="91440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A3와 같은 수를 무작위 제외</a:t>
                      </a:r>
                    </a:p>
                  </a:txBody>
                  <a:tcPr anchor="ctr" marL="91440" marR="91440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</a:rPr>
                        <a:t>R vs A3 → 선별 기준의 고유 가치 (PR-3)</a:t>
                      </a:r>
                    </a:p>
                  </a:txBody>
                  <a:tcPr anchor="ctr" marL="91440" marR="91440"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730752"/>
            <a:ext cx="5532120" cy="2551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822191"/>
            <a:ext cx="50292" cy="2368296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794760"/>
            <a:ext cx="5184648" cy="2423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1급 기술 결과 (검정 아님, 반드시 보고)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보류율(A3) — Q가 수치를 버린 시행 비율 = 게이팅의 '대가'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(보류율, MAE) Pareto 곡선 — Q1 임계값을 쓸어 얻는 트레이드오프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보조 모델의 부호 일치 여부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86A00"/>
                </a:solidFill>
                <a:latin typeface="Malgun Gothic"/>
                <a:ea typeface="Malgun Gothic"/>
              </a:rPr>
              <a:t>→ 이득이 '좁은 구간에서만' 성립할 수 있음을 숨기지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730752"/>
            <a:ext cx="5413248" cy="2551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3822191"/>
            <a:ext cx="50292" cy="2368296"/>
          </a:xfrm>
          <a:prstGeom prst="rect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794760"/>
            <a:ext cx="5065776" cy="2423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탐색적 (보정 없음, CI·효과크기만)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A4 — 수치만 주고 RGB 제거 (영상의 추가 가치)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A0 — 로지스틱 회귀 경량모형 대조 · A0-time — 시간 단서만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오류 주입 — bias 1u/3u, burst 3u (기전 H5, A2·A3에만)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큰 오차(≥2점) 비율 · 설명 평가 코드북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5B6B80"/>
                </a:solidFill>
                <a:latin typeface="Malgun Gothic"/>
                <a:ea typeface="Malgun Gothic"/>
              </a:rPr>
              <a:t>→ 주 비교(PR-1·PR-2·PR-3)와 섞지 않는다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동결: 모델 버전·프롬프트·프레임 추출·Q 임계값·R 배정 방식은 본평가 전에 고정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고정 VLM과 입력 프레임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추가 학습 없이 동일 모델·동일 프롬프트 — 조건별로 달라지는 것은 수치뿐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0292" cy="2194560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98448"/>
            <a:ext cx="3310128" cy="22494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주 모델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Qwen2.5-VL-72B-Instruct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Li 2026과 동일 모델 → 직접 비교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추가 학습 없음 · 예시 없는 0-shot · greedy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확증 검정은 주 모델에서만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34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325880"/>
            <a:ext cx="50292" cy="2194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298448"/>
            <a:ext cx="3310128" cy="22494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보조 모델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동일 프롬프트 · 동일 프레임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역할: 같은 방향의 부호가 나오는지 확인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검정 아님 (다중비교 폭증 방지)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86A00"/>
                </a:solidFill>
                <a:latin typeface="Malgun Gothic"/>
                <a:ea typeface="Malgun Gothic"/>
              </a:rPr>
              <a:t>체크포인트는 동결 전 확정 (미확정)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234440"/>
            <a:ext cx="35935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325880"/>
            <a:ext cx="50292" cy="219456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298448"/>
            <a:ext cx="3246120" cy="22494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출력과 실패 처리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시행별 ARAT 0–3점 한 줄 + 근거 ≤2문장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출력 실패는 1회 재시도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실패는 제거하지 않음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손실 = 3 으로 대체 → 실패포함 손실 + 유효 MAE + 성공률 병기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67328"/>
            <a:ext cx="5852160" cy="25146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A9B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</a:rPr>
              <a:t>[ 사진 자리 ]  프레임 샘플링 타임라인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가로 타임라인: 0–5초 구간은 10 Hz(약 50프레임), 5초 이후는 2 Hz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상한 64프레임 강조, 640×480 리사이즈 표시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5B6B80"/>
                </a:solidFill>
                <a:latin typeface="Malgun Gothic"/>
                <a:ea typeface="Malgun Gothic"/>
              </a:rPr>
              <a:t>· 실측 fps가 16.9/24.6이면 10 Hz 목표가 실제로 ~8.5 Hz로 저하됨을 각주로 표시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A9B6C6"/>
                </a:solidFill>
                <a:latin typeface="Malgun Gothic"/>
                <a:ea typeface="Malgun Gothic"/>
              </a:rPr>
              <a:t>※ 이 칸에 사진/도면을 넣어 주세요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767328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3858768"/>
            <a:ext cx="50292" cy="23317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3831336"/>
            <a:ext cx="4773168" cy="23865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프레임 규칙 (동결)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앞 5.0초를 10 Hz로 샘플링 (목표 50프레임)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5초 초과분은 2 Hz, 전체 상한 64프레임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해상도 640×480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사건 구간(접촉 순간 등)을 사람이 골라 넣지 않는다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86A00"/>
                </a:solidFill>
                <a:latin typeface="Malgun Gothic"/>
                <a:ea typeface="Malgun Gothic"/>
              </a:rPr>
              <a:t>→ 실제 fps를 읽어 프레임 인덱스를 계산 (30 fps 가정 금지)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프롬프트는 모든 조건에 동일 템플릿. 조건명을 프롬프트에 쓰지 않는다.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분석 방법과 판정 기준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사람 단위 짝지은 비교 · 사람 단위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0292" cy="2011679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71016"/>
            <a:ext cx="5184648" cy="206654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분석 설계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분석 단위 = 사람(20명). 120영상·주입본은 반복 관측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PR-1 = MAE(A2) − MAE(A1)   수치 주입 효과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PR-2 = MAE(A2) − MAE(A3)   게이팅 효과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PR-3 = MAE(R) − MAE(A3)     게이팅의 고유 가치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사람별 MAE를 짝지어 비교 · bootstrap 10,000회 · 95% CI · Holm k=3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07008"/>
            <a:ext cx="54132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98448"/>
            <a:ext cx="50292" cy="2011679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71016"/>
            <a:ext cx="5065776" cy="206654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부호 읽는 법 (양수 = 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PR-1 양수 → 전체 제공이 악화 (수치 주입이 해로움)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PR-2 양수 → 선별 제공이 개선 (게이팅이 도움)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PR-3 양수 → Q가 무작위 제외보다 우수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86A00"/>
                </a:solidFill>
                <a:latin typeface="Malgun Gothic"/>
                <a:ea typeface="Malgun Gothic"/>
              </a:rPr>
              <a:t>유의성 하나로 결론을 만들지 않는다. CI가 0을 포함하면 '방향 확인 안 됨'.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1115568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50292" cy="2514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630168"/>
            <a:ext cx="10808207" cy="25694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예상 패턴과 해석 (사전 등록)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A2 악화 · A3 개선              → 일부 수치를 보류할 가치가 있다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A3가 R보다 우수                → 단순 정보량 감소가 아니라 품질 규칙이 기여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A2·A3 비슷하게 개선           → 수치 추가 효과는 있으나 선별 이득은 작다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차이가 작거나 불명확          → 효과 크기와 신뢰구간으로 판단 (비유의 = 동등 아님)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86A00"/>
                </a:solidFill>
                <a:latin typeface="Malgun Gothic"/>
                <a:ea typeface="Malgun Gothic"/>
              </a:rPr>
              <a:t>보류율 높음 + PR-2 유의       → 이득이 좁은 구간에서만 (보류–정확도 절충)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B32D2D"/>
                </a:solidFill>
                <a:latin typeface="Malgun Gothic"/>
                <a:ea typeface="Malgun Gothic"/>
              </a:rPr>
              <a:t>보류율 높음 + PR-2 비유의     → 과잉 보류가 대가만 남김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5B6B80"/>
                </a:solidFill>
                <a:latin typeface="Malgun Gothic"/>
                <a:ea typeface="Malgun Gothic"/>
              </a:rPr>
              <a:t>보조 모델에서 부호가 반대     → 주 모델 결과를 모델 특이적으로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실패 출력은 유효 MAE에서 제외하고 '실패포함 손실(손실=3)'을 별도 열로 보고한다.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선행연구가 이미 밝힌 것과 우리가 처음 재는 것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주장은 '우리가 처음 제안'이 아니라 '우리가 처음 측정'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36576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0292" cy="2651760"/>
          </a:xfrm>
          <a:prstGeom prst="rect">
            <a:avLst/>
          </a:prstGeom>
          <a:solidFill>
            <a:srgbClr val="0E8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52728"/>
            <a:ext cx="3310128" cy="2706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VLM · 센서 채점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1F2A37"/>
                </a:solidFill>
                <a:latin typeface="Malgun Gothic"/>
                <a:ea typeface="Malgun Gothic"/>
              </a:rPr>
              <a:t>Li 2022 — 뇌졸중 20명, r=0.981, 항목평균 &gt;80%, 그러나 손목 96 mm 오차 (PMID 36291314)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1F2A37"/>
                </a:solidFill>
                <a:latin typeface="Malgun Gothic"/>
                <a:ea typeface="Malgun Gothic"/>
              </a:rPr>
              <a:t>Li 2026 — 비장애 20+뇌졸중 51, 영상만으로 FMA 총점 평탄 (PMID 42406872)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1F2A37"/>
                </a:solidFill>
                <a:latin typeface="Malgun Gothic"/>
                <a:ea typeface="Malgun Gothic"/>
              </a:rPr>
              <a:t>Tang 2025 — 관절 특징을 LLM에 주입, 예시 3개 최적·4개에서 붕괴 (arXiv:2505.18412)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188720"/>
            <a:ext cx="36576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280160"/>
            <a:ext cx="50292" cy="265176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252728"/>
            <a:ext cx="3310128" cy="2706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ARAT 척도 구조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1F2A37"/>
                </a:solidFill>
                <a:latin typeface="Malgun Gothic"/>
                <a:ea typeface="Malgun Gothic"/>
              </a:rPr>
              <a:t>Koh 2006 — 19항목 단일 차원, H=0.95, 유일한 위계 위반 = pinch 항목 (PMID 17067971)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1F2A37"/>
                </a:solidFill>
                <a:latin typeface="Malgun Gothic"/>
                <a:ea typeface="Malgun Gothic"/>
              </a:rPr>
              <a:t>van der Lee 2002 — 15/19만 불변 위계, 소척도 구조 미지지 (doi 10.1191/0269215502cr534oa)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1F2A37"/>
                </a:solidFill>
                <a:latin typeface="Malgun Gothic"/>
                <a:ea typeface="Malgun Gothic"/>
              </a:rPr>
              <a:t>Rodgers 2022 — 5코호트 N=1425, 결정나무로 ARAT 단축 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188720"/>
            <a:ext cx="3593592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280160"/>
            <a:ext cx="50292" cy="265176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252728"/>
            <a:ext cx="3246120" cy="27066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이미 선행된 것 (재주장 금지)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1F2A37"/>
                </a:solidFill>
                <a:latin typeface="Malgun Gothic"/>
                <a:ea typeface="Malgun Gothic"/>
              </a:rPr>
              <a:t>ARAT 손 과제 운동학 측정·비장애인 비교 (Padilla-Magaña 2022, SVM 97.8%)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1F2A37"/>
                </a:solidFill>
                <a:latin typeface="Malgun Gothic"/>
                <a:ea typeface="Malgun Gothic"/>
              </a:rPr>
              <a:t>RGB-D로 FMA·ARAT 자동채점 (Brain Sci 2022, Clin Rehabil 2024 — 임상검증까지)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1F2A37"/>
                </a:solidFill>
                <a:latin typeface="Malgun Gothic"/>
                <a:ea typeface="Malgun Gothic"/>
              </a:rPr>
              <a:t>JSON·특징 주입, 영상+수치 결합, 이미지 품질 게이트 → VLM 라우팅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11155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97679"/>
            <a:ext cx="50292" cy="1874519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270248"/>
            <a:ext cx="10808207" cy="19293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우리 자리 (빈칸)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Li 2026은 '영상만' 줬다 → 수치를 주면 좋아지는가/나빠지는가는 미측정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게이팅(품질로 골라 주기)의 인과 효과와 그 대가(과잉 보류)는 임상 순서형 채점에서 측정된 적이 없다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1">
                <a:solidFill>
                  <a:srgbClr val="1E7A46"/>
                </a:solidFill>
                <a:latin typeface="Malgun Gothic"/>
                <a:ea typeface="Malgun Gothic"/>
              </a:rPr>
              <a:t>→ 우리 기여는 새 아이디어가 아니라 '처음 재는 것': 같은 영상·같은 라벨에서 수치 집합만 바꾼 인과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5B6B80"/>
                </a:solidFill>
                <a:latin typeface="Malgun Gothic"/>
                <a:ea typeface="Malgun Gothic"/>
              </a:rPr>
              <a:t>참고: 게이트→VLM 라우팅·selective prediction은 이미 선행(Edges Before Embeddings 등) → 재주장하지 않음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38404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"/>
            <a:ext cx="7360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42A4C"/>
                </a:solidFill>
                <a:latin typeface="Malgun Gothic"/>
                <a:ea typeface="Malgun Gothic"/>
              </a:rPr>
              <a:t>한계와 다음 단계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>
                <a:solidFill>
                  <a:srgbClr val="5B6B80"/>
                </a:solidFill>
                <a:latin typeface="Malgun Gothic"/>
                <a:ea typeface="Malgun Gothic"/>
              </a:rPr>
              <a:t>정직하게: 아직 실증 0건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420624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E838A"/>
                </a:solidFill>
                <a:latin typeface="Malgun Gothic"/>
                <a:ea typeface="Malgun Gothic"/>
              </a:rPr>
              <a:t>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55321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0292" cy="2606039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71016"/>
            <a:ext cx="5184648" cy="26609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한계 (지금 시점)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실증 데이터 0건 — 장애인 0명, 실제 프레임 0장. 모든 '검증'은 문헌+합성 오라클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u(수치의 실제 오차) 미측정 — 치구 실측 또는 B안(비율) 필요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n=20은 큰 효과의 방향 탐색만 가능 (dz 0.66). 소효과 검출 불가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접촉 순간 랜드마크-물체 오류는 기하 검사로 검출 불가 → 검출률 병기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07008"/>
            <a:ext cx="5413248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98448"/>
            <a:ext cx="50292" cy="2606039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71016"/>
            <a:ext cx="5065776" cy="26609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본평가 전 반드시 처리할 것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파이프라인이 아직 K1/K2가 아니라 MGA·PV·SPARC·TAM을 넣고 과제도 free/cylinder (D-15)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보조 모델 체크포인트 미확정 (Qwen2.5-VL-72B·InternVL 모두 미설치)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컴퓨트: 2모델 3,216회 출력 필요, 서빙 경로 미설정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150" b="0">
                <a:solidFill>
                  <a:srgbClr val="1F2A37"/>
                </a:solidFill>
                <a:latin typeface="Malgun Gothic"/>
                <a:ea typeface="Malgun Gothic"/>
              </a:rPr>
              <a:t>치구 135기록 계측 검증 · IRB·동의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111556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251959"/>
            <a:ext cx="50292" cy="17373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224528"/>
            <a:ext cx="10808207" cy="17922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1">
                <a:solidFill>
                  <a:srgbClr val="142A4C"/>
                </a:solidFill>
                <a:latin typeface="Malgun Gothic"/>
                <a:ea typeface="Malgun Gothic"/>
              </a:rPr>
              <a:t>요약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질문은 좁고 명확하다: 수치를 넣으면 좋아지는가, 품질로 골라서 넣으면 대가는 무엇인가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Malgun Gothic"/>
                <a:ea typeface="Malgun Gothic"/>
              </a:rPr>
              <a:t>두 과제는 난이도 커버리지가 아니라 '파지 구속이 다를 때 K1의 의미가 유지되는가'를 보기 위한 선택이다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142A4C"/>
                </a:solidFill>
                <a:latin typeface="Malgun Gothic"/>
                <a:ea typeface="Malgun Gothic"/>
              </a:rPr>
              <a:t>결론은 아직 없다 — 이 발표는 설계 제안이며, 결과가 아니다.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