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비디오 주석 소요 시간 비교 (PrimSeq 선행연구 실측치)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비디오 주석 소요 시간 (시간)</c:v>
                </c:pt>
              </c:strCache>
            </c:strRef>
          </c:tx>
          <c:spPr>
            <a:solidFill>
              <a:srgbClr val="102C57"/>
            </a:solidFill>
          </c:spPr>
          <c:cat>
            <c:strRef>
              <c:f>Sheet1!$A$2:$A$3</c:f>
              <c:strCache>
                <c:ptCount val="2"/>
                <c:pt idx="0">
                  <c:v>사람 숙련 평가자 (수작업)</c:v>
                </c:pt>
                <c:pt idx="1">
                  <c:v>AI 자동화 파이프라인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513.6</c:v>
                </c:pt>
                <c:pt idx="1">
                  <c:v>1.4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0F172A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102C57"/>
                </a:solidFill>
                <a:latin typeface="맑은 고딕"/>
                <a:ea typeface="맑은 고딕"/>
              </a:rPr>
              <a:t>과제 난이도별 인식 정확도 비교 (NYU Li et al., 2026)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특화 딥러닝 모델</c:v>
                </c:pt>
              </c:strCache>
            </c:strRef>
          </c:tx>
          <c:spPr>
            <a:solidFill>
              <a:srgbClr val="0284C7"/>
            </a:solidFill>
          </c:spPr>
          <c:dLbls>
            <c:txPr>
              <a:bodyPr/>
              <a:lstStyle/>
              <a:p>
                <a:pPr>
                  <a:defRPr sz="1300" b="1">
                    <a:latin typeface="맑은 고딕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고수준 일상동작 (ADL)</c:v>
                </c:pt>
                <c:pt idx="1">
                  <c:v>미세 손과제 / FMA 임상 채점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82.0</c:v>
                </c:pt>
                <c:pt idx="1">
                  <c:v>68.0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범용 VLM (Qwen2.5-VL 등)</c:v>
                </c:pt>
              </c:strCache>
            </c:strRef>
          </c:tx>
          <c:spPr>
            <a:solidFill>
              <a:srgbClr val="DC2626"/>
            </a:solidFill>
          </c:spPr>
          <c:dLbls>
            <c:txPr>
              <a:bodyPr/>
              <a:lstStyle/>
              <a:p>
                <a:pPr>
                  <a:defRPr sz="1300" b="1">
                    <a:latin typeface="맑은 고딕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고수준 일상동작 (ADL)</c:v>
                </c:pt>
                <c:pt idx="1">
                  <c:v>미세 손과제 / FMA 임상 채점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77.5</c:v>
                </c:pt>
                <c:pt idx="1">
                  <c:v>35.0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txPr>
        <a:bodyPr/>
        <a:lstStyle/>
        <a:p>
          <a:pPr>
            <a:defRPr sz="125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50" b="1" i="0">
                <a:solidFill>
                  <a:srgbClr val="102C57"/>
                </a:solidFill>
                <a:latin typeface="맑은 고딕"/>
                <a:ea typeface="맑은 고딕"/>
              </a:rPr>
              <a:t>5대 로컬 VLM 총 VRAM 점유량 (GB) vs 32GB 한도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총 VRAM 점유량 (GB)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Sheet1!$A$2:$A$6</c:f>
              <c:strCache>
                <c:ptCount val="5"/>
                <c:pt idx="0">
                  <c:v>Qwen3-VL-8B</c:v>
                </c:pt>
                <c:pt idx="1">
                  <c:v>Qwen3-VL-30B</c:v>
                </c:pt>
                <c:pt idx="2">
                  <c:v>LLaVA-NeXT</c:v>
                </c:pt>
                <c:pt idx="3">
                  <c:v>Qwen2.5-VL-32B</c:v>
                </c:pt>
                <c:pt idx="4">
                  <c:v>LLaVA-OneVision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20.5</c:v>
                </c:pt>
                <c:pt idx="1">
                  <c:v>22.5</c:v>
                </c:pt>
                <c:pt idx="2">
                  <c:v>19.0</c:v>
                </c:pt>
                <c:pt idx="3">
                  <c:v>24.5</c:v>
                </c:pt>
                <c:pt idx="4">
                  <c:v>19.5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77240"/>
            <a:ext cx="5943600" cy="502920"/>
          </a:xfrm>
          <a:prstGeom prst="roundRect">
            <a:avLst/>
          </a:prstGeom>
          <a:solidFill>
            <a:srgbClr val="14234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 i="0">
                <a:solidFill>
                  <a:srgbClr val="0284C7"/>
                </a:solidFill>
                <a:latin typeface="맑은 고딕"/>
                <a:ea typeface="맑은 고딕"/>
              </a:rPr>
              <a:t>캡스톤디자인 2026  |  AI-로봇 상지 재활 융합 연구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</a:rPr>
              <a:t>RGB-D 운동학 정보를 활용한
양손 손 과제 VLM 평가 파일럿 연구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BAD7F8"/>
                </a:solidFill>
                <a:latin typeface="맑은 고딕"/>
                <a:ea typeface="맑은 고딕"/>
              </a:rPr>
              <a:t>3D 물리 공간 수치(Kinematics) 주입을 통한 영상 기반 VLM 재활 평가 성능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480560"/>
            <a:ext cx="10362895" cy="1600200"/>
          </a:xfrm>
          <a:prstGeom prst="roundRect">
            <a:avLst/>
          </a:prstGeom>
          <a:solidFill>
            <a:srgbClr val="121E3A"/>
          </a:solidFill>
          <a:ln w="1524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연구자: 한동대학교 기계제어공학 · Human Robotics Lab  |  22000561 이재용
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A0B4CD"/>
                </a:solidFill>
                <a:latin typeface="맑은 고딕"/>
                <a:ea typeface="맑은 고딕"/>
              </a:rPr>
              <a:t>인프라: 단일 PC NVIDIA GeForce RTX 5090 (32GB VRAM) / 100% 로컬 온프레미스 구동
센서 환경: Intel RealSense D455 Stereo RGB-D (30 fps Color-Depth Hardware Aligned)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01  |  CLINICAL BOTTLENECK &amp; TIME BURDEN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연구의 필요성: 영상 기반 임상 채점의 극심한 시간 소요와 인력 부족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8463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C2626"/>
                </a:solidFill>
                <a:latin typeface="맑은 고딕"/>
                <a:ea typeface="맑은 고딕"/>
              </a:rPr>
              <a:t>[임상 현실] </a:t>
            </a:r>
            <a:r>
              <a:rPr sz="1850" b="1" i="0">
                <a:solidFill>
                  <a:srgbClr val="102C57"/>
                </a:solidFill>
                <a:latin typeface="맑은 고딕"/>
                <a:ea typeface="맑은 고딕"/>
              </a:rPr>
              <a:t>임상 재활 현장의 만성적 병목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102C57"/>
                </a:solidFill>
                <a:latin typeface="맑은 고딕"/>
                <a:ea typeface="맑은 고딕"/>
              </a:rPr>
              <a:t>🔴 지속적 확인의 필수성: </a:t>
            </a:r>
            <a:r>
              <a:rPr sz="1550" b="0" i="0">
                <a:solidFill>
                  <a:srgbClr val="0F172A"/>
                </a:solidFill>
                <a:latin typeface="맑은 고딕"/>
                <a:ea typeface="맑은 고딕"/>
              </a:rPr>
              <a:t>뇌졸중 환자의 신경학적 회복 수준을 추적하기 위해 재활 과정 중 지속적인 상시 평가가 필수적임.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102C57"/>
                </a:solidFill>
                <a:latin typeface="맑은 고딕"/>
                <a:ea typeface="맑은 고딕"/>
              </a:rPr>
              <a:t>🔴 임상 인력의 극심한 부족: </a:t>
            </a:r>
            <a:r>
              <a:rPr sz="1550" b="0" i="0">
                <a:solidFill>
                  <a:srgbClr val="0F172A"/>
                </a:solidFill>
                <a:latin typeface="맑은 고딕"/>
                <a:ea typeface="맑은 고딕"/>
              </a:rPr>
              <a:t>숙련된 물리·작업치료사가 모든 환자의 비디오를 전수 대면 관찰·채점하기에는 물리적 시간과 인력이 절대적으로 부족함.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102C57"/>
                </a:solidFill>
                <a:latin typeface="맑은 고딕"/>
                <a:ea typeface="맑은 고딕"/>
              </a:rPr>
              <a:t>🔴 주관적 편차 및 업무 과중: </a:t>
            </a:r>
            <a:r>
              <a:rPr sz="1550" b="0" i="0">
                <a:solidFill>
                  <a:srgbClr val="0F172A"/>
                </a:solidFill>
                <a:latin typeface="맑은 고딕"/>
                <a:ea typeface="맑은 고딕"/>
              </a:rPr>
              <a:t>평가자 간 주관적 오차 발생 및 극심한 피로도로 인해 치료 본연의 시간에 집중하지 못하는 악순환 발생.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102C57"/>
                </a:solidFill>
                <a:latin typeface="맑은 고딕"/>
                <a:ea typeface="맑은 고딕"/>
              </a:rPr>
              <a:t>🔴 자동화 보조의 절실함: </a:t>
            </a:r>
            <a:r>
              <a:rPr sz="1550" b="0" i="0">
                <a:solidFill>
                  <a:srgbClr val="0F172A"/>
                </a:solidFill>
                <a:latin typeface="맑은 고딕"/>
                <a:ea typeface="맑은 고딕"/>
              </a:rPr>
              <a:t>비디오 기반으로 상태를 신속·정확히 사전 채점해주는 AI 보조 파이프라인 도입이 시급함.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52160" y="1325880"/>
          <a:ext cx="5608015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핵심 임상 문제 요약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환자 1명의 재활 비디오 분석에 사람 치료사 513시간이 소요됩니다. 재활 현장의 인력·시간 부족을 해결할 자동화 파이프라인이 필수적입니다.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02  |  PRIOR ATTEMPTS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기존 연구의 시도와 한계: 딥러닝의 가능성과 VLM의 성능 급락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51206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325880"/>
            <a:ext cx="5333695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50" b="1" i="0">
                <a:solidFill>
                  <a:srgbClr val="D97706"/>
                </a:solidFill>
                <a:latin typeface="맑은 고딕"/>
                <a:ea typeface="맑은 고딕"/>
              </a:rPr>
              <a:t>[병목 발견] </a:t>
            </a:r>
            <a:r>
              <a:rPr sz="1800" b="1" i="0">
                <a:solidFill>
                  <a:srgbClr val="102C57"/>
                </a:solidFill>
                <a:latin typeface="맑은 고딕"/>
                <a:ea typeface="맑은 고딕"/>
              </a:rPr>
              <a:t>선행 AI 시도의 명암과 치명적 병목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🟢 특화 딥러닝 (Deep Learning):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처리 시간을 1.4시간으로 단축하고 거친 동작은 양호하게 분류함. 그러나 손가락 미세 관절 정보 결여로 '단순 대기'와 '물체 유지'를 구분하지 못함.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🔴 범용 VLM (Vision-Language Model):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빗질하기, 물건 집기 등 고수준 행동 인식은 77.5%로 우수했으나, 미세 손동작 및 FMA 채점은 35%로 무작위 수준에 그침 (성능 너무 안 좋음!).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⚠️ 원인: 시각적 환각 (Visual Hallucination):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2D 영상만으로는 손가락이 물체에 스치기만 해도 '파지 성공'으로 오판하거나, 환자가 시도하지 않은 동작을 생성하는 허위 판독 다수 발생.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💡 결론 및 연구 기회: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순수 2D 영상의 시각적 환각을 제어할 물리적 공간 수치 보완이 필수적임.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기존 연구의 핵심 한계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영상만으로는 깊이 방향의 접촉 여부와 미세 벌림을 VLM이 해석할 수 없어 '시각적 환각'이 발생합니다. 물리적 3D 수치 결합이 필수적입니다.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03  |  PROPOSED SOLUTION: HYBRID KINEMATICS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본 연구의 해결 방안: 영상 기반 VLM에 3D 운동학(Kinematics) 지표 결합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2073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0284C7"/>
                </a:solidFill>
                <a:latin typeface="맑은 고딕"/>
                <a:ea typeface="맑은 고딕"/>
              </a:rPr>
              <a:t>[시각 문맥] </a:t>
            </a:r>
            <a:r>
              <a:rPr sz="1750" b="1" i="0">
                <a:solidFill>
                  <a:srgbClr val="102C57"/>
                </a:solidFill>
                <a:latin typeface="맑은 고딕"/>
                <a:ea typeface="맑은 고딕"/>
              </a:rPr>
              <a:t>1. 14프레임 시각 정보
(Visual Context)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수행단계 층화 추출: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단순 균등 분할이 아닌 획득 6장 + 유지 2장 + 해제 6장 배분.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대역폭 최적화: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비디오 토큰 폭증을 방지하고 핵심 동작 순간 14장 정밀 포착.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거시적 외형 제공: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환자의 앉은 자세, 팔 뻗기 궤적, 물체 위치 등 거시적 맥락 전달.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325880"/>
            <a:ext cx="3332073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맑은 고딕"/>
                <a:ea typeface="맑은 고딕"/>
              </a:rPr>
              <a:t>[물리 수치] </a:t>
            </a:r>
            <a:r>
              <a:rPr sz="1750" b="1" i="0">
                <a:solidFill>
                  <a:srgbClr val="102C57"/>
                </a:solidFill>
                <a:latin typeface="맑은 고딕"/>
                <a:ea typeface="맑은 고딕"/>
              </a:rPr>
              <a:t>2. 3D 물리 공간 수치
(F1~F4 Kinematics)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RealSense D455 실측: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깊이(Depth) 센서 기반 손 관절 3D 공간 기하학 직접 연산.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4대 정예 피처 주입: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최대 파지폭(F1), 도달시간(F2), 유지안정도(F3), 신전변위(F4).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시각적 환각 차단: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스친 것과 실제 쥔 것을 물리적 거리 수치(mm)로 즉시 판별.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7" y="1325880"/>
            <a:ext cx="3332073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D97706"/>
                </a:solidFill>
                <a:latin typeface="맑은 고딕"/>
                <a:ea typeface="맑은 고딕"/>
              </a:rPr>
              <a:t>[임상 규준] </a:t>
            </a:r>
            <a:r>
              <a:rPr sz="1750" b="1" i="0">
                <a:solidFill>
                  <a:srgbClr val="102C57"/>
                </a:solidFill>
                <a:latin typeface="맑은 고딕"/>
                <a:ea typeface="맑은 고딕"/>
              </a:rPr>
              <a:t>3. 건강인 기준 규준
(Normative Anchor)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건강인 15명 분포: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과제별 중앙값(Median) 및 사분위수(IQR) 기준선 프롬프트 제공.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품질 플래그 결합: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센서 유효율 80% 이상, 결측 사유 등 신뢰도 메타데이터 동시 주입.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중증도 판단 닻: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모델이 마비측 동작의 비정상성과 지연 수준을 객관적 비교 판정.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연구 가설의 핵심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영상(VLM의 자연어 문맥 해석력) + 3D 수치(센서의 정밀 물리 기하학)를 결합하여, 순수 영상 대비 VLM 평가 오차를 의미 있게 줄입니다.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04  |  BIOMECHANICAL JUSTIFICATION &amp; FMA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운동학 지표의 과학적 근거: FMA 임상 점수 회복과의 직접적 연관성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50" b="1" i="0">
                <a:solidFill>
                  <a:srgbClr val="0D9488"/>
                </a:solidFill>
                <a:latin typeface="맑은 고딕"/>
                <a:ea typeface="맑은 고딕"/>
              </a:rPr>
              <a:t>[선행연구 입증] </a:t>
            </a:r>
            <a:r>
              <a:rPr sz="1800" b="1" i="0">
                <a:solidFill>
                  <a:srgbClr val="102C57"/>
                </a:solidFill>
                <a:latin typeface="맑은 고딕"/>
                <a:ea typeface="맑은 고딕"/>
              </a:rPr>
              <a:t>생체역학 선행연구가 입증한 핵심 지표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🔹 Qiu et al. (2022, IEEE EMBC):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뇌졸중 아급성기 환자 3D 분석 결과, 최대 파지폭(MGA, F1)과 도달 시점(tMGA, F2)이 FMA 상지 점수 호전과 직접적으로 연동됨을 규명.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🔹 Lang et al. (2005, 2009, J Neurophysiol):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편마비 환자의 손가락 능동 신전(펴기) 변위(F4)가 파지 성공 및 기능 회복의 독립적 핵심 전제조건임을 임상적으로 입증.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🔹 Amprimo et al. (2024, BSPC):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깊이 센서 결합 손 추적(GMH-D 원리)이 120fps OptiTrack 모션캡처와 높은 일치도를 보임을 검증 (본 연구는 D455 환경에서 별도 자체 검증).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🔹 임상적 정당성 확보: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단순 공학적 수치가 아닌 뇌졸중 환자의 FMA 기능 회복을 대변하는 검증된 물리량만을 엄선하여 VLM에 주입함.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25880"/>
          <a:ext cx="524225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54480"/>
                <a:gridCol w="1280160"/>
                <a:gridCol w="1584655"/>
              </a:tblGrid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운동학 변수명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연관 FMA 항목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임상적 의미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최대 파지폭 (MGA)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물체 맞춤 개방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파지 준비 및 시각-운동 협응 능력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도달 시간 (tMGA)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동작 속도·기민성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팔 뻗기와 손가락 개방의 시간적 협응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유지 안정도 (SD)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2초 형태 유지력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불수의적 떨림 및 미끄러짐 제어력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능동 해제 변위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손가락 신전/펴기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물체 분리 및 잔여 굴곡 구축 회복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피처 선정의 학술적 타당성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임상 3단계(형성, 유지, 해제)와 FMA 회복 궤적을 대변하는 4대 지표(F1~F4)를 엄선하여, VLM의 주의력 분산 없이 판독 정확도를 높입니다.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05  |  TASKS &amp; KINEMATICS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평가 과제 프로토콜 및 4대 핵심 운동학 피처 (F1~F4) 조작적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2926080"/>
                <a:gridCol w="4693615"/>
              </a:tblGrid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 명칭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 물체 규격 및 재질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 파지 형태 (임상의 합의 기준)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맨손 쥐기와 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물체 없음 (테이블 맨손)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네 손가락 완전 굴곡(주먹) 후 2.0초 유지, 편 시작 자세로 능동 개방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원통 파지 (Cylinder)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지름 5cm, 높이 10cm 무광 PLA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엄지와 네 손가락이 원통 측면을 대향하여 완전히 감싸 쥐는 대향 파지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구형 파지 (Spherical)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지름 7cm 구형체 무광 PLA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엄지와 굽힌 손가락들이 구면을 둥글게 감싸 쥐는 형태 (5mm 받침대)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과제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측면 집기 (Lateral Pinch)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두께 1.5cm 직육면체 블록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검지 외측면에 물체를 대고 엄지 끝으로 강하게 누르며 집는 형태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474720"/>
          <a:ext cx="1072865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834640"/>
                <a:gridCol w="2834640"/>
                <a:gridCol w="822960"/>
                <a:gridCol w="3230575"/>
              </a:tblGrid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피처 ID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물체 파지 과제 정의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맨손 쥐기/펴기 과제 정의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단위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 대상 임상 단계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최대 파지 간격 (Peak Span MGA)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능동 굴곡 변위 (Active Closing)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1단계: 목표 파지 형성 (Formation)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최대 간격 도달 시간 (tMGA)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최대 주먹 도달 시간 (time to min)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1단계: 도달-파지 협응 (Coordination)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2.0초 유지 표준편차 (Hold 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2.0초 주먹 유지 표준편차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2단계: 형태 유지 안정성 (Hold Stability)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능동 손가락 개방 변위 (Release)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손가락 능동 재개방 변위 (Reopening)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mm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3단계: 물체 분리 및 펴기 (Release)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객관적 알고리즘 적용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주관적 눈대중 개입을 원천 배제하기 위해, 속도 변곡점(|v(t)| &lt; 10mm/s) 기반으로 2초 유지 구간(hold_duration_s &gt;= 2.0s)을 자동 검출합니다.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06  |  EXPERIMENTAL CONDITIONS &amp;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조건별 VLM 성능 비교 설계: 주 질문(A2 - A1)과 소거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920240"/>
                <a:gridCol w="1097280"/>
                <a:gridCol w="1188720"/>
                <a:gridCol w="1188720"/>
                <a:gridCol w="3139135"/>
                <a:gridCol w="1463040"/>
              </a:tblGrid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코드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 명칭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14프레임 영상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3D 운동학 수치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건강인 정상 규준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답하려는 핵심 과학적 질문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역할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영상 단독 기본군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순수 시각 정보만으로 VLM이 동작을 얼마나 정확히 판독하는가?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시각 기준선 (Li 2026 재현)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영상+운동학 결합군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 (좌우)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정량적 3D 수치 주입 시 시각적 환각과 판독 오차가 줄어드는가?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★ Primary 비교 (A2 − A1)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영상+수치+규준군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 (15명)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정상인 기준 분포를 함께 제시할 때 모델의 이상 판단이 개선되는가?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보조 비교 1 (A3 − A2)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수치 전용 소거군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영상 없이 수치 텍스트만으로 평가가 가능한가? (시각 순기여도 역검증)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보조 비교 2 (A3 − A4)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1297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A0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고전 ML 벤치마크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순서형 로지스틱 회귀(지도학습)보다 거대 VLM이 실제로 우월한가?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보조 비교 4 (A3 − A0)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D1~D4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피처별 소거군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✔ 제공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1개씩 소거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❌ 제외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F1, F2, F3, F4 중 어떤 피처가 오차 감소에 가장 결정적인가?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조건부 피처 기여도 분석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주 가설 (Primary Hypothesis)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주 비교인 A2 − A1의 환자별 절대등급오차(MAE) 차이가 0 미만(오차 감소)이며, 10,000회 부트스트랩 95% CI 상한이 0 미만임을 검증합니다.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07  |  HARDWARE &amp; MODEL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단일 PC RTX 5090 (32GB) 환경: 5대 로컬 VLM 100% 오프라인 구동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51206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0" y="1325880"/>
          <a:ext cx="533369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731520"/>
                <a:gridCol w="731520"/>
                <a:gridCol w="1127455"/>
              </a:tblGrid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 식별자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가중치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VRAM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안전 마진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선정 배경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Qwen3-VL-8B-Instruct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20.5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최신 주 모델 (초고속 추론)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Qwen3-VL-30B-A3B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AWQ 4-bit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22.5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최신 고성능 MoE 단일 GPU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LLaVA-NeXT-Video-7B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19.0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비디오 시계열 특화 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Qwen2.5-VL-32B-Instruct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AWQ 4-bit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24.5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23%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Li et al.(2026) 재현군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8180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LLaVA-OneVision-7B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19.5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여유 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25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오픈소스 멀티모달 표준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의료 데이터 프라이버시 보호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외부 상용 API 호출 0회! 5개 모델 전체가 RTX 5090 32GB 단일 워크스테이션에서 100% 로컬 오프라인으로 안전하게 구동됩니다.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08  |  SCORING PIPELINE &amp; COMPUTATIONAL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환각 방지형 결정론적 채점 루브릭 및 총 실행 규모 (11,580회)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533369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554480"/>
                <a:gridCol w="1828800"/>
                <a:gridCol w="1218895"/>
              </a:tblGrid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명칭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결정론적 매핑 규칙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임상적 상태 의미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0점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목표 형성 미완료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목표 파지 형태(또는 주먹) 형성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도달 실패, 쥐기 불능, 중증 마비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1점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부분 수행 완료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형성은 완료했으나 2초 유지 또는 펴기 미완료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형성은 되나 떨림/미끄러짐, 펴기 마비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2점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전체 수행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형성 성공, 2.0초간 유지, 4초 내 펴기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과제 전 단계 정상 수행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 anchor="ctr" lIns="109728" rIns="109728" tIns="73152" bIns="73152"/>
                    <a:lstStyle/>
                    <a:p>
                      <a:pPr algn="ctr"/>
                      <a:r>
                        <a:rPr sz="1300" b="1" i="0">
                          <a:solidFill>
                            <a:srgbClr val="102C57"/>
                          </a:solidFill>
                          <a:latin typeface="맑은 고딕"/>
                          <a:ea typeface="맑은 고딕"/>
                        </a:rPr>
                        <a:t>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판독 불가 / 중단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심한 가림 또는 통증·피로로 중단된 경우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109728" rIns="109728" tIns="73152" bIns="73152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성능 평가 분모(Coverage) 분리 기록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09360" y="1325880"/>
            <a:ext cx="5150815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50" b="1" i="0">
                <a:solidFill>
                  <a:srgbClr val="0D9488"/>
                </a:solidFill>
                <a:latin typeface="맑은 고딕"/>
                <a:ea typeface="맑은 고딕"/>
              </a:rPr>
              <a:t>[결정론적 채점] </a:t>
            </a:r>
            <a:r>
              <a:rPr sz="1800" b="1" i="0">
                <a:solidFill>
                  <a:srgbClr val="102C57"/>
                </a:solidFill>
                <a:latin typeface="맑은 고딕"/>
                <a:ea typeface="맑은 고딕"/>
              </a:rPr>
              <a:t>환각 차단 파이프라인 &amp; 실행량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🔹 1단계: VLM 상태 추출: </a:t>
            </a:r>
            <a:r>
              <a:rPr sz="1450" b="0" i="0">
                <a:solidFill>
                  <a:srgbClr val="0F172A"/>
                </a:solidFill>
                <a:latin typeface="맑은 고딕"/>
                <a:ea typeface="맑은 고딕"/>
              </a:rPr>
              <a:t>모델에게 점수를 직접 계산하게 하지 않고, complete/incomplete 상태와 프레임/수치 증거(JSON)만 출력하도록 통제.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🔹 2단계: 파이썬 규칙 엔진: </a:t>
            </a:r>
            <a:r>
              <a:rPr sz="1450" b="0" i="0">
                <a:solidFill>
                  <a:srgbClr val="0F172A"/>
                </a:solidFill>
                <a:latin typeface="맑은 고딕"/>
                <a:ea typeface="맑은 고딕"/>
              </a:rPr>
              <a:t>외부 코드가 루브릭에 따라 0/1/2점으로 엄격히 결정론적 변환하여 점수 왜곡 및 환각 차단.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🔹 총 11,580회 로컬 추론: </a:t>
            </a:r>
            <a:r>
              <a:rPr sz="1450" b="0" i="0">
                <a:solidFill>
                  <a:srgbClr val="0F172A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   • 핵심 조건 (A1~A4): </a:t>
            </a:r>
            <a:r>
              <a:rPr sz="1450" b="0" i="0">
                <a:solidFill>
                  <a:srgbClr val="0F172A"/>
                </a:solidFill>
                <a:latin typeface="맑은 고딕"/>
                <a:ea typeface="맑은 고딕"/>
              </a:rPr>
              <a:t>480시행 × 4조건 × 5모델 = 9,600회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   • 피처 소거 (D1~D4): </a:t>
            </a:r>
            <a:r>
              <a:rPr sz="1450" b="0" i="0">
                <a:solidFill>
                  <a:srgbClr val="0F172A"/>
                </a:solidFill>
                <a:latin typeface="맑은 고딕"/>
                <a:ea typeface="맑은 고딕"/>
              </a:rPr>
              <a:t>480시행 × 4조건 = 1,920회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   • 구현 재현성 확인: </a:t>
            </a:r>
            <a:r>
              <a:rPr sz="1450" b="0" i="0">
                <a:solidFill>
                  <a:srgbClr val="0F172A"/>
                </a:solidFill>
                <a:latin typeface="맑은 고딕"/>
                <a:ea typeface="맑은 고딕"/>
              </a:rPr>
              <a:t>대표 60시행 1회 점검 = 60회 (재현성 점검)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🔹 통계 검정: </a:t>
            </a:r>
            <a:r>
              <a:rPr sz="1450" b="0" i="0">
                <a:solidFill>
                  <a:srgbClr val="0F172A"/>
                </a:solidFill>
                <a:latin typeface="맑은 고딕"/>
                <a:ea typeface="맑은 고딕"/>
              </a:rPr>
              <a:t>환자 단위 10,000회 블록 부트스트랩 95% CI 산출.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엄밀한 재현성 보장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do_sample=False 탐욕적 결정론적 추론과 비트 수준 구현 재현성 점검을 통해, 모델의 점수 왜곡 없는 투명한 평가를 실현합니다.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284C7"/>
                </a:solidFill>
                <a:latin typeface="맑은 고딕"/>
                <a:ea typeface="맑은 고딕"/>
              </a:rPr>
              <a:t>09  |  CONCLUSION &amp;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i="0">
                <a:solidFill>
                  <a:srgbClr val="102C57"/>
                </a:solidFill>
                <a:latin typeface="맑은 고딕"/>
                <a:ea typeface="맑은 고딕"/>
              </a:rPr>
              <a:t>연구 기대 효과 및 향후 추진 로드맵: 임상 자동화의 새 지평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228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2073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0284C7"/>
                </a:solidFill>
                <a:latin typeface="맑은 고딕"/>
                <a:ea typeface="맑은 고딕"/>
              </a:rPr>
              <a:t>[학술 가치] </a:t>
            </a:r>
            <a:r>
              <a:rPr sz="1750" b="1" i="0">
                <a:solidFill>
                  <a:srgbClr val="102C57"/>
                </a:solidFill>
                <a:latin typeface="맑은 고딕"/>
                <a:ea typeface="맑은 고딕"/>
              </a:rPr>
              <a:t>1. 학술적 기여
(Academic Value)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환각 극복 최초 실증: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2D 비디오의 시각적 환각 한계를 3D 운동학 수치로 보완하는 최초의 체계적 실증 연구.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Zero-shot 임상 평가: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재학습(Fine-tuning) 없는 동결 VLM의 뇌졸중 재활 평가 가능성 규명.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프롬프팅 표준 수립: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헬스케어 도메인 특화 멀티모달 센서-언어 결합 표준 방법론 정립.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325880"/>
            <a:ext cx="3332073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맑은 고딕"/>
                <a:ea typeface="맑은 고딕"/>
              </a:rPr>
              <a:t>[임상 기여] </a:t>
            </a:r>
            <a:r>
              <a:rPr sz="1750" b="1" i="0">
                <a:solidFill>
                  <a:srgbClr val="102C57"/>
                </a:solidFill>
                <a:latin typeface="맑은 고딕"/>
                <a:ea typeface="맑은 고딕"/>
              </a:rPr>
              <a:t>2. 임상적 기여
(Clinical Utility)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판독 시간 90% 이상 절감: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치료사의 수작업 비디오 주석 부담(513시간)을 획기적으로 경감하는 사전 채점 초안 제공.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객관적 정량 척도 제공: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평가자 간 주관적 편차를 줄이고 표준화된 운동학 데이터베이스 구축.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재활 플랫폼 확장: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향후 가정 및 원격 상지 재활 모니터링 시스템의 핵심 알고리즘으로 연계.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7" y="1325880"/>
            <a:ext cx="3332073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tIns="182880" rIns="219456" bIns="182880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D97706"/>
                </a:solidFill>
                <a:latin typeface="맑은 고딕"/>
                <a:ea typeface="맑은 고딕"/>
              </a:rPr>
              <a:t>[추진 계획] </a:t>
            </a:r>
            <a:r>
              <a:rPr sz="1750" b="1" i="0">
                <a:solidFill>
                  <a:srgbClr val="102C57"/>
                </a:solidFill>
                <a:latin typeface="맑은 고딕"/>
                <a:ea typeface="맑은 고딕"/>
              </a:rPr>
              <a:t>3. 추진 로드맵
(Execution Roadmap)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[1단계] 개발 건강인 4명: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카메라 화각(70cm) 및 14프레임 샘플링 파이프라인 사전 점검.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[2단계] 대조군 15명: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양손 3D 운동학 정상치 규준(A3) 데이터베이스 산출 완료.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[3단계] 편마비 환자 15명: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양손 480시행 촬영 및 이중 블라인드 임상의 합의 채점.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 i="0">
                <a:solidFill>
                  <a:srgbClr val="102C57"/>
                </a:solidFill>
                <a:latin typeface="맑은 고딕"/>
                <a:ea typeface="맑은 고딕"/>
              </a:rPr>
              <a:t>• [4단계] 11,580회 추론: </a:t>
            </a:r>
            <a:r>
              <a:rPr sz="1500" b="0" i="0">
                <a:solidFill>
                  <a:srgbClr val="0F172A"/>
                </a:solidFill>
                <a:latin typeface="맑은 고딕"/>
                <a:ea typeface="맑은 고딕"/>
              </a:rPr>
              <a:t>RTX 5090 기반 로컬 추론 완결 및 부트스트랩 통계 분석.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2C57"/>
                </a:solidFill>
                <a:latin typeface="맑은 고딕"/>
                <a:ea typeface="맑은 고딕"/>
              </a:rPr>
              <a:t>💡 최종 연구 비전  |  </a:t>
            </a:r>
            <a:r>
              <a:rPr sz="1450" b="1" i="0">
                <a:solidFill>
                  <a:srgbClr val="0F172A"/>
                </a:solidFill>
                <a:latin typeface="맑은 고딕"/>
                <a:ea typeface="맑은 고딕"/>
              </a:rPr>
              <a:t>인력과 시간이 부족한 재활 임상 현장에 정밀하고 안전한 100% 로컬 AI 보조 평가 솔루션을 제시하여, 환자의 지속적인 회복을 돕겠습니다.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