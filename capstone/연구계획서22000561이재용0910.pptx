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59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4868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1323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연구계획 발표 ]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1965960" y="1975104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RGB-D </a:t>
            </a:r>
            <a:r>
              <a:rPr lang="en-US" sz="2900" b="1" dirty="0" err="1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운동학</a:t>
            </a:r>
            <a:r>
              <a:rPr lang="en-US" sz="29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900" b="1" dirty="0" err="1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</a:t>
            </a:r>
            <a:r>
              <a:rPr lang="ko-KR" altLang="en-US" sz="29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r>
              <a:rPr lang="en-US" sz="29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활용한</a:t>
            </a:r>
            <a:endParaRPr lang="en-US" sz="2600" dirty="0"/>
          </a:p>
          <a:p>
            <a:pPr marL="0" indent="0" algn="ctr">
              <a:buNone/>
            </a:pPr>
            <a:r>
              <a:rPr lang="en-US" sz="29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 기반 손 기능 평가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103120" y="3090672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5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Kinematics-Augmented Vision-Language</a:t>
            </a:r>
            <a:endParaRPr lang="en-US" sz="1440" dirty="0"/>
          </a:p>
          <a:p>
            <a:pPr marL="0" indent="0" algn="ctr">
              <a:buNone/>
            </a:pPr>
            <a:r>
              <a:rPr lang="en-US" sz="165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Assessment</a:t>
            </a:r>
            <a:endParaRPr lang="en-US" sz="1440" dirty="0"/>
          </a:p>
        </p:txBody>
      </p:sp>
      <p:sp>
        <p:nvSpPr>
          <p:cNvPr id="5" name="Shape 3"/>
          <p:cNvSpPr/>
          <p:nvPr/>
        </p:nvSpPr>
        <p:spPr>
          <a:xfrm>
            <a:off x="2395728" y="4251960"/>
            <a:ext cx="2606040" cy="438912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2450592" y="4379976"/>
            <a:ext cx="2496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22000561  이재용</a:t>
            </a:r>
            <a:endParaRPr lang="en-US" sz="1140" dirty="0"/>
          </a:p>
        </p:txBody>
      </p:sp>
      <p:sp>
        <p:nvSpPr>
          <p:cNvPr id="7" name="Shape 5"/>
          <p:cNvSpPr/>
          <p:nvPr/>
        </p:nvSpPr>
        <p:spPr>
          <a:xfrm rot="1080000">
            <a:off x="7726680" y="530352"/>
            <a:ext cx="3108960" cy="1188720"/>
          </a:xfrm>
          <a:prstGeom prst="chevron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 rot="-420000">
            <a:off x="7388352" y="1664208"/>
            <a:ext cx="3657600" cy="1554480"/>
          </a:xfrm>
          <a:prstGeom prst="chevron">
            <a:avLst/>
          </a:prstGeom>
          <a:solidFill>
            <a:srgbClr val="ECECF1"/>
          </a:solidFill>
          <a:ln w="12700">
            <a:solidFill>
              <a:srgbClr val="ECECF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 rot="780000">
            <a:off x="7498080" y="4005072"/>
            <a:ext cx="3520440" cy="1280160"/>
          </a:xfrm>
          <a:prstGeom prst="chevron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 rot="720000">
            <a:off x="7360920" y="3776472"/>
            <a:ext cx="2286000" cy="457200"/>
          </a:xfrm>
          <a:prstGeom prst="parallelogram">
            <a:avLst/>
          </a:prstGeom>
          <a:solidFill>
            <a:srgbClr val="71D1E4"/>
          </a:solidFill>
          <a:ln w="12700">
            <a:solidFill>
              <a:srgbClr val="71D1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9372600" y="6565392"/>
            <a:ext cx="2240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760" dirty="0"/>
          </a:p>
        </p:txBody>
      </p:sp>
      <p:sp>
        <p:nvSpPr>
          <p:cNvPr id="13" name="Text 11"/>
          <p:cNvSpPr/>
          <p:nvPr/>
        </p:nvSpPr>
        <p:spPr>
          <a:xfrm>
            <a:off x="10469880" y="201168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7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600000">
            <a:off x="582930" y="5212080"/>
            <a:ext cx="2686050" cy="1211580"/>
          </a:xfrm>
          <a:prstGeom prst="chevron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 rot="720000">
            <a:off x="468630" y="5029200"/>
            <a:ext cx="1885950" cy="480060"/>
          </a:xfrm>
          <a:prstGeom prst="parallelogram">
            <a:avLst/>
          </a:prstGeom>
          <a:solidFill>
            <a:srgbClr val="71D1E4"/>
          </a:solidFill>
          <a:ln w="12700">
            <a:solidFill>
              <a:srgbClr val="71D1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 rot="-1080000">
            <a:off x="1760220" y="4389120"/>
            <a:ext cx="1348740" cy="628650"/>
          </a:xfrm>
          <a:prstGeom prst="chevron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 rot="-1080000">
            <a:off x="2320290" y="4000500"/>
            <a:ext cx="868680" cy="400050"/>
          </a:xfrm>
          <a:prstGeom prst="chevron">
            <a:avLst/>
          </a:prstGeom>
          <a:solidFill>
            <a:srgbClr val="2DB4D5"/>
          </a:solidFill>
          <a:ln w="12700">
            <a:solidFill>
              <a:srgbClr val="2DB4D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532120" y="19659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5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I. 연구 배경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715000" y="27889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</a:t>
            </a:r>
            <a:r>
              <a:rPr lang="en-US" sz="2100" dirty="0" err="1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</a:t>
            </a:r>
            <a:r>
              <a:rPr lang="en-US" sz="2100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100" dirty="0" err="1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5715000" y="335584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7A82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</a:t>
            </a:r>
            <a:r>
              <a:rPr lang="ko-KR" altLang="en-US" sz="2100" dirty="0">
                <a:solidFill>
                  <a:srgbClr val="7A82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선행연구와 연구 공백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372600" y="6565392"/>
            <a:ext cx="2240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760" dirty="0"/>
          </a:p>
        </p:txBody>
      </p:sp>
      <p:sp>
        <p:nvSpPr>
          <p:cNvPr id="11" name="Text 9"/>
          <p:cNvSpPr/>
          <p:nvPr/>
        </p:nvSpPr>
        <p:spPr>
          <a:xfrm>
            <a:off x="10469880" y="201168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7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" name="Text 1"/>
          <p:cNvSpPr/>
          <p:nvPr/>
        </p:nvSpPr>
        <p:spPr>
          <a:xfrm>
            <a:off x="9372600" y="6565392"/>
            <a:ext cx="2240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067278" y="201168"/>
            <a:ext cx="163704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237744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I. 연구 배경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50292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연구의 배경</a:t>
            </a:r>
            <a:endParaRPr lang="en-US" sz="1600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C7F9944A-CAFE-9C01-BE14-8B71A28363E1}"/>
              </a:ext>
            </a:extLst>
          </p:cNvPr>
          <p:cNvGrpSpPr/>
          <p:nvPr/>
        </p:nvGrpSpPr>
        <p:grpSpPr>
          <a:xfrm>
            <a:off x="4358488" y="681227"/>
            <a:ext cx="3474720" cy="617221"/>
            <a:chOff x="4358488" y="804672"/>
            <a:chExt cx="3474720" cy="384048"/>
          </a:xfrm>
        </p:grpSpPr>
        <p:sp>
          <p:nvSpPr>
            <p:cNvPr id="8" name="Shape 6"/>
            <p:cNvSpPr/>
            <p:nvPr/>
          </p:nvSpPr>
          <p:spPr>
            <a:xfrm>
              <a:off x="4358488" y="804672"/>
              <a:ext cx="3474720" cy="384048"/>
            </a:xfrm>
            <a:prstGeom prst="rect">
              <a:avLst/>
            </a:prstGeom>
            <a:solidFill>
              <a:srgbClr val="23467B"/>
            </a:solidFill>
            <a:ln w="12700">
              <a:solidFill>
                <a:srgbClr val="23467B"/>
              </a:solidFill>
              <a:prstDash val="solid"/>
            </a:ln>
          </p:spPr>
          <p:txBody>
            <a:bodyPr/>
            <a:lstStyle/>
            <a:p>
              <a:endParaRPr sz="4800"/>
            </a:p>
          </p:txBody>
        </p:sp>
        <p:sp>
          <p:nvSpPr>
            <p:cNvPr id="9" name="Text 7"/>
            <p:cNvSpPr/>
            <p:nvPr/>
          </p:nvSpPr>
          <p:spPr>
            <a:xfrm>
              <a:off x="4431640" y="877824"/>
              <a:ext cx="3328416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[ </a:t>
              </a:r>
              <a:r>
                <a:rPr lang="en-US" sz="2400" b="1" dirty="0" err="1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연구</a:t>
              </a:r>
              <a:r>
                <a:rPr lang="en-US" sz="24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배경 ]</a:t>
              </a:r>
              <a:endParaRPr lang="en-US" sz="2000" dirty="0"/>
            </a:p>
          </p:txBody>
        </p:sp>
      </p:grpSp>
      <p:sp>
        <p:nvSpPr>
          <p:cNvPr id="10" name="Shape 8"/>
          <p:cNvSpPr/>
          <p:nvPr/>
        </p:nvSpPr>
        <p:spPr>
          <a:xfrm>
            <a:off x="713232" y="1344168"/>
            <a:ext cx="10716768" cy="35661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1" name="Text 9"/>
          <p:cNvSpPr/>
          <p:nvPr/>
        </p:nvSpPr>
        <p:spPr>
          <a:xfrm>
            <a:off x="868680" y="1408176"/>
            <a:ext cx="10387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범용 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미세 손 기능 판단에는 한계가 보고되어 있으며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RGB-D 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운동학 정보의 추가효과는 별도 검증이 필요함</a:t>
            </a:r>
            <a:endParaRPr lang="en-US" sz="1400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D25180AD-D9E1-68E4-9631-DB7F085AE7BD}"/>
              </a:ext>
            </a:extLst>
          </p:cNvPr>
          <p:cNvGrpSpPr/>
          <p:nvPr/>
        </p:nvGrpSpPr>
        <p:grpSpPr>
          <a:xfrm>
            <a:off x="731520" y="1883663"/>
            <a:ext cx="5166360" cy="3704539"/>
            <a:chOff x="731520" y="1883664"/>
            <a:chExt cx="5166360" cy="3337560"/>
          </a:xfrm>
        </p:grpSpPr>
        <p:sp>
          <p:nvSpPr>
            <p:cNvPr id="12" name="Shape 10"/>
            <p:cNvSpPr/>
            <p:nvPr/>
          </p:nvSpPr>
          <p:spPr>
            <a:xfrm>
              <a:off x="731520" y="1883664"/>
              <a:ext cx="5166360" cy="3337560"/>
            </a:xfrm>
            <a:prstGeom prst="rect">
              <a:avLst/>
            </a:prstGeom>
            <a:solidFill>
              <a:srgbClr val="F1F7FA"/>
            </a:solidFill>
            <a:ln w="12700">
              <a:solidFill>
                <a:srgbClr val="BFCBD6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13" name="Shape 11"/>
            <p:cNvSpPr/>
            <p:nvPr/>
          </p:nvSpPr>
          <p:spPr>
            <a:xfrm>
              <a:off x="731520" y="1883664"/>
              <a:ext cx="5166360" cy="329184"/>
            </a:xfrm>
            <a:prstGeom prst="rect">
              <a:avLst/>
            </a:prstGeom>
            <a:solidFill>
              <a:srgbClr val="23467B"/>
            </a:solidFill>
            <a:ln w="12700">
              <a:solidFill>
                <a:srgbClr val="23467B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14" name="Text 12"/>
            <p:cNvSpPr/>
            <p:nvPr/>
          </p:nvSpPr>
          <p:spPr>
            <a:xfrm>
              <a:off x="786384" y="1933956"/>
              <a:ext cx="5056632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기존 접근의 한계</a:t>
              </a:r>
              <a:endParaRPr lang="en-US" sz="14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59536" y="2359152"/>
              <a:ext cx="4910328" cy="2743200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t">
              <a:normAutofit lnSpcReduction="10000"/>
            </a:bodyPr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▶ </a:t>
              </a:r>
              <a:r>
                <a:rPr lang="ko-KR" altLang="en-US" sz="2400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전용 딥러닝 모델은 과제별 학습데이터와 재학습이 필요</a:t>
              </a:r>
              <a:endParaRPr lang="en-US" altLang="ko-KR" sz="24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endParaRPr>
            </a:p>
            <a:p>
              <a:pPr marL="0" indent="0">
                <a:buNone/>
              </a:pPr>
              <a:endParaRPr lang="en-US" sz="2000" dirty="0"/>
            </a:p>
            <a:p>
              <a:r>
                <a:rPr lang="en-US" sz="2400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▶ </a:t>
              </a:r>
              <a:r>
                <a:rPr lang="ko-KR" altLang="ko-KR" sz="2400" dirty="0"/>
                <a:t>범용 </a:t>
              </a:r>
              <a:r>
                <a:rPr lang="ko-KR" altLang="ko-KR" sz="2400" dirty="0" err="1"/>
                <a:t>VLM은</a:t>
              </a:r>
              <a:r>
                <a:rPr lang="ko-KR" altLang="ko-KR" sz="2400" dirty="0"/>
                <a:t> 미세 손 움직임 판단의 일관성이 제한적</a:t>
              </a:r>
              <a:endParaRPr lang="en-US" altLang="ko-KR" sz="2400" dirty="0"/>
            </a:p>
            <a:p>
              <a:endParaRPr lang="en-US" sz="24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endParaRPr>
            </a:p>
            <a:p>
              <a:r>
                <a:rPr lang="en-US" sz="2400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▶ </a:t>
              </a:r>
              <a:r>
                <a:rPr lang="ko-KR" altLang="ko-KR" sz="2400" dirty="0"/>
                <a:t>RGB 영상만으로는 </a:t>
              </a:r>
              <a:r>
                <a:rPr lang="ko-KR" altLang="ko-KR" sz="2400" dirty="0" err="1"/>
                <a:t>거리·손</a:t>
              </a:r>
              <a:r>
                <a:rPr lang="ko-KR" altLang="ko-KR" sz="2400" dirty="0"/>
                <a:t> 벌림 등 미세 움직임을 </a:t>
              </a:r>
              <a:r>
                <a:rPr lang="ko-KR" altLang="ko-KR" sz="2400" dirty="0" err="1"/>
                <a:t>정량화하기</a:t>
              </a:r>
              <a:r>
                <a:rPr lang="ko-KR" altLang="ko-KR" sz="2400" dirty="0"/>
                <a:t> 어려움</a:t>
              </a:r>
              <a:endParaRPr lang="en-US" sz="2000" dirty="0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53680728-B494-3E44-C9E4-A92C5FE9B2E8}"/>
              </a:ext>
            </a:extLst>
          </p:cNvPr>
          <p:cNvGrpSpPr/>
          <p:nvPr/>
        </p:nvGrpSpPr>
        <p:grpSpPr>
          <a:xfrm>
            <a:off x="6236208" y="1883664"/>
            <a:ext cx="5166360" cy="3750258"/>
            <a:chOff x="6236208" y="1883664"/>
            <a:chExt cx="5166360" cy="3337560"/>
          </a:xfrm>
        </p:grpSpPr>
        <p:sp>
          <p:nvSpPr>
            <p:cNvPr id="16" name="Shape 14"/>
            <p:cNvSpPr/>
            <p:nvPr/>
          </p:nvSpPr>
          <p:spPr>
            <a:xfrm>
              <a:off x="6236208" y="1883664"/>
              <a:ext cx="5166360" cy="3337560"/>
            </a:xfrm>
            <a:prstGeom prst="rect">
              <a:avLst/>
            </a:prstGeom>
            <a:solidFill>
              <a:srgbClr val="F3F8FB"/>
            </a:solidFill>
            <a:ln w="12700">
              <a:solidFill>
                <a:srgbClr val="BFCBD6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36208" y="1883664"/>
              <a:ext cx="5166360" cy="329184"/>
            </a:xfrm>
            <a:prstGeom prst="rect">
              <a:avLst/>
            </a:prstGeom>
            <a:solidFill>
              <a:srgbClr val="23467B"/>
            </a:solidFill>
            <a:ln w="12700">
              <a:solidFill>
                <a:srgbClr val="23467B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18" name="Text 16"/>
            <p:cNvSpPr/>
            <p:nvPr/>
          </p:nvSpPr>
          <p:spPr>
            <a:xfrm>
              <a:off x="6291072" y="1933956"/>
              <a:ext cx="5056632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연구의 필요성</a:t>
              </a:r>
              <a:endParaRPr lang="en-US" sz="14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364224" y="2359152"/>
              <a:ext cx="4910328" cy="2743200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t">
              <a:normAutofit/>
            </a:bodyPr>
            <a:lstStyle/>
            <a:p>
              <a:pPr marL="0" indent="0">
                <a:buNone/>
              </a:pPr>
              <a:r>
                <a:rPr lang="en-US" sz="2400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▶ </a:t>
              </a:r>
              <a:r>
                <a:rPr lang="ko-KR" altLang="en-US" sz="2400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범용 </a:t>
              </a:r>
              <a:r>
                <a:rPr lang="en-US" altLang="ko-KR" sz="2400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VLM</a:t>
              </a:r>
              <a:r>
                <a:rPr lang="ko-KR" altLang="en-US" sz="2400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의 손 기능 자동평가에 어떤 정보가 필요한지 검증</a:t>
              </a:r>
              <a:endParaRPr lang="en-US" altLang="ko-KR" sz="24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endParaRPr>
            </a:p>
            <a:p>
              <a:pPr marL="0" indent="0">
                <a:buNone/>
              </a:pPr>
              <a:endParaRPr lang="en-US" sz="2000" dirty="0"/>
            </a:p>
            <a:p>
              <a:r>
                <a:rPr lang="en-US" sz="2400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▶ </a:t>
              </a:r>
              <a:r>
                <a:rPr lang="ko-KR" altLang="ko-KR" sz="2400" dirty="0"/>
                <a:t>RGB-D 운동학 정보의 실제 추가효과를 확인</a:t>
              </a:r>
              <a:endParaRPr lang="en-US" altLang="ko-KR" sz="2400" dirty="0"/>
            </a:p>
            <a:p>
              <a:endParaRPr lang="en-US" sz="2000" dirty="0"/>
            </a:p>
            <a:p>
              <a:r>
                <a:rPr lang="en-US" sz="2400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▶ </a:t>
              </a:r>
              <a:r>
                <a:rPr lang="ko-KR" altLang="ko-KR" sz="2400" dirty="0" err="1"/>
                <a:t>영상·운동학·건강인</a:t>
              </a:r>
              <a:r>
                <a:rPr lang="ko-KR" altLang="ko-KR" sz="2400" dirty="0"/>
                <a:t> 참조정보의 기여를 비교해 핵심 정보구성 규명</a:t>
              </a:r>
              <a:endParaRPr lang="en-US" sz="2000" dirty="0"/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0C952E01-53B3-BE15-BD10-6D8554336D93}"/>
              </a:ext>
            </a:extLst>
          </p:cNvPr>
          <p:cNvGrpSpPr/>
          <p:nvPr/>
        </p:nvGrpSpPr>
        <p:grpSpPr>
          <a:xfrm>
            <a:off x="973792" y="5862191"/>
            <a:ext cx="10177360" cy="557783"/>
            <a:chOff x="3462883" y="5559552"/>
            <a:chExt cx="7327037" cy="274320"/>
          </a:xfrm>
        </p:grpSpPr>
        <p:sp>
          <p:nvSpPr>
            <p:cNvPr id="20" name="Text 18"/>
            <p:cNvSpPr/>
            <p:nvPr/>
          </p:nvSpPr>
          <p:spPr>
            <a:xfrm>
              <a:off x="3462883" y="5596128"/>
              <a:ext cx="1886358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ko-KR" altLang="en-US" sz="3200" b="1" dirty="0">
                  <a:solidFill>
                    <a:srgbClr val="E1473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핵심 공백</a:t>
              </a:r>
              <a:endParaRPr lang="en-US" sz="28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4851786" y="5559552"/>
              <a:ext cx="5938134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b="1" dirty="0">
                  <a:solidFill>
                    <a:srgbClr val="E1473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“</a:t>
              </a:r>
              <a:r>
                <a:rPr lang="ko-KR" altLang="en-US" b="1" dirty="0">
                  <a:solidFill>
                    <a:srgbClr val="E1473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미세 손 기능 자동평가에서 범용 </a:t>
              </a:r>
              <a:r>
                <a:rPr lang="en-US" altLang="ko-KR" b="1" dirty="0">
                  <a:solidFill>
                    <a:srgbClr val="E1473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VLM</a:t>
              </a:r>
              <a:r>
                <a:rPr lang="ko-KR" altLang="en-US" b="1" dirty="0">
                  <a:solidFill>
                    <a:srgbClr val="E1473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에 어떤 정보가 실제로 필요한지는 아직 명확하지 않음</a:t>
              </a:r>
              <a:r>
                <a:rPr lang="en-US" b="1" dirty="0">
                  <a:solidFill>
                    <a:srgbClr val="E1473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”</a:t>
              </a:r>
              <a:endParaRPr lang="en-US" sz="14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" name="Text 1"/>
          <p:cNvSpPr/>
          <p:nvPr/>
        </p:nvSpPr>
        <p:spPr>
          <a:xfrm>
            <a:off x="9372600" y="6565392"/>
            <a:ext cx="2240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138299" y="201168"/>
            <a:ext cx="1566021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237744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I. 연구 배경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50292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</a:t>
            </a:r>
            <a:r>
              <a:rPr lang="ko-KR" alt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선행연구와 연구 공백</a:t>
            </a:r>
            <a:endParaRPr lang="en-US" sz="1600" dirty="0"/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B3572A4D-EA66-312F-EC1B-0777A92A704F}"/>
              </a:ext>
            </a:extLst>
          </p:cNvPr>
          <p:cNvGrpSpPr/>
          <p:nvPr/>
        </p:nvGrpSpPr>
        <p:grpSpPr>
          <a:xfrm>
            <a:off x="4541368" y="804672"/>
            <a:ext cx="3108960" cy="470916"/>
            <a:chOff x="4541368" y="804672"/>
            <a:chExt cx="3108960" cy="384048"/>
          </a:xfrm>
        </p:grpSpPr>
        <p:sp>
          <p:nvSpPr>
            <p:cNvPr id="8" name="Shape 6"/>
            <p:cNvSpPr/>
            <p:nvPr/>
          </p:nvSpPr>
          <p:spPr>
            <a:xfrm>
              <a:off x="4541368" y="804672"/>
              <a:ext cx="3108960" cy="384048"/>
            </a:xfrm>
            <a:prstGeom prst="rect">
              <a:avLst/>
            </a:prstGeom>
            <a:solidFill>
              <a:srgbClr val="23467B"/>
            </a:solidFill>
            <a:ln w="12700">
              <a:solidFill>
                <a:srgbClr val="23467B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9" name="Text 7"/>
            <p:cNvSpPr/>
            <p:nvPr/>
          </p:nvSpPr>
          <p:spPr>
            <a:xfrm>
              <a:off x="4614520" y="877824"/>
              <a:ext cx="2962656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[</a:t>
              </a:r>
              <a:r>
                <a:rPr lang="ko-KR" altLang="en-US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선행연구와 연구 공백</a:t>
              </a:r>
              <a:r>
                <a:rPr lang="en-US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]</a:t>
              </a:r>
              <a:endParaRPr lang="en-US" sz="1600" dirty="0"/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84046C50-90E3-911F-3032-D3C557AEA1F4}"/>
              </a:ext>
            </a:extLst>
          </p:cNvPr>
          <p:cNvGrpSpPr/>
          <p:nvPr/>
        </p:nvGrpSpPr>
        <p:grpSpPr>
          <a:xfrm>
            <a:off x="713232" y="1344167"/>
            <a:ext cx="10716768" cy="705817"/>
            <a:chOff x="713232" y="1344168"/>
            <a:chExt cx="10716768" cy="356616"/>
          </a:xfrm>
        </p:grpSpPr>
        <p:sp>
          <p:nvSpPr>
            <p:cNvPr id="10" name="Shape 8"/>
            <p:cNvSpPr/>
            <p:nvPr/>
          </p:nvSpPr>
          <p:spPr>
            <a:xfrm>
              <a:off x="713232" y="1344168"/>
              <a:ext cx="10716768" cy="356616"/>
            </a:xfrm>
            <a:prstGeom prst="rect">
              <a:avLst/>
            </a:prstGeom>
            <a:solidFill>
              <a:srgbClr val="FFFFFF">
                <a:alpha val="0"/>
              </a:srgbClr>
            </a:solidFill>
            <a:ln w="12700">
              <a:solidFill>
                <a:srgbClr val="23467B"/>
              </a:solidFill>
              <a:prstDash val="solid"/>
            </a:ln>
          </p:spPr>
          <p:txBody>
            <a:bodyPr/>
            <a:lstStyle/>
            <a:p>
              <a:endParaRPr sz="4000"/>
            </a:p>
          </p:txBody>
        </p:sp>
        <p:sp>
          <p:nvSpPr>
            <p:cNvPr id="11" name="Text 9"/>
            <p:cNvSpPr/>
            <p:nvPr/>
          </p:nvSpPr>
          <p:spPr>
            <a:xfrm>
              <a:off x="868680" y="1408176"/>
              <a:ext cx="10387584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20000"/>
            </a:bodyPr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기존 연구는 영상 기반 자동평가</a:t>
              </a:r>
              <a:r>
                <a:rPr lang="en-US" altLang="ko-KR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, </a:t>
              </a:r>
              <a:r>
                <a:rPr lang="ko-KR" altLang="en-US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범용 </a:t>
              </a:r>
              <a:r>
                <a:rPr lang="en-US" altLang="ko-KR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VLM, </a:t>
              </a:r>
              <a:r>
                <a:rPr lang="ko-KR" altLang="en-US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운동학 기반 </a:t>
              </a:r>
              <a:r>
                <a:rPr lang="en-US" altLang="ko-KR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LLM</a:t>
              </a:r>
              <a:r>
                <a:rPr lang="ko-KR" altLang="en-US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의 가능성을 각각 보여줬지만</a:t>
              </a:r>
              <a:r>
                <a:rPr lang="en-US" altLang="ko-KR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, </a:t>
              </a:r>
              <a:r>
                <a:rPr lang="ko-KR" altLang="en-US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이를 하나의 범용 </a:t>
              </a:r>
              <a:r>
                <a:rPr lang="en-US" altLang="ko-KR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VLM</a:t>
              </a:r>
              <a:r>
                <a:rPr lang="ko-KR" altLang="en-US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에 결합했을 때의 추가효과는 검증되지 않음</a:t>
              </a:r>
              <a:endParaRPr lang="en-US" sz="1400" dirty="0"/>
            </a:p>
          </p:txBody>
        </p:sp>
      </p:grpSp>
      <p:sp>
        <p:nvSpPr>
          <p:cNvPr id="12" name="Shape 10"/>
          <p:cNvSpPr/>
          <p:nvPr/>
        </p:nvSpPr>
        <p:spPr>
          <a:xfrm>
            <a:off x="822960" y="2168859"/>
            <a:ext cx="3154680" cy="2331720"/>
          </a:xfrm>
          <a:prstGeom prst="rect">
            <a:avLst/>
          </a:prstGeom>
          <a:solidFill>
            <a:srgbClr val="F3F8FB"/>
          </a:solidFill>
          <a:ln w="12700">
            <a:solidFill>
              <a:srgbClr val="BFCBD6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3" name="Shape 11"/>
          <p:cNvSpPr/>
          <p:nvPr/>
        </p:nvSpPr>
        <p:spPr>
          <a:xfrm>
            <a:off x="822960" y="2168859"/>
            <a:ext cx="3154680" cy="329184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4" name="Text 12"/>
          <p:cNvSpPr/>
          <p:nvPr/>
        </p:nvSpPr>
        <p:spPr>
          <a:xfrm>
            <a:off x="877824" y="2219151"/>
            <a:ext cx="30449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Kim 2024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50976" y="2644347"/>
            <a:ext cx="2898648" cy="1737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 lnSpcReduction="10000"/>
          </a:bodyPr>
          <a:lstStyle/>
          <a:p>
            <a:r>
              <a:rPr lang="ko-KR" altLang="ko-KR" sz="2000" b="1" dirty="0"/>
              <a:t>RGB 영상 → 전용 딥러닝</a:t>
            </a:r>
            <a:endParaRPr lang="ko-KR" altLang="ko-KR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ko-KR" sz="2000" dirty="0"/>
              <a:t>실제 </a:t>
            </a:r>
            <a:r>
              <a:rPr lang="ko-KR" altLang="ko-KR" sz="2000" dirty="0" err="1"/>
              <a:t>stroke</a:t>
            </a:r>
            <a:r>
              <a:rPr lang="ko-KR" altLang="ko-KR" sz="2000" dirty="0"/>
              <a:t> 영상 자동평가 가능</a:t>
            </a:r>
            <a:endParaRPr lang="en-US" altLang="ko-KR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ko-KR" sz="2000" b="1" dirty="0"/>
              <a:t>단, 과제별 학습데이터와 </a:t>
            </a:r>
            <a:r>
              <a:rPr lang="ko-KR" altLang="ko-KR" sz="2000" b="1" dirty="0" err="1"/>
              <a:t>재학습</a:t>
            </a:r>
            <a:r>
              <a:rPr lang="ko-KR" altLang="ko-KR" sz="2000" b="1" dirty="0"/>
              <a:t> 필요</a:t>
            </a:r>
            <a:endParaRPr lang="ko-KR" altLang="ko-KR" sz="2000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526280" y="2168859"/>
            <a:ext cx="3154680" cy="2331720"/>
          </a:xfrm>
          <a:prstGeom prst="rect">
            <a:avLst/>
          </a:prstGeom>
          <a:solidFill>
            <a:srgbClr val="F3F8FB"/>
          </a:solidFill>
          <a:ln w="12700">
            <a:solidFill>
              <a:srgbClr val="BFCBD6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7" name="Shape 15"/>
          <p:cNvSpPr/>
          <p:nvPr/>
        </p:nvSpPr>
        <p:spPr>
          <a:xfrm>
            <a:off x="4526280" y="2168859"/>
            <a:ext cx="3154680" cy="329184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8" name="Text 16"/>
          <p:cNvSpPr/>
          <p:nvPr/>
        </p:nvSpPr>
        <p:spPr>
          <a:xfrm>
            <a:off x="4581144" y="2219151"/>
            <a:ext cx="30449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 2026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654296" y="2644347"/>
            <a:ext cx="2898648" cy="1737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r>
              <a:rPr lang="ko-KR" altLang="ko-KR" sz="1900" b="1" dirty="0"/>
              <a:t>RGB 영상 → 범용 VLM</a:t>
            </a:r>
            <a:endParaRPr lang="ko-KR" altLang="ko-KR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ko-KR" sz="1900" dirty="0"/>
              <a:t>고수준 동작 이해는 가능</a:t>
            </a:r>
            <a:endParaRPr lang="en-US" altLang="ko-KR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1900" dirty="0"/>
              <a:t> </a:t>
            </a:r>
            <a:r>
              <a:rPr lang="ko-KR" altLang="ko-KR" sz="1900" b="1" dirty="0"/>
              <a:t>미세 손</a:t>
            </a:r>
            <a:r>
              <a:rPr lang="en-US" altLang="ko-KR" sz="1900" b="1" dirty="0"/>
              <a:t> </a:t>
            </a:r>
            <a:r>
              <a:rPr lang="ko-KR" altLang="en-US" sz="1900" b="1" dirty="0"/>
              <a:t>움직임</a:t>
            </a:r>
            <a:r>
              <a:rPr lang="en-US" altLang="ko-KR" sz="1900" b="1" dirty="0"/>
              <a:t> impairment </a:t>
            </a:r>
            <a:r>
              <a:rPr lang="ko-KR" altLang="en-US" sz="1900" b="1" dirty="0"/>
              <a:t>판단은 제한</a:t>
            </a:r>
            <a:endParaRPr lang="ko-KR" altLang="ko-KR" sz="1900" dirty="0"/>
          </a:p>
        </p:txBody>
      </p:sp>
      <p:sp>
        <p:nvSpPr>
          <p:cNvPr id="20" name="Shape 18"/>
          <p:cNvSpPr/>
          <p:nvPr/>
        </p:nvSpPr>
        <p:spPr>
          <a:xfrm>
            <a:off x="8229600" y="2168859"/>
            <a:ext cx="3154680" cy="2331720"/>
          </a:xfrm>
          <a:prstGeom prst="rect">
            <a:avLst/>
          </a:prstGeom>
          <a:solidFill>
            <a:srgbClr val="F3F8FB"/>
          </a:solidFill>
          <a:ln w="12700">
            <a:solidFill>
              <a:srgbClr val="BFCBD6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1" name="Shape 19"/>
          <p:cNvSpPr/>
          <p:nvPr/>
        </p:nvSpPr>
        <p:spPr>
          <a:xfrm>
            <a:off x="8229600" y="2168859"/>
            <a:ext cx="3154680" cy="329184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2" name="Text 20"/>
          <p:cNvSpPr/>
          <p:nvPr/>
        </p:nvSpPr>
        <p:spPr>
          <a:xfrm>
            <a:off x="8284464" y="2219151"/>
            <a:ext cx="30449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Tang 2025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357616" y="2644347"/>
            <a:ext cx="2898648" cy="1737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 lnSpcReduction="10000"/>
          </a:bodyPr>
          <a:lstStyle/>
          <a:p>
            <a:r>
              <a:rPr lang="ko-KR" altLang="ko-KR" sz="2000" b="1" dirty="0"/>
              <a:t>운동학 수치 → LLM</a:t>
            </a:r>
            <a:endParaRPr lang="ko-KR" altLang="ko-K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ko-KR" sz="2000" dirty="0"/>
              <a:t>계산된 운동학 </a:t>
            </a:r>
            <a:r>
              <a:rPr lang="ko-KR" altLang="ko-KR" sz="2000" dirty="0" err="1"/>
              <a:t>feature를</a:t>
            </a:r>
            <a:r>
              <a:rPr lang="ko-KR" altLang="ko-KR" sz="2000" dirty="0"/>
              <a:t> </a:t>
            </a:r>
            <a:r>
              <a:rPr lang="ko-KR" altLang="ko-KR" sz="2000" dirty="0" err="1"/>
              <a:t>LLM이</a:t>
            </a:r>
            <a:r>
              <a:rPr lang="ko-KR" altLang="ko-KR" sz="2000" dirty="0"/>
              <a:t> 활용 가능</a:t>
            </a:r>
            <a:endParaRPr lang="en-US" altLang="ko-K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ko-KR" sz="2000" b="1" dirty="0"/>
              <a:t>단, 영상과 함께 사용하지 않음</a:t>
            </a:r>
            <a:endParaRPr lang="ko-KR" altLang="ko-KR" sz="20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85255A1F-70ED-1B57-CAC8-DF702FC5CE2F}"/>
              </a:ext>
            </a:extLst>
          </p:cNvPr>
          <p:cNvGrpSpPr/>
          <p:nvPr/>
        </p:nvGrpSpPr>
        <p:grpSpPr>
          <a:xfrm>
            <a:off x="1417320" y="5449824"/>
            <a:ext cx="9372600" cy="868680"/>
            <a:chOff x="1417320" y="4681728"/>
            <a:chExt cx="9372600" cy="868680"/>
          </a:xfrm>
        </p:grpSpPr>
        <p:sp>
          <p:nvSpPr>
            <p:cNvPr id="24" name="Shape 22"/>
            <p:cNvSpPr/>
            <p:nvPr/>
          </p:nvSpPr>
          <p:spPr>
            <a:xfrm>
              <a:off x="1417320" y="4681728"/>
              <a:ext cx="9372600" cy="868680"/>
            </a:xfrm>
            <a:prstGeom prst="rect">
              <a:avLst/>
            </a:prstGeom>
            <a:solidFill>
              <a:srgbClr val="FBF7E9"/>
            </a:solidFill>
            <a:ln w="12700">
              <a:solidFill>
                <a:srgbClr val="DFC984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25" name="Text 23"/>
            <p:cNvSpPr/>
            <p:nvPr/>
          </p:nvSpPr>
          <p:spPr>
            <a:xfrm>
              <a:off x="1535837" y="4754880"/>
              <a:ext cx="1344523" cy="5577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b="1" dirty="0">
                  <a:solidFill>
                    <a:srgbClr val="E5912B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남은 질문</a:t>
              </a:r>
              <a:endParaRPr lang="en-US" sz="2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2926080" y="4818888"/>
              <a:ext cx="740664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85000" lnSpcReduction="10000"/>
            </a:bodyPr>
            <a:lstStyle/>
            <a:p>
              <a:pPr marL="0" indent="0">
                <a:buNone/>
              </a:pPr>
              <a:r>
                <a:rPr lang="ko-KR" altLang="en-US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검증된 </a:t>
              </a:r>
              <a:r>
                <a:rPr lang="en-US" altLang="ko-KR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3D </a:t>
              </a:r>
              <a:r>
                <a:rPr lang="ko-KR" altLang="en-US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손 운동학 정보가 범용 </a:t>
              </a:r>
              <a:r>
                <a:rPr lang="en-US" altLang="ko-KR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VLM</a:t>
              </a:r>
              <a:r>
                <a:rPr lang="ko-KR" altLang="en-US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의 미세 손 기능 판단에 실제 추가가치를 주는가</a:t>
              </a:r>
              <a:r>
                <a:rPr lang="en-US" altLang="ko-KR" sz="16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?</a:t>
              </a:r>
              <a:endParaRPr lang="en-US" sz="1400" dirty="0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600000">
            <a:off x="582930" y="5212080"/>
            <a:ext cx="2686050" cy="1211580"/>
          </a:xfrm>
          <a:prstGeom prst="chevron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 rot="720000">
            <a:off x="468630" y="5029200"/>
            <a:ext cx="1885950" cy="480060"/>
          </a:xfrm>
          <a:prstGeom prst="parallelogram">
            <a:avLst/>
          </a:prstGeom>
          <a:solidFill>
            <a:srgbClr val="71D1E4"/>
          </a:solidFill>
          <a:ln w="12700">
            <a:solidFill>
              <a:srgbClr val="71D1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 rot="-1080000">
            <a:off x="1760220" y="4389120"/>
            <a:ext cx="1348740" cy="628650"/>
          </a:xfrm>
          <a:prstGeom prst="chevron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 rot="-1080000">
            <a:off x="2320290" y="4000500"/>
            <a:ext cx="868680" cy="400050"/>
          </a:xfrm>
          <a:prstGeom prst="chevron">
            <a:avLst/>
          </a:prstGeom>
          <a:solidFill>
            <a:srgbClr val="2DB4D5"/>
          </a:solidFill>
          <a:ln w="12700">
            <a:solidFill>
              <a:srgbClr val="2DB4D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532120" y="19659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5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II. 연구 목적 및 설계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715000" y="27889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연구 질문 및 비교 조건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5715000" y="335584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7A82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</a:t>
            </a:r>
            <a:r>
              <a:rPr lang="en-US" altLang="ko-KR" sz="2100" dirty="0">
                <a:solidFill>
                  <a:srgbClr val="7A82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</a:t>
            </a:r>
            <a:r>
              <a:rPr lang="ko-KR" altLang="en-US" sz="2100" dirty="0">
                <a:solidFill>
                  <a:srgbClr val="7A82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역할과 모델 선정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5715000" y="392277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7A82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전문가 참조평가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5715000" y="448970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7A82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 전체 연구 설계</a:t>
            </a:r>
            <a:endParaRPr lang="en-US" sz="1850" dirty="0"/>
          </a:p>
        </p:txBody>
      </p:sp>
      <p:sp>
        <p:nvSpPr>
          <p:cNvPr id="11" name="Shape 9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9372600" y="6565392"/>
            <a:ext cx="2240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760" dirty="0"/>
          </a:p>
        </p:txBody>
      </p:sp>
      <p:sp>
        <p:nvSpPr>
          <p:cNvPr id="13" name="Text 11"/>
          <p:cNvSpPr/>
          <p:nvPr/>
        </p:nvSpPr>
        <p:spPr>
          <a:xfrm>
            <a:off x="9921240" y="201168"/>
            <a:ext cx="1783080" cy="3847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7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" name="Text 1"/>
          <p:cNvSpPr/>
          <p:nvPr/>
        </p:nvSpPr>
        <p:spPr>
          <a:xfrm>
            <a:off x="9372600" y="6565392"/>
            <a:ext cx="2240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149840" y="201168"/>
            <a:ext cx="1554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237744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II. 연구 목적 및 설계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50292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연구 질문 및 비교 조건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12768" y="804672"/>
            <a:ext cx="3566160" cy="384048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9" name="Text 7"/>
          <p:cNvSpPr/>
          <p:nvPr/>
        </p:nvSpPr>
        <p:spPr>
          <a:xfrm>
            <a:off x="4385920" y="877824"/>
            <a:ext cx="34198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핵심 연구 질문 ]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3232" y="1344168"/>
            <a:ext cx="10716768" cy="35661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1" name="Text 9"/>
          <p:cNvSpPr/>
          <p:nvPr/>
        </p:nvSpPr>
        <p:spPr>
          <a:xfrm>
            <a:off x="868680" y="1408176"/>
            <a:ext cx="10387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환자의 같은 시행에서 어떤 입력이 전문가 참조평가에 가장 가까운가?</a:t>
            </a:r>
            <a:endParaRPr lang="en-US" sz="1400" dirty="0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E4618FA3-26C5-234F-9726-922D8D02816A}"/>
              </a:ext>
            </a:extLst>
          </p:cNvPr>
          <p:cNvGrpSpPr/>
          <p:nvPr/>
        </p:nvGrpSpPr>
        <p:grpSpPr>
          <a:xfrm>
            <a:off x="1691640" y="4288534"/>
            <a:ext cx="3886200" cy="1313651"/>
            <a:chOff x="1691640" y="4288536"/>
            <a:chExt cx="3886200" cy="811807"/>
          </a:xfrm>
        </p:grpSpPr>
        <p:sp>
          <p:nvSpPr>
            <p:cNvPr id="27" name="Shape 25"/>
            <p:cNvSpPr/>
            <p:nvPr/>
          </p:nvSpPr>
          <p:spPr>
            <a:xfrm>
              <a:off x="1691640" y="4288536"/>
              <a:ext cx="3886200" cy="811807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3467B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28" name="Text 26"/>
            <p:cNvSpPr/>
            <p:nvPr/>
          </p:nvSpPr>
          <p:spPr>
            <a:xfrm>
              <a:off x="1901953" y="4404172"/>
              <a:ext cx="3474719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800" b="1" dirty="0">
                  <a:solidFill>
                    <a:srgbClr val="23467B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주 비교   A3 − A1</a:t>
              </a:r>
              <a:endParaRPr lang="en-US" sz="24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1901953" y="4698424"/>
              <a:ext cx="3474720" cy="4019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dirty="0">
                  <a:solidFill>
                    <a:srgbClr val="6F7C89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운동학 + 건강인 참조의 전체 추가효과</a:t>
              </a:r>
              <a:endParaRPr lang="en-US" sz="1600" dirty="0"/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E1F83BFF-2B43-BEA0-8A92-ACCFE2492B13}"/>
              </a:ext>
            </a:extLst>
          </p:cNvPr>
          <p:cNvGrpSpPr/>
          <p:nvPr/>
        </p:nvGrpSpPr>
        <p:grpSpPr>
          <a:xfrm>
            <a:off x="6537960" y="4288536"/>
            <a:ext cx="3886200" cy="1313650"/>
            <a:chOff x="6537960" y="4288537"/>
            <a:chExt cx="3886200" cy="865278"/>
          </a:xfrm>
        </p:grpSpPr>
        <p:sp>
          <p:nvSpPr>
            <p:cNvPr id="30" name="Shape 28"/>
            <p:cNvSpPr/>
            <p:nvPr/>
          </p:nvSpPr>
          <p:spPr>
            <a:xfrm>
              <a:off x="6537960" y="4288537"/>
              <a:ext cx="3886200" cy="86527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3467B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31" name="Text 29"/>
            <p:cNvSpPr/>
            <p:nvPr/>
          </p:nvSpPr>
          <p:spPr>
            <a:xfrm>
              <a:off x="6631619" y="4413321"/>
              <a:ext cx="365843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800" b="1" dirty="0">
                  <a:solidFill>
                    <a:srgbClr val="23467B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보조 비교   A2/A4/A0</a:t>
              </a:r>
              <a:endParaRPr lang="en-US" sz="24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6812280" y="4790538"/>
              <a:ext cx="33375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dirty="0">
                  <a:solidFill>
                    <a:srgbClr val="6F7C89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수치 자체 · 영상 가치 · VLM 필요성 분해</a:t>
              </a:r>
              <a:endParaRPr lang="en-US" sz="1600" dirty="0"/>
            </a:p>
          </p:txBody>
        </p:sp>
      </p:grpSp>
      <p:sp>
        <p:nvSpPr>
          <p:cNvPr id="33" name="Text 31"/>
          <p:cNvSpPr/>
          <p:nvPr/>
        </p:nvSpPr>
        <p:spPr>
          <a:xfrm>
            <a:off x="1135380" y="5789305"/>
            <a:ext cx="9921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altLang="ko-KR" sz="2000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Primary endpoint</a:t>
            </a:r>
            <a:r>
              <a:rPr lang="ko-KR" altLang="en-US" sz="2000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</a:t>
            </a:r>
            <a:r>
              <a:rPr lang="en-US" altLang="ko-KR" sz="2000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A3-A1</a:t>
            </a:r>
            <a:r>
              <a:rPr lang="ko-KR" altLang="en-US" sz="2000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단순화하고</a:t>
            </a:r>
            <a:r>
              <a:rPr lang="en-US" altLang="ko-KR" sz="2000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2000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나머지는 설명적 </a:t>
            </a:r>
            <a:r>
              <a:rPr lang="en-US" altLang="ko-KR" sz="2000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ablation</a:t>
            </a:r>
            <a:r>
              <a:rPr lang="ko-KR" altLang="en-US" sz="2000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해석한다</a:t>
            </a:r>
            <a:r>
              <a:rPr lang="en-US" altLang="ko-KR" sz="2000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dirty="0"/>
          </a:p>
        </p:txBody>
      </p:sp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89197CF0-E6E9-CB97-DF7B-A2685F5371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1928445"/>
              </p:ext>
            </p:extLst>
          </p:nvPr>
        </p:nvGraphicFramePr>
        <p:xfrm>
          <a:off x="719091" y="1756489"/>
          <a:ext cx="1071534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5433">
                  <a:extLst>
                    <a:ext uri="{9D8B030D-6E8A-4147-A177-3AD203B41FA5}">
                      <a16:colId xmlns:a16="http://schemas.microsoft.com/office/drawing/2014/main" val="3136359382"/>
                    </a:ext>
                  </a:extLst>
                </a:gridCol>
                <a:gridCol w="1808086">
                  <a:extLst>
                    <a:ext uri="{9D8B030D-6E8A-4147-A177-3AD203B41FA5}">
                      <a16:colId xmlns:a16="http://schemas.microsoft.com/office/drawing/2014/main" val="3521726502"/>
                    </a:ext>
                  </a:extLst>
                </a:gridCol>
                <a:gridCol w="1808086">
                  <a:extLst>
                    <a:ext uri="{9D8B030D-6E8A-4147-A177-3AD203B41FA5}">
                      <a16:colId xmlns:a16="http://schemas.microsoft.com/office/drawing/2014/main" val="1739087872"/>
                    </a:ext>
                  </a:extLst>
                </a:gridCol>
                <a:gridCol w="1808086">
                  <a:extLst>
                    <a:ext uri="{9D8B030D-6E8A-4147-A177-3AD203B41FA5}">
                      <a16:colId xmlns:a16="http://schemas.microsoft.com/office/drawing/2014/main" val="194563009"/>
                    </a:ext>
                  </a:extLst>
                </a:gridCol>
                <a:gridCol w="3435658">
                  <a:extLst>
                    <a:ext uri="{9D8B030D-6E8A-4147-A177-3AD203B41FA5}">
                      <a16:colId xmlns:a16="http://schemas.microsoft.com/office/drawing/2014/main" val="32509677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조건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영상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운동학 수치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건강인 참조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용도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133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dirty="0"/>
                        <a:t>영상-</a:t>
                      </a:r>
                      <a:r>
                        <a:rPr lang="ko-KR" dirty="0" err="1"/>
                        <a:t>only</a:t>
                      </a:r>
                      <a:r>
                        <a:rPr lang="ko-KR" dirty="0"/>
                        <a:t> 기준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920696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dirty="0"/>
                        <a:t>수치 추가 효과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52485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b="1" dirty="0"/>
                        <a:t>전체 조합 / 주 분석</a:t>
                      </a:r>
                      <a:endParaRPr lang="ko-K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5512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dirty="0"/>
                        <a:t>영상 없이도 가능한지 확인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531282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dirty="0"/>
                        <a:t>수치 기반 비교 기준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593561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" name="Text 1"/>
          <p:cNvSpPr/>
          <p:nvPr/>
        </p:nvSpPr>
        <p:spPr>
          <a:xfrm>
            <a:off x="8913181" y="6252099"/>
            <a:ext cx="269969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156054" y="201167"/>
            <a:ext cx="1548266" cy="4202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237744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II. 연구 목적 및 설계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19" y="502919"/>
            <a:ext cx="3403255" cy="521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</a:t>
            </a:r>
            <a:r>
              <a:rPr lang="en-US" altLang="ko-KR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</a:t>
            </a:r>
            <a:r>
              <a:rPr lang="ko-KR" alt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역할과 모델 선정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14520" y="877824"/>
            <a:ext cx="2962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VLM의 역할 ]</a:t>
            </a:r>
            <a:endParaRPr lang="en-US" sz="1600" dirty="0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C8B1FB8A-7024-C39F-7B2F-F84345F4CD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125" y="1009039"/>
            <a:ext cx="11629073" cy="49711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" name="Text 1"/>
          <p:cNvSpPr/>
          <p:nvPr/>
        </p:nvSpPr>
        <p:spPr>
          <a:xfrm>
            <a:off x="9032577" y="6138334"/>
            <a:ext cx="2580303" cy="555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129421" y="201168"/>
            <a:ext cx="1574899" cy="4291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237744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II. 연구 목적 및 설계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50292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전문가 참조평가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901288" y="804672"/>
            <a:ext cx="4389120" cy="384048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9" name="Text 7"/>
          <p:cNvSpPr/>
          <p:nvPr/>
        </p:nvSpPr>
        <p:spPr>
          <a:xfrm>
            <a:off x="3974440" y="877824"/>
            <a:ext cx="4242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Expert Reference Standard ]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3232" y="1344168"/>
            <a:ext cx="10716768" cy="35661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1" name="Text 9"/>
          <p:cNvSpPr/>
          <p:nvPr/>
        </p:nvSpPr>
        <p:spPr>
          <a:xfrm>
            <a:off x="868680" y="1408176"/>
            <a:ext cx="10387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전문가 판정을 절대적 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Ground Truth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두지 않고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독립 판독과 일치도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합의 절차를 거쳐 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Reference Standard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구성</a:t>
            </a:r>
            <a:endParaRPr lang="en-US" sz="1400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3A9B6EBB-4246-1021-4435-2D85D2EC0069}"/>
              </a:ext>
            </a:extLst>
          </p:cNvPr>
          <p:cNvGrpSpPr/>
          <p:nvPr/>
        </p:nvGrpSpPr>
        <p:grpSpPr>
          <a:xfrm>
            <a:off x="566928" y="1869948"/>
            <a:ext cx="2907792" cy="2103120"/>
            <a:chOff x="731520" y="1874520"/>
            <a:chExt cx="2971800" cy="2103120"/>
          </a:xfrm>
        </p:grpSpPr>
        <p:sp>
          <p:nvSpPr>
            <p:cNvPr id="12" name="Shape 10"/>
            <p:cNvSpPr/>
            <p:nvPr/>
          </p:nvSpPr>
          <p:spPr>
            <a:xfrm>
              <a:off x="731520" y="1874520"/>
              <a:ext cx="2971800" cy="2103120"/>
            </a:xfrm>
            <a:prstGeom prst="rect">
              <a:avLst/>
            </a:prstGeom>
            <a:solidFill>
              <a:srgbClr val="F3F8FB"/>
            </a:solidFill>
            <a:ln w="12700">
              <a:solidFill>
                <a:srgbClr val="BFCBD6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13" name="Shape 11"/>
            <p:cNvSpPr/>
            <p:nvPr/>
          </p:nvSpPr>
          <p:spPr>
            <a:xfrm>
              <a:off x="731520" y="1874520"/>
              <a:ext cx="2971800" cy="329184"/>
            </a:xfrm>
            <a:prstGeom prst="rect">
              <a:avLst/>
            </a:prstGeom>
            <a:solidFill>
              <a:srgbClr val="23467B"/>
            </a:solidFill>
            <a:ln w="12700">
              <a:solidFill>
                <a:srgbClr val="23467B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14" name="Text 12"/>
            <p:cNvSpPr/>
            <p:nvPr/>
          </p:nvSpPr>
          <p:spPr>
            <a:xfrm>
              <a:off x="786384" y="1924812"/>
              <a:ext cx="2862072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10000"/>
            </a:bodyPr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독립 판독</a:t>
              </a:r>
              <a:endParaRPr lang="en-US" sz="14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59536" y="2350008"/>
              <a:ext cx="2715768" cy="1508760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t">
              <a:norm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ko-KR" altLang="en-US" sz="1700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전문가 </a:t>
              </a:r>
              <a:r>
                <a:rPr lang="en-US" altLang="ko-KR" sz="1700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2</a:t>
              </a:r>
              <a:r>
                <a:rPr lang="ko-KR" altLang="en-US" sz="1700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인이 동일 영상을 독립 평가</a:t>
              </a:r>
              <a:endParaRPr lang="en-US" sz="1700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ko-KR" altLang="ko-KR" sz="1700" dirty="0"/>
                <a:t>VLM </a:t>
              </a:r>
              <a:r>
                <a:rPr lang="ko-KR" altLang="ko-KR" sz="1700" dirty="0" err="1"/>
                <a:t>결과·운동학·건강인</a:t>
              </a:r>
              <a:r>
                <a:rPr lang="ko-KR" altLang="ko-KR" sz="1700" dirty="0"/>
                <a:t> </a:t>
              </a:r>
              <a:r>
                <a:rPr lang="ko-KR" altLang="ko-KR" sz="1700" dirty="0" err="1"/>
                <a:t>참조·FMA에</a:t>
              </a:r>
              <a:r>
                <a:rPr lang="ko-KR" altLang="ko-KR" sz="1700" dirty="0"/>
                <a:t> </a:t>
              </a:r>
              <a:r>
                <a:rPr lang="ko-KR" altLang="ko-KR" sz="1700" b="1" dirty="0" err="1"/>
                <a:t>blind</a:t>
              </a:r>
              <a:endParaRPr lang="en-US" sz="1700" dirty="0"/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DC15F484-55DB-DC74-8754-B73030C44E9C}"/>
              </a:ext>
            </a:extLst>
          </p:cNvPr>
          <p:cNvGrpSpPr/>
          <p:nvPr/>
        </p:nvGrpSpPr>
        <p:grpSpPr>
          <a:xfrm>
            <a:off x="3826764" y="1874520"/>
            <a:ext cx="2807208" cy="2103120"/>
            <a:chOff x="3931920" y="1874520"/>
            <a:chExt cx="3063240" cy="2103120"/>
          </a:xfrm>
        </p:grpSpPr>
        <p:sp>
          <p:nvSpPr>
            <p:cNvPr id="16" name="Shape 14"/>
            <p:cNvSpPr/>
            <p:nvPr/>
          </p:nvSpPr>
          <p:spPr>
            <a:xfrm>
              <a:off x="3931920" y="1874520"/>
              <a:ext cx="3063240" cy="2103120"/>
            </a:xfrm>
            <a:prstGeom prst="rect">
              <a:avLst/>
            </a:prstGeom>
            <a:solidFill>
              <a:srgbClr val="F3F8FB"/>
            </a:solidFill>
            <a:ln w="12700">
              <a:solidFill>
                <a:srgbClr val="BFCBD6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31920" y="1874520"/>
              <a:ext cx="3063240" cy="329184"/>
            </a:xfrm>
            <a:prstGeom prst="rect">
              <a:avLst/>
            </a:prstGeom>
            <a:solidFill>
              <a:srgbClr val="23467B"/>
            </a:solidFill>
            <a:ln w="12700">
              <a:solidFill>
                <a:srgbClr val="23467B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18" name="Text 16"/>
            <p:cNvSpPr/>
            <p:nvPr/>
          </p:nvSpPr>
          <p:spPr>
            <a:xfrm>
              <a:off x="3986784" y="1924812"/>
              <a:ext cx="2953512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10000"/>
            </a:bodyPr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동일 </a:t>
              </a:r>
              <a:r>
                <a:rPr 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Rubric</a:t>
              </a:r>
              <a:endParaRPr lang="en-US" sz="14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059936" y="2350008"/>
              <a:ext cx="2807208" cy="1508760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t">
              <a:norm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ko-KR" altLang="ko-KR" sz="1700" dirty="0"/>
                <a:t>관찰 가능한 </a:t>
              </a:r>
              <a:r>
                <a:rPr lang="ko-KR" altLang="ko-KR" sz="1700" b="1" dirty="0" err="1"/>
                <a:t>Grasp</a:t>
              </a:r>
              <a:r>
                <a:rPr lang="ko-KR" altLang="ko-KR" sz="1700" b="1" dirty="0"/>
                <a:t> / </a:t>
              </a:r>
              <a:r>
                <a:rPr lang="ko-KR" altLang="ko-KR" sz="1700" b="1" dirty="0" err="1"/>
                <a:t>Hold</a:t>
              </a:r>
              <a:r>
                <a:rPr lang="ko-KR" altLang="ko-KR" sz="1700" b="1" dirty="0"/>
                <a:t> / </a:t>
              </a:r>
              <a:r>
                <a:rPr lang="ko-KR" altLang="ko-KR" sz="1700" b="1" dirty="0" err="1"/>
                <a:t>Release</a:t>
              </a:r>
              <a:r>
                <a:rPr lang="ko-KR" altLang="ko-KR" sz="1700" dirty="0" err="1"/>
                <a:t>만</a:t>
              </a:r>
              <a:r>
                <a:rPr lang="ko-KR" altLang="ko-KR" sz="1700" dirty="0"/>
                <a:t> 판정</a:t>
              </a:r>
              <a:endParaRPr lang="en-US" altLang="ko-KR" sz="1700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ko-KR" altLang="ko-KR" sz="1700" dirty="0" err="1"/>
                <a:t>Complete</a:t>
              </a:r>
              <a:r>
                <a:rPr lang="ko-KR" altLang="ko-KR" sz="1700" dirty="0"/>
                <a:t> / </a:t>
              </a:r>
              <a:r>
                <a:rPr lang="ko-KR" altLang="ko-KR" sz="1700" dirty="0" err="1"/>
                <a:t>Incomplete</a:t>
              </a:r>
              <a:r>
                <a:rPr lang="ko-KR" altLang="ko-KR" sz="1700" dirty="0"/>
                <a:t> / </a:t>
              </a:r>
              <a:r>
                <a:rPr lang="ko-KR" altLang="ko-KR" sz="1700" dirty="0" err="1"/>
                <a:t>Unreadable</a:t>
              </a:r>
              <a:r>
                <a:rPr lang="ko-KR" altLang="ko-KR" sz="1700" dirty="0"/>
                <a:t> / NA</a:t>
              </a:r>
              <a:endParaRPr lang="en-US" sz="1700" dirty="0"/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B445E11A-AF52-5CE4-2A96-E878BF7984AE}"/>
              </a:ext>
            </a:extLst>
          </p:cNvPr>
          <p:cNvGrpSpPr/>
          <p:nvPr/>
        </p:nvGrpSpPr>
        <p:grpSpPr>
          <a:xfrm>
            <a:off x="6853428" y="1874520"/>
            <a:ext cx="2244852" cy="2103120"/>
            <a:chOff x="7223760" y="1874520"/>
            <a:chExt cx="1874520" cy="2103120"/>
          </a:xfrm>
        </p:grpSpPr>
        <p:sp>
          <p:nvSpPr>
            <p:cNvPr id="20" name="Shape 18"/>
            <p:cNvSpPr/>
            <p:nvPr/>
          </p:nvSpPr>
          <p:spPr>
            <a:xfrm>
              <a:off x="7223760" y="1874520"/>
              <a:ext cx="1874520" cy="2103120"/>
            </a:xfrm>
            <a:prstGeom prst="rect">
              <a:avLst/>
            </a:prstGeom>
            <a:solidFill>
              <a:srgbClr val="F3F8FB"/>
            </a:solidFill>
            <a:ln w="12700">
              <a:solidFill>
                <a:srgbClr val="BFCBD6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21" name="Shape 19"/>
            <p:cNvSpPr/>
            <p:nvPr/>
          </p:nvSpPr>
          <p:spPr>
            <a:xfrm>
              <a:off x="7223760" y="1874520"/>
              <a:ext cx="1874520" cy="329184"/>
            </a:xfrm>
            <a:prstGeom prst="rect">
              <a:avLst/>
            </a:prstGeom>
            <a:solidFill>
              <a:srgbClr val="23467B"/>
            </a:solidFill>
            <a:ln w="12700">
              <a:solidFill>
                <a:srgbClr val="23467B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22" name="Text 20"/>
            <p:cNvSpPr/>
            <p:nvPr/>
          </p:nvSpPr>
          <p:spPr>
            <a:xfrm>
              <a:off x="7278624" y="1924812"/>
              <a:ext cx="1764792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10000"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일치도 확인</a:t>
              </a:r>
              <a:endParaRPr lang="en-US" sz="14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7351776" y="2350008"/>
              <a:ext cx="1618488" cy="1508760"/>
            </a:xfrm>
            <a:prstGeom prst="rect">
              <a:avLst/>
            </a:prstGeom>
            <a:noFill/>
            <a:ln/>
          </p:spPr>
          <p:txBody>
            <a:bodyPr wrap="square" lIns="254" tIns="254" rIns="254" bIns="254" rtlCol="0" anchor="t">
              <a:no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ko-KR" altLang="ko-KR" sz="1700" dirty="0"/>
                <a:t>두 전문가의 </a:t>
              </a:r>
              <a:r>
                <a:rPr lang="ko-KR" altLang="ko-KR" sz="1700" b="1" dirty="0" err="1"/>
                <a:t>component</a:t>
              </a:r>
              <a:r>
                <a:rPr lang="ko-KR" altLang="ko-KR" sz="1700" b="1" dirty="0"/>
                <a:t> </a:t>
              </a:r>
              <a:r>
                <a:rPr lang="ko-KR" altLang="ko-KR" sz="1700" b="1" dirty="0" err="1"/>
                <a:t>agreement</a:t>
              </a:r>
              <a:r>
                <a:rPr lang="ko-KR" altLang="ko-KR" sz="1700" dirty="0" err="1"/>
                <a:t>를</a:t>
              </a:r>
              <a:r>
                <a:rPr lang="ko-KR" altLang="ko-KR" sz="1700" dirty="0"/>
                <a:t> 먼저 보고</a:t>
              </a:r>
              <a:endParaRPr lang="en-US" altLang="ko-KR" sz="1700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ko-KR" altLang="ko-KR" sz="1700" dirty="0"/>
                <a:t>전문가 자체의 주관성도 정량화</a:t>
              </a:r>
              <a:endParaRPr lang="en-US" sz="1700" dirty="0"/>
            </a:p>
          </p:txBody>
        </p:sp>
      </p:grpSp>
      <p:sp>
        <p:nvSpPr>
          <p:cNvPr id="24" name="Shape 22"/>
          <p:cNvSpPr/>
          <p:nvPr/>
        </p:nvSpPr>
        <p:spPr>
          <a:xfrm>
            <a:off x="9326880" y="1874520"/>
            <a:ext cx="2103120" cy="2103120"/>
          </a:xfrm>
          <a:prstGeom prst="rect">
            <a:avLst/>
          </a:prstGeom>
          <a:solidFill>
            <a:srgbClr val="FBF7EA"/>
          </a:solidFill>
          <a:ln w="12700">
            <a:solidFill>
              <a:srgbClr val="BFCBD6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5" name="Shape 23"/>
          <p:cNvSpPr/>
          <p:nvPr/>
        </p:nvSpPr>
        <p:spPr>
          <a:xfrm>
            <a:off x="9326880" y="1874520"/>
            <a:ext cx="2103120" cy="329184"/>
          </a:xfrm>
          <a:prstGeom prst="rect">
            <a:avLst/>
          </a:prstGeom>
          <a:solidFill>
            <a:srgbClr val="E5912B"/>
          </a:solidFill>
          <a:ln w="12700">
            <a:solidFill>
              <a:srgbClr val="E5912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6" name="Text 24"/>
          <p:cNvSpPr/>
          <p:nvPr/>
        </p:nvSpPr>
        <p:spPr>
          <a:xfrm>
            <a:off x="9381744" y="1924812"/>
            <a:ext cx="19933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Reference </a:t>
            </a:r>
            <a:r>
              <a:rPr lang="ko-KR" alt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454896" y="2350008"/>
            <a:ext cx="1847088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ko-KR" sz="1600" dirty="0"/>
              <a:t>불일치 시 합의 또는 제3판독 후 </a:t>
            </a:r>
            <a:r>
              <a:rPr lang="ko-KR" altLang="ko-KR" sz="1600" dirty="0" err="1"/>
              <a:t>reference</a:t>
            </a:r>
            <a:r>
              <a:rPr lang="ko-KR" altLang="ko-KR" sz="1600" dirty="0"/>
              <a:t> 확정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ko-KR" sz="1600" dirty="0"/>
              <a:t>최종 0/1/2는 </a:t>
            </a:r>
            <a:r>
              <a:rPr lang="ko-KR" altLang="ko-KR" sz="1600" b="1" dirty="0"/>
              <a:t>전문가가 임의로 주지 않음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512095" y="2852928"/>
            <a:ext cx="210312" cy="0"/>
          </a:xfrm>
          <a:prstGeom prst="line">
            <a:avLst/>
          </a:prstGeom>
          <a:noFill/>
          <a:ln w="25400">
            <a:solidFill>
              <a:srgbClr val="2DB4D5"/>
            </a:solidFill>
            <a:prstDash val="solid"/>
            <a:tailEnd type="triangle"/>
          </a:ln>
        </p:spPr>
        <p:txBody>
          <a:bodyPr/>
          <a:lstStyle/>
          <a:p>
            <a:endParaRPr sz="2800"/>
          </a:p>
        </p:txBody>
      </p:sp>
      <p:sp>
        <p:nvSpPr>
          <p:cNvPr id="29" name="Shape 27"/>
          <p:cNvSpPr/>
          <p:nvPr/>
        </p:nvSpPr>
        <p:spPr>
          <a:xfrm>
            <a:off x="6652260" y="2852928"/>
            <a:ext cx="201168" cy="0"/>
          </a:xfrm>
          <a:prstGeom prst="line">
            <a:avLst/>
          </a:prstGeom>
          <a:noFill/>
          <a:ln w="25400">
            <a:solidFill>
              <a:srgbClr val="2DB4D5"/>
            </a:solidFill>
            <a:prstDash val="solid"/>
            <a:tailEnd type="triangle"/>
          </a:ln>
        </p:spPr>
        <p:txBody>
          <a:bodyPr/>
          <a:lstStyle/>
          <a:p>
            <a:endParaRPr sz="2800"/>
          </a:p>
        </p:txBody>
      </p:sp>
      <p:sp>
        <p:nvSpPr>
          <p:cNvPr id="30" name="Shape 28"/>
          <p:cNvSpPr/>
          <p:nvPr/>
        </p:nvSpPr>
        <p:spPr>
          <a:xfrm>
            <a:off x="9116568" y="2852928"/>
            <a:ext cx="192024" cy="0"/>
          </a:xfrm>
          <a:prstGeom prst="line">
            <a:avLst/>
          </a:prstGeom>
          <a:noFill/>
          <a:ln w="25400">
            <a:solidFill>
              <a:srgbClr val="2DB4D5"/>
            </a:solidFill>
            <a:prstDash val="solid"/>
            <a:tailEnd type="triangle"/>
          </a:ln>
        </p:spPr>
        <p:txBody>
          <a:bodyPr/>
          <a:lstStyle/>
          <a:p>
            <a:endParaRPr sz="2800"/>
          </a:p>
        </p:txBody>
      </p: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878D04B7-3C42-FB00-C184-302EFB5B9E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4116775"/>
              </p:ext>
            </p:extLst>
          </p:nvPr>
        </p:nvGraphicFramePr>
        <p:xfrm>
          <a:off x="566928" y="4059935"/>
          <a:ext cx="1086307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2614">
                  <a:extLst>
                    <a:ext uri="{9D8B030D-6E8A-4147-A177-3AD203B41FA5}">
                      <a16:colId xmlns:a16="http://schemas.microsoft.com/office/drawing/2014/main" val="3539208863"/>
                    </a:ext>
                  </a:extLst>
                </a:gridCol>
                <a:gridCol w="2172614">
                  <a:extLst>
                    <a:ext uri="{9D8B030D-6E8A-4147-A177-3AD203B41FA5}">
                      <a16:colId xmlns:a16="http://schemas.microsoft.com/office/drawing/2014/main" val="2600377366"/>
                    </a:ext>
                  </a:extLst>
                </a:gridCol>
                <a:gridCol w="2172614">
                  <a:extLst>
                    <a:ext uri="{9D8B030D-6E8A-4147-A177-3AD203B41FA5}">
                      <a16:colId xmlns:a16="http://schemas.microsoft.com/office/drawing/2014/main" val="455449173"/>
                    </a:ext>
                  </a:extLst>
                </a:gridCol>
                <a:gridCol w="2172614">
                  <a:extLst>
                    <a:ext uri="{9D8B030D-6E8A-4147-A177-3AD203B41FA5}">
                      <a16:colId xmlns:a16="http://schemas.microsoft.com/office/drawing/2014/main" val="348788632"/>
                    </a:ext>
                  </a:extLst>
                </a:gridCol>
                <a:gridCol w="2172614">
                  <a:extLst>
                    <a:ext uri="{9D8B030D-6E8A-4147-A177-3AD203B41FA5}">
                      <a16:colId xmlns:a16="http://schemas.microsoft.com/office/drawing/2014/main" val="1605822294"/>
                    </a:ext>
                  </a:extLst>
                </a:gridCol>
              </a:tblGrid>
              <a:tr h="2451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/>
                        <a:t>점수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600" dirty="0" err="1"/>
                        <a:t>Grasp</a:t>
                      </a:r>
                      <a:endParaRPr lang="ko-KR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600"/>
                        <a:t>Hold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600"/>
                        <a:t>Release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/>
                        <a:t>의미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1448518"/>
                  </a:ext>
                </a:extLst>
              </a:tr>
              <a:tr h="2451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/>
                        <a:t>0</a:t>
                      </a:r>
                      <a:endParaRPr lang="ko-KR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600" b="1" dirty="0" err="1"/>
                        <a:t>Incomplete</a:t>
                      </a:r>
                      <a:endParaRPr lang="ko-KR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600" dirty="0"/>
                        <a:t>NA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600"/>
                        <a:t>NA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/>
                        <a:t>파지 미완료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635300"/>
                  </a:ext>
                </a:extLst>
              </a:tr>
              <a:tr h="7968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/>
                        <a:t>1</a:t>
                      </a:r>
                      <a:endParaRPr lang="ko-KR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600" b="1" dirty="0" err="1"/>
                        <a:t>Complete</a:t>
                      </a:r>
                      <a:endParaRPr lang="ko-KR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600" dirty="0" err="1"/>
                        <a:t>Incomplete</a:t>
                      </a:r>
                      <a:r>
                        <a:rPr lang="ko-KR" sz="1600" dirty="0"/>
                        <a:t> 또는 </a:t>
                      </a:r>
                      <a:r>
                        <a:rPr lang="ko-KR" sz="1600" dirty="0" err="1"/>
                        <a:t>Complete</a:t>
                      </a:r>
                      <a:endParaRPr lang="ko-KR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600" dirty="0" err="1"/>
                        <a:t>Incomplete</a:t>
                      </a:r>
                      <a:r>
                        <a:rPr lang="ko-KR" sz="1600" dirty="0"/>
                        <a:t> 또는 </a:t>
                      </a:r>
                      <a:r>
                        <a:rPr lang="ko-KR" sz="1600" dirty="0" err="1"/>
                        <a:t>Complete</a:t>
                      </a:r>
                      <a:endParaRPr lang="ko-KR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/>
                        <a:t>파지는 완료했지만 Hold 또는 Release 중 하나 이상 미완료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19330919"/>
                  </a:ext>
                </a:extLst>
              </a:tr>
              <a:tr h="4290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/>
                        <a:t>2</a:t>
                      </a:r>
                      <a:endParaRPr lang="ko-KR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600" b="1"/>
                        <a:t>Complete</a:t>
                      </a:r>
                      <a:endParaRPr lang="ko-KR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600" b="1"/>
                        <a:t>Complete</a:t>
                      </a:r>
                      <a:endParaRPr lang="ko-KR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600" b="1" dirty="0" err="1"/>
                        <a:t>Complete</a:t>
                      </a:r>
                      <a:endParaRPr lang="ko-KR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 err="1"/>
                        <a:t>파지·유지·해제</a:t>
                      </a:r>
                      <a:r>
                        <a:rPr lang="ko-KR" sz="1600" dirty="0"/>
                        <a:t> 모두 완료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8753917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" name="Text 1"/>
          <p:cNvSpPr/>
          <p:nvPr/>
        </p:nvSpPr>
        <p:spPr>
          <a:xfrm>
            <a:off x="9372600" y="6565392"/>
            <a:ext cx="2240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031767" y="201167"/>
            <a:ext cx="1672553" cy="502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237744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II. 연구 목적 및 설계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50292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전체 연구 설계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58488" y="804672"/>
            <a:ext cx="3474720" cy="384048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9" name="Text 7"/>
          <p:cNvSpPr/>
          <p:nvPr/>
        </p:nvSpPr>
        <p:spPr>
          <a:xfrm>
            <a:off x="4431640" y="877824"/>
            <a:ext cx="3328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전체 연구 설계 ]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3232" y="1344168"/>
            <a:ext cx="10716768" cy="35661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1" name="Text 9"/>
          <p:cNvSpPr/>
          <p:nvPr/>
        </p:nvSpPr>
        <p:spPr>
          <a:xfrm>
            <a:off x="868680" y="1408176"/>
            <a:ext cx="10387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신뢰성 확보 → 건강인 참조 구축 → 환자 본 실험 및 독립 평가</a:t>
            </a:r>
            <a:endParaRPr lang="en-US" sz="1400" dirty="0"/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35017BD9-D45A-70B7-4EE7-40E8797BA841}"/>
              </a:ext>
            </a:extLst>
          </p:cNvPr>
          <p:cNvGrpSpPr/>
          <p:nvPr/>
        </p:nvGrpSpPr>
        <p:grpSpPr>
          <a:xfrm>
            <a:off x="2194560" y="1947672"/>
            <a:ext cx="2286000" cy="2423160"/>
            <a:chOff x="594360" y="1965960"/>
            <a:chExt cx="2286000" cy="2423160"/>
          </a:xfrm>
        </p:grpSpPr>
        <p:sp>
          <p:nvSpPr>
            <p:cNvPr id="12" name="Shape 10"/>
            <p:cNvSpPr/>
            <p:nvPr/>
          </p:nvSpPr>
          <p:spPr>
            <a:xfrm>
              <a:off x="594360" y="1965960"/>
              <a:ext cx="2286000" cy="2423160"/>
            </a:xfrm>
            <a:prstGeom prst="roundRect">
              <a:avLst>
                <a:gd name="adj" fmla="val 4800"/>
              </a:avLst>
            </a:prstGeom>
            <a:solidFill>
              <a:srgbClr val="EFF5F8"/>
            </a:solidFill>
            <a:ln w="15240">
              <a:solidFill>
                <a:srgbClr val="23467B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13" name="Text 11"/>
            <p:cNvSpPr/>
            <p:nvPr/>
          </p:nvSpPr>
          <p:spPr>
            <a:xfrm>
              <a:off x="704088" y="2267712"/>
              <a:ext cx="2066544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20000"/>
            </a:bodyPr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23467B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① 측정 검증</a:t>
              </a:r>
              <a:endParaRPr lang="en-US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04088" y="2761488"/>
              <a:ext cx="2066544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개발 4명</a:t>
              </a:r>
              <a:endParaRPr lang="en-US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5528" y="3218688"/>
              <a:ext cx="1883664" cy="10424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algn="ctr"/>
              <a:r>
                <a:rPr lang="ko-KR" altLang="ko-KR" sz="1400" dirty="0"/>
                <a:t>D455 거리·3D 손 위치 정확도 확인</a:t>
              </a:r>
              <a:br>
                <a:rPr lang="ko-KR" altLang="ko-KR" sz="1400" dirty="0"/>
              </a:br>
              <a:r>
                <a:rPr lang="ko-KR" altLang="ko-KR" sz="1400" dirty="0"/>
                <a:t>MGA·TMGA 반복 안정성 및 데이터 품질 확인</a:t>
              </a:r>
              <a:endParaRPr lang="en-US" sz="1200" dirty="0"/>
            </a:p>
          </p:txBody>
        </p:sp>
      </p:grpSp>
      <p:sp>
        <p:nvSpPr>
          <p:cNvPr id="16" name="Shape 14"/>
          <p:cNvSpPr/>
          <p:nvPr/>
        </p:nvSpPr>
        <p:spPr>
          <a:xfrm>
            <a:off x="4498848" y="3108960"/>
            <a:ext cx="393192" cy="0"/>
          </a:xfrm>
          <a:prstGeom prst="line">
            <a:avLst/>
          </a:prstGeom>
          <a:noFill/>
          <a:ln w="30480">
            <a:solidFill>
              <a:srgbClr val="2DB4D5"/>
            </a:solidFill>
            <a:prstDash val="solid"/>
            <a:tailEnd type="triangle"/>
          </a:ln>
        </p:spPr>
        <p:txBody>
          <a:bodyPr/>
          <a:lstStyle/>
          <a:p>
            <a:endParaRPr sz="2800"/>
          </a:p>
        </p:txBody>
      </p:sp>
      <p:sp>
        <p:nvSpPr>
          <p:cNvPr id="17" name="Shape 15"/>
          <p:cNvSpPr/>
          <p:nvPr/>
        </p:nvSpPr>
        <p:spPr>
          <a:xfrm>
            <a:off x="4937760" y="1947672"/>
            <a:ext cx="2286000" cy="2423160"/>
          </a:xfrm>
          <a:prstGeom prst="roundRect">
            <a:avLst>
              <a:gd name="adj" fmla="val 4800"/>
            </a:avLst>
          </a:prstGeom>
          <a:solidFill>
            <a:srgbClr val="EFF5F8"/>
          </a:solidFill>
          <a:ln w="1524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50FCB670-F95F-3903-B140-22F6BE2089FC}"/>
              </a:ext>
            </a:extLst>
          </p:cNvPr>
          <p:cNvGrpSpPr/>
          <p:nvPr/>
        </p:nvGrpSpPr>
        <p:grpSpPr>
          <a:xfrm>
            <a:off x="4937760" y="2249424"/>
            <a:ext cx="2267712" cy="2011680"/>
            <a:chOff x="3337560" y="2267712"/>
            <a:chExt cx="2267712" cy="2011680"/>
          </a:xfrm>
        </p:grpSpPr>
        <p:sp>
          <p:nvSpPr>
            <p:cNvPr id="18" name="Text 16"/>
            <p:cNvSpPr/>
            <p:nvPr/>
          </p:nvSpPr>
          <p:spPr>
            <a:xfrm>
              <a:off x="3447288" y="2267712"/>
              <a:ext cx="2066544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20000"/>
            </a:bodyPr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23467B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② 건강인 참조</a:t>
              </a:r>
              <a:endParaRPr lang="en-US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447288" y="2761488"/>
              <a:ext cx="2066544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건강인 15명</a:t>
              </a:r>
              <a:endParaRPr lang="en-US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337560" y="3218688"/>
              <a:ext cx="2267712" cy="10607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ko-KR" altLang="en-US" sz="1600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양손 </a:t>
              </a:r>
              <a:r>
                <a:rPr lang="en-US" altLang="ko-KR" sz="1600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· 4</a:t>
              </a:r>
              <a:r>
                <a:rPr lang="ko-KR" altLang="en-US" sz="1600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과제 </a:t>
              </a:r>
              <a:r>
                <a:rPr lang="en-US" altLang="ko-KR" sz="1600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· </a:t>
              </a:r>
              <a:r>
                <a:rPr lang="ko-KR" altLang="en-US" sz="1600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과제당 </a:t>
              </a:r>
              <a:r>
                <a:rPr lang="en-US" altLang="ko-KR" sz="1600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8</a:t>
              </a:r>
              <a:r>
                <a:rPr lang="ko-KR" altLang="en-US" sz="1600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회 </a:t>
              </a:r>
              <a:r>
                <a:rPr lang="ko-KR" altLang="en-US" sz="1600" dirty="0" err="1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반복값을</a:t>
              </a:r>
              <a:r>
                <a:rPr lang="ko-KR" altLang="en-US" sz="1600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개인별 요약→ 과제별 건강인 참조분포 구축</a:t>
              </a:r>
              <a:endParaRPr lang="en-US" sz="1000" dirty="0"/>
            </a:p>
          </p:txBody>
        </p:sp>
      </p:grpSp>
      <p:sp>
        <p:nvSpPr>
          <p:cNvPr id="21" name="Shape 19"/>
          <p:cNvSpPr/>
          <p:nvPr/>
        </p:nvSpPr>
        <p:spPr>
          <a:xfrm>
            <a:off x="7242048" y="3108960"/>
            <a:ext cx="393192" cy="0"/>
          </a:xfrm>
          <a:prstGeom prst="line">
            <a:avLst/>
          </a:prstGeom>
          <a:noFill/>
          <a:ln w="30480">
            <a:solidFill>
              <a:srgbClr val="2DB4D5"/>
            </a:solidFill>
            <a:prstDash val="solid"/>
            <a:tailEnd type="triangle"/>
          </a:ln>
        </p:spPr>
        <p:txBody>
          <a:bodyPr/>
          <a:lstStyle/>
          <a:p>
            <a:endParaRPr sz="2800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1811A0DB-C5AE-45BE-97E6-625C28243363}"/>
              </a:ext>
            </a:extLst>
          </p:cNvPr>
          <p:cNvGrpSpPr/>
          <p:nvPr/>
        </p:nvGrpSpPr>
        <p:grpSpPr>
          <a:xfrm>
            <a:off x="7662672" y="1947672"/>
            <a:ext cx="2286000" cy="2423160"/>
            <a:chOff x="8823960" y="1965960"/>
            <a:chExt cx="2286000" cy="2423160"/>
          </a:xfrm>
        </p:grpSpPr>
        <p:sp>
          <p:nvSpPr>
            <p:cNvPr id="27" name="Shape 25"/>
            <p:cNvSpPr/>
            <p:nvPr/>
          </p:nvSpPr>
          <p:spPr>
            <a:xfrm>
              <a:off x="8823960" y="1965960"/>
              <a:ext cx="2286000" cy="2423160"/>
            </a:xfrm>
            <a:prstGeom prst="roundRect">
              <a:avLst>
                <a:gd name="adj" fmla="val 4800"/>
              </a:avLst>
            </a:prstGeom>
            <a:solidFill>
              <a:srgbClr val="EFF5F8"/>
            </a:solidFill>
            <a:ln w="15240">
              <a:solidFill>
                <a:srgbClr val="23467B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sp>
          <p:nvSpPr>
            <p:cNvPr id="28" name="Text 26"/>
            <p:cNvSpPr/>
            <p:nvPr/>
          </p:nvSpPr>
          <p:spPr>
            <a:xfrm>
              <a:off x="8933688" y="2267712"/>
              <a:ext cx="2066544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20000"/>
            </a:bodyPr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23467B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③ </a:t>
              </a:r>
              <a:r>
                <a:rPr lang="en-US" sz="2400" b="1" dirty="0" err="1">
                  <a:solidFill>
                    <a:srgbClr val="23467B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환자</a:t>
              </a:r>
              <a:r>
                <a:rPr lang="en-US" sz="2400" b="1" dirty="0">
                  <a:solidFill>
                    <a:srgbClr val="23467B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ko-KR" altLang="en-US" sz="2400" b="1" dirty="0">
                  <a:solidFill>
                    <a:srgbClr val="23467B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본 실험</a:t>
              </a:r>
              <a:endParaRPr lang="en-US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933688" y="2761488"/>
              <a:ext cx="2066544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편마비 15명</a:t>
              </a:r>
              <a:endParaRPr lang="en-US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9025128" y="3218688"/>
              <a:ext cx="1883664" cy="106070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92500" lnSpcReduction="20000"/>
            </a:bodyPr>
            <a:lstStyle/>
            <a:p>
              <a:pPr marL="0" indent="0" algn="ctr">
                <a:buNone/>
              </a:pPr>
              <a:r>
                <a:rPr lang="en-US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4과제 × 8회</a:t>
              </a:r>
              <a:endParaRPr lang="en-US" sz="1400" dirty="0"/>
            </a:p>
            <a:p>
              <a:pPr marL="0" indent="0" algn="ctr">
                <a:buNone/>
              </a:pPr>
              <a:r>
                <a:rPr lang="en-US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Expert reference + A1–A4 평가+</a:t>
              </a:r>
              <a:r>
                <a:rPr lang="en-US" altLang="ko-KR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A0 </a:t>
              </a:r>
              <a:r>
                <a:rPr lang="ko-KR" altLang="en-US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수치 </a:t>
              </a:r>
              <a:r>
                <a:rPr lang="en-US" altLang="ko-KR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baseline</a:t>
              </a:r>
              <a:r>
                <a:rPr lang="ko-KR" altLang="en-US" dirty="0">
                  <a:solidFill>
                    <a:srgbClr val="28323D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과 비교</a:t>
              </a:r>
              <a:endParaRPr lang="en-US" sz="1400" dirty="0"/>
            </a:p>
          </p:txBody>
        </p:sp>
      </p:grpSp>
      <p:sp>
        <p:nvSpPr>
          <p:cNvPr id="31" name="Shape 29"/>
          <p:cNvSpPr/>
          <p:nvPr/>
        </p:nvSpPr>
        <p:spPr>
          <a:xfrm>
            <a:off x="1051560" y="4882896"/>
            <a:ext cx="10104120" cy="777240"/>
          </a:xfrm>
          <a:prstGeom prst="rect">
            <a:avLst/>
          </a:prstGeom>
          <a:solidFill>
            <a:srgbClr val="FBF7E9"/>
          </a:solidFill>
          <a:ln w="12700">
            <a:solidFill>
              <a:srgbClr val="E1CD89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2" name="Text 30"/>
          <p:cNvSpPr/>
          <p:nvPr/>
        </p:nvSpPr>
        <p:spPr>
          <a:xfrm>
            <a:off x="1051560" y="4882895"/>
            <a:ext cx="10088880" cy="10332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20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원칙 </a:t>
            </a:r>
            <a:r>
              <a:rPr lang="en-US" altLang="ko-KR" sz="20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</a:t>
            </a:r>
            <a:r>
              <a:rPr lang="ko-KR" altLang="en-US" sz="2000" b="1" dirty="0" err="1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개발군</a:t>
            </a:r>
            <a:r>
              <a:rPr lang="ko-KR" altLang="en-US" sz="20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20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r>
              <a:rPr lang="ko-KR" altLang="en-US" sz="20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명은 최종 성능분석에서 제외하며</a:t>
            </a:r>
            <a:r>
              <a:rPr lang="en-US" altLang="ko-KR" sz="20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20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</a:t>
            </a:r>
            <a:r>
              <a:rPr lang="en-US" altLang="ko-KR" sz="20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</a:t>
            </a:r>
            <a:r>
              <a:rPr lang="ko-KR" altLang="en-US" sz="20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독립 표본으로 취급하지 않고</a:t>
            </a:r>
            <a:r>
              <a:rPr lang="en-US" altLang="ko-KR" sz="20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20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참가자 수준에서 집계하여 분석</a:t>
            </a:r>
            <a:endParaRPr lang="en-US" altLang="ko-KR" sz="2000" b="1" dirty="0">
              <a:solidFill>
                <a:srgbClr val="28323D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algn="ctr">
              <a:buNone/>
            </a:pPr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A20065B-0AC3-BCB6-AA7B-9ECD838AE8DE}"/>
              </a:ext>
            </a:extLst>
          </p:cNvPr>
          <p:cNvSpPr txBox="1"/>
          <p:nvPr/>
        </p:nvSpPr>
        <p:spPr>
          <a:xfrm>
            <a:off x="3072473" y="5803428"/>
            <a:ext cx="79002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dirty="0"/>
              <a:t>건강인 참조와 환자 분석 모두 </a:t>
            </a:r>
            <a:r>
              <a:rPr lang="ko-KR" altLang="ko-KR" sz="1400" dirty="0" err="1"/>
              <a:t>participant-level</a:t>
            </a:r>
            <a:r>
              <a:rPr lang="ko-KR" altLang="ko-KR" sz="1400" dirty="0"/>
              <a:t> </a:t>
            </a:r>
            <a:r>
              <a:rPr lang="ko-KR" altLang="ko-KR" sz="1400" dirty="0" err="1"/>
              <a:t>요약값을</a:t>
            </a:r>
            <a:r>
              <a:rPr lang="ko-KR" altLang="ko-KR" sz="1400" dirty="0"/>
              <a:t> 기준으로 해석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600000">
            <a:off x="582930" y="5212080"/>
            <a:ext cx="2686050" cy="1211580"/>
          </a:xfrm>
          <a:prstGeom prst="chevron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 rot="720000">
            <a:off x="468630" y="5029200"/>
            <a:ext cx="1885950" cy="480060"/>
          </a:xfrm>
          <a:prstGeom prst="parallelogram">
            <a:avLst/>
          </a:prstGeom>
          <a:solidFill>
            <a:srgbClr val="71D1E4"/>
          </a:solidFill>
          <a:ln w="12700">
            <a:solidFill>
              <a:srgbClr val="71D1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 rot="-1080000">
            <a:off x="1760220" y="4389120"/>
            <a:ext cx="1348740" cy="628650"/>
          </a:xfrm>
          <a:prstGeom prst="chevron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 rot="-1080000">
            <a:off x="2320290" y="4000500"/>
            <a:ext cx="868680" cy="400050"/>
          </a:xfrm>
          <a:prstGeom prst="chevron">
            <a:avLst/>
          </a:prstGeom>
          <a:solidFill>
            <a:srgbClr val="2DB4D5"/>
          </a:solidFill>
          <a:ln w="12700">
            <a:solidFill>
              <a:srgbClr val="2DB4D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532120" y="19659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5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III. 실험 방법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715000" y="27889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평가 과제 및 시행 흐름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5715000" y="335584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7A82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RGB-D 측정 및 운동학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5715000" y="392277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7A82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14-frame 입력 및 추론 절차</a:t>
            </a:r>
            <a:endParaRPr lang="en-US" sz="1850" dirty="0"/>
          </a:p>
        </p:txBody>
      </p:sp>
      <p:sp>
        <p:nvSpPr>
          <p:cNvPr id="10" name="Shape 8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9372600" y="6565392"/>
            <a:ext cx="2240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760" dirty="0"/>
          </a:p>
        </p:txBody>
      </p:sp>
      <p:sp>
        <p:nvSpPr>
          <p:cNvPr id="12" name="Text 10"/>
          <p:cNvSpPr/>
          <p:nvPr/>
        </p:nvSpPr>
        <p:spPr>
          <a:xfrm>
            <a:off x="10005134" y="201168"/>
            <a:ext cx="1699186" cy="446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7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" name="Text 1"/>
          <p:cNvSpPr/>
          <p:nvPr/>
        </p:nvSpPr>
        <p:spPr>
          <a:xfrm>
            <a:off x="8922058" y="6107840"/>
            <a:ext cx="2690822" cy="58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014012" y="201167"/>
            <a:ext cx="1690308" cy="4023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237744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III. 실험 방법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50292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평가 과제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678528" y="804672"/>
            <a:ext cx="2834640" cy="384048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9" name="Text 7"/>
          <p:cNvSpPr/>
          <p:nvPr/>
        </p:nvSpPr>
        <p:spPr>
          <a:xfrm>
            <a:off x="4751680" y="877824"/>
            <a:ext cx="2688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평가 과제 ]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3232" y="1344168"/>
            <a:ext cx="10716768" cy="35661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1" name="Text 9"/>
          <p:cNvSpPr/>
          <p:nvPr/>
        </p:nvSpPr>
        <p:spPr>
          <a:xfrm>
            <a:off x="868680" y="1408176"/>
            <a:ext cx="10387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손 개폐 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파지 형태 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과제당 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 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짧은 </a:t>
            </a:r>
            <a:r>
              <a:rPr lang="en-US" altLang="ko-KR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reach</a:t>
            </a:r>
            <a:r>
              <a:rPr lang="ko-KR" alt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팔 이동의 영향을 최소화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1874520"/>
            <a:ext cx="2331720" cy="3200400"/>
          </a:xfrm>
          <a:prstGeom prst="rect">
            <a:avLst/>
          </a:prstGeom>
          <a:solidFill>
            <a:srgbClr val="F5F8FA"/>
          </a:solidFill>
          <a:ln w="12700">
            <a:solidFill>
              <a:srgbClr val="C6D2DC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9" name="Text 17"/>
          <p:cNvSpPr/>
          <p:nvPr/>
        </p:nvSpPr>
        <p:spPr>
          <a:xfrm>
            <a:off x="822960" y="36576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346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맨손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04672" y="416052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ko-KR" altLang="en-US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기본적인 능동적 </a:t>
            </a:r>
            <a:endParaRPr lang="en-US" altLang="ko-KR" dirty="0">
              <a:solidFill>
                <a:srgbClr val="28323D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 algn="ctr">
              <a:buNone/>
            </a:pPr>
            <a:r>
              <a:rPr lang="ko-KR" altLang="en-US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개폐 능력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429000" y="1874520"/>
            <a:ext cx="2331720" cy="3200400"/>
          </a:xfrm>
          <a:prstGeom prst="rect">
            <a:avLst/>
          </a:prstGeom>
          <a:solidFill>
            <a:srgbClr val="F5F8FA"/>
          </a:solidFill>
          <a:ln w="12700">
            <a:solidFill>
              <a:srgbClr val="C6D2DC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2" name="Shape 20"/>
          <p:cNvSpPr/>
          <p:nvPr/>
        </p:nvSpPr>
        <p:spPr>
          <a:xfrm>
            <a:off x="4178808" y="2212848"/>
            <a:ext cx="822960" cy="228600"/>
          </a:xfrm>
          <a:prstGeom prst="ellipse">
            <a:avLst/>
          </a:prstGeom>
          <a:solidFill>
            <a:srgbClr val="E7EEF3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3" name="Shape 21"/>
          <p:cNvSpPr/>
          <p:nvPr/>
        </p:nvSpPr>
        <p:spPr>
          <a:xfrm>
            <a:off x="4178808" y="2331720"/>
            <a:ext cx="822960" cy="960120"/>
          </a:xfrm>
          <a:prstGeom prst="rect">
            <a:avLst/>
          </a:prstGeom>
          <a:solidFill>
            <a:srgbClr val="EEF4F7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4" name="Shape 22"/>
          <p:cNvSpPr/>
          <p:nvPr/>
        </p:nvSpPr>
        <p:spPr>
          <a:xfrm>
            <a:off x="4178808" y="3154680"/>
            <a:ext cx="822960" cy="228600"/>
          </a:xfrm>
          <a:prstGeom prst="ellipse">
            <a:avLst/>
          </a:prstGeom>
          <a:solidFill>
            <a:srgbClr val="DDE8EF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5" name="Text 23"/>
          <p:cNvSpPr/>
          <p:nvPr/>
        </p:nvSpPr>
        <p:spPr>
          <a:xfrm>
            <a:off x="3611880" y="36576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346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원통 파지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3593592" y="4160520"/>
            <a:ext cx="20116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algn="ctr"/>
            <a:r>
              <a:rPr lang="ko-KR" altLang="ko-KR" sz="2000" dirty="0"/>
              <a:t>대표적인 손바닥 파지에서 손 벌림과 파지 형성 평가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217920" y="1874520"/>
            <a:ext cx="2331720" cy="3200400"/>
          </a:xfrm>
          <a:prstGeom prst="rect">
            <a:avLst/>
          </a:prstGeom>
          <a:solidFill>
            <a:srgbClr val="F5F8FA"/>
          </a:solidFill>
          <a:ln w="12700">
            <a:solidFill>
              <a:srgbClr val="C6D2DC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9" name="Text 27"/>
          <p:cNvSpPr/>
          <p:nvPr/>
        </p:nvSpPr>
        <p:spPr>
          <a:xfrm>
            <a:off x="6400800" y="36576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346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 파지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6382512" y="4119017"/>
            <a:ext cx="2011680" cy="84195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algn="ctr"/>
            <a:r>
              <a:rPr lang="ko-KR" altLang="en-US" sz="2000" dirty="0"/>
              <a:t>물체 형상에 </a:t>
            </a:r>
            <a:r>
              <a:rPr lang="ko-KR" altLang="en-US" sz="2000"/>
              <a:t>따른 손 </a:t>
            </a:r>
            <a:r>
              <a:rPr lang="ko-KR" altLang="en-US" sz="2000" dirty="0"/>
              <a:t>전체의 벌림</a:t>
            </a:r>
            <a:r>
              <a:rPr lang="en-US" altLang="ko-KR" sz="2000" dirty="0"/>
              <a:t>·</a:t>
            </a:r>
            <a:r>
              <a:rPr lang="ko-KR" altLang="en-US" sz="2000" dirty="0"/>
              <a:t>감싸기 전략 평가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9006840" y="1874520"/>
            <a:ext cx="2331720" cy="3200400"/>
          </a:xfrm>
          <a:prstGeom prst="rect">
            <a:avLst/>
          </a:prstGeom>
          <a:solidFill>
            <a:srgbClr val="F5F8FA"/>
          </a:solidFill>
          <a:ln w="12700">
            <a:solidFill>
              <a:srgbClr val="C6D2DC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5" name="Text 33"/>
          <p:cNvSpPr/>
          <p:nvPr/>
        </p:nvSpPr>
        <p:spPr>
          <a:xfrm>
            <a:off x="9189720" y="36576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346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측면집기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9171432" y="4105189"/>
            <a:ext cx="2011680" cy="8557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ko-KR" altLang="ko-KR" dirty="0"/>
              <a:t>엄지 중심의 정밀 파지와 손가락 </a:t>
            </a:r>
            <a:r>
              <a:rPr lang="ko-KR" altLang="ko-KR" dirty="0" err="1"/>
              <a:t>협응</a:t>
            </a:r>
            <a:r>
              <a:rPr lang="ko-KR" altLang="ko-KR" dirty="0"/>
              <a:t> 평가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097280" y="5486400"/>
            <a:ext cx="10012680" cy="62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2000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과제별 참조 필요 이유 </a:t>
            </a:r>
            <a:r>
              <a:rPr lang="en-US" altLang="ko-KR" sz="2000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Grip type</a:t>
            </a:r>
            <a:r>
              <a:rPr lang="ko-KR" altLang="en-US" sz="2000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물체 형상에 따라 정상 손 모양과 운동학 분포가 달라질 수 있음</a:t>
            </a:r>
            <a:endParaRPr lang="en-US" dirty="0"/>
          </a:p>
        </p:txBody>
      </p:sp>
      <p:pic>
        <p:nvPicPr>
          <p:cNvPr id="39" name="그래픽 38" descr="올린 손 윤곽선">
            <a:extLst>
              <a:ext uri="{FF2B5EF4-FFF2-40B4-BE49-F238E27FC236}">
                <a16:creationId xmlns:a16="http://schemas.microsoft.com/office/drawing/2014/main" id="{8A757F37-DA87-99EF-D96D-DDCB02DD54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3856" y="2103120"/>
            <a:ext cx="1417320" cy="1417320"/>
          </a:xfrm>
          <a:prstGeom prst="rect">
            <a:avLst/>
          </a:prstGeom>
        </p:spPr>
      </p:pic>
      <p:pic>
        <p:nvPicPr>
          <p:cNvPr id="41" name="그래픽 40" descr="하비 공 100% 윤곽선">
            <a:extLst>
              <a:ext uri="{FF2B5EF4-FFF2-40B4-BE49-F238E27FC236}">
                <a16:creationId xmlns:a16="http://schemas.microsoft.com/office/drawing/2014/main" id="{3476B910-6C89-5440-644C-2B15E845C7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52260" y="2053183"/>
            <a:ext cx="1463040" cy="1463040"/>
          </a:xfrm>
          <a:prstGeom prst="rect">
            <a:avLst/>
          </a:prstGeom>
        </p:spPr>
      </p:pic>
      <p:grpSp>
        <p:nvGrpSpPr>
          <p:cNvPr id="44" name="그룹 43">
            <a:extLst>
              <a:ext uri="{FF2B5EF4-FFF2-40B4-BE49-F238E27FC236}">
                <a16:creationId xmlns:a16="http://schemas.microsoft.com/office/drawing/2014/main" id="{D3184C15-3B2F-C0B6-9ADC-C8E0F40E7D6C}"/>
              </a:ext>
            </a:extLst>
          </p:cNvPr>
          <p:cNvGrpSpPr/>
          <p:nvPr/>
        </p:nvGrpSpPr>
        <p:grpSpPr>
          <a:xfrm>
            <a:off x="9389023" y="2249309"/>
            <a:ext cx="1756891" cy="1234440"/>
            <a:chOff x="9353069" y="2487168"/>
            <a:chExt cx="1308835" cy="914400"/>
          </a:xfrm>
        </p:grpSpPr>
        <p:sp>
          <p:nvSpPr>
            <p:cNvPr id="32" name="Shape 30"/>
            <p:cNvSpPr/>
            <p:nvPr/>
          </p:nvSpPr>
          <p:spPr>
            <a:xfrm rot="5400000">
              <a:off x="9948672" y="2176272"/>
              <a:ext cx="384048" cy="1042416"/>
            </a:xfrm>
            <a:prstGeom prst="roundRect">
              <a:avLst>
                <a:gd name="adj" fmla="val 9524"/>
              </a:avLst>
            </a:prstGeom>
            <a:solidFill>
              <a:srgbClr val="F7EEDF"/>
            </a:solidFill>
            <a:ln w="12700">
              <a:solidFill>
                <a:srgbClr val="E5912B"/>
              </a:solidFill>
              <a:prstDash val="solid"/>
            </a:ln>
          </p:spPr>
          <p:txBody>
            <a:bodyPr/>
            <a:lstStyle/>
            <a:p>
              <a:endParaRPr sz="2800"/>
            </a:p>
          </p:txBody>
        </p:sp>
        <p:pic>
          <p:nvPicPr>
            <p:cNvPr id="43" name="그래픽 42" descr="오른쪽을 가리키는 검지  윤곽선">
              <a:extLst>
                <a:ext uri="{FF2B5EF4-FFF2-40B4-BE49-F238E27FC236}">
                  <a16:creationId xmlns:a16="http://schemas.microsoft.com/office/drawing/2014/main" id="{DA407A9B-9AA4-0393-C781-BED5BB78E57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353069" y="2487168"/>
              <a:ext cx="914400" cy="9144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" name="Text 1"/>
          <p:cNvSpPr/>
          <p:nvPr/>
        </p:nvSpPr>
        <p:spPr>
          <a:xfrm>
            <a:off x="9372600" y="6565392"/>
            <a:ext cx="2240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87379" y="201167"/>
            <a:ext cx="1716941" cy="301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237744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III. 실험 방법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50292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평가 과제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21328" y="804672"/>
            <a:ext cx="3749040" cy="384048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9" name="Text 7"/>
          <p:cNvSpPr/>
          <p:nvPr/>
        </p:nvSpPr>
        <p:spPr>
          <a:xfrm>
            <a:off x="4294480" y="877824"/>
            <a:ext cx="3602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시행 흐름과 rubric ]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3232" y="1344168"/>
            <a:ext cx="10716768" cy="35661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1" name="Text 9"/>
          <p:cNvSpPr/>
          <p:nvPr/>
        </p:nvSpPr>
        <p:spPr>
          <a:xfrm>
            <a:off x="868680" y="1408176"/>
            <a:ext cx="10387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Hold와 Release는 “운동학 수치”가 아니라 task phase이며, 물체 과제와 맨손 과제는 서로 다른 component를 사용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18288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346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물체 과제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13232" y="2194560"/>
            <a:ext cx="1901952" cy="960120"/>
          </a:xfrm>
          <a:prstGeom prst="rect">
            <a:avLst/>
          </a:prstGeom>
          <a:solidFill>
            <a:srgbClr val="E8EEF3"/>
          </a:solidFill>
          <a:ln w="12700">
            <a:solidFill>
              <a:srgbClr val="B9C6D1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4" name="Text 12"/>
          <p:cNvSpPr/>
          <p:nvPr/>
        </p:nvSpPr>
        <p:spPr>
          <a:xfrm>
            <a:off x="786384" y="2496312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346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짧은 이동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2615184" y="2679192"/>
            <a:ext cx="246888" cy="0"/>
          </a:xfrm>
          <a:prstGeom prst="line">
            <a:avLst/>
          </a:prstGeom>
          <a:noFill/>
          <a:ln w="25400">
            <a:solidFill>
              <a:srgbClr val="2DB4D5"/>
            </a:solidFill>
            <a:prstDash val="solid"/>
            <a:tailEnd type="triangle"/>
          </a:ln>
        </p:spPr>
        <p:txBody>
          <a:bodyPr/>
          <a:lstStyle/>
          <a:p>
            <a:endParaRPr sz="2800"/>
          </a:p>
        </p:txBody>
      </p:sp>
      <p:sp>
        <p:nvSpPr>
          <p:cNvPr id="16" name="Shape 14"/>
          <p:cNvSpPr/>
          <p:nvPr/>
        </p:nvSpPr>
        <p:spPr>
          <a:xfrm>
            <a:off x="2953512" y="2194560"/>
            <a:ext cx="1901952" cy="960120"/>
          </a:xfrm>
          <a:prstGeom prst="rect">
            <a:avLst/>
          </a:prstGeom>
          <a:solidFill>
            <a:srgbClr val="EAF3F8"/>
          </a:solidFill>
          <a:ln w="12700">
            <a:solidFill>
              <a:srgbClr val="B9C6D1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7" name="Text 15"/>
          <p:cNvSpPr/>
          <p:nvPr/>
        </p:nvSpPr>
        <p:spPr>
          <a:xfrm>
            <a:off x="3026664" y="2496312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346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Grasp acquisition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855464" y="2679192"/>
            <a:ext cx="246888" cy="0"/>
          </a:xfrm>
          <a:prstGeom prst="line">
            <a:avLst/>
          </a:prstGeom>
          <a:noFill/>
          <a:ln w="25400">
            <a:solidFill>
              <a:srgbClr val="2DB4D5"/>
            </a:solidFill>
            <a:prstDash val="solid"/>
            <a:tailEnd type="triangle"/>
          </a:ln>
        </p:spPr>
        <p:txBody>
          <a:bodyPr/>
          <a:lstStyle/>
          <a:p>
            <a:endParaRPr sz="2800"/>
          </a:p>
        </p:txBody>
      </p:sp>
      <p:sp>
        <p:nvSpPr>
          <p:cNvPr id="19" name="Shape 17"/>
          <p:cNvSpPr/>
          <p:nvPr/>
        </p:nvSpPr>
        <p:spPr>
          <a:xfrm>
            <a:off x="5193792" y="2194560"/>
            <a:ext cx="1901952" cy="960120"/>
          </a:xfrm>
          <a:prstGeom prst="rect">
            <a:avLst/>
          </a:prstGeom>
          <a:solidFill>
            <a:srgbClr val="ECF8F5"/>
          </a:solidFill>
          <a:ln w="12700">
            <a:solidFill>
              <a:srgbClr val="B9C6D1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0" name="Text 18"/>
          <p:cNvSpPr/>
          <p:nvPr/>
        </p:nvSpPr>
        <p:spPr>
          <a:xfrm>
            <a:off x="5266944" y="2496312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9E9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s Hold</a:t>
            </a: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7095744" y="2679192"/>
            <a:ext cx="246888" cy="0"/>
          </a:xfrm>
          <a:prstGeom prst="line">
            <a:avLst/>
          </a:prstGeom>
          <a:noFill/>
          <a:ln w="25400">
            <a:solidFill>
              <a:srgbClr val="2DB4D5"/>
            </a:solidFill>
            <a:prstDash val="solid"/>
            <a:tailEnd type="triangle"/>
          </a:ln>
        </p:spPr>
        <p:txBody>
          <a:bodyPr/>
          <a:lstStyle/>
          <a:p>
            <a:endParaRPr sz="2800"/>
          </a:p>
        </p:txBody>
      </p:sp>
      <p:sp>
        <p:nvSpPr>
          <p:cNvPr id="22" name="Shape 20"/>
          <p:cNvSpPr/>
          <p:nvPr/>
        </p:nvSpPr>
        <p:spPr>
          <a:xfrm>
            <a:off x="7434072" y="2194560"/>
            <a:ext cx="1901952" cy="960120"/>
          </a:xfrm>
          <a:prstGeom prst="rect">
            <a:avLst/>
          </a:prstGeom>
          <a:solidFill>
            <a:srgbClr val="F3EFF8"/>
          </a:solidFill>
          <a:ln w="12700">
            <a:solidFill>
              <a:srgbClr val="B9C6D1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3" name="Text 21"/>
          <p:cNvSpPr/>
          <p:nvPr/>
        </p:nvSpPr>
        <p:spPr>
          <a:xfrm>
            <a:off x="7507224" y="2496312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C58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Active release</a:t>
            </a: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9336024" y="2679192"/>
            <a:ext cx="246888" cy="0"/>
          </a:xfrm>
          <a:prstGeom prst="line">
            <a:avLst/>
          </a:prstGeom>
          <a:noFill/>
          <a:ln w="25400">
            <a:solidFill>
              <a:srgbClr val="2DB4D5"/>
            </a:solidFill>
            <a:prstDash val="solid"/>
            <a:tailEnd type="triangle"/>
          </a:ln>
        </p:spPr>
        <p:txBody>
          <a:bodyPr/>
          <a:lstStyle/>
          <a:p>
            <a:endParaRPr sz="2800"/>
          </a:p>
        </p:txBody>
      </p:sp>
      <p:sp>
        <p:nvSpPr>
          <p:cNvPr id="25" name="Shape 23"/>
          <p:cNvSpPr/>
          <p:nvPr/>
        </p:nvSpPr>
        <p:spPr>
          <a:xfrm>
            <a:off x="9674352" y="2194560"/>
            <a:ext cx="1901952" cy="960120"/>
          </a:xfrm>
          <a:prstGeom prst="rect">
            <a:avLst/>
          </a:prstGeom>
          <a:solidFill>
            <a:srgbClr val="FBF5E8"/>
          </a:solidFill>
          <a:ln w="12700">
            <a:solidFill>
              <a:srgbClr val="B9C6D1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6" name="Text 24"/>
          <p:cNvSpPr/>
          <p:nvPr/>
        </p:nvSpPr>
        <p:spPr>
          <a:xfrm>
            <a:off x="9747504" y="2496312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346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 s 관찰</a:t>
            </a: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77240" y="373075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346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맨손 과제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1051560" y="411480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ECF8F5"/>
          </a:solidFill>
          <a:ln w="12700">
            <a:solidFill>
              <a:srgbClr val="AEDDD6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9" name="Text 27"/>
          <p:cNvSpPr/>
          <p:nvPr/>
        </p:nvSpPr>
        <p:spPr>
          <a:xfrm>
            <a:off x="1143000" y="44074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C9E9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Opening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3035808" y="4572000"/>
            <a:ext cx="466344" cy="0"/>
          </a:xfrm>
          <a:prstGeom prst="line">
            <a:avLst/>
          </a:prstGeom>
          <a:noFill/>
          <a:ln w="25400">
            <a:solidFill>
              <a:srgbClr val="2DB4D5"/>
            </a:solidFill>
            <a:prstDash val="solid"/>
            <a:tailEnd type="triangle"/>
          </a:ln>
        </p:spPr>
        <p:txBody>
          <a:bodyPr/>
          <a:lstStyle/>
          <a:p>
            <a:endParaRPr sz="2800"/>
          </a:p>
        </p:txBody>
      </p:sp>
      <p:sp>
        <p:nvSpPr>
          <p:cNvPr id="31" name="Shape 29"/>
          <p:cNvSpPr/>
          <p:nvPr/>
        </p:nvSpPr>
        <p:spPr>
          <a:xfrm>
            <a:off x="3657600" y="411480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EAF3F8"/>
          </a:solidFill>
          <a:ln w="12700">
            <a:solidFill>
              <a:srgbClr val="AFC8DA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2" name="Text 30"/>
          <p:cNvSpPr/>
          <p:nvPr/>
        </p:nvSpPr>
        <p:spPr>
          <a:xfrm>
            <a:off x="3749040" y="44074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346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Closing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5641848" y="4572000"/>
            <a:ext cx="466344" cy="0"/>
          </a:xfrm>
          <a:prstGeom prst="line">
            <a:avLst/>
          </a:prstGeom>
          <a:noFill/>
          <a:ln w="25400">
            <a:solidFill>
              <a:srgbClr val="2DB4D5"/>
            </a:solidFill>
            <a:prstDash val="solid"/>
            <a:tailEnd type="triangle"/>
          </a:ln>
        </p:spPr>
        <p:txBody>
          <a:bodyPr/>
          <a:lstStyle/>
          <a:p>
            <a:endParaRPr sz="2800"/>
          </a:p>
        </p:txBody>
      </p:sp>
      <p:sp>
        <p:nvSpPr>
          <p:cNvPr id="34" name="Shape 32"/>
          <p:cNvSpPr/>
          <p:nvPr/>
        </p:nvSpPr>
        <p:spPr>
          <a:xfrm>
            <a:off x="6263640" y="411480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ECF8F5"/>
          </a:solidFill>
          <a:ln w="12700">
            <a:solidFill>
              <a:srgbClr val="AEDDD6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5" name="Text 33"/>
          <p:cNvSpPr/>
          <p:nvPr/>
        </p:nvSpPr>
        <p:spPr>
          <a:xfrm>
            <a:off x="6355080" y="44074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C9E9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Hold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8247888" y="4572000"/>
            <a:ext cx="466344" cy="0"/>
          </a:xfrm>
          <a:prstGeom prst="line">
            <a:avLst/>
          </a:prstGeom>
          <a:noFill/>
          <a:ln w="25400">
            <a:solidFill>
              <a:srgbClr val="2DB4D5"/>
            </a:solidFill>
            <a:prstDash val="solid"/>
            <a:tailEnd type="triangle"/>
          </a:ln>
        </p:spPr>
        <p:txBody>
          <a:bodyPr/>
          <a:lstStyle/>
          <a:p>
            <a:endParaRPr sz="2800"/>
          </a:p>
        </p:txBody>
      </p:sp>
      <p:sp>
        <p:nvSpPr>
          <p:cNvPr id="37" name="Shape 35"/>
          <p:cNvSpPr/>
          <p:nvPr/>
        </p:nvSpPr>
        <p:spPr>
          <a:xfrm>
            <a:off x="8869680" y="411480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EAF3F8"/>
          </a:solidFill>
          <a:ln w="12700">
            <a:solidFill>
              <a:srgbClr val="AFC8DA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8" name="Text 36"/>
          <p:cNvSpPr/>
          <p:nvPr/>
        </p:nvSpPr>
        <p:spPr>
          <a:xfrm>
            <a:off x="8961120" y="44074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346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Re-opening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1005840" y="5532120"/>
            <a:ext cx="10104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voluntary finger extension은 object grasp capacity와 밀접하지만, 맨손 opening feature의 최종 정의는 pilot에서 측정 안정성을 확인한 뒤 고정.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" name="Text 1"/>
          <p:cNvSpPr/>
          <p:nvPr/>
        </p:nvSpPr>
        <p:spPr>
          <a:xfrm>
            <a:off x="9372600" y="6565392"/>
            <a:ext cx="2240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880847" y="201167"/>
            <a:ext cx="1823473" cy="301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237744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III. 실험 방법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50292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RGB-D 측정 및 운동학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495648" y="804672"/>
            <a:ext cx="3200400" cy="384048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9" name="Text 7"/>
          <p:cNvSpPr/>
          <p:nvPr/>
        </p:nvSpPr>
        <p:spPr>
          <a:xfrm>
            <a:off x="4568800" y="877824"/>
            <a:ext cx="3054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자료 및 변수 ]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3232" y="1344168"/>
            <a:ext cx="10716768" cy="35661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1" name="Text 9"/>
          <p:cNvSpPr/>
          <p:nvPr/>
        </p:nvSpPr>
        <p:spPr>
          <a:xfrm>
            <a:off x="868680" y="1408176"/>
            <a:ext cx="10387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입력은 “검증된 소수의 kinematic descriptor”로 제한하고, Hold/Release 자체와 측정품질은 서로 다른 범주로 구분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" y="1828800"/>
            <a:ext cx="3017520" cy="3611880"/>
          </a:xfrm>
          <a:prstGeom prst="rect">
            <a:avLst/>
          </a:prstGeom>
          <a:solidFill>
            <a:srgbClr val="F5F8FA"/>
          </a:solidFill>
          <a:ln w="12700">
            <a:solidFill>
              <a:srgbClr val="BFCBD6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3" name="Shape 11"/>
          <p:cNvSpPr/>
          <p:nvPr/>
        </p:nvSpPr>
        <p:spPr>
          <a:xfrm>
            <a:off x="594360" y="1828800"/>
            <a:ext cx="3017520" cy="329184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4" name="Text 12"/>
          <p:cNvSpPr/>
          <p:nvPr/>
        </p:nvSpPr>
        <p:spPr>
          <a:xfrm>
            <a:off x="649224" y="1879092"/>
            <a:ext cx="29077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RGB-D 측정 개념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22376" y="2304288"/>
            <a:ext cx="2761488" cy="3017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D455 + MediaPipe 21 landmarks</a:t>
            </a:r>
            <a:endParaRPr lang="en-US" dirty="0"/>
          </a:p>
          <a:p>
            <a:pPr marL="0" indent="0">
              <a:buNone/>
            </a:pPr>
            <a:r>
              <a:rPr lang="en-US" sz="20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aligned depth에서 landmark 주변 depth 취득</a:t>
            </a:r>
            <a:endParaRPr lang="en-US" dirty="0"/>
          </a:p>
          <a:p>
            <a:pPr marL="0" indent="0">
              <a:buNone/>
            </a:pPr>
            <a:r>
              <a:rPr lang="en-US" sz="20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intrinsics로 3D deprojection</a:t>
            </a:r>
            <a:endParaRPr lang="en-US" dirty="0"/>
          </a:p>
          <a:p>
            <a:pPr marL="0" indent="0">
              <a:buNone/>
            </a:pPr>
            <a:r>
              <a:rPr lang="en-US" sz="20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thumb–index 3D aperture curve 계산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1508760" y="3931920"/>
            <a:ext cx="1143000" cy="662940"/>
          </a:xfrm>
          <a:prstGeom prst="roundRect">
            <a:avLst>
              <a:gd name="adj" fmla="val 6897"/>
            </a:avLst>
          </a:prstGeom>
          <a:solidFill>
            <a:srgbClr val="E3E8ED"/>
          </a:solidFill>
          <a:ln w="12700">
            <a:solidFill>
              <a:srgbClr val="98A7B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7" name="Shape 15"/>
          <p:cNvSpPr/>
          <p:nvPr/>
        </p:nvSpPr>
        <p:spPr>
          <a:xfrm>
            <a:off x="1737360" y="4137660"/>
            <a:ext cx="251460" cy="251460"/>
          </a:xfrm>
          <a:prstGeom prst="ellipse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8" name="Shape 16"/>
          <p:cNvSpPr/>
          <p:nvPr/>
        </p:nvSpPr>
        <p:spPr>
          <a:xfrm>
            <a:off x="2160270" y="4160520"/>
            <a:ext cx="205740" cy="205740"/>
          </a:xfrm>
          <a:prstGeom prst="ellipse">
            <a:avLst/>
          </a:prstGeom>
          <a:solidFill>
            <a:srgbClr val="1C9E95"/>
          </a:solidFill>
          <a:ln w="12700">
            <a:solidFill>
              <a:srgbClr val="1C9E9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9" name="Shape 17"/>
          <p:cNvSpPr/>
          <p:nvPr/>
        </p:nvSpPr>
        <p:spPr>
          <a:xfrm>
            <a:off x="2011680" y="4594860"/>
            <a:ext cx="137160" cy="285750"/>
          </a:xfrm>
          <a:prstGeom prst="rect">
            <a:avLst/>
          </a:prstGeom>
          <a:solidFill>
            <a:srgbClr val="A2ADB8"/>
          </a:solidFill>
          <a:ln w="12700">
            <a:solidFill>
              <a:srgbClr val="A2AD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0" name="Shape 18"/>
          <p:cNvSpPr/>
          <p:nvPr/>
        </p:nvSpPr>
        <p:spPr>
          <a:xfrm>
            <a:off x="1760220" y="4880610"/>
            <a:ext cx="662940" cy="0"/>
          </a:xfrm>
          <a:prstGeom prst="line">
            <a:avLst/>
          </a:prstGeom>
          <a:noFill/>
          <a:ln w="19050">
            <a:solidFill>
              <a:srgbClr val="A2AD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1" name="Shape 19"/>
          <p:cNvSpPr/>
          <p:nvPr/>
        </p:nvSpPr>
        <p:spPr>
          <a:xfrm>
            <a:off x="2638958" y="4352544"/>
            <a:ext cx="614477" cy="680314"/>
          </a:xfrm>
          <a:prstGeom prst="roundRect">
            <a:avLst>
              <a:gd name="adj" fmla="val 8929"/>
            </a:avLst>
          </a:prstGeom>
          <a:solidFill>
            <a:srgbClr val="2DB4D5"/>
          </a:solidFill>
          <a:ln w="12700">
            <a:solidFill>
              <a:srgbClr val="2DB4D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2" name="Shape 20"/>
          <p:cNvSpPr/>
          <p:nvPr/>
        </p:nvSpPr>
        <p:spPr>
          <a:xfrm>
            <a:off x="2638958" y="3880714"/>
            <a:ext cx="115214" cy="581558"/>
          </a:xfrm>
          <a:prstGeom prst="roundRect">
            <a:avLst>
              <a:gd name="adj" fmla="val 23810"/>
            </a:avLst>
          </a:prstGeom>
          <a:solidFill>
            <a:srgbClr val="2DB4D5"/>
          </a:solidFill>
          <a:ln w="12700">
            <a:solidFill>
              <a:srgbClr val="2DB4D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3" name="Shape 21"/>
          <p:cNvSpPr/>
          <p:nvPr/>
        </p:nvSpPr>
        <p:spPr>
          <a:xfrm>
            <a:off x="2792578" y="3770986"/>
            <a:ext cx="115214" cy="625450"/>
          </a:xfrm>
          <a:prstGeom prst="roundRect">
            <a:avLst>
              <a:gd name="adj" fmla="val 23810"/>
            </a:avLst>
          </a:prstGeom>
          <a:solidFill>
            <a:srgbClr val="2DB4D5"/>
          </a:solidFill>
          <a:ln w="12700">
            <a:solidFill>
              <a:srgbClr val="2DB4D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4" name="Shape 22"/>
          <p:cNvSpPr/>
          <p:nvPr/>
        </p:nvSpPr>
        <p:spPr>
          <a:xfrm>
            <a:off x="2946197" y="3749040"/>
            <a:ext cx="115214" cy="625450"/>
          </a:xfrm>
          <a:prstGeom prst="roundRect">
            <a:avLst>
              <a:gd name="adj" fmla="val 23810"/>
            </a:avLst>
          </a:prstGeom>
          <a:solidFill>
            <a:srgbClr val="2DB4D5"/>
          </a:solidFill>
          <a:ln w="12700">
            <a:solidFill>
              <a:srgbClr val="2DB4D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5" name="Shape 23"/>
          <p:cNvSpPr/>
          <p:nvPr/>
        </p:nvSpPr>
        <p:spPr>
          <a:xfrm>
            <a:off x="3099816" y="3836822"/>
            <a:ext cx="115214" cy="625450"/>
          </a:xfrm>
          <a:prstGeom prst="roundRect">
            <a:avLst>
              <a:gd name="adj" fmla="val 23810"/>
            </a:avLst>
          </a:prstGeom>
          <a:solidFill>
            <a:srgbClr val="2DB4D5"/>
          </a:solidFill>
          <a:ln w="12700">
            <a:solidFill>
              <a:srgbClr val="2DB4D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6" name="Shape 24"/>
          <p:cNvSpPr/>
          <p:nvPr/>
        </p:nvSpPr>
        <p:spPr>
          <a:xfrm rot="19800000">
            <a:off x="2397557" y="4440326"/>
            <a:ext cx="362102" cy="153619"/>
          </a:xfrm>
          <a:prstGeom prst="roundRect">
            <a:avLst>
              <a:gd name="adj" fmla="val 17857"/>
            </a:avLst>
          </a:prstGeom>
          <a:solidFill>
            <a:srgbClr val="2DB4D5"/>
          </a:solidFill>
          <a:ln w="12700">
            <a:solidFill>
              <a:srgbClr val="2DB4D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7" name="Shape 25"/>
          <p:cNvSpPr/>
          <p:nvPr/>
        </p:nvSpPr>
        <p:spPr>
          <a:xfrm>
            <a:off x="3840480" y="1828800"/>
            <a:ext cx="3383280" cy="3611880"/>
          </a:xfrm>
          <a:prstGeom prst="rect">
            <a:avLst/>
          </a:prstGeom>
          <a:solidFill>
            <a:srgbClr val="F5F8FA"/>
          </a:solidFill>
          <a:ln w="12700">
            <a:solidFill>
              <a:srgbClr val="BFCBD6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8" name="Shape 26"/>
          <p:cNvSpPr/>
          <p:nvPr/>
        </p:nvSpPr>
        <p:spPr>
          <a:xfrm>
            <a:off x="3840480" y="1828800"/>
            <a:ext cx="3383280" cy="329184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9" name="Text 27"/>
          <p:cNvSpPr/>
          <p:nvPr/>
        </p:nvSpPr>
        <p:spPr>
          <a:xfrm>
            <a:off x="3895344" y="1879092"/>
            <a:ext cx="32735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운동학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68496" y="2304288"/>
            <a:ext cx="3127248" cy="3017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MGA</a:t>
            </a:r>
            <a:endParaRPr lang="en-US" dirty="0"/>
          </a:p>
          <a:p>
            <a:pPr marL="0" indent="0">
              <a:buNone/>
            </a:pPr>
            <a:r>
              <a:rPr lang="en-US" sz="20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접촉 전 최대 thumb–index 3D aperture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0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TMGA</a:t>
            </a:r>
            <a:endParaRPr lang="en-US" dirty="0"/>
          </a:p>
          <a:p>
            <a:pPr marL="0" indent="0">
              <a:buNone/>
            </a:pPr>
            <a:r>
              <a:rPr lang="en-US" sz="20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acquisition 구간 내 MGA의 정규화된 발생시점</a:t>
            </a: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7452360" y="1828800"/>
            <a:ext cx="4160520" cy="1828800"/>
          </a:xfrm>
          <a:prstGeom prst="rect">
            <a:avLst/>
          </a:prstGeom>
          <a:solidFill>
            <a:srgbClr val="F5F8FA"/>
          </a:solidFill>
          <a:ln w="12700">
            <a:solidFill>
              <a:srgbClr val="BFCBD6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2" name="Shape 30"/>
          <p:cNvSpPr/>
          <p:nvPr/>
        </p:nvSpPr>
        <p:spPr>
          <a:xfrm>
            <a:off x="7452360" y="1828800"/>
            <a:ext cx="4160520" cy="329184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3" name="Text 31"/>
          <p:cNvSpPr/>
          <p:nvPr/>
        </p:nvSpPr>
        <p:spPr>
          <a:xfrm>
            <a:off x="7507224" y="1879092"/>
            <a:ext cx="40507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Phase-specific support features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580376" y="2304288"/>
            <a:ext cx="3904488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Hold-phase aperture variability</a:t>
            </a:r>
            <a:endParaRPr lang="en-US" dirty="0"/>
          </a:p>
          <a:p>
            <a:pPr marL="0" indent="0">
              <a:buNone/>
            </a:pPr>
            <a:r>
              <a:rPr lang="en-US" sz="20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Release-phase aperture change / trajectory</a:t>
            </a:r>
            <a:endParaRPr lang="en-US" dirty="0"/>
          </a:p>
          <a:p>
            <a:pPr marL="0" indent="0">
              <a:buNone/>
            </a:pPr>
            <a:r>
              <a:rPr lang="en-US" sz="20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Preparation / acquisition time</a:t>
            </a: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7452360" y="3977640"/>
            <a:ext cx="4160520" cy="1463040"/>
          </a:xfrm>
          <a:prstGeom prst="rect">
            <a:avLst/>
          </a:prstGeom>
          <a:solidFill>
            <a:srgbClr val="F5F8FA"/>
          </a:solidFill>
          <a:ln w="12700">
            <a:solidFill>
              <a:srgbClr val="BFCBD6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6" name="Shape 34"/>
          <p:cNvSpPr/>
          <p:nvPr/>
        </p:nvSpPr>
        <p:spPr>
          <a:xfrm>
            <a:off x="7452360" y="3977640"/>
            <a:ext cx="4160520" cy="329184"/>
          </a:xfrm>
          <a:prstGeom prst="rect">
            <a:avLst/>
          </a:prstGeom>
          <a:solidFill>
            <a:srgbClr val="5F6771"/>
          </a:solidFill>
          <a:ln w="12700">
            <a:solidFill>
              <a:srgbClr val="5F6771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7" name="Text 35"/>
          <p:cNvSpPr/>
          <p:nvPr/>
        </p:nvSpPr>
        <p:spPr>
          <a:xfrm>
            <a:off x="7507224" y="4027932"/>
            <a:ext cx="40507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Measurement quality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580376" y="4453128"/>
            <a:ext cx="3904488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valid frame ratio · longest gap · window validity</a:t>
            </a:r>
            <a:endParaRPr lang="en-US" sz="1400" dirty="0"/>
          </a:p>
          <a:p>
            <a:pPr marL="0" indent="0">
              <a:buNone/>
            </a:pPr>
            <a:r>
              <a:rPr lang="en-US" sz="16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운동학 수치가 아니라 “수치 신뢰도” 정보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749040" y="5650992"/>
            <a:ext cx="7498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Hold / Release 자체는 운동학 수치가 아님.  “그 구간에서 계산한 descriptor”가 운동학 정보.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" name="Text 1"/>
          <p:cNvSpPr/>
          <p:nvPr/>
        </p:nvSpPr>
        <p:spPr>
          <a:xfrm>
            <a:off x="9372600" y="6565392"/>
            <a:ext cx="2240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168128" y="201168"/>
            <a:ext cx="15361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237744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III. 실험 방법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50292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14-frame 입력 및 추론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175608" y="804672"/>
            <a:ext cx="3840480" cy="384048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9" name="Text 7"/>
          <p:cNvSpPr/>
          <p:nvPr/>
        </p:nvSpPr>
        <p:spPr>
          <a:xfrm>
            <a:off x="4248760" y="877824"/>
            <a:ext cx="3694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모델 입력과 정답 ]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3232" y="1344168"/>
            <a:ext cx="10716768" cy="35661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1" name="Text 9"/>
          <p:cNvSpPr/>
          <p:nvPr/>
        </p:nvSpPr>
        <p:spPr>
          <a:xfrm>
            <a:off x="868680" y="1408176"/>
            <a:ext cx="10387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비교조건은 같은 시행을 사용하고, A1–A3는 동일한 14개 이미지를 공유하여 “추가 정보”만 다르게 만든다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182880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346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Acquisition 6 frames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713232" y="2240280"/>
            <a:ext cx="475488" cy="713232"/>
          </a:xfrm>
          <a:prstGeom prst="rect">
            <a:avLst/>
          </a:prstGeom>
          <a:solidFill>
            <a:srgbClr val="ECF3F7"/>
          </a:solidFill>
          <a:ln w="12700">
            <a:solidFill>
              <a:srgbClr val="B6C7D4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4" name="Shape 12"/>
          <p:cNvSpPr/>
          <p:nvPr/>
        </p:nvSpPr>
        <p:spPr>
          <a:xfrm>
            <a:off x="874532" y="2531974"/>
            <a:ext cx="194584" cy="215433"/>
          </a:xfrm>
          <a:prstGeom prst="roundRect">
            <a:avLst>
              <a:gd name="adj" fmla="val 28196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5" name="Shape 13"/>
          <p:cNvSpPr/>
          <p:nvPr/>
        </p:nvSpPr>
        <p:spPr>
          <a:xfrm>
            <a:off x="874532" y="2382561"/>
            <a:ext cx="36485" cy="184160"/>
          </a:xfrm>
          <a:prstGeom prst="roundRect">
            <a:avLst>
              <a:gd name="adj" fmla="val 75187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6" name="Shape 14"/>
          <p:cNvSpPr/>
          <p:nvPr/>
        </p:nvSpPr>
        <p:spPr>
          <a:xfrm>
            <a:off x="923178" y="2347813"/>
            <a:ext cx="36485" cy="198059"/>
          </a:xfrm>
          <a:prstGeom prst="roundRect">
            <a:avLst>
              <a:gd name="adj" fmla="val 75187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7" name="Shape 15"/>
          <p:cNvSpPr/>
          <p:nvPr/>
        </p:nvSpPr>
        <p:spPr>
          <a:xfrm>
            <a:off x="971824" y="2340864"/>
            <a:ext cx="36485" cy="198059"/>
          </a:xfrm>
          <a:prstGeom prst="roundRect">
            <a:avLst>
              <a:gd name="adj" fmla="val 75187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8" name="Shape 16"/>
          <p:cNvSpPr/>
          <p:nvPr/>
        </p:nvSpPr>
        <p:spPr>
          <a:xfrm>
            <a:off x="1020470" y="2368662"/>
            <a:ext cx="36485" cy="198059"/>
          </a:xfrm>
          <a:prstGeom prst="roundRect">
            <a:avLst>
              <a:gd name="adj" fmla="val 75187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9" name="Shape 17"/>
          <p:cNvSpPr/>
          <p:nvPr/>
        </p:nvSpPr>
        <p:spPr>
          <a:xfrm rot="19800000">
            <a:off x="798088" y="2559771"/>
            <a:ext cx="114666" cy="48646"/>
          </a:xfrm>
          <a:prstGeom prst="roundRect">
            <a:avLst>
              <a:gd name="adj" fmla="val 56391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0" name="Text 18"/>
          <p:cNvSpPr/>
          <p:nvPr/>
        </p:nvSpPr>
        <p:spPr>
          <a:xfrm>
            <a:off x="685800" y="3008376"/>
            <a:ext cx="5303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F7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35024" y="2240280"/>
            <a:ext cx="475488" cy="713232"/>
          </a:xfrm>
          <a:prstGeom prst="rect">
            <a:avLst/>
          </a:prstGeom>
          <a:solidFill>
            <a:srgbClr val="ECF3F7"/>
          </a:solidFill>
          <a:ln w="12700">
            <a:solidFill>
              <a:srgbClr val="B6C7D4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2" name="Shape 20"/>
          <p:cNvSpPr/>
          <p:nvPr/>
        </p:nvSpPr>
        <p:spPr>
          <a:xfrm>
            <a:off x="1496324" y="2531974"/>
            <a:ext cx="194584" cy="215433"/>
          </a:xfrm>
          <a:prstGeom prst="roundRect">
            <a:avLst>
              <a:gd name="adj" fmla="val 28196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3" name="Shape 21"/>
          <p:cNvSpPr/>
          <p:nvPr/>
        </p:nvSpPr>
        <p:spPr>
          <a:xfrm>
            <a:off x="1496324" y="2382561"/>
            <a:ext cx="36485" cy="184160"/>
          </a:xfrm>
          <a:prstGeom prst="roundRect">
            <a:avLst>
              <a:gd name="adj" fmla="val 75187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4" name="Shape 22"/>
          <p:cNvSpPr/>
          <p:nvPr/>
        </p:nvSpPr>
        <p:spPr>
          <a:xfrm>
            <a:off x="1544970" y="2347813"/>
            <a:ext cx="36485" cy="198059"/>
          </a:xfrm>
          <a:prstGeom prst="roundRect">
            <a:avLst>
              <a:gd name="adj" fmla="val 75187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5" name="Shape 23"/>
          <p:cNvSpPr/>
          <p:nvPr/>
        </p:nvSpPr>
        <p:spPr>
          <a:xfrm>
            <a:off x="1593616" y="2340864"/>
            <a:ext cx="36485" cy="198059"/>
          </a:xfrm>
          <a:prstGeom prst="roundRect">
            <a:avLst>
              <a:gd name="adj" fmla="val 75187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6" name="Shape 24"/>
          <p:cNvSpPr/>
          <p:nvPr/>
        </p:nvSpPr>
        <p:spPr>
          <a:xfrm>
            <a:off x="1642262" y="2368662"/>
            <a:ext cx="36485" cy="198059"/>
          </a:xfrm>
          <a:prstGeom prst="roundRect">
            <a:avLst>
              <a:gd name="adj" fmla="val 75187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7" name="Shape 25"/>
          <p:cNvSpPr/>
          <p:nvPr/>
        </p:nvSpPr>
        <p:spPr>
          <a:xfrm rot="19800000">
            <a:off x="1419880" y="2559771"/>
            <a:ext cx="114666" cy="48646"/>
          </a:xfrm>
          <a:prstGeom prst="roundRect">
            <a:avLst>
              <a:gd name="adj" fmla="val 56391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8" name="Text 26"/>
          <p:cNvSpPr/>
          <p:nvPr/>
        </p:nvSpPr>
        <p:spPr>
          <a:xfrm>
            <a:off x="1307592" y="3008376"/>
            <a:ext cx="5303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F7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56816" y="2240280"/>
            <a:ext cx="475488" cy="713232"/>
          </a:xfrm>
          <a:prstGeom prst="rect">
            <a:avLst/>
          </a:prstGeom>
          <a:solidFill>
            <a:srgbClr val="ECF3F7"/>
          </a:solidFill>
          <a:ln w="12700">
            <a:solidFill>
              <a:srgbClr val="B6C7D4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0" name="Shape 28"/>
          <p:cNvSpPr/>
          <p:nvPr/>
        </p:nvSpPr>
        <p:spPr>
          <a:xfrm>
            <a:off x="2118116" y="2531974"/>
            <a:ext cx="194584" cy="215433"/>
          </a:xfrm>
          <a:prstGeom prst="roundRect">
            <a:avLst>
              <a:gd name="adj" fmla="val 28196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1" name="Shape 29"/>
          <p:cNvSpPr/>
          <p:nvPr/>
        </p:nvSpPr>
        <p:spPr>
          <a:xfrm>
            <a:off x="2118116" y="2382561"/>
            <a:ext cx="36485" cy="184160"/>
          </a:xfrm>
          <a:prstGeom prst="roundRect">
            <a:avLst>
              <a:gd name="adj" fmla="val 75187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2" name="Shape 30"/>
          <p:cNvSpPr/>
          <p:nvPr/>
        </p:nvSpPr>
        <p:spPr>
          <a:xfrm>
            <a:off x="2166762" y="2347813"/>
            <a:ext cx="36485" cy="198059"/>
          </a:xfrm>
          <a:prstGeom prst="roundRect">
            <a:avLst>
              <a:gd name="adj" fmla="val 75187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3" name="Shape 31"/>
          <p:cNvSpPr/>
          <p:nvPr/>
        </p:nvSpPr>
        <p:spPr>
          <a:xfrm>
            <a:off x="2215408" y="2340864"/>
            <a:ext cx="36485" cy="198059"/>
          </a:xfrm>
          <a:prstGeom prst="roundRect">
            <a:avLst>
              <a:gd name="adj" fmla="val 75187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4" name="Shape 32"/>
          <p:cNvSpPr/>
          <p:nvPr/>
        </p:nvSpPr>
        <p:spPr>
          <a:xfrm>
            <a:off x="2264054" y="2368662"/>
            <a:ext cx="36485" cy="198059"/>
          </a:xfrm>
          <a:prstGeom prst="roundRect">
            <a:avLst>
              <a:gd name="adj" fmla="val 75187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5" name="Shape 33"/>
          <p:cNvSpPr/>
          <p:nvPr/>
        </p:nvSpPr>
        <p:spPr>
          <a:xfrm rot="19800000">
            <a:off x="2041672" y="2559771"/>
            <a:ext cx="114666" cy="48646"/>
          </a:xfrm>
          <a:prstGeom prst="roundRect">
            <a:avLst>
              <a:gd name="adj" fmla="val 56391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6" name="Text 34"/>
          <p:cNvSpPr/>
          <p:nvPr/>
        </p:nvSpPr>
        <p:spPr>
          <a:xfrm>
            <a:off x="1929384" y="3008376"/>
            <a:ext cx="5303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F7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40%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578608" y="2240280"/>
            <a:ext cx="475488" cy="713232"/>
          </a:xfrm>
          <a:prstGeom prst="rect">
            <a:avLst/>
          </a:prstGeom>
          <a:solidFill>
            <a:srgbClr val="ECF3F7"/>
          </a:solidFill>
          <a:ln w="12700">
            <a:solidFill>
              <a:srgbClr val="B6C7D4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8" name="Shape 36"/>
          <p:cNvSpPr/>
          <p:nvPr/>
        </p:nvSpPr>
        <p:spPr>
          <a:xfrm>
            <a:off x="2739908" y="2531974"/>
            <a:ext cx="194584" cy="215433"/>
          </a:xfrm>
          <a:prstGeom prst="roundRect">
            <a:avLst>
              <a:gd name="adj" fmla="val 28196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9" name="Shape 37"/>
          <p:cNvSpPr/>
          <p:nvPr/>
        </p:nvSpPr>
        <p:spPr>
          <a:xfrm>
            <a:off x="2739908" y="2382561"/>
            <a:ext cx="36485" cy="184160"/>
          </a:xfrm>
          <a:prstGeom prst="roundRect">
            <a:avLst>
              <a:gd name="adj" fmla="val 75187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40" name="Shape 38"/>
          <p:cNvSpPr/>
          <p:nvPr/>
        </p:nvSpPr>
        <p:spPr>
          <a:xfrm>
            <a:off x="2788554" y="2347813"/>
            <a:ext cx="36485" cy="198059"/>
          </a:xfrm>
          <a:prstGeom prst="roundRect">
            <a:avLst>
              <a:gd name="adj" fmla="val 75187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41" name="Shape 39"/>
          <p:cNvSpPr/>
          <p:nvPr/>
        </p:nvSpPr>
        <p:spPr>
          <a:xfrm>
            <a:off x="2837200" y="2340864"/>
            <a:ext cx="36485" cy="198059"/>
          </a:xfrm>
          <a:prstGeom prst="roundRect">
            <a:avLst>
              <a:gd name="adj" fmla="val 75187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42" name="Shape 40"/>
          <p:cNvSpPr/>
          <p:nvPr/>
        </p:nvSpPr>
        <p:spPr>
          <a:xfrm>
            <a:off x="2885846" y="2368662"/>
            <a:ext cx="36485" cy="198059"/>
          </a:xfrm>
          <a:prstGeom prst="roundRect">
            <a:avLst>
              <a:gd name="adj" fmla="val 75187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43" name="Shape 41"/>
          <p:cNvSpPr/>
          <p:nvPr/>
        </p:nvSpPr>
        <p:spPr>
          <a:xfrm rot="19800000">
            <a:off x="2663464" y="2559771"/>
            <a:ext cx="114666" cy="48646"/>
          </a:xfrm>
          <a:prstGeom prst="roundRect">
            <a:avLst>
              <a:gd name="adj" fmla="val 56391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44" name="Text 42"/>
          <p:cNvSpPr/>
          <p:nvPr/>
        </p:nvSpPr>
        <p:spPr>
          <a:xfrm>
            <a:off x="2551176" y="3008376"/>
            <a:ext cx="5303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F7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60%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200400" y="2240280"/>
            <a:ext cx="475488" cy="713232"/>
          </a:xfrm>
          <a:prstGeom prst="rect">
            <a:avLst/>
          </a:prstGeom>
          <a:solidFill>
            <a:srgbClr val="ECF3F7"/>
          </a:solidFill>
          <a:ln w="12700">
            <a:solidFill>
              <a:srgbClr val="B6C7D4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46" name="Shape 44"/>
          <p:cNvSpPr/>
          <p:nvPr/>
        </p:nvSpPr>
        <p:spPr>
          <a:xfrm>
            <a:off x="3361700" y="2531974"/>
            <a:ext cx="194584" cy="215433"/>
          </a:xfrm>
          <a:prstGeom prst="roundRect">
            <a:avLst>
              <a:gd name="adj" fmla="val 28196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47" name="Shape 45"/>
          <p:cNvSpPr/>
          <p:nvPr/>
        </p:nvSpPr>
        <p:spPr>
          <a:xfrm>
            <a:off x="3361700" y="2382561"/>
            <a:ext cx="36485" cy="184160"/>
          </a:xfrm>
          <a:prstGeom prst="roundRect">
            <a:avLst>
              <a:gd name="adj" fmla="val 75187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48" name="Shape 46"/>
          <p:cNvSpPr/>
          <p:nvPr/>
        </p:nvSpPr>
        <p:spPr>
          <a:xfrm>
            <a:off x="3410346" y="2347813"/>
            <a:ext cx="36485" cy="198059"/>
          </a:xfrm>
          <a:prstGeom prst="roundRect">
            <a:avLst>
              <a:gd name="adj" fmla="val 75187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49" name="Shape 47"/>
          <p:cNvSpPr/>
          <p:nvPr/>
        </p:nvSpPr>
        <p:spPr>
          <a:xfrm>
            <a:off x="3458992" y="2340864"/>
            <a:ext cx="36485" cy="198059"/>
          </a:xfrm>
          <a:prstGeom prst="roundRect">
            <a:avLst>
              <a:gd name="adj" fmla="val 75187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50" name="Shape 48"/>
          <p:cNvSpPr/>
          <p:nvPr/>
        </p:nvSpPr>
        <p:spPr>
          <a:xfrm>
            <a:off x="3507638" y="2368662"/>
            <a:ext cx="36485" cy="198059"/>
          </a:xfrm>
          <a:prstGeom prst="roundRect">
            <a:avLst>
              <a:gd name="adj" fmla="val 75187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51" name="Shape 49"/>
          <p:cNvSpPr/>
          <p:nvPr/>
        </p:nvSpPr>
        <p:spPr>
          <a:xfrm rot="19800000">
            <a:off x="3285256" y="2559771"/>
            <a:ext cx="114666" cy="48646"/>
          </a:xfrm>
          <a:prstGeom prst="roundRect">
            <a:avLst>
              <a:gd name="adj" fmla="val 56391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52" name="Text 50"/>
          <p:cNvSpPr/>
          <p:nvPr/>
        </p:nvSpPr>
        <p:spPr>
          <a:xfrm>
            <a:off x="3172968" y="3008376"/>
            <a:ext cx="5303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F7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822192" y="2240280"/>
            <a:ext cx="475488" cy="713232"/>
          </a:xfrm>
          <a:prstGeom prst="rect">
            <a:avLst/>
          </a:prstGeom>
          <a:solidFill>
            <a:srgbClr val="ECF3F7"/>
          </a:solidFill>
          <a:ln w="12700">
            <a:solidFill>
              <a:srgbClr val="B6C7D4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54" name="Shape 52"/>
          <p:cNvSpPr/>
          <p:nvPr/>
        </p:nvSpPr>
        <p:spPr>
          <a:xfrm>
            <a:off x="3983492" y="2531974"/>
            <a:ext cx="194584" cy="215433"/>
          </a:xfrm>
          <a:prstGeom prst="roundRect">
            <a:avLst>
              <a:gd name="adj" fmla="val 28196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55" name="Shape 53"/>
          <p:cNvSpPr/>
          <p:nvPr/>
        </p:nvSpPr>
        <p:spPr>
          <a:xfrm>
            <a:off x="3983492" y="2382561"/>
            <a:ext cx="36485" cy="184160"/>
          </a:xfrm>
          <a:prstGeom prst="roundRect">
            <a:avLst>
              <a:gd name="adj" fmla="val 75187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56" name="Shape 54"/>
          <p:cNvSpPr/>
          <p:nvPr/>
        </p:nvSpPr>
        <p:spPr>
          <a:xfrm>
            <a:off x="4032138" y="2347813"/>
            <a:ext cx="36485" cy="198059"/>
          </a:xfrm>
          <a:prstGeom prst="roundRect">
            <a:avLst>
              <a:gd name="adj" fmla="val 75187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57" name="Shape 55"/>
          <p:cNvSpPr/>
          <p:nvPr/>
        </p:nvSpPr>
        <p:spPr>
          <a:xfrm>
            <a:off x="4080784" y="2340864"/>
            <a:ext cx="36485" cy="198059"/>
          </a:xfrm>
          <a:prstGeom prst="roundRect">
            <a:avLst>
              <a:gd name="adj" fmla="val 75187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58" name="Shape 56"/>
          <p:cNvSpPr/>
          <p:nvPr/>
        </p:nvSpPr>
        <p:spPr>
          <a:xfrm>
            <a:off x="4129430" y="2368662"/>
            <a:ext cx="36485" cy="198059"/>
          </a:xfrm>
          <a:prstGeom prst="roundRect">
            <a:avLst>
              <a:gd name="adj" fmla="val 75187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59" name="Shape 57"/>
          <p:cNvSpPr/>
          <p:nvPr/>
        </p:nvSpPr>
        <p:spPr>
          <a:xfrm rot="19800000">
            <a:off x="3907048" y="2559771"/>
            <a:ext cx="114666" cy="48646"/>
          </a:xfrm>
          <a:prstGeom prst="roundRect">
            <a:avLst>
              <a:gd name="adj" fmla="val 56391"/>
            </a:avLst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60" name="Text 58"/>
          <p:cNvSpPr/>
          <p:nvPr/>
        </p:nvSpPr>
        <p:spPr>
          <a:xfrm>
            <a:off x="3794760" y="3008376"/>
            <a:ext cx="5303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F7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4663440" y="182880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C9E9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Hold 2</a:t>
            </a:r>
            <a:endParaRPr lang="en-US" dirty="0"/>
          </a:p>
        </p:txBody>
      </p:sp>
      <p:sp>
        <p:nvSpPr>
          <p:cNvPr id="62" name="Shape 60"/>
          <p:cNvSpPr/>
          <p:nvPr/>
        </p:nvSpPr>
        <p:spPr>
          <a:xfrm>
            <a:off x="4709160" y="2240280"/>
            <a:ext cx="493776" cy="713232"/>
          </a:xfrm>
          <a:prstGeom prst="rect">
            <a:avLst/>
          </a:prstGeom>
          <a:solidFill>
            <a:srgbClr val="ECF8F5"/>
          </a:solidFill>
          <a:ln w="12700">
            <a:solidFill>
              <a:srgbClr val="B0D9D3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63" name="Shape 61"/>
          <p:cNvSpPr/>
          <p:nvPr/>
        </p:nvSpPr>
        <p:spPr>
          <a:xfrm>
            <a:off x="4879604" y="2531974"/>
            <a:ext cx="194584" cy="215433"/>
          </a:xfrm>
          <a:prstGeom prst="roundRect">
            <a:avLst>
              <a:gd name="adj" fmla="val 28196"/>
            </a:avLst>
          </a:prstGeom>
          <a:solidFill>
            <a:srgbClr val="1C9E95"/>
          </a:solidFill>
          <a:ln w="12700">
            <a:solidFill>
              <a:srgbClr val="1C9E9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64" name="Shape 62"/>
          <p:cNvSpPr/>
          <p:nvPr/>
        </p:nvSpPr>
        <p:spPr>
          <a:xfrm>
            <a:off x="4879604" y="2382561"/>
            <a:ext cx="36485" cy="184160"/>
          </a:xfrm>
          <a:prstGeom prst="roundRect">
            <a:avLst>
              <a:gd name="adj" fmla="val 75187"/>
            </a:avLst>
          </a:prstGeom>
          <a:solidFill>
            <a:srgbClr val="1C9E95"/>
          </a:solidFill>
          <a:ln w="12700">
            <a:solidFill>
              <a:srgbClr val="1C9E9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65" name="Shape 63"/>
          <p:cNvSpPr/>
          <p:nvPr/>
        </p:nvSpPr>
        <p:spPr>
          <a:xfrm>
            <a:off x="4928250" y="2347813"/>
            <a:ext cx="36485" cy="198059"/>
          </a:xfrm>
          <a:prstGeom prst="roundRect">
            <a:avLst>
              <a:gd name="adj" fmla="val 75187"/>
            </a:avLst>
          </a:prstGeom>
          <a:solidFill>
            <a:srgbClr val="1C9E95"/>
          </a:solidFill>
          <a:ln w="12700">
            <a:solidFill>
              <a:srgbClr val="1C9E9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66" name="Shape 64"/>
          <p:cNvSpPr/>
          <p:nvPr/>
        </p:nvSpPr>
        <p:spPr>
          <a:xfrm>
            <a:off x="4976896" y="2340864"/>
            <a:ext cx="36485" cy="198059"/>
          </a:xfrm>
          <a:prstGeom prst="roundRect">
            <a:avLst>
              <a:gd name="adj" fmla="val 75187"/>
            </a:avLst>
          </a:prstGeom>
          <a:solidFill>
            <a:srgbClr val="1C9E95"/>
          </a:solidFill>
          <a:ln w="12700">
            <a:solidFill>
              <a:srgbClr val="1C9E9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67" name="Shape 65"/>
          <p:cNvSpPr/>
          <p:nvPr/>
        </p:nvSpPr>
        <p:spPr>
          <a:xfrm>
            <a:off x="5025542" y="2368662"/>
            <a:ext cx="36485" cy="198059"/>
          </a:xfrm>
          <a:prstGeom prst="roundRect">
            <a:avLst>
              <a:gd name="adj" fmla="val 75187"/>
            </a:avLst>
          </a:prstGeom>
          <a:solidFill>
            <a:srgbClr val="1C9E95"/>
          </a:solidFill>
          <a:ln w="12700">
            <a:solidFill>
              <a:srgbClr val="1C9E9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68" name="Shape 66"/>
          <p:cNvSpPr/>
          <p:nvPr/>
        </p:nvSpPr>
        <p:spPr>
          <a:xfrm rot="19800000">
            <a:off x="4803160" y="2559771"/>
            <a:ext cx="114666" cy="48646"/>
          </a:xfrm>
          <a:prstGeom prst="roundRect">
            <a:avLst>
              <a:gd name="adj" fmla="val 56391"/>
            </a:avLst>
          </a:prstGeom>
          <a:solidFill>
            <a:srgbClr val="1C9E95"/>
          </a:solidFill>
          <a:ln w="12700">
            <a:solidFill>
              <a:srgbClr val="1C9E9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69" name="Text 67"/>
          <p:cNvSpPr/>
          <p:nvPr/>
        </p:nvSpPr>
        <p:spPr>
          <a:xfrm>
            <a:off x="4690872" y="3008376"/>
            <a:ext cx="5303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F7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+0.5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5367528" y="2240280"/>
            <a:ext cx="493776" cy="713232"/>
          </a:xfrm>
          <a:prstGeom prst="rect">
            <a:avLst/>
          </a:prstGeom>
          <a:solidFill>
            <a:srgbClr val="ECF8F5"/>
          </a:solidFill>
          <a:ln w="12700">
            <a:solidFill>
              <a:srgbClr val="B0D9D3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71" name="Shape 69"/>
          <p:cNvSpPr/>
          <p:nvPr/>
        </p:nvSpPr>
        <p:spPr>
          <a:xfrm>
            <a:off x="5537972" y="2531974"/>
            <a:ext cx="194584" cy="215433"/>
          </a:xfrm>
          <a:prstGeom prst="roundRect">
            <a:avLst>
              <a:gd name="adj" fmla="val 28196"/>
            </a:avLst>
          </a:prstGeom>
          <a:solidFill>
            <a:srgbClr val="1C9E95"/>
          </a:solidFill>
          <a:ln w="12700">
            <a:solidFill>
              <a:srgbClr val="1C9E9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72" name="Shape 70"/>
          <p:cNvSpPr/>
          <p:nvPr/>
        </p:nvSpPr>
        <p:spPr>
          <a:xfrm>
            <a:off x="5537972" y="2382561"/>
            <a:ext cx="36485" cy="184160"/>
          </a:xfrm>
          <a:prstGeom prst="roundRect">
            <a:avLst>
              <a:gd name="adj" fmla="val 75187"/>
            </a:avLst>
          </a:prstGeom>
          <a:solidFill>
            <a:srgbClr val="1C9E95"/>
          </a:solidFill>
          <a:ln w="12700">
            <a:solidFill>
              <a:srgbClr val="1C9E9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73" name="Shape 71"/>
          <p:cNvSpPr/>
          <p:nvPr/>
        </p:nvSpPr>
        <p:spPr>
          <a:xfrm>
            <a:off x="5586618" y="2347813"/>
            <a:ext cx="36485" cy="198059"/>
          </a:xfrm>
          <a:prstGeom prst="roundRect">
            <a:avLst>
              <a:gd name="adj" fmla="val 75187"/>
            </a:avLst>
          </a:prstGeom>
          <a:solidFill>
            <a:srgbClr val="1C9E95"/>
          </a:solidFill>
          <a:ln w="12700">
            <a:solidFill>
              <a:srgbClr val="1C9E9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74" name="Shape 72"/>
          <p:cNvSpPr/>
          <p:nvPr/>
        </p:nvSpPr>
        <p:spPr>
          <a:xfrm>
            <a:off x="5635264" y="2340864"/>
            <a:ext cx="36485" cy="198059"/>
          </a:xfrm>
          <a:prstGeom prst="roundRect">
            <a:avLst>
              <a:gd name="adj" fmla="val 75187"/>
            </a:avLst>
          </a:prstGeom>
          <a:solidFill>
            <a:srgbClr val="1C9E95"/>
          </a:solidFill>
          <a:ln w="12700">
            <a:solidFill>
              <a:srgbClr val="1C9E9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75" name="Shape 73"/>
          <p:cNvSpPr/>
          <p:nvPr/>
        </p:nvSpPr>
        <p:spPr>
          <a:xfrm>
            <a:off x="5683910" y="2368662"/>
            <a:ext cx="36485" cy="198059"/>
          </a:xfrm>
          <a:prstGeom prst="roundRect">
            <a:avLst>
              <a:gd name="adj" fmla="val 75187"/>
            </a:avLst>
          </a:prstGeom>
          <a:solidFill>
            <a:srgbClr val="1C9E95"/>
          </a:solidFill>
          <a:ln w="12700">
            <a:solidFill>
              <a:srgbClr val="1C9E9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76" name="Shape 74"/>
          <p:cNvSpPr/>
          <p:nvPr/>
        </p:nvSpPr>
        <p:spPr>
          <a:xfrm rot="19800000">
            <a:off x="5461528" y="2559771"/>
            <a:ext cx="114666" cy="48646"/>
          </a:xfrm>
          <a:prstGeom prst="roundRect">
            <a:avLst>
              <a:gd name="adj" fmla="val 56391"/>
            </a:avLst>
          </a:prstGeom>
          <a:solidFill>
            <a:srgbClr val="1C9E95"/>
          </a:solidFill>
          <a:ln w="12700">
            <a:solidFill>
              <a:srgbClr val="1C9E9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77" name="Text 75"/>
          <p:cNvSpPr/>
          <p:nvPr/>
        </p:nvSpPr>
        <p:spPr>
          <a:xfrm>
            <a:off x="5349240" y="3008376"/>
            <a:ext cx="5303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F7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+1.5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6537960" y="18288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C58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Release 6 frames</a:t>
            </a:r>
            <a:endParaRPr lang="en-US" dirty="0"/>
          </a:p>
        </p:txBody>
      </p:sp>
      <p:sp>
        <p:nvSpPr>
          <p:cNvPr id="79" name="Shape 77"/>
          <p:cNvSpPr/>
          <p:nvPr/>
        </p:nvSpPr>
        <p:spPr>
          <a:xfrm>
            <a:off x="6583680" y="2240280"/>
            <a:ext cx="475488" cy="713232"/>
          </a:xfrm>
          <a:prstGeom prst="rect">
            <a:avLst/>
          </a:prstGeom>
          <a:solidFill>
            <a:srgbClr val="F3EFF8"/>
          </a:solidFill>
          <a:ln w="12700">
            <a:solidFill>
              <a:srgbClr val="D3C7E3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80" name="Shape 78"/>
          <p:cNvSpPr/>
          <p:nvPr/>
        </p:nvSpPr>
        <p:spPr>
          <a:xfrm>
            <a:off x="6744980" y="2531974"/>
            <a:ext cx="194584" cy="215433"/>
          </a:xfrm>
          <a:prstGeom prst="roundRect">
            <a:avLst>
              <a:gd name="adj" fmla="val 28196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81" name="Shape 79"/>
          <p:cNvSpPr/>
          <p:nvPr/>
        </p:nvSpPr>
        <p:spPr>
          <a:xfrm>
            <a:off x="6744980" y="2382561"/>
            <a:ext cx="36485" cy="184160"/>
          </a:xfrm>
          <a:prstGeom prst="roundRect">
            <a:avLst>
              <a:gd name="adj" fmla="val 75187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82" name="Shape 80"/>
          <p:cNvSpPr/>
          <p:nvPr/>
        </p:nvSpPr>
        <p:spPr>
          <a:xfrm>
            <a:off x="6793626" y="2347813"/>
            <a:ext cx="36485" cy="198059"/>
          </a:xfrm>
          <a:prstGeom prst="roundRect">
            <a:avLst>
              <a:gd name="adj" fmla="val 75187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83" name="Shape 81"/>
          <p:cNvSpPr/>
          <p:nvPr/>
        </p:nvSpPr>
        <p:spPr>
          <a:xfrm>
            <a:off x="6842272" y="2340864"/>
            <a:ext cx="36485" cy="198059"/>
          </a:xfrm>
          <a:prstGeom prst="roundRect">
            <a:avLst>
              <a:gd name="adj" fmla="val 75187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84" name="Shape 82"/>
          <p:cNvSpPr/>
          <p:nvPr/>
        </p:nvSpPr>
        <p:spPr>
          <a:xfrm>
            <a:off x="6890918" y="2368662"/>
            <a:ext cx="36485" cy="198059"/>
          </a:xfrm>
          <a:prstGeom prst="roundRect">
            <a:avLst>
              <a:gd name="adj" fmla="val 75187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85" name="Shape 83"/>
          <p:cNvSpPr/>
          <p:nvPr/>
        </p:nvSpPr>
        <p:spPr>
          <a:xfrm rot="19800000">
            <a:off x="6668536" y="2559771"/>
            <a:ext cx="114666" cy="48646"/>
          </a:xfrm>
          <a:prstGeom prst="roundRect">
            <a:avLst>
              <a:gd name="adj" fmla="val 56391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86" name="Text 84"/>
          <p:cNvSpPr/>
          <p:nvPr/>
        </p:nvSpPr>
        <p:spPr>
          <a:xfrm>
            <a:off x="6556248" y="3008376"/>
            <a:ext cx="5303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F7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05472" y="2240280"/>
            <a:ext cx="475488" cy="713232"/>
          </a:xfrm>
          <a:prstGeom prst="rect">
            <a:avLst/>
          </a:prstGeom>
          <a:solidFill>
            <a:srgbClr val="F3EFF8"/>
          </a:solidFill>
          <a:ln w="12700">
            <a:solidFill>
              <a:srgbClr val="D3C7E3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88" name="Shape 86"/>
          <p:cNvSpPr/>
          <p:nvPr/>
        </p:nvSpPr>
        <p:spPr>
          <a:xfrm>
            <a:off x="7366772" y="2531974"/>
            <a:ext cx="194584" cy="215433"/>
          </a:xfrm>
          <a:prstGeom prst="roundRect">
            <a:avLst>
              <a:gd name="adj" fmla="val 28196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89" name="Shape 87"/>
          <p:cNvSpPr/>
          <p:nvPr/>
        </p:nvSpPr>
        <p:spPr>
          <a:xfrm>
            <a:off x="7366772" y="2382561"/>
            <a:ext cx="36485" cy="184160"/>
          </a:xfrm>
          <a:prstGeom prst="roundRect">
            <a:avLst>
              <a:gd name="adj" fmla="val 75187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90" name="Shape 88"/>
          <p:cNvSpPr/>
          <p:nvPr/>
        </p:nvSpPr>
        <p:spPr>
          <a:xfrm>
            <a:off x="7415418" y="2347813"/>
            <a:ext cx="36485" cy="198059"/>
          </a:xfrm>
          <a:prstGeom prst="roundRect">
            <a:avLst>
              <a:gd name="adj" fmla="val 75187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91" name="Shape 89"/>
          <p:cNvSpPr/>
          <p:nvPr/>
        </p:nvSpPr>
        <p:spPr>
          <a:xfrm>
            <a:off x="7464064" y="2340864"/>
            <a:ext cx="36485" cy="198059"/>
          </a:xfrm>
          <a:prstGeom prst="roundRect">
            <a:avLst>
              <a:gd name="adj" fmla="val 75187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92" name="Shape 90"/>
          <p:cNvSpPr/>
          <p:nvPr/>
        </p:nvSpPr>
        <p:spPr>
          <a:xfrm>
            <a:off x="7512710" y="2368662"/>
            <a:ext cx="36485" cy="198059"/>
          </a:xfrm>
          <a:prstGeom prst="roundRect">
            <a:avLst>
              <a:gd name="adj" fmla="val 75187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93" name="Shape 91"/>
          <p:cNvSpPr/>
          <p:nvPr/>
        </p:nvSpPr>
        <p:spPr>
          <a:xfrm rot="19800000">
            <a:off x="7290328" y="2559771"/>
            <a:ext cx="114666" cy="48646"/>
          </a:xfrm>
          <a:prstGeom prst="roundRect">
            <a:avLst>
              <a:gd name="adj" fmla="val 56391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94" name="Text 92"/>
          <p:cNvSpPr/>
          <p:nvPr/>
        </p:nvSpPr>
        <p:spPr>
          <a:xfrm>
            <a:off x="7178040" y="3008376"/>
            <a:ext cx="5303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F7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+0.4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827264" y="2240280"/>
            <a:ext cx="475488" cy="713232"/>
          </a:xfrm>
          <a:prstGeom prst="rect">
            <a:avLst/>
          </a:prstGeom>
          <a:solidFill>
            <a:srgbClr val="F3EFF8"/>
          </a:solidFill>
          <a:ln w="12700">
            <a:solidFill>
              <a:srgbClr val="D3C7E3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96" name="Shape 94"/>
          <p:cNvSpPr/>
          <p:nvPr/>
        </p:nvSpPr>
        <p:spPr>
          <a:xfrm>
            <a:off x="7988564" y="2531974"/>
            <a:ext cx="194584" cy="215433"/>
          </a:xfrm>
          <a:prstGeom prst="roundRect">
            <a:avLst>
              <a:gd name="adj" fmla="val 28196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97" name="Shape 95"/>
          <p:cNvSpPr/>
          <p:nvPr/>
        </p:nvSpPr>
        <p:spPr>
          <a:xfrm>
            <a:off x="7988564" y="2382561"/>
            <a:ext cx="36485" cy="184160"/>
          </a:xfrm>
          <a:prstGeom prst="roundRect">
            <a:avLst>
              <a:gd name="adj" fmla="val 75187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98" name="Shape 96"/>
          <p:cNvSpPr/>
          <p:nvPr/>
        </p:nvSpPr>
        <p:spPr>
          <a:xfrm>
            <a:off x="8037210" y="2347813"/>
            <a:ext cx="36485" cy="198059"/>
          </a:xfrm>
          <a:prstGeom prst="roundRect">
            <a:avLst>
              <a:gd name="adj" fmla="val 75187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99" name="Shape 97"/>
          <p:cNvSpPr/>
          <p:nvPr/>
        </p:nvSpPr>
        <p:spPr>
          <a:xfrm>
            <a:off x="8085856" y="2340864"/>
            <a:ext cx="36485" cy="198059"/>
          </a:xfrm>
          <a:prstGeom prst="roundRect">
            <a:avLst>
              <a:gd name="adj" fmla="val 75187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00" name="Shape 98"/>
          <p:cNvSpPr/>
          <p:nvPr/>
        </p:nvSpPr>
        <p:spPr>
          <a:xfrm>
            <a:off x="8134502" y="2368662"/>
            <a:ext cx="36485" cy="198059"/>
          </a:xfrm>
          <a:prstGeom prst="roundRect">
            <a:avLst>
              <a:gd name="adj" fmla="val 75187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01" name="Shape 99"/>
          <p:cNvSpPr/>
          <p:nvPr/>
        </p:nvSpPr>
        <p:spPr>
          <a:xfrm rot="19800000">
            <a:off x="7912120" y="2559771"/>
            <a:ext cx="114666" cy="48646"/>
          </a:xfrm>
          <a:prstGeom prst="roundRect">
            <a:avLst>
              <a:gd name="adj" fmla="val 56391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02" name="Text 100"/>
          <p:cNvSpPr/>
          <p:nvPr/>
        </p:nvSpPr>
        <p:spPr>
          <a:xfrm>
            <a:off x="7799832" y="3008376"/>
            <a:ext cx="5303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F7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+0.8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449056" y="2240280"/>
            <a:ext cx="475488" cy="713232"/>
          </a:xfrm>
          <a:prstGeom prst="rect">
            <a:avLst/>
          </a:prstGeom>
          <a:solidFill>
            <a:srgbClr val="F3EFF8"/>
          </a:solidFill>
          <a:ln w="12700">
            <a:solidFill>
              <a:srgbClr val="D3C7E3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04" name="Shape 102"/>
          <p:cNvSpPr/>
          <p:nvPr/>
        </p:nvSpPr>
        <p:spPr>
          <a:xfrm>
            <a:off x="8610356" y="2531974"/>
            <a:ext cx="194584" cy="215433"/>
          </a:xfrm>
          <a:prstGeom prst="roundRect">
            <a:avLst>
              <a:gd name="adj" fmla="val 28196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05" name="Shape 103"/>
          <p:cNvSpPr/>
          <p:nvPr/>
        </p:nvSpPr>
        <p:spPr>
          <a:xfrm>
            <a:off x="8610356" y="2382561"/>
            <a:ext cx="36485" cy="184160"/>
          </a:xfrm>
          <a:prstGeom prst="roundRect">
            <a:avLst>
              <a:gd name="adj" fmla="val 75187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06" name="Shape 104"/>
          <p:cNvSpPr/>
          <p:nvPr/>
        </p:nvSpPr>
        <p:spPr>
          <a:xfrm>
            <a:off x="8659002" y="2347813"/>
            <a:ext cx="36485" cy="198059"/>
          </a:xfrm>
          <a:prstGeom prst="roundRect">
            <a:avLst>
              <a:gd name="adj" fmla="val 75187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07" name="Shape 105"/>
          <p:cNvSpPr/>
          <p:nvPr/>
        </p:nvSpPr>
        <p:spPr>
          <a:xfrm>
            <a:off x="8707648" y="2340864"/>
            <a:ext cx="36485" cy="198059"/>
          </a:xfrm>
          <a:prstGeom prst="roundRect">
            <a:avLst>
              <a:gd name="adj" fmla="val 75187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08" name="Shape 106"/>
          <p:cNvSpPr/>
          <p:nvPr/>
        </p:nvSpPr>
        <p:spPr>
          <a:xfrm>
            <a:off x="8756294" y="2368662"/>
            <a:ext cx="36485" cy="198059"/>
          </a:xfrm>
          <a:prstGeom prst="roundRect">
            <a:avLst>
              <a:gd name="adj" fmla="val 75187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09" name="Shape 107"/>
          <p:cNvSpPr/>
          <p:nvPr/>
        </p:nvSpPr>
        <p:spPr>
          <a:xfrm rot="19800000">
            <a:off x="8533912" y="2559771"/>
            <a:ext cx="114666" cy="48646"/>
          </a:xfrm>
          <a:prstGeom prst="roundRect">
            <a:avLst>
              <a:gd name="adj" fmla="val 56391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10" name="Text 108"/>
          <p:cNvSpPr/>
          <p:nvPr/>
        </p:nvSpPr>
        <p:spPr>
          <a:xfrm>
            <a:off x="8421624" y="3008376"/>
            <a:ext cx="5303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F7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+1.2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9070848" y="2240280"/>
            <a:ext cx="475488" cy="713232"/>
          </a:xfrm>
          <a:prstGeom prst="rect">
            <a:avLst/>
          </a:prstGeom>
          <a:solidFill>
            <a:srgbClr val="F3EFF8"/>
          </a:solidFill>
          <a:ln w="12700">
            <a:solidFill>
              <a:srgbClr val="D3C7E3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12" name="Shape 110"/>
          <p:cNvSpPr/>
          <p:nvPr/>
        </p:nvSpPr>
        <p:spPr>
          <a:xfrm>
            <a:off x="9232148" y="2531974"/>
            <a:ext cx="194584" cy="215433"/>
          </a:xfrm>
          <a:prstGeom prst="roundRect">
            <a:avLst>
              <a:gd name="adj" fmla="val 28196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13" name="Shape 111"/>
          <p:cNvSpPr/>
          <p:nvPr/>
        </p:nvSpPr>
        <p:spPr>
          <a:xfrm>
            <a:off x="9232148" y="2382561"/>
            <a:ext cx="36485" cy="184160"/>
          </a:xfrm>
          <a:prstGeom prst="roundRect">
            <a:avLst>
              <a:gd name="adj" fmla="val 75187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14" name="Shape 112"/>
          <p:cNvSpPr/>
          <p:nvPr/>
        </p:nvSpPr>
        <p:spPr>
          <a:xfrm>
            <a:off x="9280794" y="2347813"/>
            <a:ext cx="36485" cy="198059"/>
          </a:xfrm>
          <a:prstGeom prst="roundRect">
            <a:avLst>
              <a:gd name="adj" fmla="val 75187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15" name="Shape 113"/>
          <p:cNvSpPr/>
          <p:nvPr/>
        </p:nvSpPr>
        <p:spPr>
          <a:xfrm>
            <a:off x="9329440" y="2340864"/>
            <a:ext cx="36485" cy="198059"/>
          </a:xfrm>
          <a:prstGeom prst="roundRect">
            <a:avLst>
              <a:gd name="adj" fmla="val 75187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16" name="Shape 114"/>
          <p:cNvSpPr/>
          <p:nvPr/>
        </p:nvSpPr>
        <p:spPr>
          <a:xfrm>
            <a:off x="9378086" y="2368662"/>
            <a:ext cx="36485" cy="198059"/>
          </a:xfrm>
          <a:prstGeom prst="roundRect">
            <a:avLst>
              <a:gd name="adj" fmla="val 75187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17" name="Shape 115"/>
          <p:cNvSpPr/>
          <p:nvPr/>
        </p:nvSpPr>
        <p:spPr>
          <a:xfrm rot="19800000">
            <a:off x="9155704" y="2559771"/>
            <a:ext cx="114666" cy="48646"/>
          </a:xfrm>
          <a:prstGeom prst="roundRect">
            <a:avLst>
              <a:gd name="adj" fmla="val 56391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18" name="Text 116"/>
          <p:cNvSpPr/>
          <p:nvPr/>
        </p:nvSpPr>
        <p:spPr>
          <a:xfrm>
            <a:off x="9043416" y="3008376"/>
            <a:ext cx="5303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F7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+1.6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9692640" y="2240280"/>
            <a:ext cx="475488" cy="713232"/>
          </a:xfrm>
          <a:prstGeom prst="rect">
            <a:avLst/>
          </a:prstGeom>
          <a:solidFill>
            <a:srgbClr val="F3EFF8"/>
          </a:solidFill>
          <a:ln w="12700">
            <a:solidFill>
              <a:srgbClr val="D3C7E3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20" name="Shape 118"/>
          <p:cNvSpPr/>
          <p:nvPr/>
        </p:nvSpPr>
        <p:spPr>
          <a:xfrm>
            <a:off x="9853940" y="2531974"/>
            <a:ext cx="194584" cy="215433"/>
          </a:xfrm>
          <a:prstGeom prst="roundRect">
            <a:avLst>
              <a:gd name="adj" fmla="val 28196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21" name="Shape 119"/>
          <p:cNvSpPr/>
          <p:nvPr/>
        </p:nvSpPr>
        <p:spPr>
          <a:xfrm>
            <a:off x="9853940" y="2382561"/>
            <a:ext cx="36485" cy="184160"/>
          </a:xfrm>
          <a:prstGeom prst="roundRect">
            <a:avLst>
              <a:gd name="adj" fmla="val 75187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22" name="Shape 120"/>
          <p:cNvSpPr/>
          <p:nvPr/>
        </p:nvSpPr>
        <p:spPr>
          <a:xfrm>
            <a:off x="9902586" y="2347813"/>
            <a:ext cx="36485" cy="198059"/>
          </a:xfrm>
          <a:prstGeom prst="roundRect">
            <a:avLst>
              <a:gd name="adj" fmla="val 75187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23" name="Shape 121"/>
          <p:cNvSpPr/>
          <p:nvPr/>
        </p:nvSpPr>
        <p:spPr>
          <a:xfrm>
            <a:off x="9951232" y="2340864"/>
            <a:ext cx="36485" cy="198059"/>
          </a:xfrm>
          <a:prstGeom prst="roundRect">
            <a:avLst>
              <a:gd name="adj" fmla="val 75187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24" name="Shape 122"/>
          <p:cNvSpPr/>
          <p:nvPr/>
        </p:nvSpPr>
        <p:spPr>
          <a:xfrm>
            <a:off x="9999878" y="2368662"/>
            <a:ext cx="36485" cy="198059"/>
          </a:xfrm>
          <a:prstGeom prst="roundRect">
            <a:avLst>
              <a:gd name="adj" fmla="val 75187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25" name="Shape 123"/>
          <p:cNvSpPr/>
          <p:nvPr/>
        </p:nvSpPr>
        <p:spPr>
          <a:xfrm rot="19800000">
            <a:off x="9777496" y="2559771"/>
            <a:ext cx="114666" cy="48646"/>
          </a:xfrm>
          <a:prstGeom prst="roundRect">
            <a:avLst>
              <a:gd name="adj" fmla="val 56391"/>
            </a:avLst>
          </a:prstGeom>
          <a:solidFill>
            <a:srgbClr val="6C58B8"/>
          </a:solidFill>
          <a:ln w="12700">
            <a:solidFill>
              <a:srgbClr val="6C58B8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26" name="Text 124"/>
          <p:cNvSpPr/>
          <p:nvPr/>
        </p:nvSpPr>
        <p:spPr>
          <a:xfrm>
            <a:off x="9665208" y="3008376"/>
            <a:ext cx="5303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F7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</a:t>
            </a:r>
            <a:endParaRPr lang="en-US" sz="1000" dirty="0"/>
          </a:p>
        </p:txBody>
      </p:sp>
      <p:sp>
        <p:nvSpPr>
          <p:cNvPr id="127" name="Shape 125"/>
          <p:cNvSpPr/>
          <p:nvPr/>
        </p:nvSpPr>
        <p:spPr>
          <a:xfrm>
            <a:off x="777240" y="3657600"/>
            <a:ext cx="2971800" cy="1600200"/>
          </a:xfrm>
          <a:prstGeom prst="rect">
            <a:avLst/>
          </a:prstGeom>
          <a:solidFill>
            <a:srgbClr val="F5F8FA"/>
          </a:solidFill>
          <a:ln w="12700">
            <a:solidFill>
              <a:srgbClr val="BFCBD6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28" name="Shape 126"/>
          <p:cNvSpPr/>
          <p:nvPr/>
        </p:nvSpPr>
        <p:spPr>
          <a:xfrm>
            <a:off x="777240" y="3657600"/>
            <a:ext cx="2971800" cy="329184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29" name="Text 127"/>
          <p:cNvSpPr/>
          <p:nvPr/>
        </p:nvSpPr>
        <p:spPr>
          <a:xfrm>
            <a:off x="832104" y="3707892"/>
            <a:ext cx="2862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 입력</a:t>
            </a:r>
            <a:endParaRPr lang="en-US" sz="1400" dirty="0"/>
          </a:p>
        </p:txBody>
      </p:sp>
      <p:sp>
        <p:nvSpPr>
          <p:cNvPr id="130" name="Text 128"/>
          <p:cNvSpPr/>
          <p:nvPr/>
        </p:nvSpPr>
        <p:spPr>
          <a:xfrm>
            <a:off x="905256" y="4133088"/>
            <a:ext cx="2715768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85000" lnSpcReduction="10000"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A1: RGB 14장</a:t>
            </a:r>
            <a:endParaRPr lang="en-US" sz="1000" dirty="0"/>
          </a:p>
          <a:p>
            <a:pPr marL="0" indent="0">
              <a:buNone/>
            </a:pPr>
            <a:r>
              <a:rPr lang="en-US" sz="16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A2: RGB + kinematics</a:t>
            </a:r>
            <a:endParaRPr lang="en-US" sz="1000" dirty="0"/>
          </a:p>
          <a:p>
            <a:pPr marL="0" indent="0">
              <a:buNone/>
            </a:pPr>
            <a:r>
              <a:rPr lang="en-US" sz="16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A3: RGB + kinematics + healthy reference</a:t>
            </a:r>
            <a:endParaRPr lang="en-US" sz="1000" dirty="0"/>
          </a:p>
          <a:p>
            <a:pPr marL="0" indent="0">
              <a:buNone/>
            </a:pPr>
            <a:r>
              <a:rPr lang="en-US" sz="16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A4: same model, image-ablated</a:t>
            </a:r>
            <a:endParaRPr lang="en-US" sz="1000" dirty="0"/>
          </a:p>
        </p:txBody>
      </p:sp>
      <p:sp>
        <p:nvSpPr>
          <p:cNvPr id="131" name="Shape 129"/>
          <p:cNvSpPr/>
          <p:nvPr/>
        </p:nvSpPr>
        <p:spPr>
          <a:xfrm>
            <a:off x="4069080" y="3657600"/>
            <a:ext cx="3337560" cy="1600200"/>
          </a:xfrm>
          <a:prstGeom prst="rect">
            <a:avLst/>
          </a:prstGeom>
          <a:solidFill>
            <a:srgbClr val="F5F8FA"/>
          </a:solidFill>
          <a:ln w="12700">
            <a:solidFill>
              <a:srgbClr val="BFCBD6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32" name="Shape 130"/>
          <p:cNvSpPr/>
          <p:nvPr/>
        </p:nvSpPr>
        <p:spPr>
          <a:xfrm>
            <a:off x="4069080" y="3657600"/>
            <a:ext cx="3337560" cy="329184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33" name="Text 131"/>
          <p:cNvSpPr/>
          <p:nvPr/>
        </p:nvSpPr>
        <p:spPr>
          <a:xfrm>
            <a:off x="4123944" y="3707892"/>
            <a:ext cx="32278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400" dirty="0"/>
          </a:p>
        </p:txBody>
      </p:sp>
      <p:sp>
        <p:nvSpPr>
          <p:cNvPr id="134" name="Text 132"/>
          <p:cNvSpPr/>
          <p:nvPr/>
        </p:nvSpPr>
        <p:spPr>
          <a:xfrm>
            <a:off x="4197096" y="4133088"/>
            <a:ext cx="3081528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JSON schema</a:t>
            </a:r>
            <a:endParaRPr lang="en-US" sz="1200" dirty="0"/>
          </a:p>
          <a:p>
            <a:pPr marL="0" indent="0">
              <a:buNone/>
            </a:pPr>
            <a:r>
              <a:rPr lang="en-US" sz="16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Grasp / Hold / Release component</a:t>
            </a:r>
            <a:endParaRPr lang="en-US" sz="1200" dirty="0"/>
          </a:p>
          <a:p>
            <a:pPr marL="0" indent="0">
              <a:buNone/>
            </a:pPr>
            <a:r>
              <a:rPr lang="en-US" sz="16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frame/feature 포함</a:t>
            </a:r>
            <a:endParaRPr lang="en-US" sz="1200" dirty="0"/>
          </a:p>
          <a:p>
            <a:pPr marL="0" indent="0">
              <a:buNone/>
            </a:pPr>
            <a:r>
              <a:rPr lang="en-US" sz="16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0/1/2는 코드로 산출</a:t>
            </a:r>
            <a:endParaRPr lang="en-US" sz="1200" dirty="0"/>
          </a:p>
        </p:txBody>
      </p:sp>
      <p:sp>
        <p:nvSpPr>
          <p:cNvPr id="135" name="Shape 133"/>
          <p:cNvSpPr/>
          <p:nvPr/>
        </p:nvSpPr>
        <p:spPr>
          <a:xfrm>
            <a:off x="7726680" y="3657600"/>
            <a:ext cx="3611880" cy="1600200"/>
          </a:xfrm>
          <a:prstGeom prst="rect">
            <a:avLst/>
          </a:prstGeom>
          <a:solidFill>
            <a:srgbClr val="F5F8FA"/>
          </a:solidFill>
          <a:ln w="12700">
            <a:solidFill>
              <a:srgbClr val="BFCBD6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36" name="Shape 134"/>
          <p:cNvSpPr/>
          <p:nvPr/>
        </p:nvSpPr>
        <p:spPr>
          <a:xfrm>
            <a:off x="7726680" y="3657600"/>
            <a:ext cx="3611880" cy="329184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37" name="Text 135"/>
          <p:cNvSpPr/>
          <p:nvPr/>
        </p:nvSpPr>
        <p:spPr>
          <a:xfrm>
            <a:off x="7781544" y="3707892"/>
            <a:ext cx="3502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실험 규모</a:t>
            </a:r>
            <a:endParaRPr lang="en-US" sz="1400" dirty="0"/>
          </a:p>
        </p:txBody>
      </p:sp>
      <p:sp>
        <p:nvSpPr>
          <p:cNvPr id="138" name="Text 136"/>
          <p:cNvSpPr/>
          <p:nvPr/>
        </p:nvSpPr>
        <p:spPr>
          <a:xfrm>
            <a:off x="7854696" y="4133088"/>
            <a:ext cx="3355848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Healthy: 15명 · 양손 · 4과제 × 8회</a:t>
            </a:r>
            <a:endParaRPr lang="en-US" sz="1200" dirty="0"/>
          </a:p>
          <a:p>
            <a:pPr marL="0" indent="0">
              <a:buNone/>
            </a:pPr>
            <a:r>
              <a:rPr lang="en-US" sz="16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Stroke: 15명 · 4과제 × 8회 = 480 trials</a:t>
            </a:r>
            <a:endParaRPr lang="en-US" sz="1200" dirty="0"/>
          </a:p>
          <a:p>
            <a:pPr marL="0" indent="0">
              <a:buNone/>
            </a:pPr>
            <a:r>
              <a:rPr lang="en-US" sz="16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입력 3회 추론 → 1회차 primary</a:t>
            </a:r>
            <a:endParaRPr lang="en-US" sz="1200" dirty="0"/>
          </a:p>
        </p:txBody>
      </p:sp>
      <p:sp>
        <p:nvSpPr>
          <p:cNvPr id="139" name="Text 137"/>
          <p:cNvSpPr/>
          <p:nvPr/>
        </p:nvSpPr>
        <p:spPr>
          <a:xfrm>
            <a:off x="1051560" y="562356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 첫 본시험 이전에 D455 설정 · MediaPipe version · event rule · feature definition · 14-frame rule · prompt · model revision을 freeze.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600000">
            <a:off x="582930" y="5212080"/>
            <a:ext cx="2686050" cy="1211580"/>
          </a:xfrm>
          <a:prstGeom prst="chevron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 rot="720000">
            <a:off x="468630" y="5029200"/>
            <a:ext cx="1885950" cy="480060"/>
          </a:xfrm>
          <a:prstGeom prst="parallelogram">
            <a:avLst/>
          </a:prstGeom>
          <a:solidFill>
            <a:srgbClr val="71D1E4"/>
          </a:solidFill>
          <a:ln w="12700">
            <a:solidFill>
              <a:srgbClr val="71D1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 rot="-1080000">
            <a:off x="1760220" y="4389120"/>
            <a:ext cx="1348740" cy="628650"/>
          </a:xfrm>
          <a:prstGeom prst="chevron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 rot="-1080000">
            <a:off x="2320290" y="4000500"/>
            <a:ext cx="868680" cy="400050"/>
          </a:xfrm>
          <a:prstGeom prst="chevron">
            <a:avLst/>
          </a:prstGeom>
          <a:solidFill>
            <a:srgbClr val="2DB4D5"/>
          </a:solidFill>
          <a:ln w="12700">
            <a:solidFill>
              <a:srgbClr val="2DB4D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532120" y="19659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5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IV. 분석 방법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715000" y="27889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주 분석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5715000" y="335584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7A82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보조 분석 및 해석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5715000" y="392277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7A82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예상 해석</a:t>
            </a:r>
            <a:endParaRPr lang="en-US" sz="1850" dirty="0"/>
          </a:p>
        </p:txBody>
      </p:sp>
      <p:sp>
        <p:nvSpPr>
          <p:cNvPr id="10" name="Shape 8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9372600" y="6565392"/>
            <a:ext cx="2240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760" dirty="0"/>
          </a:p>
        </p:txBody>
      </p:sp>
      <p:sp>
        <p:nvSpPr>
          <p:cNvPr id="12" name="Text 10"/>
          <p:cNvSpPr/>
          <p:nvPr/>
        </p:nvSpPr>
        <p:spPr>
          <a:xfrm>
            <a:off x="10104120" y="201167"/>
            <a:ext cx="1600200" cy="35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7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" name="Text 1"/>
          <p:cNvSpPr/>
          <p:nvPr/>
        </p:nvSpPr>
        <p:spPr>
          <a:xfrm>
            <a:off x="9372600" y="6565392"/>
            <a:ext cx="2240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058400" y="201167"/>
            <a:ext cx="1645920" cy="301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237744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IV. 분석 방법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50292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주 분석 및 보조 분석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495648" y="804672"/>
            <a:ext cx="3200400" cy="384048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9" name="Text 7"/>
          <p:cNvSpPr/>
          <p:nvPr/>
        </p:nvSpPr>
        <p:spPr>
          <a:xfrm>
            <a:off x="4568800" y="877824"/>
            <a:ext cx="3054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분석 방법 ]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13232" y="1344168"/>
            <a:ext cx="10716768" cy="35661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1" name="Text 9"/>
          <p:cNvSpPr/>
          <p:nvPr/>
        </p:nvSpPr>
        <p:spPr>
          <a:xfrm>
            <a:off x="868680" y="1408176"/>
            <a:ext cx="10387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환자 단위 paired comparison으로 A3와 A1을 비교  |  480 trial을 480명의 독립표본처럼 세지 않음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2331720"/>
            <a:ext cx="1920240" cy="1143000"/>
          </a:xfrm>
          <a:prstGeom prst="ellipse">
            <a:avLst/>
          </a:prstGeom>
          <a:solidFill>
            <a:srgbClr val="F1F6F9"/>
          </a:solidFill>
          <a:ln w="12700">
            <a:solidFill>
              <a:srgbClr val="B9C8D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3" name="Text 11"/>
          <p:cNvSpPr/>
          <p:nvPr/>
        </p:nvSpPr>
        <p:spPr>
          <a:xfrm>
            <a:off x="868680" y="257860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346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전문가 참조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68680" y="2889504"/>
            <a:ext cx="1554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6F7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0/1/2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606040" y="2898648"/>
            <a:ext cx="475488" cy="0"/>
          </a:xfrm>
          <a:prstGeom prst="line">
            <a:avLst/>
          </a:prstGeom>
          <a:noFill/>
          <a:ln w="27940">
            <a:solidFill>
              <a:srgbClr val="2DB4D5"/>
            </a:solidFill>
            <a:prstDash val="solid"/>
            <a:tailEnd type="triangle"/>
          </a:ln>
        </p:spPr>
        <p:txBody>
          <a:bodyPr/>
          <a:lstStyle/>
          <a:p>
            <a:endParaRPr sz="2800"/>
          </a:p>
        </p:txBody>
      </p:sp>
      <p:sp>
        <p:nvSpPr>
          <p:cNvPr id="16" name="Shape 14"/>
          <p:cNvSpPr/>
          <p:nvPr/>
        </p:nvSpPr>
        <p:spPr>
          <a:xfrm>
            <a:off x="3154680" y="2331720"/>
            <a:ext cx="1920240" cy="1143000"/>
          </a:xfrm>
          <a:prstGeom prst="ellipse">
            <a:avLst/>
          </a:prstGeom>
          <a:solidFill>
            <a:srgbClr val="F1F6F9"/>
          </a:solidFill>
          <a:ln w="12700">
            <a:solidFill>
              <a:srgbClr val="B9C8D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7" name="Text 15"/>
          <p:cNvSpPr/>
          <p:nvPr/>
        </p:nvSpPr>
        <p:spPr>
          <a:xfrm>
            <a:off x="3337560" y="257860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346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조건별 예측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337560" y="2889504"/>
            <a:ext cx="1554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6F7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A1·A2·A3·A4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074920" y="2898648"/>
            <a:ext cx="658368" cy="0"/>
          </a:xfrm>
          <a:prstGeom prst="line">
            <a:avLst/>
          </a:prstGeom>
          <a:noFill/>
          <a:ln w="27940">
            <a:solidFill>
              <a:srgbClr val="2DB4D5"/>
            </a:solidFill>
            <a:prstDash val="solid"/>
            <a:tailEnd type="triangle"/>
          </a:ln>
        </p:spPr>
        <p:txBody>
          <a:bodyPr/>
          <a:lstStyle/>
          <a:p>
            <a:endParaRPr sz="2800"/>
          </a:p>
        </p:txBody>
      </p:sp>
      <p:sp>
        <p:nvSpPr>
          <p:cNvPr id="20" name="Shape 18"/>
          <p:cNvSpPr/>
          <p:nvPr/>
        </p:nvSpPr>
        <p:spPr>
          <a:xfrm>
            <a:off x="5806440" y="2331720"/>
            <a:ext cx="1920240" cy="1143000"/>
          </a:xfrm>
          <a:prstGeom prst="ellipse">
            <a:avLst/>
          </a:prstGeom>
          <a:solidFill>
            <a:srgbClr val="F1F6F9"/>
          </a:solidFill>
          <a:ln w="12700">
            <a:solidFill>
              <a:srgbClr val="B9C8D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1" name="Text 19"/>
          <p:cNvSpPr/>
          <p:nvPr/>
        </p:nvSpPr>
        <p:spPr>
          <a:xfrm>
            <a:off x="5989320" y="257860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346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환자별 MAE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989320" y="2889504"/>
            <a:ext cx="1554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6F7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4과제 동일가중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726680" y="2898648"/>
            <a:ext cx="749808" cy="0"/>
          </a:xfrm>
          <a:prstGeom prst="line">
            <a:avLst/>
          </a:prstGeom>
          <a:noFill/>
          <a:ln w="27940">
            <a:solidFill>
              <a:srgbClr val="2DB4D5"/>
            </a:solidFill>
            <a:prstDash val="solid"/>
            <a:tailEnd type="triangle"/>
          </a:ln>
        </p:spPr>
        <p:txBody>
          <a:bodyPr/>
          <a:lstStyle/>
          <a:p>
            <a:endParaRPr sz="2800"/>
          </a:p>
        </p:txBody>
      </p:sp>
      <p:sp>
        <p:nvSpPr>
          <p:cNvPr id="24" name="Shape 22"/>
          <p:cNvSpPr/>
          <p:nvPr/>
        </p:nvSpPr>
        <p:spPr>
          <a:xfrm>
            <a:off x="8549640" y="2331720"/>
            <a:ext cx="1920240" cy="1143000"/>
          </a:xfrm>
          <a:prstGeom prst="ellipse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5" name="Text 23"/>
          <p:cNvSpPr/>
          <p:nvPr/>
        </p:nvSpPr>
        <p:spPr>
          <a:xfrm>
            <a:off x="8732520" y="257860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A3 − A1</a:t>
            </a: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732520" y="2889504"/>
            <a:ext cx="1554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ΔMAE &lt; 0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22960" y="4114800"/>
            <a:ext cx="5212080" cy="1234440"/>
          </a:xfrm>
          <a:prstGeom prst="rect">
            <a:avLst/>
          </a:prstGeom>
          <a:solidFill>
            <a:srgbClr val="F5F8FA"/>
          </a:solidFill>
          <a:ln w="12700">
            <a:solidFill>
              <a:srgbClr val="C8D3DC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8" name="Text 26"/>
          <p:cNvSpPr/>
          <p:nvPr/>
        </p:nvSpPr>
        <p:spPr>
          <a:xfrm>
            <a:off x="1097280" y="4370832"/>
            <a:ext cx="914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346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Primary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2057400" y="429768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환자별 A3−A1 MAE 차이  ·  participant-level paired bootstrap 95% CI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63640" y="4114800"/>
            <a:ext cx="5074920" cy="1234440"/>
          </a:xfrm>
          <a:prstGeom prst="rect">
            <a:avLst/>
          </a:prstGeom>
          <a:solidFill>
            <a:srgbClr val="F5F8FA"/>
          </a:solidFill>
          <a:ln w="12700">
            <a:solidFill>
              <a:srgbClr val="C8D3DC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1" name="Text 29"/>
          <p:cNvSpPr/>
          <p:nvPr/>
        </p:nvSpPr>
        <p:spPr>
          <a:xfrm>
            <a:off x="6492240" y="4370832"/>
            <a:ext cx="1097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346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Secondary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680960" y="4206240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Exact agreement · weighted κ · gradable/NA rate · component accuracy · 3-run consistency</a:t>
            </a:r>
            <a:endParaRPr lang="en-US" sz="10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A2−A1 · A3−A2 · A3−A4 · A3−A0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508760" y="5614416"/>
            <a:ext cx="9098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ΔMAEᵢ = MAEᵢ(A3) − MAEᵢ(A1)   →   음수이면 A3가 전문가 reference에 더 가까움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" name="Text 1"/>
          <p:cNvSpPr/>
          <p:nvPr/>
        </p:nvSpPr>
        <p:spPr>
          <a:xfrm>
            <a:off x="9372600" y="6565392"/>
            <a:ext cx="2240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195560" y="201167"/>
            <a:ext cx="1508760" cy="301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237744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IV. 분석 방법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50292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결과 해석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175608" y="804672"/>
            <a:ext cx="3840480" cy="384048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9" name="Text 7"/>
          <p:cNvSpPr/>
          <p:nvPr/>
        </p:nvSpPr>
        <p:spPr>
          <a:xfrm>
            <a:off x="4248760" y="877824"/>
            <a:ext cx="3694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예상 결과 해석 ]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3232" y="1344168"/>
            <a:ext cx="10716768" cy="35661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1" name="Text 9"/>
          <p:cNvSpPr/>
          <p:nvPr/>
        </p:nvSpPr>
        <p:spPr>
          <a:xfrm>
            <a:off x="868680" y="1408176"/>
            <a:ext cx="10387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결과만 찾는 것이 아니라, VLM이 실제로 필요했는지까지 검증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1828800"/>
            <a:ext cx="10561320" cy="749808"/>
          </a:xfrm>
          <a:prstGeom prst="rect">
            <a:avLst/>
          </a:prstGeom>
          <a:solidFill>
            <a:srgbClr val="EFF8F3"/>
          </a:solidFill>
          <a:ln w="12700">
            <a:solidFill>
              <a:srgbClr val="D3DBE2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3" name="Shape 11"/>
          <p:cNvSpPr/>
          <p:nvPr/>
        </p:nvSpPr>
        <p:spPr>
          <a:xfrm>
            <a:off x="1051560" y="2011680"/>
            <a:ext cx="1325880" cy="384048"/>
          </a:xfrm>
          <a:prstGeom prst="rect">
            <a:avLst/>
          </a:prstGeom>
          <a:solidFill>
            <a:srgbClr val="2C8A5E"/>
          </a:solidFill>
          <a:ln w="12700">
            <a:solidFill>
              <a:srgbClr val="2C8A5E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4" name="Text 12"/>
          <p:cNvSpPr/>
          <p:nvPr/>
        </p:nvSpPr>
        <p:spPr>
          <a:xfrm>
            <a:off x="1115568" y="2112264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 &lt; A1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697480" y="2029968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8A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운동학·참조 context가 도움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303520" y="2002536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영상-only VLM보다 전문가 판단에 가까워짐</a:t>
            </a: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822960" y="2788920"/>
            <a:ext cx="10561320" cy="749808"/>
          </a:xfrm>
          <a:prstGeom prst="rect">
            <a:avLst/>
          </a:prstGeom>
          <a:solidFill>
            <a:srgbClr val="F5F7F9"/>
          </a:solidFill>
          <a:ln w="12700">
            <a:solidFill>
              <a:srgbClr val="D3DBE2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8" name="Shape 16"/>
          <p:cNvSpPr/>
          <p:nvPr/>
        </p:nvSpPr>
        <p:spPr>
          <a:xfrm>
            <a:off x="1051560" y="2971800"/>
            <a:ext cx="1325880" cy="384048"/>
          </a:xfrm>
          <a:prstGeom prst="rect">
            <a:avLst/>
          </a:prstGeom>
          <a:solidFill>
            <a:srgbClr val="5F6771"/>
          </a:solidFill>
          <a:ln w="12700">
            <a:solidFill>
              <a:srgbClr val="5F6771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9" name="Text 17"/>
          <p:cNvSpPr/>
          <p:nvPr/>
        </p:nvSpPr>
        <p:spPr>
          <a:xfrm>
            <a:off x="1115568" y="3072384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 ≈ A1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697480" y="2990088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context 이득 제한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303520" y="2962656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더 주는 것 자체가 성능을 보장하지 않음</a:t>
            </a: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822960" y="3749040"/>
            <a:ext cx="10561320" cy="749808"/>
          </a:xfrm>
          <a:prstGeom prst="rect">
            <a:avLst/>
          </a:prstGeom>
          <a:solidFill>
            <a:srgbClr val="FBF7E9"/>
          </a:solidFill>
          <a:ln w="12700">
            <a:solidFill>
              <a:srgbClr val="D3DBE2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3" name="Shape 21"/>
          <p:cNvSpPr/>
          <p:nvPr/>
        </p:nvSpPr>
        <p:spPr>
          <a:xfrm>
            <a:off x="1051560" y="3931920"/>
            <a:ext cx="1325880" cy="384048"/>
          </a:xfrm>
          <a:prstGeom prst="rect">
            <a:avLst/>
          </a:prstGeom>
          <a:solidFill>
            <a:srgbClr val="E5912B"/>
          </a:solidFill>
          <a:ln w="12700">
            <a:solidFill>
              <a:srgbClr val="E5912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4" name="Text 22"/>
          <p:cNvSpPr/>
          <p:nvPr/>
        </p:nvSpPr>
        <p:spPr>
          <a:xfrm>
            <a:off x="1115568" y="4032504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 ≈ A0</a:t>
            </a: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697480" y="3950208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59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 scoring 추가가치 제한</a:t>
            </a: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303520" y="3922776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수치 모델만으로 비슷한 성능 가능</a:t>
            </a: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822960" y="4709160"/>
            <a:ext cx="10561320" cy="749808"/>
          </a:xfrm>
          <a:prstGeom prst="rect">
            <a:avLst/>
          </a:prstGeom>
          <a:solidFill>
            <a:srgbClr val="FBF0EF"/>
          </a:solidFill>
          <a:ln w="12700">
            <a:solidFill>
              <a:srgbClr val="D3DBE2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8" name="Shape 26"/>
          <p:cNvSpPr/>
          <p:nvPr/>
        </p:nvSpPr>
        <p:spPr>
          <a:xfrm>
            <a:off x="1051560" y="4892040"/>
            <a:ext cx="1325880" cy="384048"/>
          </a:xfrm>
          <a:prstGeom prst="rect">
            <a:avLst/>
          </a:prstGeom>
          <a:solidFill>
            <a:srgbClr val="E1473F"/>
          </a:solidFill>
          <a:ln w="12700">
            <a:solidFill>
              <a:srgbClr val="E1473F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9" name="Text 27"/>
          <p:cNvSpPr/>
          <p:nvPr/>
        </p:nvSpPr>
        <p:spPr>
          <a:xfrm>
            <a:off x="1115568" y="4992624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 &gt; A1</a:t>
            </a: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697480" y="4910328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추가가 오히려 방해</a:t>
            </a: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303520" y="4882896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VLM이 threshold를 임의 생성하거나 수치를 잘못 해석했을 가능성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965960" y="57150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기여: “영상 + 수치 + 건강정보”의 적절성 자체를 동일 시행의 ablation으로 검증한다.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" name="Text 1"/>
          <p:cNvSpPr/>
          <p:nvPr/>
        </p:nvSpPr>
        <p:spPr>
          <a:xfrm>
            <a:off x="9372600" y="6565392"/>
            <a:ext cx="2240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227076" y="201168"/>
            <a:ext cx="14772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237744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IV. 분석 방법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50292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최종 연구 정의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67048" y="804672"/>
            <a:ext cx="3657600" cy="384048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9" name="Text 7"/>
          <p:cNvSpPr/>
          <p:nvPr/>
        </p:nvSpPr>
        <p:spPr>
          <a:xfrm>
            <a:off x="4340200" y="877824"/>
            <a:ext cx="3511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최종 연구 정의 ]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77240" y="1463040"/>
            <a:ext cx="10652760" cy="804672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1" name="Text 9"/>
          <p:cNvSpPr/>
          <p:nvPr/>
        </p:nvSpPr>
        <p:spPr>
          <a:xfrm>
            <a:off x="1005840" y="1700784"/>
            <a:ext cx="10195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범용 VLM의 fine hand-motion 판단을 외부에서 검증한 RGB-D 운동학 정보가 실제로 보완하는지를, 독립 전문가 참조평가와의 일치도로 검증한다.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788920"/>
            <a:ext cx="2011680" cy="2011680"/>
          </a:xfrm>
          <a:prstGeom prst="rect">
            <a:avLst/>
          </a:prstGeom>
          <a:solidFill>
            <a:srgbClr val="EFF5F8"/>
          </a:solidFill>
          <a:ln w="12700">
            <a:solidFill>
              <a:srgbClr val="C4D1D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3" name="Shape 11"/>
          <p:cNvSpPr/>
          <p:nvPr/>
        </p:nvSpPr>
        <p:spPr>
          <a:xfrm>
            <a:off x="640080" y="2788920"/>
            <a:ext cx="2011680" cy="347472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4" name="Text 12"/>
          <p:cNvSpPr/>
          <p:nvPr/>
        </p:nvSpPr>
        <p:spPr>
          <a:xfrm>
            <a:off x="713232" y="2862072"/>
            <a:ext cx="1865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평가대상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68096" y="3456432"/>
            <a:ext cx="1755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표준화된 손 기능 과제 수행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(FMA 자동채점 아님)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926080" y="2788920"/>
            <a:ext cx="2011680" cy="2011680"/>
          </a:xfrm>
          <a:prstGeom prst="rect">
            <a:avLst/>
          </a:prstGeom>
          <a:solidFill>
            <a:srgbClr val="EFF7F7"/>
          </a:solidFill>
          <a:ln w="12700">
            <a:solidFill>
              <a:srgbClr val="C4D1D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7" name="Shape 15"/>
          <p:cNvSpPr/>
          <p:nvPr/>
        </p:nvSpPr>
        <p:spPr>
          <a:xfrm>
            <a:off x="2926080" y="2788920"/>
            <a:ext cx="2011680" cy="347472"/>
          </a:xfrm>
          <a:prstGeom prst="rect">
            <a:avLst/>
          </a:prstGeom>
          <a:solidFill>
            <a:srgbClr val="1C9E95"/>
          </a:solidFill>
          <a:ln w="12700">
            <a:solidFill>
              <a:srgbClr val="1C9E9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18" name="Text 16"/>
          <p:cNvSpPr/>
          <p:nvPr/>
        </p:nvSpPr>
        <p:spPr>
          <a:xfrm>
            <a:off x="2999232" y="2862072"/>
            <a:ext cx="1865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phase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054096" y="3456432"/>
            <a:ext cx="1755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Object: Grasp → Hold → Release</a:t>
            </a:r>
            <a:endParaRPr lang="en-US" sz="12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Bare-hand: 별도 rubric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212080" y="2788920"/>
            <a:ext cx="2011680" cy="2011680"/>
          </a:xfrm>
          <a:prstGeom prst="rect">
            <a:avLst/>
          </a:prstGeom>
          <a:solidFill>
            <a:srgbClr val="EFF5F8"/>
          </a:solidFill>
          <a:ln w="12700">
            <a:solidFill>
              <a:srgbClr val="C4D1D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1" name="Shape 19"/>
          <p:cNvSpPr/>
          <p:nvPr/>
        </p:nvSpPr>
        <p:spPr>
          <a:xfrm>
            <a:off x="5212080" y="2788920"/>
            <a:ext cx="2011680" cy="347472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2" name="Text 20"/>
          <p:cNvSpPr/>
          <p:nvPr/>
        </p:nvSpPr>
        <p:spPr>
          <a:xfrm>
            <a:off x="5285232" y="2862072"/>
            <a:ext cx="1865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수치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340096" y="3456432"/>
            <a:ext cx="1755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MGA · TMGA</a:t>
            </a:r>
            <a:endParaRPr lang="en-US" sz="1600" dirty="0"/>
          </a:p>
          <a:p>
            <a:pPr marL="0" indent="0" algn="ctr">
              <a:buNone/>
            </a:pPr>
            <a:r>
              <a:rPr lang="en-US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phase-specific descriptors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498080" y="2788920"/>
            <a:ext cx="2011680" cy="2011680"/>
          </a:xfrm>
          <a:prstGeom prst="rect">
            <a:avLst/>
          </a:prstGeom>
          <a:solidFill>
            <a:srgbClr val="EFF7F7"/>
          </a:solidFill>
          <a:ln w="12700">
            <a:solidFill>
              <a:srgbClr val="C4D1D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5" name="Shape 23"/>
          <p:cNvSpPr/>
          <p:nvPr/>
        </p:nvSpPr>
        <p:spPr>
          <a:xfrm>
            <a:off x="7498080" y="2788920"/>
            <a:ext cx="2011680" cy="347472"/>
          </a:xfrm>
          <a:prstGeom prst="rect">
            <a:avLst/>
          </a:prstGeom>
          <a:solidFill>
            <a:srgbClr val="1C9E95"/>
          </a:solidFill>
          <a:ln w="12700">
            <a:solidFill>
              <a:srgbClr val="1C9E95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6" name="Text 24"/>
          <p:cNvSpPr/>
          <p:nvPr/>
        </p:nvSpPr>
        <p:spPr>
          <a:xfrm>
            <a:off x="7571232" y="2862072"/>
            <a:ext cx="1865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Reference</a:t>
            </a: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626096" y="3456432"/>
            <a:ext cx="1755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2인 독립·블라인드 전문가</a:t>
            </a:r>
            <a:endParaRPr lang="en-US" sz="12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Expert reference standard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784080" y="2788920"/>
            <a:ext cx="2011680" cy="2011680"/>
          </a:xfrm>
          <a:prstGeom prst="rect">
            <a:avLst/>
          </a:prstGeom>
          <a:solidFill>
            <a:srgbClr val="EFF5F8"/>
          </a:solidFill>
          <a:ln w="12700">
            <a:solidFill>
              <a:srgbClr val="C4D1D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29" name="Shape 27"/>
          <p:cNvSpPr/>
          <p:nvPr/>
        </p:nvSpPr>
        <p:spPr>
          <a:xfrm>
            <a:off x="9784080" y="2788920"/>
            <a:ext cx="2011680" cy="347472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 sz="2800"/>
          </a:p>
        </p:txBody>
      </p:sp>
      <p:sp>
        <p:nvSpPr>
          <p:cNvPr id="30" name="Text 28"/>
          <p:cNvSpPr/>
          <p:nvPr/>
        </p:nvSpPr>
        <p:spPr>
          <a:xfrm>
            <a:off x="9857232" y="2862072"/>
            <a:ext cx="1865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Primary</a:t>
            </a: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9912096" y="3456432"/>
            <a:ext cx="1755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A3 − A1</a:t>
            </a:r>
            <a:endParaRPr lang="en-US" sz="1600" dirty="0"/>
          </a:p>
          <a:p>
            <a:pPr marL="0" indent="0" algn="ctr">
              <a:buNone/>
            </a:pPr>
            <a:r>
              <a:rPr lang="en-US" b="1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참가자 수준 ΔMAE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051560" y="5413248"/>
            <a:ext cx="10104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147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pilot에서 조정 가능한 것은 measurement window·filter·opening feature 같은 기술 세부사항이며, 연구질문과 비교구조는 유지.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9372600" y="6565392"/>
            <a:ext cx="2240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760" dirty="0"/>
          </a:p>
        </p:txBody>
      </p:sp>
      <p:sp>
        <p:nvSpPr>
          <p:cNvPr id="4" name="Text 2"/>
          <p:cNvSpPr/>
          <p:nvPr/>
        </p:nvSpPr>
        <p:spPr>
          <a:xfrm>
            <a:off x="10200443" y="201167"/>
            <a:ext cx="1503877" cy="301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237744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V. 참고문헌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720" dirty="0"/>
          </a:p>
        </p:txBody>
      </p:sp>
      <p:sp>
        <p:nvSpPr>
          <p:cNvPr id="7" name="Text 5"/>
          <p:cNvSpPr/>
          <p:nvPr/>
        </p:nvSpPr>
        <p:spPr>
          <a:xfrm>
            <a:off x="502920" y="50292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핵심 참고문헌 (1/2)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67048" y="804672"/>
            <a:ext cx="3657600" cy="384048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340200" y="877824"/>
            <a:ext cx="3511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핵심 참고문헌 ]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1508760"/>
            <a:ext cx="1065276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Li et al. (2026). Vision-language models for human motion understanding: Lessons from stroke rehabilitation. PLOS Digital Health. https://doi.org/10.1371/journal.pdig.0001506</a:t>
            </a:r>
            <a:endParaRPr lang="en-US" sz="1060" dirty="0"/>
          </a:p>
        </p:txBody>
      </p:sp>
      <p:sp>
        <p:nvSpPr>
          <p:cNvPr id="11" name="Text 9"/>
          <p:cNvSpPr/>
          <p:nvPr/>
        </p:nvSpPr>
        <p:spPr>
          <a:xfrm>
            <a:off x="777240" y="2258568"/>
            <a:ext cx="1065276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Amprimo et al. (2024). Hand tracking for clinical applications: Validation of the Google MediaPipe Hand (GMH) and depth-enhanced GMH-D frameworks. Biomedical Signal Processing and Control, 96, 106508. https://doi.org/10.1016/j.bspc.2024.106508</a:t>
            </a:r>
            <a:endParaRPr lang="en-US" sz="1060" dirty="0"/>
          </a:p>
        </p:txBody>
      </p:sp>
      <p:sp>
        <p:nvSpPr>
          <p:cNvPr id="12" name="Text 10"/>
          <p:cNvSpPr/>
          <p:nvPr/>
        </p:nvSpPr>
        <p:spPr>
          <a:xfrm>
            <a:off x="777240" y="3008376"/>
            <a:ext cx="1065276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Qiu et al. (2022). Evaluation of Changes in Kinematic Measures of Three Dimensional Reach to Grasp Movements in the Early Subacute Period of Recovery from Stroke. IEEE EMBC. https://doi.org/10.1109/EMBC48229.2022.9871891</a:t>
            </a:r>
            <a:endParaRPr lang="en-US" sz="1060" dirty="0"/>
          </a:p>
        </p:txBody>
      </p:sp>
      <p:sp>
        <p:nvSpPr>
          <p:cNvPr id="13" name="Text 11"/>
          <p:cNvSpPr/>
          <p:nvPr/>
        </p:nvSpPr>
        <p:spPr>
          <a:xfrm>
            <a:off x="777240" y="3758184"/>
            <a:ext cx="1065276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Collins et al. (2018). Getting a kinematic handle on reach-to-grasp: A meta-analysis. Physiotherapy, 104(2), 153–166. https://doi.org/10.1016/j.physio.2017.10.002</a:t>
            </a:r>
            <a:endParaRPr lang="en-US" sz="1060" dirty="0"/>
          </a:p>
        </p:txBody>
      </p:sp>
      <p:sp>
        <p:nvSpPr>
          <p:cNvPr id="14" name="Text 12"/>
          <p:cNvSpPr/>
          <p:nvPr/>
        </p:nvSpPr>
        <p:spPr>
          <a:xfrm>
            <a:off x="777240" y="4507992"/>
            <a:ext cx="1065276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Lang et al. (2005). Deficits in grasp versus reach during acute hemiparesis. Experimental Brain Research, 166(1), 126–136. https://doi.org/10.1007/s00221-005-2350-6</a:t>
            </a:r>
            <a:endParaRPr lang="en-US" sz="1060" dirty="0"/>
          </a:p>
        </p:txBody>
      </p:sp>
      <p:sp>
        <p:nvSpPr>
          <p:cNvPr id="15" name="Text 13"/>
          <p:cNvSpPr/>
          <p:nvPr/>
        </p:nvSpPr>
        <p:spPr>
          <a:xfrm>
            <a:off x="777240" y="5257800"/>
            <a:ext cx="1065276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Schaefer et al. (2012). Grip type and task goal modify reach-to-grasp performance in post-stroke hemiparesis. Motor Control, 16(2), 245–264. https://doi.org/10.1123/mcj.16.2.245</a:t>
            </a:r>
            <a:endParaRPr lang="en-US" sz="106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6519672"/>
            <a:ext cx="11292840" cy="0"/>
          </a:xfrm>
          <a:prstGeom prst="line">
            <a:avLst/>
          </a:prstGeom>
          <a:noFill/>
          <a:ln w="12700">
            <a:solidFill>
              <a:srgbClr val="D9DE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9372600" y="6565392"/>
            <a:ext cx="2240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 | RGB-D·VLM 손 기능 평가 연구</a:t>
            </a:r>
            <a:endParaRPr lang="en-US" sz="760" dirty="0"/>
          </a:p>
        </p:txBody>
      </p:sp>
      <p:sp>
        <p:nvSpPr>
          <p:cNvPr id="4" name="Text 2"/>
          <p:cNvSpPr/>
          <p:nvPr/>
        </p:nvSpPr>
        <p:spPr>
          <a:xfrm>
            <a:off x="10244831" y="201167"/>
            <a:ext cx="1459489" cy="301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3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Human Robotics Lab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237744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F67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V. 참고문헌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97880" y="6565392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720" dirty="0"/>
          </a:p>
        </p:txBody>
      </p:sp>
      <p:sp>
        <p:nvSpPr>
          <p:cNvPr id="7" name="Text 5"/>
          <p:cNvSpPr/>
          <p:nvPr/>
        </p:nvSpPr>
        <p:spPr>
          <a:xfrm>
            <a:off x="502920" y="502920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DB4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핵심 참고문헌 (2/2)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67048" y="804672"/>
            <a:ext cx="3657600" cy="384048"/>
          </a:xfrm>
          <a:prstGeom prst="rect">
            <a:avLst/>
          </a:prstGeom>
          <a:solidFill>
            <a:srgbClr val="23467B"/>
          </a:solidFill>
          <a:ln w="12700">
            <a:solidFill>
              <a:srgbClr val="23467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340200" y="877824"/>
            <a:ext cx="3511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핵심 참고문헌 ]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1508760"/>
            <a:ext cx="1065276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 Seo et al. (2009). Delays in Grip Initiation and Termination in Persons With Stroke: Effects of Arm Support and Active Muscle Stretch Exercise. Journal of Neurophysiology, 101(6), 3108–3115. https://doi.org/10.1152/jn.91108.2008</a:t>
            </a:r>
            <a:endParaRPr lang="en-US" sz="1060" dirty="0"/>
          </a:p>
        </p:txBody>
      </p:sp>
      <p:sp>
        <p:nvSpPr>
          <p:cNvPr id="11" name="Text 9"/>
          <p:cNvSpPr/>
          <p:nvPr/>
        </p:nvSpPr>
        <p:spPr>
          <a:xfrm>
            <a:off x="777240" y="2258568"/>
            <a:ext cx="1065276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 Lang, DeJong, &amp; Beebe (2009). Recovery of Thumb and Finger Extension and Its Relation to Grasp Performance After Stroke. Journal of Neurophysiology, 102(1), 451–459. https://doi.org/10.1152/jn.91310.2008</a:t>
            </a:r>
            <a:endParaRPr lang="en-US" sz="1060" dirty="0"/>
          </a:p>
        </p:txBody>
      </p:sp>
      <p:sp>
        <p:nvSpPr>
          <p:cNvPr id="12" name="Text 10"/>
          <p:cNvSpPr/>
          <p:nvPr/>
        </p:nvSpPr>
        <p:spPr>
          <a:xfrm>
            <a:off x="777240" y="3008376"/>
            <a:ext cx="1065276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 Zhu et al. (2018). Characterization of the Stroke-Induced Changes in the Variability and Complexity of Handgrip Force. Entropy, 20(5), 377. https://doi.org/10.3390/e20050377</a:t>
            </a:r>
            <a:endParaRPr lang="en-US" sz="1060" dirty="0"/>
          </a:p>
        </p:txBody>
      </p:sp>
      <p:sp>
        <p:nvSpPr>
          <p:cNvPr id="13" name="Text 11"/>
          <p:cNvSpPr/>
          <p:nvPr/>
        </p:nvSpPr>
        <p:spPr>
          <a:xfrm>
            <a:off x="777240" y="3758184"/>
            <a:ext cx="1065276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 Tang et al. (2025). Rehabilitation Exercise Quality Assessment and Feedback Generation Using Large Language Models with Prompt Engineering. ARIAL 2025 / IJCAI 2025 Workshop. https://doi.org/10.1007/978-981-95-0568-5_5</a:t>
            </a:r>
            <a:endParaRPr lang="en-US" sz="1060" dirty="0"/>
          </a:p>
        </p:txBody>
      </p:sp>
      <p:sp>
        <p:nvSpPr>
          <p:cNvPr id="14" name="Text 12"/>
          <p:cNvSpPr/>
          <p:nvPr/>
        </p:nvSpPr>
        <p:spPr>
          <a:xfrm>
            <a:off x="777240" y="4507992"/>
            <a:ext cx="1065276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11. Kim et al. (2024). Automatic Assessment of Upper Extremity Function and Mobile Application for Self-Administered Stroke Rehabilitation. IEEE TNSRE, 32, 652–661. https://doi.org/10.1109/TNSRE.2024.3358497</a:t>
            </a:r>
            <a:endParaRPr lang="en-US" sz="1060" dirty="0"/>
          </a:p>
        </p:txBody>
      </p:sp>
      <p:sp>
        <p:nvSpPr>
          <p:cNvPr id="15" name="Text 13"/>
          <p:cNvSpPr/>
          <p:nvPr/>
        </p:nvSpPr>
        <p:spPr>
          <a:xfrm>
            <a:off x="777240" y="5257800"/>
            <a:ext cx="1065276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2832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12. Patterson et al. (2011). Reliability of Upper Extremity Kinematics While Performing Different Tasks in Individuals With Stroke. Journal of Motor Behavior, 43(2), 121–130. https://doi.org/10.1080/00222895.2010.548422</a:t>
            </a:r>
            <a:endParaRPr lang="en-US" sz="10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2365</Words>
  <Application>Microsoft Office PowerPoint</Application>
  <PresentationFormat>와이드스크린</PresentationFormat>
  <Paragraphs>388</Paragraphs>
  <Slides>20</Slides>
  <Notes>20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3" baseType="lpstr">
      <vt:lpstr>Malgun Gothic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Human Robotics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RGB-D 운동학 정보를 활용한 VLM 기반 손 기능 평가</dc:title>
  <dc:subject>RGB-D + VLM stroke hand function research proposal</dc:subject>
  <dc:creator>OpenAI</dc:creator>
  <cp:lastModifiedBy>이재용/22000561</cp:lastModifiedBy>
  <cp:revision>20</cp:revision>
  <dcterms:created xsi:type="dcterms:W3CDTF">2026-09-09T12:34:17Z</dcterms:created>
  <dcterms:modified xsi:type="dcterms:W3CDTF">2026-09-09T15:41:40Z</dcterms:modified>
</cp:coreProperties>
</file>