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6697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6697A"/>
                </a:solidFill>
                <a:latin typeface="Arial"/>
              </a:rPr>
              <a:t>조건별 MAE 비교 (개념 예시 — 실제 데이터로 교체)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(예시)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22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A1</c:v>
                  </c:pt>
                  <c:pt idx="1">
                    <c:v>A2</c:v>
                  </c:pt>
                  <c:pt idx="2">
                    <c:v>A3</c:v>
                  </c:pt>
                  <c:pt idx="3">
                    <c:v>A4</c:v>
                  </c:pt>
                  <c:pt idx="4">
                    <c:v>A0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0.62</c:v>
                </c:pt>
                <c:pt idx="1">
                  <c:v>0.5</c:v>
                </c:pt>
                <c:pt idx="2">
                  <c:v>0.38</c:v>
                </c:pt>
                <c:pt idx="3">
                  <c:v>0.44</c:v>
                </c:pt>
                <c:pt idx="4">
                  <c:v>0.55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A222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69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7E1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669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293D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4206240"/>
            <a:ext cx="3657600" cy="3657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293D">
              <a:alpha val="92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탐색적 파일럿 연구계획서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8745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손 과제 수행 영상 기반 뇌졸중 환자 평가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8803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D9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 언어모델(VLM)에 운동학 수치·건강인 참조 정보를 더했을 때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D9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전문가 판정과의 오차가 줄어드는가 — 주 비교 A3 − A1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02920" y="5074920"/>
            <a:ext cx="2377440" cy="0"/>
          </a:xfrm>
          <a:prstGeom prst="line">
            <a:avLst/>
          </a:prstGeom>
          <a:noFill/>
          <a:ln w="25400">
            <a:solidFill>
              <a:srgbClr val="5FA8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5257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</a:rPr>
              <a:t>한동대학교 기계제어공학 · 이재용 (22000561)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9FB6C6"/>
                </a:solidFill>
              </a:rPr>
              <a:t>지도교수 내부 보고 · 2026년 9월 13일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20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개요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연구 개요 한 장 요약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00200"/>
            <a:ext cx="11183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 과제를 수행하는 뇌졸중 환자의 영상에 카메라로 측정한 움직임의 크기·시간 정보를 추가하면, 시각 언어모델(VLM)의 판정과 임상 전문가 판정 사이의 차이가 줄어드는지 조사하는 탐색적 파일럿 연구.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2697480"/>
            <a:ext cx="2603754" cy="1234440"/>
          </a:xfrm>
          <a:prstGeom prst="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02920" y="2843784"/>
            <a:ext cx="2603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4개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3374136"/>
            <a:ext cx="238429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신체 과제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(맨손·원통·구형·측면집기)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62706" y="2697480"/>
            <a:ext cx="2603754" cy="1234440"/>
          </a:xfrm>
          <a:prstGeom prst="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362706" y="2843784"/>
            <a:ext cx="2603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5종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472434" y="3374136"/>
            <a:ext cx="238429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모델 후보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(사전 실행검증 후 고정)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22492" y="2697480"/>
            <a:ext cx="2603754" cy="1234440"/>
          </a:xfrm>
          <a:prstGeom prst="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22492" y="2843784"/>
            <a:ext cx="2603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34명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332220" y="3374136"/>
            <a:ext cx="238429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개발4 · 참조15 · 환자15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82278" y="2697480"/>
            <a:ext cx="2603754" cy="1234440"/>
          </a:xfrm>
          <a:prstGeom prst="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082278" y="2843784"/>
            <a:ext cx="2603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A3−A1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192006" y="3374136"/>
            <a:ext cx="238429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 비교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(수치·품질·참조 추가 효과)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4251960"/>
            <a:ext cx="11183112" cy="1417320"/>
          </a:xfrm>
          <a:prstGeom prst="rect">
            <a:avLst>
              <a:gd name="adj" fmla="val 3871"/>
            </a:avLst>
          </a:prstGeom>
          <a:solidFill>
            <a:srgbClr val="E9EFF3"/>
          </a:solidFill>
          <a:ln w="15875">
            <a:solidFill>
              <a:srgbClr val="9FB6C6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939028" y="4453128"/>
            <a:ext cx="310896" cy="237744"/>
          </a:xfrm>
          <a:prstGeom prst="rect">
            <a:avLst>
              <a:gd name="adj" fmla="val 11538"/>
            </a:avLst>
          </a:prstGeom>
          <a:solidFill>
            <a:srgbClr val="9FB6C6"/>
          </a:solidFill>
          <a:ln/>
        </p:spPr>
      </p:sp>
      <p:sp>
        <p:nvSpPr>
          <p:cNvPr id="21" name="Shape 19"/>
          <p:cNvSpPr/>
          <p:nvPr/>
        </p:nvSpPr>
        <p:spPr>
          <a:xfrm>
            <a:off x="6030468" y="4507992"/>
            <a:ext cx="128016" cy="128016"/>
          </a:xfrm>
          <a:prstGeom prst="ellipse">
            <a:avLst/>
          </a:prstGeom>
          <a:solidFill>
            <a:srgbClr val="E9EF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800600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삽입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연구 흐름도 (촬영 → 피처 추출 → VLM 판정 → 전문가 판정 비교)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20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해결하려는 문제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91640"/>
            <a:ext cx="64922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–"/>
            </a:pPr>
            <a:r>
              <a:rPr lang="en-US" sz="170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손가락의 작은 움직임과 손·물체 관계는 정확히 해석하기 어려움</a:t>
            </a:r>
            <a:endParaRPr lang="en-US" sz="17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–"/>
            </a:pPr>
            <a:r>
              <a:rPr lang="en-US" sz="170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전용 학습 모델은 새 과제·촬영 환경마다 추가 학습자료·라벨·조정이 필요</a:t>
            </a:r>
            <a:endParaRPr lang="en-US" sz="17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–"/>
            </a:pPr>
            <a:r>
              <a:rPr lang="en-US" sz="170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사전학습 VLM은 재학습 부담을 줄일 가능성이 있으나, 영상만으로 미세 손동작을 평가하는 데 한계</a:t>
            </a:r>
            <a:endParaRPr lang="en-US" sz="17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–"/>
            </a:pPr>
            <a:r>
              <a:rPr lang="en-US" sz="170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연구: 모델 가중치를 갱신하지 않고 RGB-D 운동학 수치 · 품질 정보 · 건강인 참조정보 제공 방식의 유용성 평가</a:t>
            </a:r>
            <a:endParaRPr lang="en-US" sz="170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–"/>
            </a:pPr>
            <a:r>
              <a:rPr lang="en-US" sz="170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평가용 전문가 참조 라벨은 여전히 필요 — 전문가 없이 연구하거나 임상 평가를 대체한다는 뜻은 아님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0" y="1691640"/>
            <a:ext cx="4370832" cy="4297680"/>
          </a:xfrm>
          <a:prstGeom prst="rect">
            <a:avLst>
              <a:gd name="adj" fmla="val 1277"/>
            </a:avLst>
          </a:prstGeom>
          <a:solidFill>
            <a:srgbClr val="E9EFF3"/>
          </a:solidFill>
          <a:ln w="15875">
            <a:solidFill>
              <a:srgbClr val="9FB6C6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9345168" y="1892808"/>
            <a:ext cx="310896" cy="237744"/>
          </a:xfrm>
          <a:prstGeom prst="rect">
            <a:avLst>
              <a:gd name="adj" fmla="val 11538"/>
            </a:avLst>
          </a:prstGeom>
          <a:solidFill>
            <a:srgbClr val="9FB6C6"/>
          </a:solidFill>
          <a:ln/>
        </p:spPr>
      </p:sp>
      <p:sp>
        <p:nvSpPr>
          <p:cNvPr id="9" name="Shape 7"/>
          <p:cNvSpPr/>
          <p:nvPr/>
        </p:nvSpPr>
        <p:spPr>
          <a:xfrm>
            <a:off x="9436608" y="1947672"/>
            <a:ext cx="128016" cy="128016"/>
          </a:xfrm>
          <a:prstGeom prst="ellipse">
            <a:avLst/>
          </a:prstGeom>
          <a:solidFill>
            <a:srgbClr val="E9EF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0" y="2240280"/>
            <a:ext cx="3822192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삽입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 미세 동작(손끝-물체 접촉) 판독이 어려운 예시 스크린샷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20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선행연구 요약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83112" cy="4480560"/>
        </p:xfrm>
        <a:graphic>
          <a:graphicData uri="http://schemas.openxmlformats.org/drawingml/2006/table">
            <a:tbl>
              <a:tblPr/>
              <a:tblGrid>
                <a:gridCol w="2377440"/>
                <a:gridCol w="5394960"/>
                <a:gridCol w="3410712"/>
              </a:tblGrid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핵심 내용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본 연구와의 차이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 등 (2026)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VLM 동작이해 평가. 활동분류 77.5%(Qwen2.5-VL-7B 최적화 프롬프트)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FMA 정확도 아님 · 과제·점수·샘플링 상이, 직접 재현 아님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Parnandi 등 PrimSeq (2022)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IMU + 학습모델로 기본 동작 구분·카운트. 수작업 513.6h → 자동 1.4h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세부 동작 주석 시간 비교 · 본 연구의 FMA 검사시간과 무관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Qiu(2022) / Lang(2005,2009)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환자 8명 도달·파지 운동학과 FMA 변화의 관계 탐색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물체 운반 없이 속도기반 구간 사용 · 조작적 정의 상이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Amprimo 등 (2024)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MediaPipe + 깊이 결합 추적을 광학 모션캡처와 비교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센서·과제가 다른 D455 파지 환경의 동적 정확도 보증 아님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Tang(2025) / Wang(2024)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수치의 언어모델 입력 가능성 / 학습가능 프롬프트-영상·수치 결합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학습 방법이 아닌 동결 모델 입력 비교로 구분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20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목적과 설계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연구 목적 및 주 비교(A3−A1) 정의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45920"/>
            <a:ext cx="67665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–"/>
            </a:pPr>
            <a:r>
              <a:rPr lang="en-US" sz="16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 목적: Qwen3-VL-8B-Instruct의 A3와 A1을 비교하여, 운동학 수치·품질 정보·건강인 참조분포·해석 태그를 함께 추가했을 때 마비측 수행점수 오차가 얼마나 변하는지 추정</a:t>
            </a:r>
            <a:endParaRPr lang="en-US" sz="165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–"/>
            </a:pPr>
            <a:r>
              <a:rPr lang="en-US" sz="16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가중치는 갱신하지 않으며 정답 예시는 프롬프트에 포함하지 않음</a:t>
            </a:r>
            <a:endParaRPr lang="en-US" sz="165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–"/>
            </a:pPr>
            <a:r>
              <a:rPr lang="en-US" sz="16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 효과 = 주 모델의 환자별 짝지은 A3−A1 MAE 차이의 평균</a:t>
            </a:r>
            <a:endParaRPr lang="en-US" sz="165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–"/>
            </a:pPr>
            <a:r>
              <a:rPr lang="en-US" sz="16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신뢰구간이 0 아래 → 오차 감소 근거로 보고 (표본 제한 함께 기술)</a:t>
            </a:r>
            <a:endParaRPr lang="en-US" sz="165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–"/>
            </a:pPr>
            <a:r>
              <a:rPr lang="en-US" sz="16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구간이 0을 포함 → 방향·크기 불확실로 해석</a:t>
            </a:r>
            <a:endParaRPr lang="en-US" sz="165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–"/>
            </a:pPr>
            <a:r>
              <a:rPr lang="en-US" sz="16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 대상은 시간 제한 없는 연구용 과제 판정 — 표준 임상 평가의 우월성·대체 가능성이 아님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589520" y="1645920"/>
            <a:ext cx="4096512" cy="4389120"/>
          </a:xfrm>
          <a:prstGeom prst="rect">
            <a:avLst>
              <a:gd name="adj" fmla="val 1339"/>
            </a:avLst>
          </a:prstGeom>
          <a:solidFill>
            <a:srgbClr val="E9EFF3"/>
          </a:solidFill>
          <a:ln w="15875">
            <a:solidFill>
              <a:srgbClr val="9FB6C6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9482328" y="1847088"/>
            <a:ext cx="310896" cy="237744"/>
          </a:xfrm>
          <a:prstGeom prst="rect">
            <a:avLst>
              <a:gd name="adj" fmla="val 11538"/>
            </a:avLst>
          </a:prstGeom>
          <a:solidFill>
            <a:srgbClr val="9FB6C6"/>
          </a:solidFill>
          <a:ln/>
        </p:spPr>
      </p:sp>
      <p:sp>
        <p:nvSpPr>
          <p:cNvPr id="9" name="Shape 7"/>
          <p:cNvSpPr/>
          <p:nvPr/>
        </p:nvSpPr>
        <p:spPr>
          <a:xfrm>
            <a:off x="9573768" y="1901952"/>
            <a:ext cx="128016" cy="128016"/>
          </a:xfrm>
          <a:prstGeom prst="ellipse">
            <a:avLst/>
          </a:prstGeom>
          <a:solidFill>
            <a:srgbClr val="E9EF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63840" y="2194560"/>
            <a:ext cx="3547872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삽입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vs A3 입력 조건 개념 비교 다이어그램 (영상만 / 영상+수치+참조)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20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목적과 설계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입력 조건 비교표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4480560"/>
        </p:xfrm>
        <a:graphic>
          <a:graphicData uri="http://schemas.openxmlformats.org/drawingml/2006/table">
            <a:tbl>
              <a:tblPr/>
              <a:tblGrid>
                <a:gridCol w="1463040"/>
                <a:gridCol w="9720072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입력과 역할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같은 시행의 RGB 14프레임 + 과제 지침·프레임 시각. 운동학 수치는 미제공 (센서는 구간 선택에만 관여)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 + 양손 운동학 피처 4개씩 + 결측·품질 정보. 운동학 정보의 기여를 보는 보조 조건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 + 건강인 참조(중앙값·Q1·Q3·유효인원)·상대 위치 태그. 최종 제안 방식이자 A1과의 주 비교 조건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동일 VLM에 과제 지침 + A3의 수치·품질·참조만 제공 (이미지·프레임 제외). 영상 제거 조건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환자 참조점수를 학습하는 수치 기반 로지스틱 회귀 비교 모델 (VLM 입력 조건과 구분)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D1–D4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 모델 A2에서 F1·F2·F3·F4를 각각 하나씩 제거한 조건 (해당 품질·결측 표시도 함께 제거)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02920" y="6035040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 비교 = A3 − A1  ·  MAE(예측점수 − 전문가 참조점수) 차이, 음수이면 A3의 오차가 더 작음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20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목적과 설계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보조 비교 구조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1554480" cy="841248"/>
          </a:xfrm>
          <a:prstGeom prst="rect">
            <a:avLst>
              <a:gd name="adj" fmla="val 7609"/>
            </a:avLst>
          </a:prstGeom>
          <a:solidFill>
            <a:srgbClr val="1B3A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691640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A2 − A1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286000" y="1691640"/>
            <a:ext cx="5257800" cy="841248"/>
          </a:xfrm>
          <a:prstGeom prst="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1691640"/>
            <a:ext cx="4800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운동학 수치·품질 정보를 함께 추가한 효과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734056"/>
            <a:ext cx="1554480" cy="841248"/>
          </a:xfrm>
          <a:prstGeom prst="rect">
            <a:avLst>
              <a:gd name="adj" fmla="val 7609"/>
            </a:avLst>
          </a:prstGeom>
          <a:solidFill>
            <a:srgbClr val="1B3A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2734056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A3 − A2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286000" y="2734056"/>
            <a:ext cx="5257800" cy="841248"/>
          </a:xfrm>
          <a:prstGeom prst="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14600" y="2734056"/>
            <a:ext cx="4800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건강인 참조분포·해석 태그를 함께 추가한 효과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776472"/>
            <a:ext cx="1554480" cy="841248"/>
          </a:xfrm>
          <a:prstGeom prst="rect">
            <a:avLst>
              <a:gd name="adj" fmla="val 7609"/>
            </a:avLst>
          </a:prstGeom>
          <a:solidFill>
            <a:srgbClr val="1B3A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2920" y="3776472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A3 − A4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286000" y="3776472"/>
            <a:ext cx="5257800" cy="841248"/>
          </a:xfrm>
          <a:prstGeom prst="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514600" y="3776472"/>
            <a:ext cx="4800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수치·참조가 있는 상황에서 영상·프레임 시각 정보를 추가한 효과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4818888"/>
            <a:ext cx="1554480" cy="841248"/>
          </a:xfrm>
          <a:prstGeom prst="rect">
            <a:avLst>
              <a:gd name="adj" fmla="val 7609"/>
            </a:avLst>
          </a:prstGeom>
          <a:solidFill>
            <a:srgbClr val="1B3A5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02920" y="4818888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A3 − A0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2286000" y="4818888"/>
            <a:ext cx="5257800" cy="841248"/>
          </a:xfrm>
          <a:prstGeom prst="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514600" y="4818888"/>
            <a:ext cx="4800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지도학습 수치 모델과의 실용적 비교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863840" y="1691640"/>
            <a:ext cx="3822192" cy="3968496"/>
          </a:xfrm>
          <a:prstGeom prst="rect">
            <a:avLst>
              <a:gd name="adj" fmla="val 1675"/>
            </a:avLst>
          </a:prstGeom>
          <a:solidFill>
            <a:srgbClr val="E9EFF3"/>
          </a:solidFill>
          <a:ln w="12700">
            <a:solidFill>
              <a:srgbClr val="9FB6C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38160" y="1920240"/>
            <a:ext cx="3273552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B3A5C"/>
                </a:solidFill>
              </a:rPr>
              <a:t>유의사항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1A2229"/>
                </a:solidFill>
              </a:rPr>
              <a:t>정보 묶음 내부 요소를 모두 개별 분리했다고 주장하지 않음. 묶음 간 상호작용은 별도 추정하지 않음.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B3A5C"/>
                </a:solidFill>
              </a:rPr>
              <a:t>D1–D4 (피처 소거)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229"/>
                </a:solidFill>
              </a:rPr>
              <a:t>다른 피처가 있는 상황에서 해당 피처를 제거한 조건부 영향만 확인 — 모든 부분집합을 시험하지 않으므로 최소·최적 조합 발견을 주장하지 않음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20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대상자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대상자 구성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6858000" cy="283464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1097280"/>
                <a:gridCol w="3200400"/>
              </a:tblGrid>
              <a:tr h="7086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주요 기준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개발 건강인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20–80세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신경학적·정형외과적 질환 없음 · 최종 성능 분석에서 제외 (파이프라인 점검용)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건강인 참조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40–80세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동일 질환 없는 성인 · 정상 참조분포 산출용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환자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40–80세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뇌졸중 후 3개월 이상, 일측 편마비, Brunnstrom 손 회복 III–V 단계, 지시 이해·착석 수행 가능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02920" y="461772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참가자는 4개 과제를 각각 8회 양손 동시 수행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마비측이 주 분석 / 비마비측은 보조 분석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마비측 여부는 모델에 알려주지 않음 (사전정보 의존 판단을 줄이기 위함)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15명은 파일럿 표본이며 특정 효과에 대한 충분한 검정력을 보증하지 않음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589520" y="1600200"/>
            <a:ext cx="4096512" cy="4754880"/>
          </a:xfrm>
          <a:prstGeom prst="rect">
            <a:avLst>
              <a:gd name="adj" fmla="val 1339"/>
            </a:avLst>
          </a:prstGeom>
          <a:solidFill>
            <a:srgbClr val="E9EFF3"/>
          </a:solidFill>
          <a:ln w="15875">
            <a:solidFill>
              <a:srgbClr val="9FB6C6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9482328" y="1801368"/>
            <a:ext cx="310896" cy="237744"/>
          </a:xfrm>
          <a:prstGeom prst="rect">
            <a:avLst>
              <a:gd name="adj" fmla="val 11538"/>
            </a:avLst>
          </a:prstGeom>
          <a:solidFill>
            <a:srgbClr val="9FB6C6"/>
          </a:solidFill>
          <a:ln/>
        </p:spPr>
      </p:sp>
      <p:sp>
        <p:nvSpPr>
          <p:cNvPr id="10" name="Shape 7"/>
          <p:cNvSpPr/>
          <p:nvPr/>
        </p:nvSpPr>
        <p:spPr>
          <a:xfrm>
            <a:off x="9573768" y="1856232"/>
            <a:ext cx="128016" cy="128016"/>
          </a:xfrm>
          <a:prstGeom prst="ellipse">
            <a:avLst/>
          </a:prstGeom>
          <a:solidFill>
            <a:srgbClr val="E9EF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63840" y="2148840"/>
            <a:ext cx="3547872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삽입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촬영 셋업 / 작업대 배치 사진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20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대상자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윤리 및 안전 절차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5408676" cy="1170432"/>
          </a:xfrm>
          <a:prstGeom prst="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63500" dist="25400" dir="5400000">
              <a:srgbClr val="1B3A5C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84708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24712" y="1755648"/>
            <a:ext cx="45857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IRB 승인 · 서면 동의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176272"/>
            <a:ext cx="4951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기관생명윤리위원회 승인 및 서면 동의 후 모집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7356" y="1645920"/>
            <a:ext cx="5408676" cy="1170432"/>
          </a:xfrm>
          <a:prstGeom prst="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63500" dist="25400" dir="5400000">
              <a:srgbClr val="1B3A5C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05956" y="184708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99148" y="1755648"/>
            <a:ext cx="45857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촬영 범위 제한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505956" y="2176272"/>
            <a:ext cx="4951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얼굴을 제외한 손과 작업대만 촬영, 로컬 환경에서 분석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017520"/>
            <a:ext cx="5408676" cy="1170432"/>
          </a:xfrm>
          <a:prstGeom prst="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63500" dist="25400" dir="5400000">
              <a:srgbClr val="1B3A5C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21868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24712" y="3127248"/>
            <a:ext cx="45857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즉시 중단 기준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547872"/>
            <a:ext cx="4951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통증·피로·거부 시 즉시 중단, 임상 담당자가 지속 부담 판단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77356" y="3017520"/>
            <a:ext cx="5408676" cy="1170432"/>
          </a:xfrm>
          <a:prstGeom prst="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63500" dist="25400" dir="5400000">
              <a:srgbClr val="1B3A5C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05956" y="321868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99148" y="3127248"/>
            <a:ext cx="45857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공정한 기록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6505956" y="3547872"/>
            <a:ext cx="4951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단순히 시간이 오래 걸린다는 이유로 실패 점수를 주지 않음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4389120"/>
            <a:ext cx="5408676" cy="1170432"/>
          </a:xfrm>
          <a:prstGeom prst="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63500" dist="25400" dir="5400000">
              <a:srgbClr val="1B3A5C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459028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124712" y="4498848"/>
            <a:ext cx="45857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중단 사유 기록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4919472"/>
            <a:ext cx="4951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중단 이유·관찰 가능 범위를 기록하고 완료·실패와 구분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77356" y="4389120"/>
            <a:ext cx="5408676" cy="1170432"/>
          </a:xfrm>
          <a:prstGeom prst="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63500" dist="25400" dir="5400000">
              <a:srgbClr val="1B3A5C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05956" y="459028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99148" y="4498848"/>
            <a:ext cx="45857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관리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6505956" y="4919472"/>
            <a:ext cx="4951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접근권한·보관기간·백업·삭제는 기관 승인 절차에 따름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20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피처 정의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4개 피처(F1–F4) 정의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183112" cy="2743200"/>
        </p:xfrm>
        <a:graphic>
          <a:graphicData uri="http://schemas.openxmlformats.org/drawingml/2006/table">
            <a:tbl>
              <a:tblPr/>
              <a:tblGrid>
                <a:gridCol w="2286000"/>
                <a:gridCol w="3749040"/>
                <a:gridCol w="3749040"/>
                <a:gridCol w="139903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피처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물체 과제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맨손 과제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움직임 크기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획득 구간 a(t)의 최대값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준비정지 r(t) 중앙값 − 획득구간 r(t) 최솟값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 극값 도달시간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획득 시작 → F1 최대값 최초 발생까지 시간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획득 시작 → r(t) 최솟값 최초 발생까지 시간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 유지 중 변동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유지 후보 구간 전체 a(t)의 표본표준편차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유지 후보 구간 전체 r(t)의 표본표준편차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 개방 변화량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해제구간 마지막 20% − 첫 20% a(t) 중앙값 차이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해제구간 마지막 20% − 첫 20% r(t) 중앙값 차이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02920" y="4617720"/>
            <a:ext cx="1118311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a(t): 엄지 끝–검지 끝(측면 집기는 검지 PIP) 3차원 거리 · r(t): 검지·중지·약지·소지 끝–손목 거리 4개 평균 (4개 모두 유효할 때만 계산)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동률 극값은 최초 시점 사용 · F3는 유효 관측 5개 미만이면 null · F4 양 끝 구간은 각 3개 이상 &amp; 겹치지 않아야 함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2920" y="5623560"/>
            <a:ext cx="11183112" cy="777240"/>
          </a:xfrm>
          <a:prstGeom prst="rect">
            <a:avLst>
              <a:gd name="adj" fmla="val 7059"/>
            </a:avLst>
          </a:prstGeom>
          <a:solidFill>
            <a:srgbClr val="E9EFF3"/>
          </a:solidFill>
          <a:ln w="15875">
            <a:solidFill>
              <a:srgbClr val="9FB6C6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777240" y="562356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삽입  </a:t>
            </a:r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a(t), r(t) 정의를 보여주는 손 랜드마크 다이어그램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20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과제·데이터 수집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4개 과제 소개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5454396" cy="2103120"/>
          </a:xfrm>
          <a:prstGeom prst="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63500" dist="25400" dir="5400000">
              <a:srgbClr val="1B3A5C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783080"/>
            <a:ext cx="1417320" cy="1737360"/>
          </a:xfrm>
          <a:prstGeom prst="rect">
            <a:avLst>
              <a:gd name="adj" fmla="val 3871"/>
            </a:avLst>
          </a:prstGeom>
          <a:solidFill>
            <a:srgbClr val="E9EFF3"/>
          </a:solidFill>
          <a:ln w="15875">
            <a:solidFill>
              <a:srgbClr val="9FB6C6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239012" y="1984248"/>
            <a:ext cx="310896" cy="237744"/>
          </a:xfrm>
          <a:prstGeom prst="rect">
            <a:avLst>
              <a:gd name="adj" fmla="val 11538"/>
            </a:avLst>
          </a:prstGeom>
          <a:solidFill>
            <a:srgbClr val="9FB6C6"/>
          </a:solidFill>
          <a:ln/>
        </p:spPr>
      </p:sp>
      <p:sp>
        <p:nvSpPr>
          <p:cNvPr id="9" name="Shape 7"/>
          <p:cNvSpPr/>
          <p:nvPr/>
        </p:nvSpPr>
        <p:spPr>
          <a:xfrm>
            <a:off x="1330452" y="2039112"/>
            <a:ext cx="128016" cy="128016"/>
          </a:xfrm>
          <a:prstGeom prst="ellipse">
            <a:avLst/>
          </a:prstGeom>
          <a:solidFill>
            <a:srgbClr val="E9EF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2331720"/>
            <a:ext cx="868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삽입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1783080"/>
            <a:ext cx="3534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맨손 쥐기와 펴기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2194560"/>
            <a:ext cx="35341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물체 없이 네 손가락을 굽혀 손끝이 손바닥에 닿는 주먹을 만들고, 형태를 잠시 유지한 뒤 시작 자세까지 능동적으로 편다.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31636" y="1600200"/>
            <a:ext cx="5454396" cy="2103120"/>
          </a:xfrm>
          <a:prstGeom prst="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63500" dist="25400" dir="5400000">
              <a:srgbClr val="1B3A5C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14516" y="1783080"/>
            <a:ext cx="1417320" cy="1737360"/>
          </a:xfrm>
          <a:prstGeom prst="rect">
            <a:avLst>
              <a:gd name="adj" fmla="val 3871"/>
            </a:avLst>
          </a:prstGeom>
          <a:solidFill>
            <a:srgbClr val="E9EFF3"/>
          </a:solidFill>
          <a:ln w="15875">
            <a:solidFill>
              <a:srgbClr val="9FB6C6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967728" y="1984248"/>
            <a:ext cx="310896" cy="237744"/>
          </a:xfrm>
          <a:prstGeom prst="rect">
            <a:avLst>
              <a:gd name="adj" fmla="val 11538"/>
            </a:avLst>
          </a:prstGeom>
          <a:solidFill>
            <a:srgbClr val="9FB6C6"/>
          </a:solidFill>
          <a:ln/>
        </p:spPr>
      </p:sp>
      <p:sp>
        <p:nvSpPr>
          <p:cNvPr id="16" name="Shape 14"/>
          <p:cNvSpPr/>
          <p:nvPr/>
        </p:nvSpPr>
        <p:spPr>
          <a:xfrm>
            <a:off x="7059168" y="2039112"/>
            <a:ext cx="128016" cy="128016"/>
          </a:xfrm>
          <a:prstGeom prst="ellipse">
            <a:avLst/>
          </a:prstGeom>
          <a:solidFill>
            <a:srgbClr val="E9EF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88836" y="2331720"/>
            <a:ext cx="868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삽입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968996" y="1783080"/>
            <a:ext cx="3534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원통 파지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968996" y="2194560"/>
            <a:ext cx="35341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지름 5cm, 높이 10cm 무광 PLA 원통. 엄지와 다른 손가락이 대향하여 물체를 감싸 접촉.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3931920"/>
            <a:ext cx="5454396" cy="2103120"/>
          </a:xfrm>
          <a:prstGeom prst="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63500" dist="25400" dir="5400000">
              <a:srgbClr val="1B3A5C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4114800"/>
            <a:ext cx="1417320" cy="1737360"/>
          </a:xfrm>
          <a:prstGeom prst="rect">
            <a:avLst>
              <a:gd name="adj" fmla="val 3871"/>
            </a:avLst>
          </a:prstGeom>
          <a:solidFill>
            <a:srgbClr val="E9EFF3"/>
          </a:solidFill>
          <a:ln w="15875">
            <a:solidFill>
              <a:srgbClr val="9FB6C6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1239012" y="4315968"/>
            <a:ext cx="310896" cy="237744"/>
          </a:xfrm>
          <a:prstGeom prst="rect">
            <a:avLst>
              <a:gd name="adj" fmla="val 11538"/>
            </a:avLst>
          </a:prstGeom>
          <a:solidFill>
            <a:srgbClr val="9FB6C6"/>
          </a:solidFill>
          <a:ln/>
        </p:spPr>
      </p:sp>
      <p:sp>
        <p:nvSpPr>
          <p:cNvPr id="23" name="Shape 21"/>
          <p:cNvSpPr/>
          <p:nvPr/>
        </p:nvSpPr>
        <p:spPr>
          <a:xfrm>
            <a:off x="1330452" y="4370832"/>
            <a:ext cx="128016" cy="128016"/>
          </a:xfrm>
          <a:prstGeom prst="ellipse">
            <a:avLst/>
          </a:prstGeom>
          <a:solidFill>
            <a:srgbClr val="E9EF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0120" y="4663440"/>
            <a:ext cx="868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삽입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2240280" y="4114800"/>
            <a:ext cx="3534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구형 파지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2240280" y="4526280"/>
            <a:ext cx="35341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지름 7cm 무광 PLA 구, 낮은 링 받침 사용. 엄지와 굽힌 손가락이 대향하여 구를 감싸 접촉.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231636" y="3931920"/>
            <a:ext cx="5454396" cy="2103120"/>
          </a:xfrm>
          <a:prstGeom prst="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63500" dist="25400" dir="5400000">
              <a:srgbClr val="1B3A5C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14516" y="4114800"/>
            <a:ext cx="1417320" cy="1737360"/>
          </a:xfrm>
          <a:prstGeom prst="rect">
            <a:avLst>
              <a:gd name="adj" fmla="val 3871"/>
            </a:avLst>
          </a:prstGeom>
          <a:solidFill>
            <a:srgbClr val="E9EFF3"/>
          </a:solidFill>
          <a:ln w="15875">
            <a:solidFill>
              <a:srgbClr val="9FB6C6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967728" y="4315968"/>
            <a:ext cx="310896" cy="237744"/>
          </a:xfrm>
          <a:prstGeom prst="rect">
            <a:avLst>
              <a:gd name="adj" fmla="val 11538"/>
            </a:avLst>
          </a:prstGeom>
          <a:solidFill>
            <a:srgbClr val="9FB6C6"/>
          </a:solidFill>
          <a:ln/>
        </p:spPr>
      </p:sp>
      <p:sp>
        <p:nvSpPr>
          <p:cNvPr id="30" name="Shape 28"/>
          <p:cNvSpPr/>
          <p:nvPr/>
        </p:nvSpPr>
        <p:spPr>
          <a:xfrm>
            <a:off x="7059168" y="4370832"/>
            <a:ext cx="128016" cy="128016"/>
          </a:xfrm>
          <a:prstGeom prst="ellipse">
            <a:avLst/>
          </a:prstGeom>
          <a:solidFill>
            <a:srgbClr val="E9EF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88836" y="4663440"/>
            <a:ext cx="868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삽입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7968996" y="4114800"/>
            <a:ext cx="3534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측면 집기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968996" y="4526280"/>
            <a:ext cx="35341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두께 1.5cm·폭 4cm·높이 7cm 무광 PLA 블록. 엄지 끝과 검지 측면으로 접촉해 집는 형태.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6144768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공통: 테이블에 물체를 두고 들기·운반·저항 검사 없음. 누르는 힘은 요구·채점하지 않음.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20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과제·데이터 수집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시행 절차 및 순서 균형화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45920"/>
            <a:ext cx="6309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–"/>
            </a:pPr>
            <a:r>
              <a:rPr lang="en-US" sz="15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과제별 1회 연습 후 8회 기록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–"/>
            </a:pPr>
            <a:r>
              <a:rPr lang="en-US" sz="15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4가지 과제 순서를 균형 배정 — 각 과제의 수행 위치와 직전·직후 조합이 균형을 이루도록 설계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–"/>
            </a:pPr>
            <a:r>
              <a:rPr lang="en-US" sz="15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배정 순서는 집단별 사전 무작위화 후 저장 (seed 고정)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–"/>
            </a:pPr>
            <a:r>
              <a:rPr lang="en-US" sz="15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 실패를 이유로 성공할 때까지 추가 촬영하지 않음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–"/>
            </a:pPr>
            <a:r>
              <a:rPr lang="en-US" sz="15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 문제로 재촬영 시 원 시행과 사유를 보존하고 첫 기술적 유효 기록을 사용</a:t>
            </a:r>
            <a:endParaRPr lang="en-US" sz="15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709160"/>
          <a:ext cx="6309360" cy="1645920"/>
        </p:xfrm>
        <a:graphic>
          <a:graphicData uri="http://schemas.openxmlformats.org/drawingml/2006/table">
            <a:tbl>
              <a:tblPr/>
              <a:tblGrid>
                <a:gridCol w="1005840"/>
                <a:gridCol w="1828800"/>
                <a:gridCol w="1554480"/>
                <a:gridCol w="19202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순서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과제 배열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개발군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참조/환자군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1-2-4-3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2-3-1-4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3-4-2-1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④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4-1-3-2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452360" y="1645920"/>
            <a:ext cx="4233672" cy="4709160"/>
          </a:xfrm>
          <a:prstGeom prst="rect">
            <a:avLst>
              <a:gd name="adj" fmla="val 1296"/>
            </a:avLst>
          </a:prstGeom>
          <a:solidFill>
            <a:srgbClr val="E9EFF3"/>
          </a:solidFill>
          <a:ln w="15875">
            <a:solidFill>
              <a:srgbClr val="9FB6C6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9413748" y="1847088"/>
            <a:ext cx="310896" cy="237744"/>
          </a:xfrm>
          <a:prstGeom prst="rect">
            <a:avLst>
              <a:gd name="adj" fmla="val 11538"/>
            </a:avLst>
          </a:prstGeom>
          <a:solidFill>
            <a:srgbClr val="9FB6C6"/>
          </a:solidFill>
          <a:ln/>
        </p:spPr>
      </p:sp>
      <p:sp>
        <p:nvSpPr>
          <p:cNvPr id="10" name="Shape 7"/>
          <p:cNvSpPr/>
          <p:nvPr/>
        </p:nvSpPr>
        <p:spPr>
          <a:xfrm>
            <a:off x="9505188" y="1901952"/>
            <a:ext cx="128016" cy="128016"/>
          </a:xfrm>
          <a:prstGeom prst="ellipse">
            <a:avLst/>
          </a:prstGeom>
          <a:solidFill>
            <a:srgbClr val="E9EF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26680" y="2194560"/>
            <a:ext cx="368503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삽입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순서 배정 다이어그램 또는 촬영 진행 흐름 사진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20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과제·데이터 수집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14프레임 선택 규칙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45920"/>
            <a:ext cx="111831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5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피처는 해부학적 왼손·오른손 속도 경계로 각각 계산, 영상은 한 요청에서 양손을 함께 판정하기 위해 공통 14프레임 사용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5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획득 시작(두 손 중 이른 시점) ~ 공통 종료(해제 종료 중 늦은 시점)로 공통 구간 정의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5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구간 분할 실패 시 전체 원본 구간을 14개 상대 시점으로 균등 추출하여 대체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02920" y="3657600"/>
            <a:ext cx="4808738" cy="502920"/>
          </a:xfrm>
          <a:prstGeom prst="rect">
            <a:avLst/>
          </a:prstGeom>
          <a:solidFill>
            <a:srgbClr val="1B3A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3657600"/>
            <a:ext cx="4808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획득 구간 · 6장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311658" y="3657600"/>
            <a:ext cx="1565636" cy="502920"/>
          </a:xfrm>
          <a:prstGeom prst="rect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11658" y="3657600"/>
            <a:ext cx="15656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 후보 · 2장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77294" y="3657600"/>
            <a:ext cx="4808738" cy="502920"/>
          </a:xfrm>
          <a:prstGeom prst="rect">
            <a:avLst/>
          </a:prstGeom>
          <a:solidFill>
            <a:srgbClr val="1B3A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77294" y="3657600"/>
            <a:ext cx="4808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해제 구간 · 6장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4270248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획득: 0·20·40·60·80·100%   유지 후보: 25·75%   해제: 0·20·40·60·80·100%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470916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대안 후보 (개발 자료에서 유지 단계 관찰 부족이 확인될 경우 비교): 획득 5장 + 유지 4장 + 해제 5장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5257800"/>
            <a:ext cx="11183112" cy="1051560"/>
          </a:xfrm>
          <a:prstGeom prst="rect">
            <a:avLst>
              <a:gd name="adj" fmla="val 5217"/>
            </a:avLst>
          </a:prstGeom>
          <a:solidFill>
            <a:srgbClr val="E9EFF3"/>
          </a:solidFill>
          <a:ln w="15875">
            <a:solidFill>
              <a:srgbClr val="9FB6C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939028" y="5458968"/>
            <a:ext cx="310896" cy="237744"/>
          </a:xfrm>
          <a:prstGeom prst="rect">
            <a:avLst>
              <a:gd name="adj" fmla="val 11538"/>
            </a:avLst>
          </a:prstGeom>
          <a:solidFill>
            <a:srgbClr val="9FB6C6"/>
          </a:solidFill>
          <a:ln/>
        </p:spPr>
      </p:sp>
      <p:sp>
        <p:nvSpPr>
          <p:cNvPr id="17" name="Shape 15"/>
          <p:cNvSpPr/>
          <p:nvPr/>
        </p:nvSpPr>
        <p:spPr>
          <a:xfrm>
            <a:off x="6030468" y="5513832"/>
            <a:ext cx="128016" cy="128016"/>
          </a:xfrm>
          <a:prstGeom prst="ellipse">
            <a:avLst/>
          </a:prstGeom>
          <a:solidFill>
            <a:srgbClr val="E9EF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580644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삽입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14프레임 타임라인 시각화 (원본 프레임 예시 이미지)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VII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20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모델·판정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실행 후보 5종 및 사전 고정 원칙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6537960" cy="3063240"/>
        </p:xfrm>
        <a:graphic>
          <a:graphicData uri="http://schemas.openxmlformats.org/drawingml/2006/table">
            <a:tbl>
              <a:tblPr/>
              <a:tblGrid>
                <a:gridCol w="3383280"/>
                <a:gridCol w="3154680"/>
              </a:tblGrid>
              <a:tr h="5105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공식 모델 후보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Qwen2.5-VL-32B-Instruct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 모델 — A1–A4 및 D1–D4 전부 실행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Qwen2.5-VL-72B-Instruct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더 큰 Qwen 계열의 보조 비교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Qwen3-VL-8B-Instruct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 모델 패밀리의 최신 모델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LLaVA-NeXT-Video-7B-hf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기존 연구의 모델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llava-onevision-7b-ov-hf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기존 연구의 모델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02920" y="4846320"/>
            <a:ext cx="6537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장비에서 실행 검증을 통과한 목록을 환자 평가 전에 고정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 모델이 실행되지 않으면 환자 평가를 시작하지 않고 계획을 수정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보조 모델 제외는 환자 성능을 보기 전, 기술적 실행 실패로만 결정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178040" y="1600200"/>
            <a:ext cx="4507992" cy="4800600"/>
          </a:xfrm>
          <a:prstGeom prst="rect">
            <a:avLst>
              <a:gd name="adj" fmla="val 1217"/>
            </a:avLst>
          </a:prstGeom>
          <a:solidFill>
            <a:srgbClr val="E9EFF3"/>
          </a:solidFill>
          <a:ln w="15875">
            <a:solidFill>
              <a:srgbClr val="9FB6C6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9276588" y="1801368"/>
            <a:ext cx="310896" cy="237744"/>
          </a:xfrm>
          <a:prstGeom prst="rect">
            <a:avLst>
              <a:gd name="adj" fmla="val 11538"/>
            </a:avLst>
          </a:prstGeom>
          <a:solidFill>
            <a:srgbClr val="9FB6C6"/>
          </a:solidFill>
          <a:ln/>
        </p:spPr>
      </p:sp>
      <p:sp>
        <p:nvSpPr>
          <p:cNvPr id="10" name="Shape 7"/>
          <p:cNvSpPr/>
          <p:nvPr/>
        </p:nvSpPr>
        <p:spPr>
          <a:xfrm>
            <a:off x="9368028" y="1856232"/>
            <a:ext cx="128016" cy="128016"/>
          </a:xfrm>
          <a:prstGeom prst="ellipse">
            <a:avLst/>
          </a:prstGeom>
          <a:solidFill>
            <a:srgbClr val="E9EF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52360" y="2148840"/>
            <a:ext cx="395935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삽입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5종 모델 로고 / 파라미터 규모 비교 그래픽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VII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20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모델·판정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전문가 판정 체계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45920"/>
            <a:ext cx="111831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5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임상 전문가 2인이 모델 출력·운동학 수치·건강인 참조를 보지 않고 전체 원본 영상을 독립 판독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5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손에서 형성(formation) → 유지(hold) → 해제(release)/펴기 순서로 판독, 고정 초 기준 없음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5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독립 판정의 일치율 우선 보고 → 가중 카파(선형가중) → 불일치는 합의, 미해결 시 제3전문가</a:t>
            </a:r>
            <a:endParaRPr lang="en-US" sz="15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566160"/>
          <a:ext cx="11183112" cy="2651760"/>
        </p:xfrm>
        <a:graphic>
          <a:graphicData uri="http://schemas.openxmlformats.org/drawingml/2006/table">
            <a:tbl>
              <a:tblPr/>
              <a:tblGrid>
                <a:gridCol w="1188720"/>
                <a:gridCol w="9994392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점수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변환 규칙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형성 미완료가 확인됨 — 유지·해제는 not_applicable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형성 완료이고, 유지 또는 해제 중 하나 이상이 미완료로 확인됨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형성·유지·해제 모두 완료 (해당 과제 완료를 뜻함, 정상 손 기능을 뜻하지 않음)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형성 상태 불명확 또는 후속 상태가 충분히 결정되지 않음 — 주 점수 분석에서 제외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VIII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20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분석·결론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분석 계획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45920"/>
            <a:ext cx="6309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–"/>
            </a:pPr>
            <a:r>
              <a:rPr lang="en-US" sz="14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 분석: 마비측에서 전문가 점수와 A1·A3 유효 점수가 모두 있는 시행을 짝지어, 환자별 A3−A1 MAE 차이 산출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–"/>
            </a:pPr>
            <a:r>
              <a:rPr lang="en-US" sz="14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10,000회 부트스트랩(환자 복원추출)으로 95% 신뢰구간 산출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–"/>
            </a:pPr>
            <a:r>
              <a:rPr lang="en-US" sz="14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환자 10명 미만이면 확정적 해석 유보, 개인별 결과·실패율 중심 보고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–"/>
            </a:pPr>
            <a:r>
              <a:rPr lang="en-US" sz="14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유효 판독률(coverage): 전문가 참조점수가 있는 시행 중 모델이 유효 점수를 낸 비율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–"/>
            </a:pPr>
            <a:r>
              <a:rPr lang="en-US" sz="14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보조 지표: 정확 일치율, 0·1·2 혼동행렬, 형성 미완료→완료 오판율(접촉 오판)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–"/>
            </a:pPr>
            <a:r>
              <a:rPr lang="en-US" sz="14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 비교 모델: L2 정규화 다항 로지스틱 회귀, LOSO(환자 단위) 교차검증</a:t>
            </a:r>
            <a:endParaRPr lang="en-US" sz="14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452360" y="1737360"/>
          <a:ext cx="4233672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452360" y="4800600"/>
            <a:ext cx="4233672" cy="1417320"/>
          </a:xfrm>
          <a:prstGeom prst="rect">
            <a:avLst>
              <a:gd name="adj" fmla="val 3871"/>
            </a:avLst>
          </a:prstGeom>
          <a:solidFill>
            <a:srgbClr val="E9EFF3"/>
          </a:solidFill>
          <a:ln w="15875">
            <a:solidFill>
              <a:srgbClr val="9FB6C6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9413748" y="5001768"/>
            <a:ext cx="310896" cy="237744"/>
          </a:xfrm>
          <a:prstGeom prst="rect">
            <a:avLst>
              <a:gd name="adj" fmla="val 11538"/>
            </a:avLst>
          </a:prstGeom>
          <a:solidFill>
            <a:srgbClr val="9FB6C6"/>
          </a:solidFill>
          <a:ln/>
        </p:spPr>
      </p:sp>
      <p:sp>
        <p:nvSpPr>
          <p:cNvPr id="10" name="Shape 7"/>
          <p:cNvSpPr/>
          <p:nvPr/>
        </p:nvSpPr>
        <p:spPr>
          <a:xfrm>
            <a:off x="9505188" y="5056632"/>
            <a:ext cx="128016" cy="128016"/>
          </a:xfrm>
          <a:prstGeom prst="ellipse">
            <a:avLst/>
          </a:prstGeom>
          <a:solidFill>
            <a:srgbClr val="E9EF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26680" y="5349240"/>
            <a:ext cx="3685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삽입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 그래프는 개념 예시입니다 — 실제 결과 산출 후 값 교체 필요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384048" cy="384048"/>
          </a:xfrm>
          <a:prstGeom prst="ellipse">
            <a:avLst/>
          </a:prstGeom>
          <a:solidFill>
            <a:srgbClr val="5FA8B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VIII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20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분석·결론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기대 기여와 한계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737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FA8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기대 기여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제한된 환경에서 속도 기반 선택 영상에 운동학 수치·품질·건강인 참조를 더한 효과·실패율·실행 부담을 A3−A1 주 비교로 제시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A2−A1, A3−A2 보조 비교로 정보 요소별 기여를 탐색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수치가 도움되지 않거나 구간 검출이 불안정한 결과도 후속 설계의 근거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737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FA8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한계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소규모 파일럿(환자 15명) — 특정 효과에 대한 검정력을 보증하지 않음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 기반 구간 분할은 잡음·느린 움직임에 영향받음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양손 동시 수행 결과를 단측 수행에 일반화하지 않음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14프레임 관찰 제한 — 무인화 완성·임상 대체·재활 효과 향상은 주장하지 않음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5806440"/>
            <a:ext cx="11183112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598932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논의 및 질의응답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2026-09-13T16:36:44Z</dcterms:created>
  <dcterms:modified xsi:type="dcterms:W3CDTF">2026-09-13T16:36:44Z</dcterms:modified>
</cp:coreProperties>
</file>