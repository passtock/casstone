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5486400" cy="502920"/>
          </a:xfrm>
          <a:prstGeom prst="roundRect">
            <a:avLst/>
          </a:prstGeom>
          <a:solidFill>
            <a:srgbClr val="14234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284C7"/>
                </a:solidFill>
                <a:latin typeface="맑은 고딕"/>
                <a:ea typeface="맑은 고딕"/>
              </a:rPr>
              <a:t>캡스톤디자인 2026  |  AI-로봇 상지 재활 융합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RGB-D 운동학 정보를 활용한
양손 손 과제 VLM 평가 파일럿 연구</a:t>
            </a:r>
          </a:p>
          <a:p>
            <a:pPr>
              <a:spcBef>
                <a:spcPts val="1800"/>
              </a:spcBef>
            </a:pPr>
            <a:r>
              <a:rPr sz="1900" b="0" i="0">
                <a:solidFill>
                  <a:srgbClr val="94A3B8"/>
                </a:solidFill>
                <a:latin typeface="맑은 고딕"/>
                <a:ea typeface="맑은 고딕"/>
              </a:rPr>
              <a:t>시각적 환각(Visual Hallucination) 제어를 위한 3D 물리 공간 수치 주입 및 로컬 VLM 실증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43400"/>
            <a:ext cx="10362895" cy="2286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한동대학교 기계제어공학부  |  Human Robotics Lab  |  22000561 이재용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CBD5E1"/>
                </a:solidFill>
                <a:latin typeface="맑은 고딕"/>
                <a:ea typeface="맑은 고딕"/>
              </a:rPr>
              <a:t>• 하드웨어: 단일 PC NVIDIA RTX 5090 (32GB VRAM)  |  100% 로컬 온프레미스 구동
• 보안 정책: 외부 상용 API(OpenAI/Gemini) 완전 배제  |  환자 의료 비디오 100% 오프라인 완결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01  |  CLINICAL BURDEN &amp;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연구 배경: 상지 재활 평가의 중요성과 극심한 비디오 판독 병목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DC2626"/>
                </a:solidFill>
                <a:latin typeface="맑은 고딕"/>
                <a:ea typeface="맑은 고딕"/>
              </a:rPr>
              <a:t>[임상적 필요성] </a:t>
            </a:r>
            <a:r>
              <a:rPr sz="1700" b="1" i="0">
                <a:solidFill>
                  <a:srgbClr val="102C57"/>
                </a:solidFill>
                <a:latin typeface="맑은 고딕"/>
                <a:ea typeface="맑은 고딕"/>
              </a:rPr>
              <a:t>임상적 문제점 및 정량적 한계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임상 평가의 한계: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뇌졸중 손 기능(FMA-UE) 평가는 치료사의 1:1 대면 관찰과 수작업 채점에 의존하여 피로도와 평가자 간 편차가 큼.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비디오 판독의 벽: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선행연구 PrimSeq(2022)에서 6.4시간 재활 비디오 분석에 숙련된 전문가 513.6시간이 소모됨을 실증.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AI 자동화 필요성: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딥러닝 파이프라인 도입 시 1.4시간 만에 완료하여 사람 대비 366배 고속화 실증.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기존 AI의 한계: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미세 관절 수치가 없어 '단순 대기'와 '물체 유지'를 구분하지 못함.</a:t>
            </a:r>
          </a:p>
        </p:txBody>
      </p:sp>
      <p:pic>
        <p:nvPicPr>
          <p:cNvPr id="6" name="Picture 5" descr="fig_prim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42255" cy="35512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핵심 과제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치료사의 비디오 판독 부담을 획기적으로 경감하고 객관성을 보장할 'AI 기반 사전 채점 보조 파이프라인' 구축이 시급함.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02  |  OPPORTUNITY &amp;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VLM의 기회와 치명적 병목: 시각적 환각 (Visual Hallucination)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DC2626"/>
                </a:solidFill>
                <a:latin typeface="맑은 고딕"/>
                <a:ea typeface="맑은 고딕"/>
              </a:rPr>
              <a:t>[치명적 병목] </a:t>
            </a:r>
            <a:r>
              <a:rPr sz="1700" b="1" i="0">
                <a:solidFill>
                  <a:srgbClr val="102C57"/>
                </a:solidFill>
                <a:latin typeface="맑은 고딕"/>
                <a:ea typeface="맑은 고딕"/>
              </a:rPr>
              <a:t>순수 영상 VLM의 실패 원인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VLM의 장점: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Zero-shot 일반화로 자연어 지침과 비디오만으로 행동 추론 가능 (고수준 행동 77.5% 정확도).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NYU 연구의 경고: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Li 등(2026, PLOS Digital Health) 15개 최신 VLM 평가 결과, 손가락 FMA 점수 예측은 '무작위 찍기' 수준.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시각적 환각: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손이 물체 근처를 스치기만 했는데도 '잡았다'고 오판하거나, 시도하지 않은 동작을 허구로 보고.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공간 정보 부재: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2D 영상만으로는 실제 3D 접촉과 간격(Aperture)을 물리적으로 판단 불가.</a:t>
            </a:r>
          </a:p>
        </p:txBody>
      </p:sp>
      <p:pic>
        <p:nvPicPr>
          <p:cNvPr id="6" name="Picture 5" descr="fig_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882335" cy="32679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연구 가설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2D 영상에 RealSense 깊이 센서의 '3D 물리 공간 수치(Kinematics)'를 주입하면 시각적 환각을 원천 제어할 수 있을 것이다!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03  |  SYSTEM PIPELINE &amp; 5 TASK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제안 시스템 파이프라인 및 5대 상지 재활 평가 과제 프로토콜 명세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[엔지니어링 파이프라인] </a:t>
            </a:r>
            <a:r>
              <a:rPr sz="1650" b="1" i="0">
                <a:solidFill>
                  <a:srgbClr val="102C57"/>
                </a:solidFill>
                <a:latin typeface="맑은 고딕"/>
                <a:ea typeface="맑은 고딕"/>
              </a:rPr>
              <a:t>3단계 하이브리드 파이프라인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1단계 (3D 역투영 엔진):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RealSense D455 실측 깊이 + OpenCV 왜곡 보정으로 21개 관절 3차원 실측 공간 복원 (단안 깊이 왜곡 극복).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2단계 (속도 변곡점 검출):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속도 임계치 |v(t)| &lt; 10 mm/s 진입/이탈 감지로 2초 유지 무인 자동 슬라이싱 및 4대 피처(F1~F4) 추출.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3단계 (결정론적 채점):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VLM은 상태 증거만 판독하고 파이썬 규칙 엔진이 FMA 0/1/2점을 산출하여 점수 왜곡 및 환각 100% 차단.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엣지 최적화 구동: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단일 PC RTX 5090 (32GB VRAM)에서 AWQ 4-bit 및 SDPA 적용으로 완전 오프라인 무인 가동.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325880"/>
          <a:ext cx="652241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97280"/>
                <a:gridCol w="1097280"/>
                <a:gridCol w="1310335"/>
              </a:tblGrid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임상 파지 형태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 관절/물체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유지 지침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핵심 수치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1: 주먹 쥐기/펴기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원통형 파지 (Power Grasp)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1~5지 전체 굴곡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3초 지시 (2초 유효)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F1(최대간격), F4(신전변위)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2: 원통형 캔 잡기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대직경 원통 파지 (Cylinder)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엄지-수지 대립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3초 지시 (2초 유효)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파지 직경, 개방 안정도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3: 열쇠 파지 (Key)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측면 횡파지 (Lateral Pinch)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엄지 복면-검지 측면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3초 지시 (2초 유효)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핀치 간격, 미끄러짐 변동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4: 동전 짚기 (Tip)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미세 정밀 파지 (Tip Pinch)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엄지 끝-검지 끝 접촉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3초 지시 (2초 유효)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정밀 접촉 거리 (mm), 분리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5: 구형 공 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구형 감싸기 (Spherical)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수장부 전체 지지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3초 지시 (2초 유효)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구형 곡률 반경, 파지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공학적 설계 특징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재학습(Fine-tuning)의 막대한 비용과 과적합 위험 없이, 파운데이션 VLM의 Zero-shot 시각 추론 능력에 3D 물리 수치를 결합한 고효율 온프레미스 파이프라인.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04  |  CORE 3D KINEMATIC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4대 핵심 3D 운동학 피처 체계: 임상 평가 3단계와 1:1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5120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640080"/>
                <a:gridCol w="2286000"/>
              </a:tblGrid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피처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임상적 의미 및 선행연구 근거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최대 간격 (MGA)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물체 크기에 맞추어 손을 충분히 벌리는 파지 준비 능력 (Qiu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도달 시간 (tMGA)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팔 뻗기와 손가락 개방의 기민한 시간 협응 능력 (Broome 2019)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유지 안정도 (SD)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2초 동안 떨림이나 미끄러짐 없이 파지력을 고정하는 제어력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능동 해제 변위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쥐었던 손가락을 능동적으로 펴서 물체를 놓는 신전 회복 수준 (Lang 2009)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kin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425135" cy="32879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피처 설계 원칙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VLM의 주의력 분산(Attention Distraction)을 막기 위해, 임상 3단계를 대변하는 정예 4대 수치(F1~F4)만을 핵심 프롬프트로 주입함.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05  |  PROTOCOL &amp; PLATEAU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환자 맞춤형 프로토콜 및 변곡점(Plateau) 자동 검출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맑은 고딕"/>
                <a:ea typeface="맑은 고딕"/>
              </a:rPr>
              <a:t>[알고리즘 객관화] </a:t>
            </a:r>
            <a:r>
              <a:rPr sz="1700" b="1" i="0">
                <a:solidFill>
                  <a:srgbClr val="102C57"/>
                </a:solidFill>
                <a:latin typeface="맑은 고딕"/>
                <a:ea typeface="맑은 고딕"/>
              </a:rPr>
              <a:t>프로토콜 및 알고리즘의 핵심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환자 지연 배려: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뇌졸중 환자는 신경 손상으로 반응 시간(RT)이 0.5~1.0초 지연됨.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3초 버퍼 지시: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'최대로 쥐고 속으로 셋을 세며 3초 멈춘 뒤 펴세요'라고 안내하여 심리적 안정 확보.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연구자 편향 배제: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육안으로 눈대중 슬라이싱하는 자의적 가공(Cherry-picking) 원천 차단.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속도 변곡점 검출: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움직임 속도 |v(t)| &lt; 10 mm/s 진입(t_onset) 및 이탈(t_offset) 자동 산출.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• 2초 유지 판정: </a:t>
            </a:r>
            <a:r>
              <a:rPr sz="1400" b="0" i="0">
                <a:solidFill>
                  <a:srgbClr val="0F172A"/>
                </a:solidFill>
                <a:latin typeface="맑은 고딕"/>
                <a:ea typeface="맑은 고딕"/>
              </a:rPr>
              <a:t>hold_duration_s &gt;= 2.0s 충족 시 '유지 완료' 객관 판정.</a:t>
            </a:r>
          </a:p>
        </p:txBody>
      </p:sp>
      <p:pic>
        <p:nvPicPr>
          <p:cNvPr id="6" name="Picture 5" descr="fig_plat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882335" cy="3743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학술적 방어 효과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환자의 임상적 어려움을 배려하면서도, 연구자의 주관적 개입 의혹을 알고리즘적 조작적 정의로 100% 원천 차단함.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06  |  HARDWARE &amp; MODEL LINEUP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단일 PC RTX 5090 (32GB) 환경 &amp; 5대 로컬 오픈소스 모델 벤치마크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035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731520"/>
                <a:gridCol w="731520"/>
                <a:gridCol w="822960"/>
                <a:gridCol w="1280160"/>
              </a:tblGrid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정밀도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가중치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비전+KV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총 VRAM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안전 마진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Qwen3-VL-8B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16.0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4.5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11.5 GB (36%)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Qwen3-VL-30B-A3B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AWQ 4-bit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16.5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6.0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22.5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9.5 GB (30%)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LLaVA-NeXT-Video-7B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14.5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4.5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19.0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13.0 GB (41%)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Qwen2.5-VL-32B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AWQ 4-bit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18.5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6.0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24.5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7.5 GB (23%)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LLaVA-OneVision-7B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15.0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4.5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19.5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12.5 GB (39%)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v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4602175" cy="27071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100% 온프레미스 구동 보증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5개 모델 전체가 최대 24.5 GB 이하로 점유하여 RTX 5090 (32GB VRAM) 1대에서 100% 로컬 오프라인 구동 완료. OOM 0%!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07  |  EXPERIMENTAL DESIGN &amp;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엄격한 비교 실험군 설계: 정보 결합 및 소거(Ablation)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1097280"/>
                <a:gridCol w="1097280"/>
                <a:gridCol w="1097280"/>
                <a:gridCol w="3962095"/>
              </a:tblGrid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 코드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 명칭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14프레임 영상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3D 운동학 수치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건강인 정상 규준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검증 목표 및 과학적 질문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 단독 기본군 (Vision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순수 시각 정보만으로 VLM이 동작을 얼마나 정확히 판독하는가? (Li 2026 재현)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 + 수치 결합군 (주 실험군)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물리적 공간 수치 주입 시 시각적 환각과 오판이 실제로 줄어드는가? (주 비교: A2 - A1)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완전 정보 결합군 (Full Multimodal)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건강인 15명 정상치 분포(Median, Q1, Q3) 제공 시 이상 판단이 개선되는가?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수치 전용 소거군 (Text Ablation)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 없이 수치 텍스트만으로 평가가 가능한가? (시각 정보의 순기여도 역검증)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고전 ML 벤치마크 (ML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거대 VLM 도입이 고전 머신러닝(다항 로지스틱 회귀)보다 실질적으로 우월한가?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D1~D4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피처별 소거군 (Feature Ablation)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1개씩 소거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F1, F2, F3, F4 각 운동학 피처의 조건부 오차 감소 기여도 정밀 분해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입체적 대조군 설계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단순한 전후 비교가 아닌, 비디오 소거(A4)와 고전 ML(A0) 벤치마크를 포함하여 VLM 도입의 실질적 과학적 가치를 증명.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08  |  EVALUATION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환각 차단형 결정론적 채점 파이프라인 및 13,920회 통계 검정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56692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194560"/>
                <a:gridCol w="1371600"/>
              </a:tblGrid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명칭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결정론적 매핑 판정 규칙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임상적 상태 의미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목표 형성 미완료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목표 파지 형태(또는 주먹)를 시간 내 형성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도달 실패, 쥐기 불능, 중증 마비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1점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부분 수행 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형성은 완료했으나 2초 유지 또는 펴기 중 1개 미완료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형성은 되나 떨림/풀림, 펴기 마비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전체 수행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형성 성공, 2.0초간 형태 유지, 4초 내 펴기 완벽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과제 전 단계 정상 수행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판독 불가 / 중단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심한 가림으로 접촉 미확인 또는 환자 피로 중단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분모(Coverage) 계산 시 분리 기록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325880"/>
            <a:ext cx="4876495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350" b="1" i="0">
                <a:solidFill>
                  <a:srgbClr val="0D9488"/>
                </a:solidFill>
                <a:latin typeface="맑은 고딕"/>
                <a:ea typeface="맑은 고딕"/>
              </a:rPr>
              <a:t>[엄밀한 통계 검정] </a:t>
            </a:r>
            <a:r>
              <a:rPr sz="1650" b="1" i="0">
                <a:solidFill>
                  <a:srgbClr val="102C57"/>
                </a:solidFill>
                <a:latin typeface="맑은 고딕"/>
                <a:ea typeface="맑은 고딕"/>
              </a:rPr>
              <a:t>비모수 통계 검정 &amp; 13,920회 실행량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주 통계 지표: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환자별 절대등급오차 차이 D_i = MAE_i(A2) - MAE_i(A1)의 15명 평균.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10,000회 부트스트랩: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환자 단위 블록 부트스트랩으로 환자 내 반복성을 통제한 엄밀한 95% 신뢰구간 산출 (Seed 20260911).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13,920회 로컬 실행량: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핵심 조건(9,600회) + 피처 소거(1,920회) + 반복성(2,400회)을 완전 오프라인 배치 실행.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실행 완료 시간: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RTX 5090 고속 배치를 통해 약 18~22시간 내 완결.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가설 채택 기준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주 효과 차이 D_i의 15명 평균이 0보다 작고, 10,000회 부트스트랩 95% 신뢰구간의 상한이 0 미만일 때 주 가설 채택.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09  |  PILOT JUSTIFICATION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50" b="1" i="0">
                <a:solidFill>
                  <a:srgbClr val="102C57"/>
                </a:solidFill>
                <a:latin typeface="맑은 고딕"/>
                <a:ea typeface="맑은 고딕"/>
              </a:rPr>
              <a:t>연구 범위, 15명 파일럿의 정당성 및 4단계 추진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206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64592" rIns="201168" bIns="164592"/>
          <a:lstStyle/>
          <a:p>
            <a:pPr algn="ctr">
              <a:spcAft>
                <a:spcPts val="800"/>
              </a:spcAft>
            </a:pPr>
            <a:r>
              <a:rPr sz="1350" b="1" i="0">
                <a:solidFill>
                  <a:srgbClr val="0284C7"/>
                </a:solidFill>
                <a:latin typeface="맑은 고딕"/>
                <a:ea typeface="맑은 고딕"/>
              </a:rPr>
              <a:t>[방법론적 정당성] </a:t>
            </a:r>
            <a:r>
              <a:rPr sz="1650" b="1" i="0">
                <a:solidFill>
                  <a:srgbClr val="102C57"/>
                </a:solidFill>
                <a:latin typeface="맑은 고딕"/>
                <a:ea typeface="맑은 고딕"/>
              </a:rPr>
              <a:t>15명 파일럿의 학술적 정당성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권위 논문 근거: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Thabane et al. (2010, BMC) &amp; Lakens (2022, Collabra).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파일럿 연구의 본질: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확증적 우월성 증명이 아닌 시스템 실행 가능성(Feasibility) 및 결측률 추정.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임상 윤리적 타당성: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환자 모집 및 전문가 2인 이중 블라인드 채점 자원 고려 시 15명이 최적.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• 치료사 보조 시스템: </a:t>
            </a:r>
            <a:r>
              <a:rPr sz="1350" b="0" i="0">
                <a:solidFill>
                  <a:srgbClr val="0F172A"/>
                </a:solidFill>
                <a:latin typeface="맑은 고딕"/>
                <a:ea typeface="맑은 고딕"/>
              </a:rPr>
              <a:t>사람을 대체하지 않고, 야간 13,920회 무인 배치 후 5분 검토 보조.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325880"/>
          <a:ext cx="643097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828800"/>
                <a:gridCol w="853135"/>
              </a:tblGrid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연구 단계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세부 수행 내용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산출물 및 검증 지표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7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추진 일정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1단계: 3D 엔진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D455 센서 동기화, OpenCV 캘리브레이션, 3D 역투영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21개 관절 3D 좌표 오차 &lt; 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2026.09 ~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2단계: 프로토콜 정립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3초 버퍼 5대 과제 영상 획득, 속도 변곡점 검출기 구현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Plateau 무인 슬라이싱 성공률 &gt; 95%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2026.10 ~ 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3단계: 5대 VLM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RTX 5090 32GB 단일 PC 13,920회 오프라인 자동 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OOM 에러 0건, 24시간 내 완결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2026.11 ~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4단계: 통계 분석 검증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10,000회 부트스트랩, FMA 상관계수, 환각 감소율 산출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95% 신뢰구간 상한 &lt; 0 입증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2026.12 ~ 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450" b="1" i="0">
                <a:solidFill>
                  <a:srgbClr val="102C57"/>
                </a:solidFill>
                <a:latin typeface="맑은 고딕"/>
                <a:ea typeface="맑은 고딕"/>
              </a:rPr>
              <a:t>💡 발표 맺음말  |  </a:t>
            </a:r>
            <a:r>
              <a:rPr sz="1400" b="1" i="0">
                <a:solidFill>
                  <a:srgbClr val="0F172A"/>
                </a:solidFill>
                <a:latin typeface="맑은 고딕"/>
                <a:ea typeface="맑은 고딕"/>
              </a:rPr>
              <a:t>RGB-D 실측 운동학을 통해 VLM의 시각적 한계를 극복하고, 객관적이고 신속한 뇌졸중 상지 재활 평가 보조의 새로운 지평을 열겠습니다.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