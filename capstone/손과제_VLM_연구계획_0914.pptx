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48" y="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303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3A66"/>
          </a:solidFill>
          <a:ln w="12700">
            <a:solidFill>
              <a:srgbClr val="193A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1109960" y="3474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AA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5524"/>
            <a:ext cx="12191695" cy="685800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193A66"/>
          </a:solidFill>
          <a:ln w="12700">
            <a:solidFill>
              <a:srgbClr val="193A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743200" y="0"/>
            <a:ext cx="109728" cy="6858000"/>
          </a:xfrm>
          <a:prstGeom prst="rect">
            <a:avLst/>
          </a:prstGeom>
          <a:solidFill>
            <a:srgbClr val="16A7B8"/>
          </a:solidFill>
          <a:ln w="12700">
            <a:solidFill>
              <a:srgbClr val="16A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46120" y="1143000"/>
            <a:ext cx="7955280" cy="11704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C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RGB-D 운동학 정보를 활용한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0F2C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과제 VLM 평가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273552" y="248716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A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운동학 </a:t>
            </a:r>
            <a:r>
              <a:rPr lang="en-US" sz="1600" b="1" dirty="0" err="1">
                <a:solidFill>
                  <a:srgbClr val="16A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수치와</a:t>
            </a:r>
            <a:r>
              <a:rPr lang="en-US" sz="1600" b="1" dirty="0">
                <a:solidFill>
                  <a:srgbClr val="16A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600" b="1" dirty="0">
                <a:solidFill>
                  <a:srgbClr val="16A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비장애인</a:t>
            </a:r>
            <a:r>
              <a:rPr lang="en-US" sz="1600" b="1" dirty="0">
                <a:solidFill>
                  <a:srgbClr val="16A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참조의 추가 효과를 검증하는 파일럿 연구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73552" y="571500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1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연구계획 발표  |  이재용 22000561  |  한동대학교 기계제어공학부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3A66"/>
          </a:solidFill>
          <a:ln w="12700">
            <a:solidFill>
              <a:srgbClr val="193A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 1"/>
          <p:cNvSpPr/>
          <p:nvPr/>
        </p:nvSpPr>
        <p:spPr>
          <a:xfrm>
            <a:off x="11109960" y="3474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928" y="402336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C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배경과 기존 접근의 부담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813816"/>
            <a:ext cx="10927080" cy="3200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A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판독과 과제 전용 학습 모델의 부담을 줄일 수 있는 대안이 필요하다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1792" y="1234440"/>
            <a:ext cx="2871216" cy="2227898"/>
          </a:xfrm>
          <a:prstGeom prst="roundRect">
            <a:avLst>
              <a:gd name="adj" fmla="val 3556"/>
            </a:avLst>
          </a:prstGeom>
          <a:blipFill>
            <a:blip r:embed="rId3"/>
            <a:stretch>
              <a:fillRect/>
            </a:stretch>
          </a:blip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Shape 8"/>
          <p:cNvSpPr/>
          <p:nvPr/>
        </p:nvSpPr>
        <p:spPr>
          <a:xfrm>
            <a:off x="3657600" y="1234440"/>
            <a:ext cx="2286000" cy="219456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Shape 9"/>
          <p:cNvSpPr/>
          <p:nvPr/>
        </p:nvSpPr>
        <p:spPr>
          <a:xfrm>
            <a:off x="3657600" y="1234440"/>
            <a:ext cx="2286000" cy="411480"/>
          </a:xfrm>
          <a:prstGeom prst="rect">
            <a:avLst/>
          </a:prstGeom>
          <a:solidFill>
            <a:srgbClr val="193A66"/>
          </a:solidFill>
          <a:ln w="12700">
            <a:solidFill>
              <a:srgbClr val="193A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Text 10"/>
          <p:cNvSpPr/>
          <p:nvPr/>
        </p:nvSpPr>
        <p:spPr>
          <a:xfrm>
            <a:off x="3730752" y="1316736"/>
            <a:ext cx="2139696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 영상 판독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22192" y="1764792"/>
            <a:ext cx="1956816" cy="1399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동작을 반복 관찰하고 수행 상태와 근거를 기록한다.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신뢰할 수 있는 참조기준을 만들 수 있지만 </a:t>
            </a: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시간과 인력이 크게 필요</a:t>
            </a: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하다.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72200" y="1234439"/>
            <a:ext cx="2286000" cy="2194559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5" name="Shape 13"/>
          <p:cNvSpPr/>
          <p:nvPr/>
        </p:nvSpPr>
        <p:spPr>
          <a:xfrm>
            <a:off x="6172200" y="1234440"/>
            <a:ext cx="2286000" cy="411480"/>
          </a:xfrm>
          <a:prstGeom prst="rect">
            <a:avLst/>
          </a:prstGeom>
          <a:solidFill>
            <a:srgbClr val="193A66"/>
          </a:solidFill>
          <a:ln w="12700">
            <a:solidFill>
              <a:srgbClr val="193A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6" name="Text 14"/>
          <p:cNvSpPr/>
          <p:nvPr/>
        </p:nvSpPr>
        <p:spPr>
          <a:xfrm>
            <a:off x="6245352" y="1316736"/>
            <a:ext cx="2139696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전용 학습 모델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36792" y="1764792"/>
            <a:ext cx="1956816" cy="1399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영상 수집, 세부 라벨링, 과제·환경 변경 시 추가 조정이 필요하다.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가능성은 있지만 </a:t>
            </a: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 비용이 높다</a:t>
            </a: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686800" y="1216152"/>
            <a:ext cx="2286000" cy="2212846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9" name="Shape 17"/>
          <p:cNvSpPr/>
          <p:nvPr/>
        </p:nvSpPr>
        <p:spPr>
          <a:xfrm>
            <a:off x="8686800" y="1234440"/>
            <a:ext cx="2286000" cy="411480"/>
          </a:xfrm>
          <a:prstGeom prst="rect">
            <a:avLst/>
          </a:prstGeom>
          <a:solidFill>
            <a:srgbClr val="193A66"/>
          </a:solidFill>
          <a:ln w="12700">
            <a:solidFill>
              <a:srgbClr val="193A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0" name="Text 18"/>
          <p:cNvSpPr/>
          <p:nvPr/>
        </p:nvSpPr>
        <p:spPr>
          <a:xfrm>
            <a:off x="8759952" y="1316736"/>
            <a:ext cx="2139696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사전학습 VLM 활용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851392" y="1764792"/>
            <a:ext cx="1956816" cy="1399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가중치는 고정하고 과제 지침과 관찰 정보를 입력한다.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운동학 </a:t>
            </a:r>
            <a:r>
              <a:rPr lang="en-US" sz="1400" dirty="0" err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정보로</a:t>
            </a: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400" b="1" dirty="0" err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부족한</a:t>
            </a: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근거를 보완할 </a:t>
            </a: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 있는지 확인한다.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66928" y="3749040"/>
            <a:ext cx="11018520" cy="438912"/>
          </a:xfrm>
          <a:prstGeom prst="roundRect">
            <a:avLst>
              <a:gd name="adj" fmla="val 10417"/>
            </a:avLst>
          </a:prstGeom>
          <a:solidFill>
            <a:srgbClr val="16A7B8"/>
          </a:solidFill>
          <a:ln w="12700">
            <a:solidFill>
              <a:srgbClr val="16A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3" name="Text 21"/>
          <p:cNvSpPr/>
          <p:nvPr/>
        </p:nvSpPr>
        <p:spPr>
          <a:xfrm>
            <a:off x="777240" y="3858768"/>
            <a:ext cx="10607040" cy="32918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선행 사례: PrimSeq는 6.4시간 기록의 수작업 주석에 513.6시간, 자동 처리에 1.4시간을 보고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64832" y="4261104"/>
            <a:ext cx="3703320" cy="2114931"/>
          </a:xfrm>
          <a:prstGeom prst="roundRect">
            <a:avLst>
              <a:gd name="adj" fmla="val 5926"/>
            </a:avLst>
          </a:prstGeom>
          <a:blipFill>
            <a:blip r:embed="rId4"/>
            <a:stretch>
              <a:fillRect/>
            </a:stretch>
          </a:blip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Text 26"/>
          <p:cNvSpPr/>
          <p:nvPr/>
        </p:nvSpPr>
        <p:spPr>
          <a:xfrm>
            <a:off x="4617720" y="4407408"/>
            <a:ext cx="630936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주의: 이 수치는 세부 동작 주석 작업의 비교이며, FMA 검사시간 자체가 아니다.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연구도 즉시 치료사를 대체한다는 주장이 아니라, 반복 판독을 보조할 입력 설계를 검토한다.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3A66"/>
          </a:solidFill>
          <a:ln w="12700">
            <a:solidFill>
              <a:srgbClr val="193A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3" name="Text 1"/>
          <p:cNvSpPr/>
          <p:nvPr/>
        </p:nvSpPr>
        <p:spPr>
          <a:xfrm>
            <a:off x="11109960" y="3474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A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402336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F2C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선행연구가 제공한 </a:t>
            </a:r>
            <a:r>
              <a:rPr lang="en-US" sz="2800" b="1" dirty="0" err="1">
                <a:solidFill>
                  <a:srgbClr val="0F2C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근거와</a:t>
            </a:r>
            <a:r>
              <a:rPr lang="en-US" sz="2800" b="1" dirty="0">
                <a:solidFill>
                  <a:srgbClr val="0F2C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800" b="1" dirty="0" err="1">
                <a:solidFill>
                  <a:srgbClr val="0F2C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813816"/>
            <a:ext cx="10927080" cy="3200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A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가능성은 보였지만, 이번 손 과제에서 어떤 입력 조합이 실제로 도움이 되는지는 별도 검증이 필요하다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170432"/>
            <a:ext cx="3429000" cy="1984248"/>
          </a:xfrm>
          <a:prstGeom prst="roundRect">
            <a:avLst>
              <a:gd name="adj" fmla="val 3902"/>
            </a:avLst>
          </a:prstGeom>
          <a:blipFill>
            <a:blip r:embed="rId3"/>
            <a:stretch>
              <a:fillRect/>
            </a:stretch>
          </a:blip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3429000" cy="2063686"/>
          </a:xfrm>
          <a:prstGeom prst="roundRect">
            <a:avLst>
              <a:gd name="adj" fmla="val 3902"/>
            </a:avLst>
          </a:prstGeom>
          <a:blipFill>
            <a:blip r:embed="rId4"/>
            <a:stretch>
              <a:fillRect/>
            </a:stretch>
          </a:blip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4" name="Shape 12"/>
          <p:cNvSpPr/>
          <p:nvPr/>
        </p:nvSpPr>
        <p:spPr>
          <a:xfrm>
            <a:off x="4160520" y="1115568"/>
            <a:ext cx="3566160" cy="2039112"/>
          </a:xfrm>
          <a:prstGeom prst="roundRect">
            <a:avLst>
              <a:gd name="adj" fmla="val 4225"/>
            </a:avLst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5" name="Shape 13"/>
          <p:cNvSpPr/>
          <p:nvPr/>
        </p:nvSpPr>
        <p:spPr>
          <a:xfrm>
            <a:off x="4160520" y="1115568"/>
            <a:ext cx="3566160" cy="411480"/>
          </a:xfrm>
          <a:prstGeom prst="rect">
            <a:avLst/>
          </a:prstGeom>
          <a:solidFill>
            <a:srgbClr val="193A66"/>
          </a:solidFill>
          <a:ln w="12700">
            <a:solidFill>
              <a:srgbClr val="193A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6" name="Text 14"/>
          <p:cNvSpPr/>
          <p:nvPr/>
        </p:nvSpPr>
        <p:spPr>
          <a:xfrm>
            <a:off x="4233672" y="1197864"/>
            <a:ext cx="3419856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 등 2026: VLM 동작 이해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25112" y="1645920"/>
            <a:ext cx="3236976" cy="138303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 인식·횟수·FMA 추정을 평가했다. 미세 손 동작과 접촉 판단의 불안정성이 보고되어 영상 외 정보의 보완 가능성을 생각하게 한다.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973568" y="1115568"/>
            <a:ext cx="3566160" cy="2039112"/>
          </a:xfrm>
          <a:prstGeom prst="roundRect">
            <a:avLst>
              <a:gd name="adj" fmla="val 4225"/>
            </a:avLst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9" name="Shape 17"/>
          <p:cNvSpPr/>
          <p:nvPr/>
        </p:nvSpPr>
        <p:spPr>
          <a:xfrm>
            <a:off x="7973568" y="1115568"/>
            <a:ext cx="3566160" cy="411480"/>
          </a:xfrm>
          <a:prstGeom prst="rect">
            <a:avLst/>
          </a:prstGeom>
          <a:solidFill>
            <a:srgbClr val="193A66"/>
          </a:solidFill>
          <a:ln w="12700">
            <a:solidFill>
              <a:srgbClr val="193A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0" name="Text 18"/>
          <p:cNvSpPr/>
          <p:nvPr/>
        </p:nvSpPr>
        <p:spPr>
          <a:xfrm>
            <a:off x="8046720" y="1197864"/>
            <a:ext cx="3419856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Qiu·Lang: 파지 운동학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38160" y="1645920"/>
            <a:ext cx="3236976" cy="127730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간격, 도달 시간, 손가락 신전 관련 변수들이 손 기능과 관련될 수 있음을 보여준다. 다만 우리 센서·과제 정의와 동일하지는 않다.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160520" y="3337560"/>
            <a:ext cx="3566160" cy="2063686"/>
          </a:xfrm>
          <a:prstGeom prst="roundRect">
            <a:avLst>
              <a:gd name="adj" fmla="val 4225"/>
            </a:avLst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3" name="Shape 21"/>
          <p:cNvSpPr/>
          <p:nvPr/>
        </p:nvSpPr>
        <p:spPr>
          <a:xfrm>
            <a:off x="4160520" y="3337560"/>
            <a:ext cx="3566160" cy="411480"/>
          </a:xfrm>
          <a:prstGeom prst="rect">
            <a:avLst/>
          </a:prstGeom>
          <a:solidFill>
            <a:srgbClr val="193A66"/>
          </a:solidFill>
          <a:ln w="12700">
            <a:solidFill>
              <a:srgbClr val="193A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4" name="Text 22"/>
          <p:cNvSpPr/>
          <p:nvPr/>
        </p:nvSpPr>
        <p:spPr>
          <a:xfrm>
            <a:off x="4233672" y="3419856"/>
            <a:ext cx="3419856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Amprimo: 깊이 결합 추적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325112" y="3867912"/>
            <a:ext cx="3236976" cy="122758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MediaPipe와 깊이 정보를 결합해 3D 손 추적을 얻는 방법론적 근거를 제공한다. D455 파지 환경에서는 별도 품질 확인이 필요하다.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973568" y="3337560"/>
            <a:ext cx="3566160" cy="2063686"/>
          </a:xfrm>
          <a:prstGeom prst="roundRect">
            <a:avLst>
              <a:gd name="adj" fmla="val 4225"/>
            </a:avLst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7" name="Shape 25"/>
          <p:cNvSpPr/>
          <p:nvPr/>
        </p:nvSpPr>
        <p:spPr>
          <a:xfrm>
            <a:off x="7973568" y="3337560"/>
            <a:ext cx="3566160" cy="411480"/>
          </a:xfrm>
          <a:prstGeom prst="rect">
            <a:avLst/>
          </a:prstGeom>
          <a:solidFill>
            <a:srgbClr val="193A66"/>
          </a:solidFill>
          <a:ln w="12700">
            <a:solidFill>
              <a:srgbClr val="193A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8" name="Text 26"/>
          <p:cNvSpPr/>
          <p:nvPr/>
        </p:nvSpPr>
        <p:spPr>
          <a:xfrm>
            <a:off x="8046720" y="3419856"/>
            <a:ext cx="3419856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Tang·Wang: 추가정보 입력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138160" y="3867912"/>
            <a:ext cx="3236976" cy="122758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수치·임상 지식과 파운데이션 모델을 결합하는 방향의 근거가 된다. 하지만 손의 실제 접촉과 자체 수행점수는 다시 검증해야 한다.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66928" y="5815584"/>
            <a:ext cx="11018520" cy="457200"/>
          </a:xfrm>
          <a:prstGeom prst="roundRect">
            <a:avLst>
              <a:gd name="adj" fmla="val 10000"/>
            </a:avLst>
          </a:prstGeom>
          <a:solidFill>
            <a:srgbClr val="193A66"/>
          </a:solidFill>
          <a:ln w="12700">
            <a:solidFill>
              <a:srgbClr val="193A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31" name="Text 29"/>
          <p:cNvSpPr/>
          <p:nvPr/>
        </p:nvSpPr>
        <p:spPr>
          <a:xfrm>
            <a:off x="777240" y="5925312"/>
            <a:ext cx="106070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질문: 영상만 보는 VLM보다, 3D </a:t>
            </a:r>
            <a:r>
              <a:rPr lang="en-US" sz="14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운동학과</a:t>
            </a: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비장애</a:t>
            </a: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 참조를 함께 받은 VLM이 전문가 판단에 가까워지는가?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3A66"/>
          </a:solidFill>
          <a:ln w="12700">
            <a:solidFill>
              <a:srgbClr val="193A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 1"/>
          <p:cNvSpPr/>
          <p:nvPr/>
        </p:nvSpPr>
        <p:spPr>
          <a:xfrm>
            <a:off x="11109960" y="3474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928" y="402336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C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 언어모델의 역할과 연구 범위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813816"/>
            <a:ext cx="10927080" cy="3200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A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연구에서 VLM은 측정기가 아니라, 제공된 정보를 읽고 수행 여부를 판정하는 평가모델이다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32446" y="1819656"/>
            <a:ext cx="3490914" cy="2825494"/>
          </a:xfrm>
          <a:prstGeom prst="roundRect">
            <a:avLst>
              <a:gd name="adj" fmla="val 2353"/>
            </a:avLst>
          </a:prstGeom>
          <a:blipFill>
            <a:blip r:embed="rId3"/>
            <a:stretch>
              <a:fillRect/>
            </a:stretch>
          </a:blip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Shape 8"/>
          <p:cNvSpPr/>
          <p:nvPr/>
        </p:nvSpPr>
        <p:spPr>
          <a:xfrm>
            <a:off x="4069080" y="3200400"/>
            <a:ext cx="548640" cy="0"/>
          </a:xfrm>
          <a:prstGeom prst="line">
            <a:avLst/>
          </a:prstGeom>
          <a:noFill/>
          <a:ln w="12700">
            <a:solidFill>
              <a:srgbClr val="16A7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Shape 9"/>
          <p:cNvSpPr/>
          <p:nvPr/>
        </p:nvSpPr>
        <p:spPr>
          <a:xfrm>
            <a:off x="4709160" y="1234440"/>
            <a:ext cx="1920240" cy="4069080"/>
          </a:xfrm>
          <a:prstGeom prst="roundRect">
            <a:avLst>
              <a:gd name="adj" fmla="val 2857"/>
            </a:avLst>
          </a:prstGeom>
          <a:solidFill>
            <a:srgbClr val="F6FAFF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Shape 10"/>
          <p:cNvSpPr/>
          <p:nvPr/>
        </p:nvSpPr>
        <p:spPr>
          <a:xfrm>
            <a:off x="4709160" y="1234440"/>
            <a:ext cx="1920240" cy="411480"/>
          </a:xfrm>
          <a:prstGeom prst="rect">
            <a:avLst/>
          </a:prstGeom>
          <a:solidFill>
            <a:srgbClr val="193A66"/>
          </a:solidFill>
          <a:ln w="12700">
            <a:solidFill>
              <a:srgbClr val="193A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3" name="Text 11"/>
          <p:cNvSpPr/>
          <p:nvPr/>
        </p:nvSpPr>
        <p:spPr>
          <a:xfrm>
            <a:off x="4782312" y="1316736"/>
            <a:ext cx="1773936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입력 구성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73752" y="1764792"/>
            <a:ext cx="1591056" cy="34107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손 과제 영상과 공통 과제 지침을 넣는다.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조건에 따라 운동학 수치, 측정 품질, </a:t>
            </a:r>
            <a:r>
              <a:rPr lang="ko-KR" alt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비장애</a:t>
            </a: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 참조를 단계적으로 추가한다.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03720" y="1234440"/>
            <a:ext cx="1920240" cy="4069080"/>
          </a:xfrm>
          <a:prstGeom prst="roundRect">
            <a:avLst>
              <a:gd name="adj" fmla="val 2857"/>
            </a:avLst>
          </a:prstGeom>
          <a:solidFill>
            <a:srgbClr val="F6FAFF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6" name="Shape 14"/>
          <p:cNvSpPr/>
          <p:nvPr/>
        </p:nvSpPr>
        <p:spPr>
          <a:xfrm>
            <a:off x="6903720" y="1234440"/>
            <a:ext cx="1920240" cy="411480"/>
          </a:xfrm>
          <a:prstGeom prst="rect">
            <a:avLst/>
          </a:prstGeom>
          <a:solidFill>
            <a:srgbClr val="193A66"/>
          </a:solidFill>
          <a:ln w="12700">
            <a:solidFill>
              <a:srgbClr val="193A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7" name="Text 15"/>
          <p:cNvSpPr/>
          <p:nvPr/>
        </p:nvSpPr>
        <p:spPr>
          <a:xfrm>
            <a:off x="6976872" y="1316736"/>
            <a:ext cx="1773936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수행 판정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68312" y="1764792"/>
            <a:ext cx="1591056" cy="34107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손 모양을 만들었는지, 형태를 유지했는지, 다시 폈는지를 손별로 판단한다.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완료·미완료·관찰근거 부족과 이유를 JSON으로 출력한다.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098280" y="1234440"/>
            <a:ext cx="1920240" cy="4069080"/>
          </a:xfrm>
          <a:prstGeom prst="roundRect">
            <a:avLst>
              <a:gd name="adj" fmla="val 2857"/>
            </a:avLst>
          </a:prstGeom>
          <a:solidFill>
            <a:srgbClr val="F6FAFF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0" name="Shape 18"/>
          <p:cNvSpPr/>
          <p:nvPr/>
        </p:nvSpPr>
        <p:spPr>
          <a:xfrm>
            <a:off x="9098280" y="1234440"/>
            <a:ext cx="1920240" cy="411480"/>
          </a:xfrm>
          <a:prstGeom prst="rect">
            <a:avLst/>
          </a:prstGeom>
          <a:solidFill>
            <a:srgbClr val="193A66"/>
          </a:solidFill>
          <a:ln w="12700">
            <a:solidFill>
              <a:srgbClr val="193A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1" name="Text 19"/>
          <p:cNvSpPr/>
          <p:nvPr/>
        </p:nvSpPr>
        <p:spPr>
          <a:xfrm>
            <a:off x="9171432" y="1316736"/>
            <a:ext cx="1773936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점수 변환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62872" y="1764792"/>
            <a:ext cx="1591056" cy="34107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직접 임상점수를 만들지 않는다.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판정을 외부 코드가 사전 규칙에 따라 연구용 0·1·2점으로 변환한다.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66928" y="5532120"/>
            <a:ext cx="11018520" cy="438912"/>
          </a:xfrm>
          <a:prstGeom prst="roundRect">
            <a:avLst>
              <a:gd name="adj" fmla="val 10417"/>
            </a:avLst>
          </a:prstGeom>
          <a:solidFill>
            <a:srgbClr val="16A7B8"/>
          </a:solidFill>
          <a:ln w="12700">
            <a:solidFill>
              <a:srgbClr val="16A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4" name="Text 22"/>
          <p:cNvSpPr/>
          <p:nvPr/>
        </p:nvSpPr>
        <p:spPr>
          <a:xfrm>
            <a:off x="777240" y="5641848"/>
            <a:ext cx="106070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범위: 모델 가중치를 갱신하지 않고, 입력 정보 구성의 효과만 비교한다.</a:t>
            </a:r>
            <a:endParaRPr 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CF4E557B-60C0-7342-9B61-B39E21A54FF2}"/>
              </a:ext>
            </a:extLst>
          </p:cNvPr>
          <p:cNvSpPr/>
          <p:nvPr/>
        </p:nvSpPr>
        <p:spPr>
          <a:xfrm>
            <a:off x="623888" y="3943350"/>
            <a:ext cx="1209675" cy="66522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입력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5996732D-2B85-EF14-F772-6CD16841C32C}"/>
              </a:ext>
            </a:extLst>
          </p:cNvPr>
          <p:cNvSpPr/>
          <p:nvPr/>
        </p:nvSpPr>
        <p:spPr>
          <a:xfrm>
            <a:off x="2976945" y="3979924"/>
            <a:ext cx="909256" cy="62865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점수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3A66"/>
          </a:solidFill>
          <a:ln w="12700">
            <a:solidFill>
              <a:srgbClr val="193A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3" name="Text 1"/>
          <p:cNvSpPr/>
          <p:nvPr/>
        </p:nvSpPr>
        <p:spPr>
          <a:xfrm>
            <a:off x="11109960" y="3474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A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402336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F2C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RGB-D </a:t>
            </a:r>
            <a:r>
              <a:rPr lang="en-US" sz="2800" b="1" dirty="0" err="1">
                <a:solidFill>
                  <a:srgbClr val="0F2C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측정과</a:t>
            </a:r>
            <a:r>
              <a:rPr lang="en-US" sz="2800" b="1" dirty="0">
                <a:solidFill>
                  <a:srgbClr val="0F2C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800" b="1" dirty="0">
                <a:solidFill>
                  <a:srgbClr val="0F2C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비장애</a:t>
            </a:r>
            <a:r>
              <a:rPr lang="en-US" sz="2800" b="1" dirty="0">
                <a:solidFill>
                  <a:srgbClr val="0F2C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 참조의 구성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813816"/>
            <a:ext cx="10927080" cy="3200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A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센서값은 움직임 정보이며, 접촉력·정상 기능·임상 진단을 직접 뜻하지 않는다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142999"/>
            <a:ext cx="4041648" cy="2526983"/>
          </a:xfrm>
          <a:prstGeom prst="roundRect">
            <a:avLst>
              <a:gd name="adj" fmla="val 3019"/>
            </a:avLst>
          </a:prstGeom>
          <a:blipFill>
            <a:blip r:embed="rId3"/>
            <a:stretch>
              <a:fillRect/>
            </a:stretch>
          </a:blip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0" name="Shape 8"/>
          <p:cNvSpPr/>
          <p:nvPr/>
        </p:nvSpPr>
        <p:spPr>
          <a:xfrm>
            <a:off x="640080" y="3840479"/>
            <a:ext cx="4041648" cy="2526983"/>
          </a:xfrm>
          <a:prstGeom prst="roundRect">
            <a:avLst>
              <a:gd name="adj" fmla="val 5000"/>
            </a:avLst>
          </a:prstGeom>
          <a:blipFill>
            <a:blip r:embed="rId4"/>
            <a:stretch>
              <a:fillRect/>
            </a:stretch>
          </a:blip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4" name="Shape 12"/>
          <p:cNvSpPr/>
          <p:nvPr/>
        </p:nvSpPr>
        <p:spPr>
          <a:xfrm>
            <a:off x="4846320" y="1143000"/>
            <a:ext cx="2834640" cy="2526982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5" name="Shape 13"/>
          <p:cNvSpPr/>
          <p:nvPr/>
        </p:nvSpPr>
        <p:spPr>
          <a:xfrm>
            <a:off x="4846320" y="1143000"/>
            <a:ext cx="2834640" cy="411480"/>
          </a:xfrm>
          <a:prstGeom prst="rect">
            <a:avLst/>
          </a:prstGeom>
          <a:solidFill>
            <a:srgbClr val="193A66"/>
          </a:solidFill>
          <a:ln w="12700">
            <a:solidFill>
              <a:srgbClr val="193A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6" name="Text 14"/>
          <p:cNvSpPr/>
          <p:nvPr/>
        </p:nvSpPr>
        <p:spPr>
          <a:xfrm>
            <a:off x="4919472" y="1225296"/>
            <a:ext cx="2688336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거리 계산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10912" y="1673352"/>
            <a:ext cx="2505456" cy="163658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D455의 RGB와 Depth를 기록하고, 손 위치에 깊이를 결합해 손가락 사이 3차원 거리를 계산한다.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단, 같은 거리라도 실제 접촉이나 힘을 보장하지 않는다.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01000" y="1143000"/>
            <a:ext cx="2834640" cy="2526982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9" name="Shape 17"/>
          <p:cNvSpPr/>
          <p:nvPr/>
        </p:nvSpPr>
        <p:spPr>
          <a:xfrm>
            <a:off x="8001000" y="1143000"/>
            <a:ext cx="2834640" cy="411480"/>
          </a:xfrm>
          <a:prstGeom prst="rect">
            <a:avLst/>
          </a:prstGeom>
          <a:solidFill>
            <a:srgbClr val="193A66"/>
          </a:solidFill>
          <a:ln w="12700">
            <a:solidFill>
              <a:srgbClr val="193A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0" name="Text 18"/>
          <p:cNvSpPr/>
          <p:nvPr/>
        </p:nvSpPr>
        <p:spPr>
          <a:xfrm>
            <a:off x="8074152" y="1225296"/>
            <a:ext cx="2688336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비장애</a:t>
            </a: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 참조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65592" y="1673352"/>
            <a:ext cx="2505456" cy="1527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과제별 반복값을 개인 중앙값으로 요약하고, 15명 분포에서 중앙값·Q1·Q3를 산출한다.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이는 정상/실패 판정선이 아니라 작은 표본의 상대 위치 정보다.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46320" y="3840479"/>
            <a:ext cx="5989320" cy="1554480"/>
          </a:xfrm>
          <a:prstGeom prst="roundRect">
            <a:avLst>
              <a:gd name="adj" fmla="val 3529"/>
            </a:avLst>
          </a:prstGeom>
          <a:solidFill>
            <a:srgbClr val="FFF8ED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3" name="Shape 21"/>
          <p:cNvSpPr/>
          <p:nvPr/>
        </p:nvSpPr>
        <p:spPr>
          <a:xfrm>
            <a:off x="4846320" y="3840479"/>
            <a:ext cx="5989320" cy="411480"/>
          </a:xfrm>
          <a:prstGeom prst="rect">
            <a:avLst/>
          </a:prstGeom>
          <a:solidFill>
            <a:srgbClr val="F1A438"/>
          </a:solidFill>
          <a:ln w="12700">
            <a:solidFill>
              <a:srgbClr val="F1A4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4" name="Text 22"/>
          <p:cNvSpPr/>
          <p:nvPr/>
        </p:nvSpPr>
        <p:spPr>
          <a:xfrm>
            <a:off x="4919472" y="3922775"/>
            <a:ext cx="5843016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관리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10912" y="4370831"/>
            <a:ext cx="5660136" cy="8961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피처값과 함께 유효율, 보간비율, 결측 이유를 제공한다. 계산 불가 피처는 null로 남기며 2D 값으로 대체하지 않는다. 센서 실패가 임상적 실패점수로 자동 변환되지 않게 분리한다.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3A66"/>
          </a:solidFill>
          <a:ln w="12700">
            <a:solidFill>
              <a:srgbClr val="193A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 1"/>
          <p:cNvSpPr/>
          <p:nvPr/>
        </p:nvSpPr>
        <p:spPr>
          <a:xfrm>
            <a:off x="11109960" y="3474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928" y="402336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C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수치로 학습하는 기준 모델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813816"/>
            <a:ext cx="10927080" cy="3200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6A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</a:t>
            </a:r>
            <a:r>
              <a:rPr lang="en-US" sz="1600" b="1" dirty="0">
                <a:solidFill>
                  <a:srgbClr val="16A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학습 기준 모델 (A0)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4041648" cy="4023360"/>
          </a:xfrm>
          <a:prstGeom prst="roundRect">
            <a:avLst>
              <a:gd name="adj" fmla="val 1951"/>
            </a:avLst>
          </a:prstGeom>
          <a:blipFill>
            <a:blip r:embed="rId3"/>
            <a:stretch>
              <a:fillRect/>
            </a:stretch>
          </a:blip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Shape 8"/>
          <p:cNvSpPr/>
          <p:nvPr/>
        </p:nvSpPr>
        <p:spPr>
          <a:xfrm>
            <a:off x="4965192" y="1225296"/>
            <a:ext cx="2834640" cy="2834640"/>
          </a:xfrm>
          <a:prstGeom prst="roundRect">
            <a:avLst>
              <a:gd name="adj" fmla="val 1935"/>
            </a:avLst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Shape 9"/>
          <p:cNvSpPr/>
          <p:nvPr/>
        </p:nvSpPr>
        <p:spPr>
          <a:xfrm>
            <a:off x="4965192" y="1225296"/>
            <a:ext cx="2834640" cy="411480"/>
          </a:xfrm>
          <a:prstGeom prst="rect">
            <a:avLst/>
          </a:prstGeom>
          <a:solidFill>
            <a:srgbClr val="7665B7"/>
          </a:solidFill>
          <a:ln w="12700">
            <a:solidFill>
              <a:srgbClr val="7665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Text 10"/>
          <p:cNvSpPr/>
          <p:nvPr/>
        </p:nvSpPr>
        <p:spPr>
          <a:xfrm>
            <a:off x="5038344" y="1307592"/>
            <a:ext cx="2688336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 정보와 처리 방식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29784" y="1755648"/>
            <a:ext cx="2505456" cy="21762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입력: 손 움직임을 측정한 수치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처리: 다항 로지스틱 회귀로 수치와 전문가 점수의 관계를 학습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출력: 연구용 0·1·2점 분류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46720" y="1225296"/>
            <a:ext cx="3246120" cy="2834640"/>
          </a:xfrm>
          <a:prstGeom prst="roundRect">
            <a:avLst>
              <a:gd name="adj" fmla="val 1935"/>
            </a:avLst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5" name="Shape 13"/>
          <p:cNvSpPr/>
          <p:nvPr/>
        </p:nvSpPr>
        <p:spPr>
          <a:xfrm>
            <a:off x="8046720" y="1225296"/>
            <a:ext cx="3246120" cy="411480"/>
          </a:xfrm>
          <a:prstGeom prst="rect">
            <a:avLst/>
          </a:prstGeom>
          <a:solidFill>
            <a:srgbClr val="193A66"/>
          </a:solidFill>
          <a:ln w="12700">
            <a:solidFill>
              <a:srgbClr val="193A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6" name="Text 14"/>
          <p:cNvSpPr/>
          <p:nvPr/>
        </p:nvSpPr>
        <p:spPr>
          <a:xfrm>
            <a:off x="8119872" y="1307592"/>
            <a:ext cx="3099816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조건을 두는 이유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11312" y="1755648"/>
            <a:ext cx="2916936" cy="21762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없이 간단한 수치 학습 모델로도 비슷한 평가가 가능한지 확인한다.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다만 A0는 환자 자료로 학습하므로, 동결 VLM 조건과 완전히 같은 비교는 아니다.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6928" y="5349240"/>
            <a:ext cx="11018520" cy="502920"/>
          </a:xfrm>
          <a:prstGeom prst="roundRect">
            <a:avLst>
              <a:gd name="adj" fmla="val 9091"/>
            </a:avLst>
          </a:prstGeom>
          <a:solidFill>
            <a:srgbClr val="7665B7"/>
          </a:solidFill>
          <a:ln w="12700">
            <a:solidFill>
              <a:srgbClr val="7665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9" name="Text 17"/>
          <p:cNvSpPr/>
          <p:nvPr/>
        </p:nvSpPr>
        <p:spPr>
          <a:xfrm>
            <a:off x="777240" y="5458968"/>
            <a:ext cx="10607040" cy="3931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</a:t>
            </a:r>
            <a:r>
              <a:rPr 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A0는 “수치 기반 학습 기준선”으로만 이해하면 된다.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3A66"/>
          </a:solidFill>
          <a:ln w="12700">
            <a:solidFill>
              <a:srgbClr val="193A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 1"/>
          <p:cNvSpPr/>
          <p:nvPr/>
        </p:nvSpPr>
        <p:spPr>
          <a:xfrm>
            <a:off x="11109960" y="3474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928" y="402336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C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영상만 제공하는 시각 언어모델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813816"/>
            <a:ext cx="10927080" cy="3200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6A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영상만</a:t>
            </a:r>
            <a:r>
              <a:rPr lang="en-US" sz="1600" b="1" dirty="0">
                <a:solidFill>
                  <a:srgbClr val="16A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(A1)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3950208" cy="4023360"/>
          </a:xfrm>
          <a:prstGeom prst="roundRect">
            <a:avLst>
              <a:gd name="adj" fmla="val 1951"/>
            </a:avLst>
          </a:prstGeom>
          <a:blipFill>
            <a:blip r:embed="rId3"/>
            <a:stretch>
              <a:fillRect/>
            </a:stretch>
          </a:blip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Shape 8"/>
          <p:cNvSpPr/>
          <p:nvPr/>
        </p:nvSpPr>
        <p:spPr>
          <a:xfrm>
            <a:off x="4800600" y="1170432"/>
            <a:ext cx="2834640" cy="2834640"/>
          </a:xfrm>
          <a:prstGeom prst="roundRect">
            <a:avLst>
              <a:gd name="adj" fmla="val 1935"/>
            </a:avLst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Shape 9"/>
          <p:cNvSpPr/>
          <p:nvPr/>
        </p:nvSpPr>
        <p:spPr>
          <a:xfrm>
            <a:off x="4800600" y="1170432"/>
            <a:ext cx="2834640" cy="411480"/>
          </a:xfrm>
          <a:prstGeom prst="rect">
            <a:avLst/>
          </a:prstGeom>
          <a:solidFill>
            <a:srgbClr val="193A66"/>
          </a:solidFill>
          <a:ln w="12700">
            <a:solidFill>
              <a:srgbClr val="193A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Text 10"/>
          <p:cNvSpPr/>
          <p:nvPr/>
        </p:nvSpPr>
        <p:spPr>
          <a:xfrm>
            <a:off x="4873752" y="1252728"/>
            <a:ext cx="2688336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 정보와 처리 방식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65192" y="1700784"/>
            <a:ext cx="2505456" cy="21762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입력: 손 과제의 14프레임과 공통 과제 지침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처리: VLM이 단계별 수행 여부와 근거를 출력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점수화: 외부 규칙으로 0·1·2점 변환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882128" y="1170432"/>
            <a:ext cx="3246120" cy="2834640"/>
          </a:xfrm>
          <a:prstGeom prst="roundRect">
            <a:avLst>
              <a:gd name="adj" fmla="val 1935"/>
            </a:avLst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5" name="Shape 13"/>
          <p:cNvSpPr/>
          <p:nvPr/>
        </p:nvSpPr>
        <p:spPr>
          <a:xfrm>
            <a:off x="7882128" y="1170432"/>
            <a:ext cx="3246120" cy="411480"/>
          </a:xfrm>
          <a:prstGeom prst="rect">
            <a:avLst/>
          </a:prstGeom>
          <a:solidFill>
            <a:srgbClr val="193A66"/>
          </a:solidFill>
          <a:ln w="12700">
            <a:solidFill>
              <a:srgbClr val="193A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6" name="Text 14"/>
          <p:cNvSpPr/>
          <p:nvPr/>
        </p:nvSpPr>
        <p:spPr>
          <a:xfrm>
            <a:off x="7955280" y="1252728"/>
            <a:ext cx="3099816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조건을 두는 이유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46720" y="1700784"/>
            <a:ext cx="2916936" cy="21762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</a:t>
            </a:r>
            <a:r>
              <a:rPr lang="en-US" sz="1600" dirty="0" err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수치나</a:t>
            </a: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비장애</a:t>
            </a: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 참조를 주기 전, 영상 정보만으로 평가하는 기준 조건이다.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 조건들도 같은 시행·같은 프레임·같은 지침을 쓰기 때문에 입력 추가 효과를 비교할 수 있다.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6928" y="5349240"/>
            <a:ext cx="11018520" cy="502920"/>
          </a:xfrm>
          <a:prstGeom prst="roundRect">
            <a:avLst>
              <a:gd name="adj" fmla="val 9091"/>
            </a:avLst>
          </a:prstGeom>
          <a:solidFill>
            <a:srgbClr val="193A66"/>
          </a:solidFill>
          <a:ln w="12700">
            <a:solidFill>
              <a:srgbClr val="193A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9" name="Text 17"/>
          <p:cNvSpPr/>
          <p:nvPr/>
        </p:nvSpPr>
        <p:spPr>
          <a:xfrm>
            <a:off x="777240" y="5458968"/>
            <a:ext cx="10607040" cy="3931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A1은 </a:t>
            </a:r>
            <a:r>
              <a:rPr lang="ko-KR" alt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영상에서</a:t>
            </a:r>
            <a:r>
              <a:rPr 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뽑은 프레임을 사용하지만, 운동학 </a:t>
            </a:r>
            <a:r>
              <a:rPr lang="en-US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수치와</a:t>
            </a:r>
            <a:r>
              <a:rPr 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비장애</a:t>
            </a:r>
            <a:r>
              <a:rPr 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 참조는 모델에 주지 않는다.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3A66"/>
          </a:solidFill>
          <a:ln w="12700">
            <a:solidFill>
              <a:srgbClr val="193A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 1"/>
          <p:cNvSpPr/>
          <p:nvPr/>
        </p:nvSpPr>
        <p:spPr>
          <a:xfrm>
            <a:off x="11109960" y="3474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928" y="402336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C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영상에 운동학 수치를 추가하는 조건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813816"/>
            <a:ext cx="10927080" cy="3200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6A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</a:t>
            </a:r>
            <a:r>
              <a:rPr lang="en-US" sz="1600" b="1" dirty="0">
                <a:solidFill>
                  <a:srgbClr val="16A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수치 (A2)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234439"/>
            <a:ext cx="3950208" cy="4166235"/>
          </a:xfrm>
          <a:prstGeom prst="roundRect">
            <a:avLst>
              <a:gd name="adj" fmla="val 1951"/>
            </a:avLst>
          </a:prstGeom>
          <a:blipFill>
            <a:blip r:embed="rId3"/>
            <a:stretch>
              <a:fillRect/>
            </a:stretch>
          </a:blip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Shape 8"/>
          <p:cNvSpPr/>
          <p:nvPr/>
        </p:nvSpPr>
        <p:spPr>
          <a:xfrm>
            <a:off x="4800600" y="1170432"/>
            <a:ext cx="2834640" cy="2834640"/>
          </a:xfrm>
          <a:prstGeom prst="roundRect">
            <a:avLst>
              <a:gd name="adj" fmla="val 1935"/>
            </a:avLst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Shape 9"/>
          <p:cNvSpPr/>
          <p:nvPr/>
        </p:nvSpPr>
        <p:spPr>
          <a:xfrm>
            <a:off x="4800600" y="1170432"/>
            <a:ext cx="2834640" cy="411480"/>
          </a:xfrm>
          <a:prstGeom prst="rect">
            <a:avLst/>
          </a:prstGeom>
          <a:solidFill>
            <a:srgbClr val="16A7B8"/>
          </a:solidFill>
          <a:ln w="12700">
            <a:solidFill>
              <a:srgbClr val="16A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Text 10"/>
          <p:cNvSpPr/>
          <p:nvPr/>
        </p:nvSpPr>
        <p:spPr>
          <a:xfrm>
            <a:off x="4873752" y="1252728"/>
            <a:ext cx="2688336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 정보와 처리 방식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65192" y="1700784"/>
            <a:ext cx="2505456" cy="21762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입력: A1과 동일한 프레임 및 과제 지침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정보: 움직임 크기, 도달 시간, 유지 중 변동, 해제 개방량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정보: 유효율과 결측 이유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882128" y="1170432"/>
            <a:ext cx="3246120" cy="2834640"/>
          </a:xfrm>
          <a:prstGeom prst="roundRect">
            <a:avLst>
              <a:gd name="adj" fmla="val 1935"/>
            </a:avLst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5" name="Shape 13"/>
          <p:cNvSpPr/>
          <p:nvPr/>
        </p:nvSpPr>
        <p:spPr>
          <a:xfrm>
            <a:off x="7882128" y="1170432"/>
            <a:ext cx="3246120" cy="411480"/>
          </a:xfrm>
          <a:prstGeom prst="rect">
            <a:avLst/>
          </a:prstGeom>
          <a:solidFill>
            <a:srgbClr val="193A66"/>
          </a:solidFill>
          <a:ln w="12700">
            <a:solidFill>
              <a:srgbClr val="193A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6" name="Text 14"/>
          <p:cNvSpPr/>
          <p:nvPr/>
        </p:nvSpPr>
        <p:spPr>
          <a:xfrm>
            <a:off x="7955280" y="1252728"/>
            <a:ext cx="3099816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조건을 두는 이유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46720" y="1700784"/>
            <a:ext cx="2916936" cy="21762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영상만으로 판단하기 어려운 손가락 벌림, 시간, 안정성, 해제 변화량을 수치로 보완한다.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A2−A1은 수치·품질 정보의 추가효과를 보는 보조 비교가 된다.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6928" y="5541264"/>
            <a:ext cx="11018520" cy="502920"/>
          </a:xfrm>
          <a:prstGeom prst="roundRect">
            <a:avLst>
              <a:gd name="adj" fmla="val 9091"/>
            </a:avLst>
          </a:prstGeom>
          <a:solidFill>
            <a:srgbClr val="16A7B8"/>
          </a:solidFill>
          <a:ln w="12700">
            <a:solidFill>
              <a:srgbClr val="16A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9" name="Text 17"/>
          <p:cNvSpPr/>
          <p:nvPr/>
        </p:nvSpPr>
        <p:spPr>
          <a:xfrm>
            <a:off x="777240" y="5650992"/>
            <a:ext cx="10607040" cy="3931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운동학 피처는 정상/비정상 판정선이 아니라, VLM에게 제공하는 정량 근거다.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3A66"/>
          </a:solidFill>
          <a:ln w="12700">
            <a:solidFill>
              <a:srgbClr val="193A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 1"/>
          <p:cNvSpPr/>
          <p:nvPr/>
        </p:nvSpPr>
        <p:spPr>
          <a:xfrm>
            <a:off x="11109960" y="3474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927" y="402336"/>
            <a:ext cx="8958073" cy="3200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C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영상과 </a:t>
            </a:r>
            <a:r>
              <a:rPr lang="en-US" sz="3200" b="1" dirty="0" err="1">
                <a:solidFill>
                  <a:srgbClr val="0F2C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수치에</a:t>
            </a:r>
            <a:r>
              <a:rPr lang="en-US" sz="3200" b="1" dirty="0">
                <a:solidFill>
                  <a:srgbClr val="0F2C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3200" b="1" dirty="0">
                <a:solidFill>
                  <a:srgbClr val="0F2C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비장애</a:t>
            </a:r>
            <a:r>
              <a:rPr lang="en-US" sz="3200" b="1" dirty="0">
                <a:solidFill>
                  <a:srgbClr val="0F2C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 참조를 추가하는 조건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813816"/>
            <a:ext cx="10927080" cy="3200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6A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</a:t>
            </a:r>
            <a:r>
              <a:rPr lang="en-US" sz="1600" b="1" dirty="0">
                <a:solidFill>
                  <a:srgbClr val="16A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수치 + </a:t>
            </a:r>
            <a:r>
              <a:rPr lang="ko-KR" altLang="en-US" sz="1600" b="1" dirty="0">
                <a:solidFill>
                  <a:srgbClr val="16A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비장애</a:t>
            </a:r>
            <a:r>
              <a:rPr lang="en-US" sz="1600" b="1" dirty="0">
                <a:solidFill>
                  <a:srgbClr val="16A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 참조 (A3)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3905250" cy="4175760"/>
          </a:xfrm>
          <a:prstGeom prst="roundRect">
            <a:avLst>
              <a:gd name="adj" fmla="val 1951"/>
            </a:avLst>
          </a:prstGeom>
          <a:blipFill>
            <a:blip r:embed="rId3"/>
            <a:stretch>
              <a:fillRect/>
            </a:stretch>
          </a:blip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Shape 8"/>
          <p:cNvSpPr/>
          <p:nvPr/>
        </p:nvSpPr>
        <p:spPr>
          <a:xfrm>
            <a:off x="4800600" y="1170432"/>
            <a:ext cx="2834640" cy="2834640"/>
          </a:xfrm>
          <a:prstGeom prst="roundRect">
            <a:avLst>
              <a:gd name="adj" fmla="val 1935"/>
            </a:avLst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Shape 9"/>
          <p:cNvSpPr/>
          <p:nvPr/>
        </p:nvSpPr>
        <p:spPr>
          <a:xfrm>
            <a:off x="4800600" y="1170432"/>
            <a:ext cx="2834640" cy="411480"/>
          </a:xfrm>
          <a:prstGeom prst="rect">
            <a:avLst/>
          </a:prstGeom>
          <a:solidFill>
            <a:srgbClr val="199E75"/>
          </a:solidFill>
          <a:ln w="12700">
            <a:solidFill>
              <a:srgbClr val="199E7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Text 10"/>
          <p:cNvSpPr/>
          <p:nvPr/>
        </p:nvSpPr>
        <p:spPr>
          <a:xfrm>
            <a:off x="4873752" y="1252728"/>
            <a:ext cx="2688336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 정보와 처리 방식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65192" y="1700784"/>
            <a:ext cx="2505456" cy="21762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입력: 영상, 운동학 수치, 측정 품질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정보: 건강인 표본의 중앙값, Q1, Q3, 유효 인원, 상대 위치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의미: 같은 과제의 수치를 해석할 비교 정보 제공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882128" y="1170432"/>
            <a:ext cx="3246120" cy="2834640"/>
          </a:xfrm>
          <a:prstGeom prst="roundRect">
            <a:avLst>
              <a:gd name="adj" fmla="val 1935"/>
            </a:avLst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5" name="Shape 13"/>
          <p:cNvSpPr/>
          <p:nvPr/>
        </p:nvSpPr>
        <p:spPr>
          <a:xfrm>
            <a:off x="7882128" y="1170432"/>
            <a:ext cx="3246120" cy="411480"/>
          </a:xfrm>
          <a:prstGeom prst="rect">
            <a:avLst/>
          </a:prstGeom>
          <a:solidFill>
            <a:srgbClr val="193A66"/>
          </a:solidFill>
          <a:ln w="12700">
            <a:solidFill>
              <a:srgbClr val="193A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6" name="Text 14"/>
          <p:cNvSpPr/>
          <p:nvPr/>
        </p:nvSpPr>
        <p:spPr>
          <a:xfrm>
            <a:off x="7955280" y="1252728"/>
            <a:ext cx="3099816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조건을 두는 이유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46720" y="1700784"/>
            <a:ext cx="2916936" cy="21762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연구의 최종 제안 방식이다.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A3−A1은 영상만 보는 조건 대비 전체 정보 묶음의 효과를 보는 주 비교이며, A3−A2는 </a:t>
            </a:r>
            <a:r>
              <a:rPr lang="ko-KR" alt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비장애</a:t>
            </a: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 참조의 추가효과를 탐색한다.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6928" y="5554980"/>
            <a:ext cx="11018520" cy="502920"/>
          </a:xfrm>
          <a:prstGeom prst="roundRect">
            <a:avLst>
              <a:gd name="adj" fmla="val 9091"/>
            </a:avLst>
          </a:prstGeom>
          <a:solidFill>
            <a:srgbClr val="199E75"/>
          </a:solidFill>
          <a:ln w="12700">
            <a:solidFill>
              <a:srgbClr val="199E7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9" name="Text 17"/>
          <p:cNvSpPr/>
          <p:nvPr/>
        </p:nvSpPr>
        <p:spPr>
          <a:xfrm>
            <a:off x="777240" y="5664708"/>
            <a:ext cx="10607040" cy="3931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비장애</a:t>
            </a:r>
            <a:r>
              <a:rPr 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 참조는 정상 판정선이 아니라 작은 표본 분포의 상대 위치 정보다.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3A66"/>
          </a:solidFill>
          <a:ln w="12700">
            <a:solidFill>
              <a:srgbClr val="193A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 1"/>
          <p:cNvSpPr/>
          <p:nvPr/>
        </p:nvSpPr>
        <p:spPr>
          <a:xfrm>
            <a:off x="11109960" y="3474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928" y="402336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C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없이 수치와 참조만 제공하는 조건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813816"/>
            <a:ext cx="10927080" cy="3200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6A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수치만</a:t>
            </a:r>
            <a:r>
              <a:rPr lang="en-US" sz="1600" b="1" dirty="0">
                <a:solidFill>
                  <a:srgbClr val="16A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제공하는 VLM (A4)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3950208" cy="4224528"/>
          </a:xfrm>
          <a:prstGeom prst="roundRect">
            <a:avLst>
              <a:gd name="adj" fmla="val 1951"/>
            </a:avLst>
          </a:prstGeom>
          <a:blipFill>
            <a:blip r:embed="rId3"/>
            <a:stretch>
              <a:fillRect/>
            </a:stretch>
          </a:blip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Shape 8"/>
          <p:cNvSpPr/>
          <p:nvPr/>
        </p:nvSpPr>
        <p:spPr>
          <a:xfrm>
            <a:off x="4800600" y="1170432"/>
            <a:ext cx="2834640" cy="2834640"/>
          </a:xfrm>
          <a:prstGeom prst="roundRect">
            <a:avLst>
              <a:gd name="adj" fmla="val 1935"/>
            </a:avLst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Shape 9"/>
          <p:cNvSpPr/>
          <p:nvPr/>
        </p:nvSpPr>
        <p:spPr>
          <a:xfrm>
            <a:off x="4800600" y="1170432"/>
            <a:ext cx="2834640" cy="411480"/>
          </a:xfrm>
          <a:prstGeom prst="rect">
            <a:avLst/>
          </a:prstGeom>
          <a:solidFill>
            <a:srgbClr val="F1A438"/>
          </a:solidFill>
          <a:ln w="12700">
            <a:solidFill>
              <a:srgbClr val="F1A4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Text 10"/>
          <p:cNvSpPr/>
          <p:nvPr/>
        </p:nvSpPr>
        <p:spPr>
          <a:xfrm>
            <a:off x="4873752" y="1252728"/>
            <a:ext cx="2688336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 정보와 처리 방식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65192" y="1700784"/>
            <a:ext cx="2505456" cy="21762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입력: 운동학 수치, 측정 품질, </a:t>
            </a:r>
            <a:r>
              <a:rPr lang="ko-KR" alt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비장애인</a:t>
            </a: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참조, 과제 지침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처리: 앞 조건과 동일한 VLM 사용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제외: 영상 프레임과 프레임 시각 정보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882128" y="1170432"/>
            <a:ext cx="3246120" cy="2834640"/>
          </a:xfrm>
          <a:prstGeom prst="roundRect">
            <a:avLst>
              <a:gd name="adj" fmla="val 1935"/>
            </a:avLst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5" name="Shape 13"/>
          <p:cNvSpPr/>
          <p:nvPr/>
        </p:nvSpPr>
        <p:spPr>
          <a:xfrm>
            <a:off x="7882128" y="1170432"/>
            <a:ext cx="3246120" cy="411480"/>
          </a:xfrm>
          <a:prstGeom prst="rect">
            <a:avLst/>
          </a:prstGeom>
          <a:solidFill>
            <a:srgbClr val="193A66"/>
          </a:solidFill>
          <a:ln w="12700">
            <a:solidFill>
              <a:srgbClr val="193A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6" name="Text 14"/>
          <p:cNvSpPr/>
          <p:nvPr/>
        </p:nvSpPr>
        <p:spPr>
          <a:xfrm>
            <a:off x="7955280" y="1252728"/>
            <a:ext cx="3099816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조건을 두는 이유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46720" y="1700784"/>
            <a:ext cx="2916936" cy="21762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수치와 참조만으로도 충분한지 보기 위한 보조 조건이다.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A3−A4는 수치·참조가 있는 상황에서 영상이 추가로 기여하는지를 탐색한다.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6928" y="5747004"/>
            <a:ext cx="11018520" cy="502920"/>
          </a:xfrm>
          <a:prstGeom prst="roundRect">
            <a:avLst>
              <a:gd name="adj" fmla="val 9091"/>
            </a:avLst>
          </a:prstGeom>
          <a:solidFill>
            <a:srgbClr val="F1A438"/>
          </a:solidFill>
          <a:ln w="12700">
            <a:solidFill>
              <a:srgbClr val="F1A4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9" name="Text 17"/>
          <p:cNvSpPr/>
          <p:nvPr/>
        </p:nvSpPr>
        <p:spPr>
          <a:xfrm>
            <a:off x="777240" y="5856732"/>
            <a:ext cx="10607040" cy="3931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A4는 수치 텍스트를 읽는 동결 VLM이고, A0는 환자 자료로 학습하는 수치 모델이다.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3A66"/>
          </a:solidFill>
          <a:ln w="12700">
            <a:solidFill>
              <a:srgbClr val="193A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3" name="Text 1"/>
          <p:cNvSpPr/>
          <p:nvPr/>
        </p:nvSpPr>
        <p:spPr>
          <a:xfrm>
            <a:off x="11109960" y="3474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9AA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66928" y="402336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0F2C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조건과 비교 목적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66928" y="1078992"/>
            <a:ext cx="11018520" cy="438912"/>
          </a:xfrm>
          <a:prstGeom prst="roundRect">
            <a:avLst>
              <a:gd name="adj" fmla="val 10417"/>
            </a:avLst>
          </a:prstGeom>
          <a:solidFill>
            <a:srgbClr val="199E75"/>
          </a:solidFill>
          <a:ln w="12700">
            <a:solidFill>
              <a:srgbClr val="199E7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7" name="Text 5"/>
          <p:cNvSpPr/>
          <p:nvPr/>
        </p:nvSpPr>
        <p:spPr>
          <a:xfrm>
            <a:off x="777240" y="1188720"/>
            <a:ext cx="10607040" cy="32918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비교: 최종 제안 방식(A3)과 영상만(A1) — 전체 정보 묶음의 추가효과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85800" y="1783080"/>
            <a:ext cx="2651760" cy="530352"/>
          </a:xfrm>
          <a:prstGeom prst="rect">
            <a:avLst/>
          </a:prstGeom>
          <a:solidFill>
            <a:srgbClr val="193A6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9" name="Text 7"/>
          <p:cNvSpPr/>
          <p:nvPr/>
        </p:nvSpPr>
        <p:spPr>
          <a:xfrm>
            <a:off x="722376" y="1901952"/>
            <a:ext cx="257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37560" y="1783080"/>
            <a:ext cx="1508760" cy="530352"/>
          </a:xfrm>
          <a:prstGeom prst="rect">
            <a:avLst/>
          </a:prstGeom>
          <a:solidFill>
            <a:srgbClr val="193A6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1" name="Text 9"/>
          <p:cNvSpPr/>
          <p:nvPr/>
        </p:nvSpPr>
        <p:spPr>
          <a:xfrm>
            <a:off x="3374136" y="1901952"/>
            <a:ext cx="1435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46320" y="1783080"/>
            <a:ext cx="1508760" cy="530352"/>
          </a:xfrm>
          <a:prstGeom prst="rect">
            <a:avLst/>
          </a:prstGeom>
          <a:solidFill>
            <a:srgbClr val="193A6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3" name="Text 11"/>
          <p:cNvSpPr/>
          <p:nvPr/>
        </p:nvSpPr>
        <p:spPr>
          <a:xfrm>
            <a:off x="4882896" y="1901952"/>
            <a:ext cx="1435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수치·품질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55080" y="1783080"/>
            <a:ext cx="1691640" cy="530352"/>
          </a:xfrm>
          <a:prstGeom prst="rect">
            <a:avLst/>
          </a:prstGeom>
          <a:solidFill>
            <a:srgbClr val="193A6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5" name="Text 13"/>
          <p:cNvSpPr/>
          <p:nvPr/>
        </p:nvSpPr>
        <p:spPr>
          <a:xfrm>
            <a:off x="6391656" y="1901952"/>
            <a:ext cx="16184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비장애</a:t>
            </a: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 참조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46720" y="1783080"/>
            <a:ext cx="3337560" cy="530352"/>
          </a:xfrm>
          <a:prstGeom prst="rect">
            <a:avLst/>
          </a:prstGeom>
          <a:solidFill>
            <a:srgbClr val="193A6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7" name="Text 15"/>
          <p:cNvSpPr/>
          <p:nvPr/>
        </p:nvSpPr>
        <p:spPr>
          <a:xfrm>
            <a:off x="8083296" y="1901952"/>
            <a:ext cx="32644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방법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" y="2313432"/>
            <a:ext cx="265176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9" name="Text 17"/>
          <p:cNvSpPr/>
          <p:nvPr/>
        </p:nvSpPr>
        <p:spPr>
          <a:xfrm>
            <a:off x="731520" y="243230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A0 수치 학습 기준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337560" y="2313432"/>
            <a:ext cx="150876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1" name="Text 19"/>
          <p:cNvSpPr/>
          <p:nvPr/>
        </p:nvSpPr>
        <p:spPr>
          <a:xfrm>
            <a:off x="3383280" y="2432304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46320" y="2313432"/>
            <a:ext cx="150876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3" name="Text 21"/>
          <p:cNvSpPr/>
          <p:nvPr/>
        </p:nvSpPr>
        <p:spPr>
          <a:xfrm>
            <a:off x="4892040" y="2432304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55080" y="2313432"/>
            <a:ext cx="16916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5" name="Text 23"/>
          <p:cNvSpPr/>
          <p:nvPr/>
        </p:nvSpPr>
        <p:spPr>
          <a:xfrm>
            <a:off x="6400800" y="2432304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046720" y="2313432"/>
            <a:ext cx="333756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7" name="Text 25"/>
          <p:cNvSpPr/>
          <p:nvPr/>
        </p:nvSpPr>
        <p:spPr>
          <a:xfrm>
            <a:off x="8092440" y="2432304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로지스틱 회귀 학습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" y="2843784"/>
            <a:ext cx="265176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9" name="Text 27"/>
          <p:cNvSpPr/>
          <p:nvPr/>
        </p:nvSpPr>
        <p:spPr>
          <a:xfrm>
            <a:off x="731520" y="296265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 영상만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337560" y="2843784"/>
            <a:ext cx="150876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31" name="Text 29"/>
          <p:cNvSpPr/>
          <p:nvPr/>
        </p:nvSpPr>
        <p:spPr>
          <a:xfrm>
            <a:off x="3383280" y="2962656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846320" y="2843784"/>
            <a:ext cx="150876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33" name="Text 31"/>
          <p:cNvSpPr/>
          <p:nvPr/>
        </p:nvSpPr>
        <p:spPr>
          <a:xfrm>
            <a:off x="4892040" y="2962656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355080" y="2843784"/>
            <a:ext cx="16916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35" name="Text 33"/>
          <p:cNvSpPr/>
          <p:nvPr/>
        </p:nvSpPr>
        <p:spPr>
          <a:xfrm>
            <a:off x="6400800" y="2962656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046720" y="2843784"/>
            <a:ext cx="333756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37" name="Text 35"/>
          <p:cNvSpPr/>
          <p:nvPr/>
        </p:nvSpPr>
        <p:spPr>
          <a:xfrm>
            <a:off x="8092440" y="2962656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동일한 동결 VLM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85800" y="3374136"/>
            <a:ext cx="265176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39" name="Text 37"/>
          <p:cNvSpPr/>
          <p:nvPr/>
        </p:nvSpPr>
        <p:spPr>
          <a:xfrm>
            <a:off x="731520" y="349300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 영상+수치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337560" y="3374136"/>
            <a:ext cx="150876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41" name="Text 39"/>
          <p:cNvSpPr/>
          <p:nvPr/>
        </p:nvSpPr>
        <p:spPr>
          <a:xfrm>
            <a:off x="3383280" y="3493008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846320" y="3374136"/>
            <a:ext cx="150876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43" name="Text 41"/>
          <p:cNvSpPr/>
          <p:nvPr/>
        </p:nvSpPr>
        <p:spPr>
          <a:xfrm>
            <a:off x="4892040" y="3493008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355080" y="3374136"/>
            <a:ext cx="16916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45" name="Text 43"/>
          <p:cNvSpPr/>
          <p:nvPr/>
        </p:nvSpPr>
        <p:spPr>
          <a:xfrm>
            <a:off x="6400800" y="3493008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8046720" y="3374136"/>
            <a:ext cx="333756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47" name="Text 45"/>
          <p:cNvSpPr/>
          <p:nvPr/>
        </p:nvSpPr>
        <p:spPr>
          <a:xfrm>
            <a:off x="8092440" y="3493008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동일한 동결 VLM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85800" y="3904488"/>
            <a:ext cx="2651760" cy="530352"/>
          </a:xfrm>
          <a:prstGeom prst="rect">
            <a:avLst/>
          </a:prstGeom>
          <a:solidFill>
            <a:srgbClr val="EAF7F2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49" name="Text 47"/>
          <p:cNvSpPr/>
          <p:nvPr/>
        </p:nvSpPr>
        <p:spPr>
          <a:xfrm>
            <a:off x="731520" y="4023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9E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 최종 제안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3337560" y="3904488"/>
            <a:ext cx="1508760" cy="530352"/>
          </a:xfrm>
          <a:prstGeom prst="rect">
            <a:avLst/>
          </a:prstGeom>
          <a:solidFill>
            <a:srgbClr val="EAF7F2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51" name="Text 49"/>
          <p:cNvSpPr/>
          <p:nvPr/>
        </p:nvSpPr>
        <p:spPr>
          <a:xfrm>
            <a:off x="3383280" y="402336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9E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4846320" y="3904488"/>
            <a:ext cx="1508760" cy="530352"/>
          </a:xfrm>
          <a:prstGeom prst="rect">
            <a:avLst/>
          </a:prstGeom>
          <a:solidFill>
            <a:srgbClr val="EAF7F2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53" name="Text 51"/>
          <p:cNvSpPr/>
          <p:nvPr/>
        </p:nvSpPr>
        <p:spPr>
          <a:xfrm>
            <a:off x="4892040" y="402336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9E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6355080" y="3904488"/>
            <a:ext cx="1691640" cy="530352"/>
          </a:xfrm>
          <a:prstGeom prst="rect">
            <a:avLst/>
          </a:prstGeom>
          <a:solidFill>
            <a:srgbClr val="EAF7F2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55" name="Text 53"/>
          <p:cNvSpPr/>
          <p:nvPr/>
        </p:nvSpPr>
        <p:spPr>
          <a:xfrm>
            <a:off x="6400800" y="402336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9E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8046720" y="3904488"/>
            <a:ext cx="3337560" cy="530352"/>
          </a:xfrm>
          <a:prstGeom prst="rect">
            <a:avLst/>
          </a:prstGeom>
          <a:solidFill>
            <a:srgbClr val="EAF7F2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57" name="Text 55"/>
          <p:cNvSpPr/>
          <p:nvPr/>
        </p:nvSpPr>
        <p:spPr>
          <a:xfrm>
            <a:off x="8092440" y="402336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9E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동일한 동결 VLM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685800" y="4434840"/>
            <a:ext cx="265176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59" name="Text 57"/>
          <p:cNvSpPr/>
          <p:nvPr/>
        </p:nvSpPr>
        <p:spPr>
          <a:xfrm>
            <a:off x="731520" y="45537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 수치만 VLM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3337560" y="4434840"/>
            <a:ext cx="150876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61" name="Text 59"/>
          <p:cNvSpPr/>
          <p:nvPr/>
        </p:nvSpPr>
        <p:spPr>
          <a:xfrm>
            <a:off x="3383280" y="4553712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4846320" y="4434840"/>
            <a:ext cx="150876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63" name="Text 61"/>
          <p:cNvSpPr/>
          <p:nvPr/>
        </p:nvSpPr>
        <p:spPr>
          <a:xfrm>
            <a:off x="4892040" y="4553712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6355080" y="4434840"/>
            <a:ext cx="16916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65" name="Text 63"/>
          <p:cNvSpPr/>
          <p:nvPr/>
        </p:nvSpPr>
        <p:spPr>
          <a:xfrm>
            <a:off x="6400800" y="455371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8046720" y="4434840"/>
            <a:ext cx="333756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67" name="Text 65"/>
          <p:cNvSpPr/>
          <p:nvPr/>
        </p:nvSpPr>
        <p:spPr>
          <a:xfrm>
            <a:off x="8092440" y="4553712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동일한 동결 VLM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685800" y="5138927"/>
            <a:ext cx="2743200" cy="1118997"/>
          </a:xfrm>
          <a:prstGeom prst="roundRect">
            <a:avLst>
              <a:gd name="adj" fmla="val 8108"/>
            </a:avLst>
          </a:prstGeom>
          <a:solidFill>
            <a:srgbClr val="EAF7F2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69" name="Shape 67"/>
          <p:cNvSpPr/>
          <p:nvPr/>
        </p:nvSpPr>
        <p:spPr>
          <a:xfrm>
            <a:off x="685800" y="5138928"/>
            <a:ext cx="2743200" cy="411480"/>
          </a:xfrm>
          <a:prstGeom prst="rect">
            <a:avLst/>
          </a:prstGeom>
          <a:solidFill>
            <a:srgbClr val="199E75"/>
          </a:solidFill>
          <a:ln w="12700">
            <a:solidFill>
              <a:srgbClr val="199E7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70" name="Text 68"/>
          <p:cNvSpPr/>
          <p:nvPr/>
        </p:nvSpPr>
        <p:spPr>
          <a:xfrm>
            <a:off x="758952" y="5221224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효과</a:t>
            </a: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850392" y="5669279"/>
            <a:ext cx="2414016" cy="676655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A3 − A1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제안 방식 vs 영상만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3611880" y="5138928"/>
            <a:ext cx="2240280" cy="1118996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73" name="Shape 71"/>
          <p:cNvSpPr/>
          <p:nvPr/>
        </p:nvSpPr>
        <p:spPr>
          <a:xfrm>
            <a:off x="3611880" y="5138928"/>
            <a:ext cx="2240280" cy="411480"/>
          </a:xfrm>
          <a:prstGeom prst="rect">
            <a:avLst/>
          </a:prstGeom>
          <a:solidFill>
            <a:srgbClr val="16A7B8"/>
          </a:solidFill>
          <a:ln w="12700">
            <a:solidFill>
              <a:srgbClr val="16A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74" name="Text 72"/>
          <p:cNvSpPr/>
          <p:nvPr/>
        </p:nvSpPr>
        <p:spPr>
          <a:xfrm>
            <a:off x="3685032" y="5221224"/>
            <a:ext cx="2093976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 추가</a:t>
            </a: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3776472" y="5669280"/>
            <a:ext cx="1911096" cy="182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A2 − A1</a:t>
            </a:r>
            <a:endParaRPr lang="en-US" dirty="0"/>
          </a:p>
        </p:txBody>
      </p:sp>
      <p:sp>
        <p:nvSpPr>
          <p:cNvPr id="76" name="Shape 74"/>
          <p:cNvSpPr/>
          <p:nvPr/>
        </p:nvSpPr>
        <p:spPr>
          <a:xfrm>
            <a:off x="6035040" y="5138927"/>
            <a:ext cx="2240280" cy="1118995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77" name="Shape 75"/>
          <p:cNvSpPr/>
          <p:nvPr/>
        </p:nvSpPr>
        <p:spPr>
          <a:xfrm>
            <a:off x="6035040" y="5138928"/>
            <a:ext cx="2240280" cy="411480"/>
          </a:xfrm>
          <a:prstGeom prst="rect">
            <a:avLst/>
          </a:prstGeom>
          <a:solidFill>
            <a:srgbClr val="199E75"/>
          </a:solidFill>
          <a:ln w="12700">
            <a:solidFill>
              <a:srgbClr val="199E7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78" name="Text 76"/>
          <p:cNvSpPr/>
          <p:nvPr/>
        </p:nvSpPr>
        <p:spPr>
          <a:xfrm>
            <a:off x="6108192" y="5221224"/>
            <a:ext cx="2093976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 추가</a:t>
            </a: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6199632" y="5669280"/>
            <a:ext cx="1911096" cy="182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A3 − A2</a:t>
            </a:r>
            <a:endParaRPr lang="en-US" dirty="0"/>
          </a:p>
        </p:txBody>
      </p:sp>
      <p:sp>
        <p:nvSpPr>
          <p:cNvPr id="80" name="Shape 78"/>
          <p:cNvSpPr/>
          <p:nvPr/>
        </p:nvSpPr>
        <p:spPr>
          <a:xfrm>
            <a:off x="8458200" y="5138928"/>
            <a:ext cx="2697480" cy="1118994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81" name="Shape 79"/>
          <p:cNvSpPr/>
          <p:nvPr/>
        </p:nvSpPr>
        <p:spPr>
          <a:xfrm>
            <a:off x="8458200" y="5138928"/>
            <a:ext cx="2697480" cy="411480"/>
          </a:xfrm>
          <a:prstGeom prst="rect">
            <a:avLst/>
          </a:prstGeom>
          <a:solidFill>
            <a:srgbClr val="F1A438"/>
          </a:solidFill>
          <a:ln w="12700">
            <a:solidFill>
              <a:srgbClr val="F1A4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82" name="Text 80"/>
          <p:cNvSpPr/>
          <p:nvPr/>
        </p:nvSpPr>
        <p:spPr>
          <a:xfrm>
            <a:off x="8531352" y="5221224"/>
            <a:ext cx="2551176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영상·학습 기준</a:t>
            </a: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8622792" y="5669280"/>
            <a:ext cx="2368296" cy="182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A3 − A4 / A3 − A0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3A66"/>
          </a:solidFill>
          <a:ln w="12700">
            <a:solidFill>
              <a:srgbClr val="193A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 1"/>
          <p:cNvSpPr/>
          <p:nvPr/>
        </p:nvSpPr>
        <p:spPr>
          <a:xfrm>
            <a:off x="11109960" y="3474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928" y="402336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C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대상자와 네 가지 손 과제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813816"/>
            <a:ext cx="10927080" cy="3200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A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과제 8회 양손 동시 수행. 환자 15명을 독립 분석 단위로 사용한다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115568"/>
            <a:ext cx="3474720" cy="1401318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" name="Shape 5"/>
          <p:cNvSpPr/>
          <p:nvPr/>
        </p:nvSpPr>
        <p:spPr>
          <a:xfrm>
            <a:off x="685800" y="1115568"/>
            <a:ext cx="3474720" cy="411480"/>
          </a:xfrm>
          <a:prstGeom prst="rect">
            <a:avLst/>
          </a:prstGeom>
          <a:solidFill>
            <a:srgbClr val="193A66"/>
          </a:solidFill>
          <a:ln w="12700">
            <a:solidFill>
              <a:srgbClr val="193A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" name="Text 6"/>
          <p:cNvSpPr/>
          <p:nvPr/>
        </p:nvSpPr>
        <p:spPr>
          <a:xfrm>
            <a:off x="758952" y="1197864"/>
            <a:ext cx="3328416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대상자 구성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0392" y="1645920"/>
            <a:ext cx="3145536" cy="7955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>
              <a:buNone/>
            </a:pPr>
            <a:r>
              <a:rPr lang="en-US" sz="1400" dirty="0" err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</a:t>
            </a: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비장애</a:t>
            </a: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 4명: 측정·지침 점검</a:t>
            </a:r>
            <a:endParaRPr lang="en-US" sz="1400" dirty="0"/>
          </a:p>
          <a:p>
            <a:pPr marL="0" indent="0">
              <a:buNone/>
            </a:pPr>
            <a:r>
              <a:rPr lang="ko-KR" alt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비장애인</a:t>
            </a: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참조 15명: 비교 분포 구성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뇌졸중 환자 15명: 입력 효과 평가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61688" y="1186434"/>
            <a:ext cx="2971800" cy="1330452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Shape 9"/>
          <p:cNvSpPr/>
          <p:nvPr/>
        </p:nvSpPr>
        <p:spPr>
          <a:xfrm>
            <a:off x="4343400" y="1115568"/>
            <a:ext cx="2971800" cy="411480"/>
          </a:xfrm>
          <a:prstGeom prst="rect">
            <a:avLst/>
          </a:prstGeom>
          <a:solidFill>
            <a:srgbClr val="16A7B8"/>
          </a:solidFill>
          <a:ln w="12700">
            <a:solidFill>
              <a:srgbClr val="16A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Text 10"/>
          <p:cNvSpPr/>
          <p:nvPr/>
        </p:nvSpPr>
        <p:spPr>
          <a:xfrm>
            <a:off x="4416552" y="1197864"/>
            <a:ext cx="2825496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 기준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07992" y="1645920"/>
            <a:ext cx="2642616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40–80세, </a:t>
            </a:r>
            <a:r>
              <a:rPr lang="en-US" sz="1400" dirty="0" err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일측</a:t>
            </a: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편마비, </a:t>
            </a:r>
            <a:r>
              <a:rPr lang="ko-KR" altLang="en-US" sz="1400" dirty="0" err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브론스트롬</a:t>
            </a:r>
            <a:r>
              <a:rPr lang="ko-KR" alt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회복 III–V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 이해와 착석 수행 가능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98080" y="1115568"/>
            <a:ext cx="3246120" cy="1444752"/>
          </a:xfrm>
          <a:prstGeom prst="roundRect">
            <a:avLst>
              <a:gd name="adj" fmla="val 5714"/>
            </a:avLst>
          </a:prstGeom>
          <a:solidFill>
            <a:srgbClr val="FFF8ED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5" name="Shape 13"/>
          <p:cNvSpPr/>
          <p:nvPr/>
        </p:nvSpPr>
        <p:spPr>
          <a:xfrm>
            <a:off x="7498080" y="1115568"/>
            <a:ext cx="3246120" cy="411480"/>
          </a:xfrm>
          <a:prstGeom prst="rect">
            <a:avLst/>
          </a:prstGeom>
          <a:solidFill>
            <a:srgbClr val="F1A438"/>
          </a:solidFill>
          <a:ln w="12700">
            <a:solidFill>
              <a:srgbClr val="F1A4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6" name="Text 14"/>
          <p:cNvSpPr/>
          <p:nvPr/>
        </p:nvSpPr>
        <p:spPr>
          <a:xfrm>
            <a:off x="7571232" y="1197864"/>
            <a:ext cx="3099816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원칙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62672" y="1645920"/>
            <a:ext cx="2916936" cy="7955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양손은 함께 촬영하지만 마비측이 주 분석이다.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15명 파일럿이므로 충분한 검정력을 보장하지 않는다.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2743200"/>
            <a:ext cx="2240280" cy="1965960"/>
          </a:xfrm>
          <a:prstGeom prst="roundRect">
            <a:avLst>
              <a:gd name="adj" fmla="val 3721"/>
            </a:avLst>
          </a:prstGeom>
          <a:blipFill>
            <a:blip r:embed="rId3"/>
            <a:stretch>
              <a:fillRect/>
            </a:stretch>
          </a:blip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2" name="Shape 20"/>
          <p:cNvSpPr/>
          <p:nvPr/>
        </p:nvSpPr>
        <p:spPr>
          <a:xfrm>
            <a:off x="3541777" y="2743200"/>
            <a:ext cx="2240280" cy="1965960"/>
          </a:xfrm>
          <a:prstGeom prst="roundRect">
            <a:avLst>
              <a:gd name="adj" fmla="val 3721"/>
            </a:avLst>
          </a:prstGeom>
          <a:blipFill>
            <a:blip r:embed="rId4"/>
            <a:stretch>
              <a:fillRect/>
            </a:stretch>
          </a:blip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6" name="Shape 24"/>
          <p:cNvSpPr/>
          <p:nvPr/>
        </p:nvSpPr>
        <p:spPr>
          <a:xfrm>
            <a:off x="6409944" y="2743200"/>
            <a:ext cx="2240280" cy="1965960"/>
          </a:xfrm>
          <a:prstGeom prst="roundRect">
            <a:avLst>
              <a:gd name="adj" fmla="val 3721"/>
            </a:avLst>
          </a:prstGeom>
          <a:blipFill>
            <a:blip r:embed="rId5"/>
            <a:stretch>
              <a:fillRect/>
            </a:stretch>
          </a:blip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0" name="Shape 28"/>
          <p:cNvSpPr/>
          <p:nvPr/>
        </p:nvSpPr>
        <p:spPr>
          <a:xfrm>
            <a:off x="9278111" y="2743200"/>
            <a:ext cx="2240280" cy="1965960"/>
          </a:xfrm>
          <a:prstGeom prst="roundRect">
            <a:avLst>
              <a:gd name="adj" fmla="val 3721"/>
            </a:avLst>
          </a:prstGeom>
          <a:blipFill>
            <a:blip r:embed="rId6"/>
            <a:stretch>
              <a:fillRect/>
            </a:stretch>
          </a:blip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4" name="Shape 32"/>
          <p:cNvSpPr/>
          <p:nvPr/>
        </p:nvSpPr>
        <p:spPr>
          <a:xfrm>
            <a:off x="566928" y="5074920"/>
            <a:ext cx="11018520" cy="502920"/>
          </a:xfrm>
          <a:prstGeom prst="roundRect">
            <a:avLst>
              <a:gd name="adj" fmla="val 9091"/>
            </a:avLst>
          </a:prstGeom>
          <a:solidFill>
            <a:srgbClr val="193A66"/>
          </a:solidFill>
          <a:ln w="12700">
            <a:solidFill>
              <a:srgbClr val="193A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5" name="Text 33"/>
          <p:cNvSpPr/>
          <p:nvPr/>
        </p:nvSpPr>
        <p:spPr>
          <a:xfrm>
            <a:off x="777240" y="5184648"/>
            <a:ext cx="10607040" cy="3931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구성은 Brunnstrom 손 회복단계와 FMA·ARAT의 대표 손 기능 개념을 참고하되, 본 연구용 과제로 표준화한다.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3A66"/>
          </a:solidFill>
          <a:ln w="12700">
            <a:solidFill>
              <a:srgbClr val="193A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 1"/>
          <p:cNvSpPr/>
          <p:nvPr/>
        </p:nvSpPr>
        <p:spPr>
          <a:xfrm>
            <a:off x="11109960" y="3474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928" y="402336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C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 참조와 연구용 수행점수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813816"/>
            <a:ext cx="10927080" cy="3200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A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0·1·2점은 이번 과제의 완료 정도이며, 표준 FMA 임상점수와 구분한다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784848" y="1175766"/>
            <a:ext cx="2240280" cy="2302764"/>
          </a:xfrm>
          <a:prstGeom prst="roundRect">
            <a:avLst>
              <a:gd name="adj" fmla="val 2791"/>
            </a:avLst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Shape 9"/>
          <p:cNvSpPr/>
          <p:nvPr/>
        </p:nvSpPr>
        <p:spPr>
          <a:xfrm>
            <a:off x="6784848" y="1184910"/>
            <a:ext cx="2240280" cy="411480"/>
          </a:xfrm>
          <a:prstGeom prst="rect">
            <a:avLst/>
          </a:prstGeom>
          <a:solidFill>
            <a:srgbClr val="193A66"/>
          </a:solidFill>
          <a:ln w="12700">
            <a:solidFill>
              <a:srgbClr val="193A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Text 10"/>
          <p:cNvSpPr/>
          <p:nvPr/>
        </p:nvSpPr>
        <p:spPr>
          <a:xfrm>
            <a:off x="6858000" y="1267206"/>
            <a:ext cx="2093976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 단계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49440" y="1715262"/>
            <a:ext cx="1911096" cy="17266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형성: 손 모양과 필요한 접촉 확인</a:t>
            </a:r>
            <a:endParaRPr lang="en-US" sz="1400" dirty="0"/>
          </a:p>
          <a:p>
            <a:pPr marL="0" indent="0">
              <a:buNone/>
            </a:pPr>
            <a:r>
              <a:rPr lang="en-US" sz="1400" dirty="0" err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</a:t>
            </a: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유지: 해제 전 관찰 가능한 휴지 단계에서 형태 유지</a:t>
            </a:r>
            <a:endParaRPr lang="en-US" sz="1400" dirty="0"/>
          </a:p>
          <a:p>
            <a:pPr marL="0" indent="0">
              <a:buNone/>
            </a:pPr>
            <a:r>
              <a:rPr lang="en-US" sz="1400" dirty="0" err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능동</a:t>
            </a: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해제: 손가락 개방으로 접촉 종료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253728" y="1184910"/>
            <a:ext cx="2240280" cy="2293620"/>
          </a:xfrm>
          <a:prstGeom prst="roundRect">
            <a:avLst>
              <a:gd name="adj" fmla="val 2791"/>
            </a:avLst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5" name="Shape 13"/>
          <p:cNvSpPr/>
          <p:nvPr/>
        </p:nvSpPr>
        <p:spPr>
          <a:xfrm>
            <a:off x="9253728" y="1184910"/>
            <a:ext cx="2240280" cy="411480"/>
          </a:xfrm>
          <a:prstGeom prst="rect">
            <a:avLst/>
          </a:prstGeom>
          <a:solidFill>
            <a:srgbClr val="199E75"/>
          </a:solidFill>
          <a:ln w="12700">
            <a:solidFill>
              <a:srgbClr val="199E7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6" name="Text 14"/>
          <p:cNvSpPr/>
          <p:nvPr/>
        </p:nvSpPr>
        <p:spPr>
          <a:xfrm>
            <a:off x="9326880" y="1267206"/>
            <a:ext cx="2093976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변환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418320" y="1715262"/>
            <a:ext cx="1911096" cy="1307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0점: 형성 미완료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1점: 형성 완료 후 유지 또는 해제 미완료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2점: 세 단계 모두 완료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784848" y="3560826"/>
            <a:ext cx="2240280" cy="2100263"/>
          </a:xfrm>
          <a:prstGeom prst="roundRect">
            <a:avLst>
              <a:gd name="adj" fmla="val 2791"/>
            </a:avLst>
          </a:prstGeom>
          <a:solidFill>
            <a:srgbClr val="FFF8ED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9" name="Shape 17"/>
          <p:cNvSpPr/>
          <p:nvPr/>
        </p:nvSpPr>
        <p:spPr>
          <a:xfrm>
            <a:off x="6784848" y="3560826"/>
            <a:ext cx="2240280" cy="411480"/>
          </a:xfrm>
          <a:prstGeom prst="rect">
            <a:avLst/>
          </a:prstGeom>
          <a:solidFill>
            <a:srgbClr val="F1A438"/>
          </a:solidFill>
          <a:ln w="12700">
            <a:solidFill>
              <a:srgbClr val="F1A4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0" name="Text 18"/>
          <p:cNvSpPr/>
          <p:nvPr/>
        </p:nvSpPr>
        <p:spPr>
          <a:xfrm>
            <a:off x="6858000" y="3643122"/>
            <a:ext cx="2093976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참조기준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49440" y="4091178"/>
            <a:ext cx="1911096" cy="1307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 2인이 수치·모델 출력을 보지 않고 독립 판독한다.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불일치는 합의하고 필요 시 제3 </a:t>
            </a:r>
            <a:r>
              <a:rPr lang="en-US" sz="1400" dirty="0" err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전문가가</a:t>
            </a: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판독한다.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66928" y="5961888"/>
            <a:ext cx="11018520" cy="438912"/>
          </a:xfrm>
          <a:prstGeom prst="roundRect">
            <a:avLst>
              <a:gd name="adj" fmla="val 10417"/>
            </a:avLst>
          </a:prstGeom>
          <a:solidFill>
            <a:srgbClr val="16A7B8"/>
          </a:solidFill>
          <a:ln w="12700">
            <a:solidFill>
              <a:srgbClr val="16A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3" name="Text 21"/>
          <p:cNvSpPr/>
          <p:nvPr/>
        </p:nvSpPr>
        <p:spPr>
          <a:xfrm>
            <a:off x="777240" y="6071616"/>
            <a:ext cx="10607040" cy="32918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전문가가</a:t>
            </a:r>
            <a:r>
              <a:rPr 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느낌으로 0·1·2를 직접 부여하는 것이 아니라, 단계별 판정을 사전 규칙으로 요약한다.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516637" y="1390650"/>
            <a:ext cx="6153911" cy="4146328"/>
          </a:xfrm>
          <a:prstGeom prst="roundRect">
            <a:avLst>
              <a:gd name="adj" fmla="val 8000"/>
            </a:avLst>
          </a:prstGeom>
          <a:blipFill>
            <a:blip r:embed="rId3"/>
            <a:stretch>
              <a:fillRect/>
            </a:stretch>
          </a:blip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3A66"/>
          </a:solidFill>
          <a:ln w="12700">
            <a:solidFill>
              <a:srgbClr val="193A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 1"/>
          <p:cNvSpPr/>
          <p:nvPr/>
        </p:nvSpPr>
        <p:spPr>
          <a:xfrm>
            <a:off x="11109960" y="3474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928" y="402336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C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운동학 수치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813816"/>
            <a:ext cx="10927080" cy="3200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A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 구간 검출과 전문가의 수행 성공 판정을 분리한다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142999"/>
            <a:ext cx="3481388" cy="1920239"/>
          </a:xfrm>
          <a:prstGeom prst="roundRect">
            <a:avLst>
              <a:gd name="adj" fmla="val 4000"/>
            </a:avLst>
          </a:prstGeom>
          <a:blipFill>
            <a:blip r:embed="rId3"/>
            <a:stretch>
              <a:fillRect/>
            </a:stretch>
          </a:blip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Shape 8"/>
          <p:cNvSpPr/>
          <p:nvPr/>
        </p:nvSpPr>
        <p:spPr>
          <a:xfrm>
            <a:off x="685800" y="3291840"/>
            <a:ext cx="3447288" cy="1920239"/>
          </a:xfrm>
          <a:prstGeom prst="roundRect">
            <a:avLst>
              <a:gd name="adj" fmla="val 3810"/>
            </a:avLst>
          </a:prstGeom>
          <a:blipFill>
            <a:blip r:embed="rId4"/>
            <a:stretch>
              <a:fillRect/>
            </a:stretch>
          </a:blip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4" name="Shape 12"/>
          <p:cNvSpPr/>
          <p:nvPr/>
        </p:nvSpPr>
        <p:spPr>
          <a:xfrm>
            <a:off x="4297680" y="1097280"/>
            <a:ext cx="3063240" cy="1874520"/>
          </a:xfrm>
          <a:prstGeom prst="roundRect">
            <a:avLst>
              <a:gd name="adj" fmla="val 4918"/>
            </a:avLst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5" name="Shape 13"/>
          <p:cNvSpPr/>
          <p:nvPr/>
        </p:nvSpPr>
        <p:spPr>
          <a:xfrm>
            <a:off x="4297680" y="1097280"/>
            <a:ext cx="3063240" cy="411480"/>
          </a:xfrm>
          <a:prstGeom prst="rect">
            <a:avLst/>
          </a:prstGeom>
          <a:solidFill>
            <a:srgbClr val="16A7B8"/>
          </a:solidFill>
          <a:ln w="12700">
            <a:solidFill>
              <a:srgbClr val="16A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6" name="Text 14"/>
          <p:cNvSpPr/>
          <p:nvPr/>
        </p:nvSpPr>
        <p:spPr>
          <a:xfrm>
            <a:off x="4370832" y="1179576"/>
            <a:ext cx="2916936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 </a:t>
            </a:r>
            <a:r>
              <a:rPr lang="ko-KR" alt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 범위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62272" y="1627632"/>
            <a:ext cx="2734056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물체: 획득 중 최대 간격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맨손: </a:t>
            </a:r>
            <a:r>
              <a:rPr lang="ko-KR" altLang="ko-KR" sz="1400" dirty="0"/>
              <a:t>손가락 굽힘 변화량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손 모양을 만들기 위한 움직임 크기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543800" y="1097280"/>
            <a:ext cx="3063240" cy="1874520"/>
          </a:xfrm>
          <a:prstGeom prst="roundRect">
            <a:avLst>
              <a:gd name="adj" fmla="val 4918"/>
            </a:avLst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9" name="Shape 17"/>
          <p:cNvSpPr/>
          <p:nvPr/>
        </p:nvSpPr>
        <p:spPr>
          <a:xfrm>
            <a:off x="7543800" y="1097280"/>
            <a:ext cx="3063240" cy="411480"/>
          </a:xfrm>
          <a:prstGeom prst="rect">
            <a:avLst/>
          </a:prstGeom>
          <a:solidFill>
            <a:srgbClr val="16A7B8"/>
          </a:solidFill>
          <a:ln w="12700">
            <a:solidFill>
              <a:srgbClr val="16A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0" name="Text 18"/>
          <p:cNvSpPr/>
          <p:nvPr/>
        </p:nvSpPr>
        <p:spPr>
          <a:xfrm>
            <a:off x="7616952" y="1179576"/>
            <a:ext cx="2916936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F2 </a:t>
            </a:r>
            <a:r>
              <a:rPr lang="ko-KR" alt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도달 시간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08392" y="1627632"/>
            <a:ext cx="2734056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r>
              <a:rPr lang="ko-KR" altLang="ko-KR" sz="1400" dirty="0"/>
              <a:t>획득 시작부터 최대/최소 위치에 처음 도달하기까지의 시간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297680" y="3296792"/>
            <a:ext cx="3063240" cy="1915287"/>
          </a:xfrm>
          <a:prstGeom prst="roundRect">
            <a:avLst>
              <a:gd name="adj" fmla="val 4918"/>
            </a:avLst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3" name="Shape 21"/>
          <p:cNvSpPr/>
          <p:nvPr/>
        </p:nvSpPr>
        <p:spPr>
          <a:xfrm>
            <a:off x="4297680" y="3296793"/>
            <a:ext cx="3063240" cy="411480"/>
          </a:xfrm>
          <a:prstGeom prst="rect">
            <a:avLst/>
          </a:prstGeom>
          <a:solidFill>
            <a:srgbClr val="199E75"/>
          </a:solidFill>
          <a:ln w="12700">
            <a:solidFill>
              <a:srgbClr val="199E7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4" name="Text 22"/>
          <p:cNvSpPr/>
          <p:nvPr/>
        </p:nvSpPr>
        <p:spPr>
          <a:xfrm>
            <a:off x="4370832" y="3379089"/>
            <a:ext cx="2916936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F3 </a:t>
            </a:r>
            <a:r>
              <a:rPr lang="ko-KR" alt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 안정성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62272" y="3827145"/>
            <a:ext cx="2734056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 후보 구간에서 거리의 표본 표준편차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형태 유지 중 거리 변동을 요약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554277" y="3291839"/>
            <a:ext cx="3063240" cy="1874519"/>
          </a:xfrm>
          <a:prstGeom prst="roundRect">
            <a:avLst>
              <a:gd name="adj" fmla="val 4918"/>
            </a:avLst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Shape 25"/>
          <p:cNvSpPr/>
          <p:nvPr/>
        </p:nvSpPr>
        <p:spPr>
          <a:xfrm>
            <a:off x="7543800" y="3296793"/>
            <a:ext cx="3063240" cy="411480"/>
          </a:xfrm>
          <a:prstGeom prst="rect">
            <a:avLst/>
          </a:prstGeom>
          <a:solidFill>
            <a:srgbClr val="199E75"/>
          </a:solidFill>
          <a:ln w="12700">
            <a:solidFill>
              <a:srgbClr val="199E7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Text 26"/>
          <p:cNvSpPr/>
          <p:nvPr/>
        </p:nvSpPr>
        <p:spPr>
          <a:xfrm>
            <a:off x="7616952" y="3379089"/>
            <a:ext cx="2916936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F4 </a:t>
            </a:r>
            <a:r>
              <a:rPr lang="ko-KR" alt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해제</a:t>
            </a:r>
            <a:r>
              <a:rPr lang="en-US" altLang="ko-KR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6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재개방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708392" y="3827145"/>
            <a:ext cx="2734056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sz="1400" dirty="0" err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해제</a:t>
            </a: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마지막 20% 중앙값 −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20% </a:t>
            </a:r>
            <a:r>
              <a:rPr lang="en-US" sz="1400" dirty="0" err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중앙값</a:t>
            </a: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손가락을 다시 펴는 변화량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7240" y="5550408"/>
            <a:ext cx="106070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5프레임 저속 기준은 개발 시작 설정이며, 느린 동작·결측·가림 사례를 점검한 뒤 본 실험 전에 고정한다.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3A66"/>
          </a:solidFill>
          <a:ln w="12700">
            <a:solidFill>
              <a:srgbClr val="193A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 1"/>
          <p:cNvSpPr/>
          <p:nvPr/>
        </p:nvSpPr>
        <p:spPr>
          <a:xfrm>
            <a:off x="11109960" y="3474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928" y="402336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C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 선택과 수치 입력 예시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813816"/>
            <a:ext cx="10927080" cy="3200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A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조건별로 동일한 영상 입력을 유지하고, 계산 불가 피처는 2D 값으로 대체하지 않는다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3154680" cy="1920240"/>
          </a:xfrm>
          <a:prstGeom prst="roundRect">
            <a:avLst>
              <a:gd name="adj" fmla="val 3810"/>
            </a:avLst>
          </a:prstGeom>
          <a:blipFill>
            <a:blip r:embed="rId3"/>
            <a:stretch>
              <a:fillRect/>
            </a:stretch>
          </a:blip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Shape 8"/>
          <p:cNvSpPr/>
          <p:nvPr/>
        </p:nvSpPr>
        <p:spPr>
          <a:xfrm>
            <a:off x="4526280" y="1143000"/>
            <a:ext cx="3154680" cy="1920240"/>
          </a:xfrm>
          <a:prstGeom prst="roundRect">
            <a:avLst>
              <a:gd name="adj" fmla="val 3810"/>
            </a:avLst>
          </a:prstGeom>
          <a:blipFill>
            <a:blip r:embed="rId4"/>
            <a:stretch>
              <a:fillRect/>
            </a:stretch>
          </a:blip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4" name="Shape 12"/>
          <p:cNvSpPr/>
          <p:nvPr/>
        </p:nvSpPr>
        <p:spPr>
          <a:xfrm>
            <a:off x="8366760" y="1143000"/>
            <a:ext cx="3154680" cy="1920240"/>
          </a:xfrm>
          <a:prstGeom prst="roundRect">
            <a:avLst>
              <a:gd name="adj" fmla="val 3810"/>
            </a:avLst>
          </a:prstGeom>
          <a:blipFill>
            <a:blip r:embed="rId5"/>
            <a:stretch>
              <a:fillRect/>
            </a:stretch>
          </a:blip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8" name="Shape 16"/>
          <p:cNvSpPr/>
          <p:nvPr/>
        </p:nvSpPr>
        <p:spPr>
          <a:xfrm>
            <a:off x="914400" y="3401568"/>
            <a:ext cx="347472" cy="384048"/>
          </a:xfrm>
          <a:prstGeom prst="roundRect">
            <a:avLst>
              <a:gd name="adj" fmla="val 10526"/>
            </a:avLst>
          </a:prstGeom>
          <a:solidFill>
            <a:srgbClr val="16A7B8"/>
          </a:solidFill>
          <a:ln w="12700">
            <a:solidFill>
              <a:srgbClr val="16A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9" name="Text 17"/>
          <p:cNvSpPr/>
          <p:nvPr/>
        </p:nvSpPr>
        <p:spPr>
          <a:xfrm>
            <a:off x="914400" y="3511296"/>
            <a:ext cx="3474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399032" y="3401568"/>
            <a:ext cx="347472" cy="384048"/>
          </a:xfrm>
          <a:prstGeom prst="roundRect">
            <a:avLst>
              <a:gd name="adj" fmla="val 10526"/>
            </a:avLst>
          </a:prstGeom>
          <a:solidFill>
            <a:srgbClr val="16A7B8"/>
          </a:solidFill>
          <a:ln w="12700">
            <a:solidFill>
              <a:srgbClr val="16A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1" name="Text 19"/>
          <p:cNvSpPr/>
          <p:nvPr/>
        </p:nvSpPr>
        <p:spPr>
          <a:xfrm>
            <a:off x="1399032" y="3511296"/>
            <a:ext cx="3474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883664" y="3401568"/>
            <a:ext cx="347472" cy="384048"/>
          </a:xfrm>
          <a:prstGeom prst="roundRect">
            <a:avLst>
              <a:gd name="adj" fmla="val 10526"/>
            </a:avLst>
          </a:prstGeom>
          <a:solidFill>
            <a:srgbClr val="16A7B8"/>
          </a:solidFill>
          <a:ln w="12700">
            <a:solidFill>
              <a:srgbClr val="16A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3" name="Text 21"/>
          <p:cNvSpPr/>
          <p:nvPr/>
        </p:nvSpPr>
        <p:spPr>
          <a:xfrm>
            <a:off x="1883664" y="3511296"/>
            <a:ext cx="3474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368296" y="3401568"/>
            <a:ext cx="347472" cy="384048"/>
          </a:xfrm>
          <a:prstGeom prst="roundRect">
            <a:avLst>
              <a:gd name="adj" fmla="val 10526"/>
            </a:avLst>
          </a:prstGeom>
          <a:solidFill>
            <a:srgbClr val="16A7B8"/>
          </a:solidFill>
          <a:ln w="12700">
            <a:solidFill>
              <a:srgbClr val="16A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5" name="Text 23"/>
          <p:cNvSpPr/>
          <p:nvPr/>
        </p:nvSpPr>
        <p:spPr>
          <a:xfrm>
            <a:off x="2368296" y="3511296"/>
            <a:ext cx="3474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852928" y="3401568"/>
            <a:ext cx="347472" cy="384048"/>
          </a:xfrm>
          <a:prstGeom prst="roundRect">
            <a:avLst>
              <a:gd name="adj" fmla="val 10526"/>
            </a:avLst>
          </a:prstGeom>
          <a:solidFill>
            <a:srgbClr val="16A7B8"/>
          </a:solidFill>
          <a:ln w="12700">
            <a:solidFill>
              <a:srgbClr val="16A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Text 25"/>
          <p:cNvSpPr/>
          <p:nvPr/>
        </p:nvSpPr>
        <p:spPr>
          <a:xfrm>
            <a:off x="2852928" y="3511296"/>
            <a:ext cx="3474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37560" y="3401568"/>
            <a:ext cx="347472" cy="384048"/>
          </a:xfrm>
          <a:prstGeom prst="roundRect">
            <a:avLst>
              <a:gd name="adj" fmla="val 10526"/>
            </a:avLst>
          </a:prstGeom>
          <a:solidFill>
            <a:srgbClr val="16A7B8"/>
          </a:solidFill>
          <a:ln w="12700">
            <a:solidFill>
              <a:srgbClr val="16A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9" name="Text 27"/>
          <p:cNvSpPr/>
          <p:nvPr/>
        </p:nvSpPr>
        <p:spPr>
          <a:xfrm>
            <a:off x="3337560" y="3511296"/>
            <a:ext cx="3474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86615" y="3401568"/>
            <a:ext cx="347472" cy="384048"/>
          </a:xfrm>
          <a:prstGeom prst="roundRect">
            <a:avLst>
              <a:gd name="adj" fmla="val 10526"/>
            </a:avLst>
          </a:prstGeom>
          <a:solidFill>
            <a:srgbClr val="199E75"/>
          </a:solidFill>
          <a:ln w="12700">
            <a:solidFill>
              <a:srgbClr val="199E7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1" name="Text 29"/>
          <p:cNvSpPr/>
          <p:nvPr/>
        </p:nvSpPr>
        <p:spPr>
          <a:xfrm>
            <a:off x="5686615" y="3511296"/>
            <a:ext cx="3474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71247" y="3401568"/>
            <a:ext cx="347472" cy="384048"/>
          </a:xfrm>
          <a:prstGeom prst="roundRect">
            <a:avLst>
              <a:gd name="adj" fmla="val 10526"/>
            </a:avLst>
          </a:prstGeom>
          <a:solidFill>
            <a:srgbClr val="199E75"/>
          </a:solidFill>
          <a:ln w="12700">
            <a:solidFill>
              <a:srgbClr val="199E7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3" name="Text 31"/>
          <p:cNvSpPr/>
          <p:nvPr/>
        </p:nvSpPr>
        <p:spPr>
          <a:xfrm>
            <a:off x="6171247" y="3511296"/>
            <a:ext cx="3474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513064" y="3401568"/>
            <a:ext cx="347472" cy="384048"/>
          </a:xfrm>
          <a:prstGeom prst="roundRect">
            <a:avLst>
              <a:gd name="adj" fmla="val 10526"/>
            </a:avLst>
          </a:prstGeom>
          <a:solidFill>
            <a:srgbClr val="7665B7"/>
          </a:solidFill>
          <a:ln w="12700">
            <a:solidFill>
              <a:srgbClr val="7665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5" name="Text 33"/>
          <p:cNvSpPr/>
          <p:nvPr/>
        </p:nvSpPr>
        <p:spPr>
          <a:xfrm>
            <a:off x="8513064" y="3511296"/>
            <a:ext cx="3474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997696" y="3401568"/>
            <a:ext cx="347472" cy="384048"/>
          </a:xfrm>
          <a:prstGeom prst="roundRect">
            <a:avLst>
              <a:gd name="adj" fmla="val 10526"/>
            </a:avLst>
          </a:prstGeom>
          <a:solidFill>
            <a:srgbClr val="7665B7"/>
          </a:solidFill>
          <a:ln w="12700">
            <a:solidFill>
              <a:srgbClr val="7665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7" name="Text 35"/>
          <p:cNvSpPr/>
          <p:nvPr/>
        </p:nvSpPr>
        <p:spPr>
          <a:xfrm>
            <a:off x="8997696" y="3511296"/>
            <a:ext cx="3474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9482328" y="3401568"/>
            <a:ext cx="347472" cy="384048"/>
          </a:xfrm>
          <a:prstGeom prst="roundRect">
            <a:avLst>
              <a:gd name="adj" fmla="val 10526"/>
            </a:avLst>
          </a:prstGeom>
          <a:solidFill>
            <a:srgbClr val="7665B7"/>
          </a:solidFill>
          <a:ln w="12700">
            <a:solidFill>
              <a:srgbClr val="7665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9" name="Text 37"/>
          <p:cNvSpPr/>
          <p:nvPr/>
        </p:nvSpPr>
        <p:spPr>
          <a:xfrm>
            <a:off x="9482328" y="3511296"/>
            <a:ext cx="3474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966960" y="3401568"/>
            <a:ext cx="347472" cy="384048"/>
          </a:xfrm>
          <a:prstGeom prst="roundRect">
            <a:avLst>
              <a:gd name="adj" fmla="val 10526"/>
            </a:avLst>
          </a:prstGeom>
          <a:solidFill>
            <a:srgbClr val="7665B7"/>
          </a:solidFill>
          <a:ln w="12700">
            <a:solidFill>
              <a:srgbClr val="7665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1" name="Text 39"/>
          <p:cNvSpPr/>
          <p:nvPr/>
        </p:nvSpPr>
        <p:spPr>
          <a:xfrm>
            <a:off x="9966960" y="3511296"/>
            <a:ext cx="3474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0451592" y="3401568"/>
            <a:ext cx="347472" cy="384048"/>
          </a:xfrm>
          <a:prstGeom prst="roundRect">
            <a:avLst>
              <a:gd name="adj" fmla="val 10526"/>
            </a:avLst>
          </a:prstGeom>
          <a:solidFill>
            <a:srgbClr val="7665B7"/>
          </a:solidFill>
          <a:ln w="12700">
            <a:solidFill>
              <a:srgbClr val="7665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3" name="Text 41"/>
          <p:cNvSpPr/>
          <p:nvPr/>
        </p:nvSpPr>
        <p:spPr>
          <a:xfrm>
            <a:off x="10451592" y="3511296"/>
            <a:ext cx="3474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0936224" y="3401568"/>
            <a:ext cx="347472" cy="384048"/>
          </a:xfrm>
          <a:prstGeom prst="roundRect">
            <a:avLst>
              <a:gd name="adj" fmla="val 10526"/>
            </a:avLst>
          </a:prstGeom>
          <a:solidFill>
            <a:srgbClr val="7665B7"/>
          </a:solidFill>
          <a:ln w="12700">
            <a:solidFill>
              <a:srgbClr val="7665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Text 43"/>
          <p:cNvSpPr/>
          <p:nvPr/>
        </p:nvSpPr>
        <p:spPr>
          <a:xfrm>
            <a:off x="10936224" y="3511296"/>
            <a:ext cx="3474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85800" y="4160520"/>
            <a:ext cx="324612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7" name="Shape 45"/>
          <p:cNvSpPr/>
          <p:nvPr/>
        </p:nvSpPr>
        <p:spPr>
          <a:xfrm>
            <a:off x="685800" y="4160520"/>
            <a:ext cx="3246120" cy="411480"/>
          </a:xfrm>
          <a:prstGeom prst="rect">
            <a:avLst/>
          </a:prstGeom>
          <a:solidFill>
            <a:srgbClr val="193A66"/>
          </a:solidFill>
          <a:ln w="12700">
            <a:solidFill>
              <a:srgbClr val="193A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8" name="Text 46"/>
          <p:cNvSpPr/>
          <p:nvPr/>
        </p:nvSpPr>
        <p:spPr>
          <a:xfrm>
            <a:off x="758952" y="4242816"/>
            <a:ext cx="3099816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피처와 품질 예시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50392" y="4690872"/>
            <a:ext cx="2916936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간격 52 mm / 유효율 94%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움직임과 관측 품질 제공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526280" y="4160520"/>
            <a:ext cx="324612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1" name="Shape 49"/>
          <p:cNvSpPr/>
          <p:nvPr/>
        </p:nvSpPr>
        <p:spPr>
          <a:xfrm>
            <a:off x="4526280" y="4160520"/>
            <a:ext cx="3246120" cy="411480"/>
          </a:xfrm>
          <a:prstGeom prst="rect">
            <a:avLst/>
          </a:prstGeom>
          <a:solidFill>
            <a:srgbClr val="199E75"/>
          </a:solidFill>
          <a:ln w="12700">
            <a:solidFill>
              <a:srgbClr val="199E7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2" name="Text 50"/>
          <p:cNvSpPr/>
          <p:nvPr/>
        </p:nvSpPr>
        <p:spPr>
          <a:xfrm>
            <a:off x="4599432" y="4242816"/>
            <a:ext cx="3099816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비장애</a:t>
            </a: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 참조 예시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690872" y="4690872"/>
            <a:ext cx="2916936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중앙값 50 / Q1 45 / Q3 58 mm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표본 분포 내 상대 위치 제공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8366760" y="4160520"/>
            <a:ext cx="31546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D7E3ED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5" name="Shape 53"/>
          <p:cNvSpPr/>
          <p:nvPr/>
        </p:nvSpPr>
        <p:spPr>
          <a:xfrm>
            <a:off x="8366760" y="4160520"/>
            <a:ext cx="3154680" cy="411480"/>
          </a:xfrm>
          <a:prstGeom prst="rect">
            <a:avLst/>
          </a:prstGeom>
          <a:solidFill>
            <a:srgbClr val="F1A438"/>
          </a:solidFill>
          <a:ln w="12700">
            <a:solidFill>
              <a:srgbClr val="F1A4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6" name="Text 54"/>
          <p:cNvSpPr/>
          <p:nvPr/>
        </p:nvSpPr>
        <p:spPr>
          <a:xfrm>
            <a:off x="8439912" y="4242816"/>
            <a:ext cx="3008376" cy="2286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 불가 피처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531352" y="4690872"/>
            <a:ext cx="2825496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null + 결측 이유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유효한 다른 정보는 유지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3A66"/>
          </a:solidFill>
          <a:ln w="12700">
            <a:solidFill>
              <a:srgbClr val="193A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 1"/>
          <p:cNvSpPr/>
          <p:nvPr/>
        </p:nvSpPr>
        <p:spPr>
          <a:xfrm>
            <a:off x="11109960" y="3474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928" y="402336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C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운동학 수치를 하나씩 제외하는 보조 분석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813816"/>
            <a:ext cx="10927080" cy="3200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A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피처의 조건부 기여를 탐색하되, 최적 조합을 확증하지 않는다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61936" y="1115567"/>
            <a:ext cx="4804899" cy="4089846"/>
          </a:xfrm>
          <a:prstGeom prst="roundRect">
            <a:avLst>
              <a:gd name="adj" fmla="val 2462"/>
            </a:avLst>
          </a:prstGeom>
          <a:blipFill>
            <a:blip r:embed="rId3"/>
            <a:stretch>
              <a:fillRect/>
            </a:stretch>
          </a:blip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Shape 8"/>
          <p:cNvSpPr/>
          <p:nvPr/>
        </p:nvSpPr>
        <p:spPr>
          <a:xfrm>
            <a:off x="566928" y="5349240"/>
            <a:ext cx="11018520" cy="457200"/>
          </a:xfrm>
          <a:prstGeom prst="roundRect">
            <a:avLst>
              <a:gd name="adj" fmla="val 10000"/>
            </a:avLst>
          </a:prstGeom>
          <a:solidFill>
            <a:srgbClr val="16A7B8"/>
          </a:solidFill>
          <a:ln w="12700">
            <a:solidFill>
              <a:srgbClr val="16A7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Text 9"/>
          <p:cNvSpPr/>
          <p:nvPr/>
        </p:nvSpPr>
        <p:spPr>
          <a:xfrm>
            <a:off x="777240" y="5458968"/>
            <a:ext cx="10607040" cy="34747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 소거: 나머지 정보는 유지하고 한 종류만 제외한다. 기준은 영상 + 수치 조건(A2).</a:t>
            </a:r>
            <a:endParaRPr lang="en-US" dirty="0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F4AD2530-27AF-4EFE-4E8A-ABD7451E7005}"/>
              </a:ext>
            </a:extLst>
          </p:cNvPr>
          <p:cNvGrpSpPr/>
          <p:nvPr/>
        </p:nvGrpSpPr>
        <p:grpSpPr>
          <a:xfrm>
            <a:off x="5201603" y="1115568"/>
            <a:ext cx="6645783" cy="3950208"/>
            <a:chOff x="4544568" y="1143000"/>
            <a:chExt cx="6949440" cy="3950208"/>
          </a:xfrm>
        </p:grpSpPr>
        <p:sp>
          <p:nvSpPr>
            <p:cNvPr id="12" name="Shape 10"/>
            <p:cNvSpPr/>
            <p:nvPr/>
          </p:nvSpPr>
          <p:spPr>
            <a:xfrm>
              <a:off x="4544568" y="1143000"/>
              <a:ext cx="6949440" cy="566928"/>
            </a:xfrm>
            <a:prstGeom prst="roundRect">
              <a:avLst>
                <a:gd name="adj" fmla="val 8065"/>
              </a:avLst>
            </a:prstGeom>
            <a:solidFill>
              <a:srgbClr val="EFF7FA"/>
            </a:solidFill>
            <a:ln w="12700">
              <a:solidFill>
                <a:srgbClr val="D7E3ED"/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3" name="Text 11"/>
            <p:cNvSpPr/>
            <p:nvPr/>
          </p:nvSpPr>
          <p:spPr>
            <a:xfrm>
              <a:off x="4773168" y="1280160"/>
              <a:ext cx="1417320" cy="182880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93A66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크기 F1</a:t>
              </a:r>
              <a:endParaRPr lang="en-US" sz="16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6327648" y="1261872"/>
              <a:ext cx="4800600" cy="21945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움직임 크기를 알려주지 않았을 때의 변화</a:t>
              </a:r>
              <a:endParaRPr lang="en-US" sz="16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4544568" y="1901952"/>
              <a:ext cx="6949440" cy="566928"/>
            </a:xfrm>
            <a:prstGeom prst="roundRect">
              <a:avLst>
                <a:gd name="adj" fmla="val 8065"/>
              </a:avLst>
            </a:prstGeom>
            <a:solidFill>
              <a:srgbClr val="F8FAFC"/>
            </a:solidFill>
            <a:ln w="12700">
              <a:solidFill>
                <a:srgbClr val="D7E3ED"/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6" name="Text 14"/>
            <p:cNvSpPr/>
            <p:nvPr/>
          </p:nvSpPr>
          <p:spPr>
            <a:xfrm>
              <a:off x="4773168" y="2039112"/>
              <a:ext cx="1417320" cy="182880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93A66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시간 F2</a:t>
              </a:r>
              <a:endParaRPr lang="en-US" sz="16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6327648" y="2020824"/>
              <a:ext cx="4800600" cy="21945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marL="0" indent="0">
                <a:buNone/>
              </a:pPr>
              <a:r>
                <a:rPr lang="en-US" sz="1600" dirty="0" err="1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극값</a:t>
              </a:r>
              <a:r>
                <a:rPr lang="en-US" sz="1600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sz="1600" dirty="0" err="1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도달</a:t>
              </a:r>
              <a:r>
                <a:rPr lang="en-US" sz="1600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sz="1600" dirty="0" err="1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시간을</a:t>
              </a:r>
              <a:r>
                <a:rPr lang="en-US" sz="1600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알려주지 않았을 때의 변화</a:t>
              </a:r>
              <a:endParaRPr lang="en-US" sz="16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4544568" y="2660904"/>
              <a:ext cx="6949440" cy="566928"/>
            </a:xfrm>
            <a:prstGeom prst="roundRect">
              <a:avLst>
                <a:gd name="adj" fmla="val 8065"/>
              </a:avLst>
            </a:prstGeom>
            <a:solidFill>
              <a:srgbClr val="EFF7FA"/>
            </a:solidFill>
            <a:ln w="12700">
              <a:solidFill>
                <a:srgbClr val="D7E3ED"/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9" name="Text 17"/>
            <p:cNvSpPr/>
            <p:nvPr/>
          </p:nvSpPr>
          <p:spPr>
            <a:xfrm>
              <a:off x="4773168" y="2798064"/>
              <a:ext cx="1417320" cy="182880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93A66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변동 F3</a:t>
              </a:r>
              <a:endParaRPr lang="en-US" sz="16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6327648" y="2779776"/>
              <a:ext cx="4800600" cy="21945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유지 중 거리 변동을 알려주지 않았을 때의 변화</a:t>
              </a:r>
              <a:endParaRPr lang="en-US" sz="16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4544568" y="3419856"/>
              <a:ext cx="6949440" cy="566928"/>
            </a:xfrm>
            <a:prstGeom prst="roundRect">
              <a:avLst>
                <a:gd name="adj" fmla="val 8065"/>
              </a:avLst>
            </a:prstGeom>
            <a:solidFill>
              <a:srgbClr val="F8FAFC"/>
            </a:solidFill>
            <a:ln w="12700">
              <a:solidFill>
                <a:srgbClr val="D7E3ED"/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22" name="Text 20"/>
            <p:cNvSpPr/>
            <p:nvPr/>
          </p:nvSpPr>
          <p:spPr>
            <a:xfrm>
              <a:off x="4773168" y="3557016"/>
              <a:ext cx="1417320" cy="182880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93A66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개방 F4</a:t>
              </a:r>
              <a:endParaRPr lang="en-US" sz="16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6327648" y="3538728"/>
              <a:ext cx="4800600" cy="21945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해제 시 개방량을 알려주지 않았을 때의 변화</a:t>
              </a:r>
              <a:endParaRPr lang="en-US" sz="16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4681728" y="4096512"/>
              <a:ext cx="6312079" cy="996696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해석 원칙: D1–D4는 “나머지 피처가 있을 때” 해당 피처를 제거한 결과다.</a:t>
              </a:r>
              <a:endParaRPr lang="en-US" sz="1600" dirty="0"/>
            </a:p>
            <a:p>
              <a:pPr marL="0" indent="0">
                <a:buNone/>
              </a:pPr>
              <a:r>
                <a:rPr lang="en-US" sz="1600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모든 부분집합을 시험하는 것이 아니므로 최소·최적 피처 조합을 발견했다고 말하지 않는다.</a:t>
              </a:r>
              <a:endParaRPr lang="en-US" sz="1600" dirty="0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3A66"/>
          </a:solidFill>
          <a:ln w="12700">
            <a:solidFill>
              <a:srgbClr val="193A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 1"/>
          <p:cNvSpPr/>
          <p:nvPr/>
        </p:nvSpPr>
        <p:spPr>
          <a:xfrm>
            <a:off x="11109960" y="3474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928" y="402336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C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후보와 선정 근거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1142999"/>
            <a:ext cx="4681378" cy="3467101"/>
          </a:xfrm>
          <a:prstGeom prst="roundRect">
            <a:avLst>
              <a:gd name="adj" fmla="val 2222"/>
            </a:avLst>
          </a:prstGeom>
          <a:blipFill>
            <a:blip r:embed="rId3"/>
            <a:stretch>
              <a:fillRect/>
            </a:stretch>
          </a:blip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B6E6AD82-0C81-15A1-9E1A-10F8DDD8A6CB}"/>
              </a:ext>
            </a:extLst>
          </p:cNvPr>
          <p:cNvGrpSpPr/>
          <p:nvPr/>
        </p:nvGrpSpPr>
        <p:grpSpPr>
          <a:xfrm>
            <a:off x="5519356" y="1142999"/>
            <a:ext cx="6188583" cy="4443414"/>
            <a:chOff x="4343400" y="1142999"/>
            <a:chExt cx="6693408" cy="3886200"/>
          </a:xfrm>
        </p:grpSpPr>
        <p:sp>
          <p:nvSpPr>
            <p:cNvPr id="10" name="Shape 8"/>
            <p:cNvSpPr/>
            <p:nvPr/>
          </p:nvSpPr>
          <p:spPr>
            <a:xfrm>
              <a:off x="4343400" y="1142999"/>
              <a:ext cx="2788920" cy="1876425"/>
            </a:xfrm>
            <a:prstGeom prst="roundRect">
              <a:avLst>
                <a:gd name="adj" fmla="val 4444"/>
              </a:avLst>
            </a:prstGeom>
            <a:solidFill>
              <a:srgbClr val="F8FAFC"/>
            </a:solidFill>
            <a:ln w="12700">
              <a:solidFill>
                <a:srgbClr val="D7E3ED"/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1" name="Shape 9"/>
            <p:cNvSpPr/>
            <p:nvPr/>
          </p:nvSpPr>
          <p:spPr>
            <a:xfrm>
              <a:off x="4343400" y="1143000"/>
              <a:ext cx="2788920" cy="411480"/>
            </a:xfrm>
            <a:prstGeom prst="rect">
              <a:avLst/>
            </a:prstGeom>
            <a:solidFill>
              <a:srgbClr val="193A66"/>
            </a:solidFill>
            <a:ln w="12700">
              <a:solidFill>
                <a:srgbClr val="193A66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2" name="Text 10"/>
            <p:cNvSpPr/>
            <p:nvPr/>
          </p:nvSpPr>
          <p:spPr>
            <a:xfrm>
              <a:off x="4416552" y="1225296"/>
              <a:ext cx="2642616" cy="228600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주 모델</a:t>
              </a:r>
              <a:endParaRPr lang="en-US" sz="16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4507992" y="1673352"/>
              <a:ext cx="2459736" cy="576072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t">
              <a:noAutofit/>
            </a:bodyPr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Qwen2.5-VL-32B-Instruct</a:t>
              </a:r>
              <a:endParaRPr lang="en-US" sz="1600" b="1" dirty="0"/>
            </a:p>
            <a:p>
              <a:pPr marL="0" indent="0">
                <a:buNone/>
              </a:pPr>
              <a:endParaRPr lang="en-US" sz="1600" dirty="0"/>
            </a:p>
            <a:p>
              <a:pPr marL="0" indent="0">
                <a:buNone/>
              </a:pPr>
              <a:r>
                <a:rPr lang="en-US" sz="1600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선행 VLM 재활 연구와의 연결성이 있어 기준 모델로 사용한다.</a:t>
              </a:r>
              <a:endParaRPr lang="en-US" sz="16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7424928" y="1143000"/>
              <a:ext cx="3611880" cy="1876424"/>
            </a:xfrm>
            <a:prstGeom prst="roundRect">
              <a:avLst>
                <a:gd name="adj" fmla="val 4444"/>
              </a:avLst>
            </a:prstGeom>
            <a:solidFill>
              <a:srgbClr val="F8FAFC"/>
            </a:solidFill>
            <a:ln w="12700">
              <a:solidFill>
                <a:srgbClr val="D7E3ED"/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5" name="Shape 13"/>
            <p:cNvSpPr/>
            <p:nvPr/>
          </p:nvSpPr>
          <p:spPr>
            <a:xfrm>
              <a:off x="7424928" y="1143000"/>
              <a:ext cx="3611880" cy="411480"/>
            </a:xfrm>
            <a:prstGeom prst="rect">
              <a:avLst/>
            </a:prstGeom>
            <a:solidFill>
              <a:srgbClr val="16A7B8"/>
            </a:solidFill>
            <a:ln w="12700">
              <a:solidFill>
                <a:srgbClr val="16A7B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6" name="Text 14"/>
            <p:cNvSpPr/>
            <p:nvPr/>
          </p:nvSpPr>
          <p:spPr>
            <a:xfrm>
              <a:off x="7498080" y="1225296"/>
              <a:ext cx="3465576" cy="228600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최신 계열 확인</a:t>
              </a:r>
              <a:endParaRPr lang="en-US" sz="16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7589520" y="1673352"/>
              <a:ext cx="3282696" cy="576072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t">
              <a:noAutofit/>
            </a:bodyPr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Qwen3-VL-8B-Instruct</a:t>
              </a:r>
              <a:endParaRPr lang="en-US" sz="1400" b="1" dirty="0"/>
            </a:p>
            <a:p>
              <a:pPr marL="0" indent="0">
                <a:buNone/>
              </a:pPr>
              <a:r>
                <a:rPr lang="en-US" sz="1400" b="1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Qwen3-VL-30B-A3B-Instruct</a:t>
              </a:r>
              <a:endParaRPr lang="en-US" sz="1400" b="1" dirty="0"/>
            </a:p>
            <a:p>
              <a:pPr marL="0" indent="0">
                <a:buNone/>
              </a:pP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더 최신 모델에서도 같은 경향이 유지되는지 확인한다.</a:t>
              </a:r>
              <a:endParaRPr lang="en-US" sz="14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4343400" y="3210114"/>
              <a:ext cx="2788920" cy="1819085"/>
            </a:xfrm>
            <a:prstGeom prst="roundRect">
              <a:avLst>
                <a:gd name="adj" fmla="val 4444"/>
              </a:avLst>
            </a:prstGeom>
            <a:solidFill>
              <a:srgbClr val="F8FAFC"/>
            </a:solidFill>
            <a:ln w="12700">
              <a:solidFill>
                <a:srgbClr val="D7E3ED"/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9" name="Shape 17"/>
            <p:cNvSpPr/>
            <p:nvPr/>
          </p:nvSpPr>
          <p:spPr>
            <a:xfrm>
              <a:off x="4343400" y="3210115"/>
              <a:ext cx="2788920" cy="411480"/>
            </a:xfrm>
            <a:prstGeom prst="rect">
              <a:avLst/>
            </a:prstGeom>
            <a:solidFill>
              <a:srgbClr val="7665B7"/>
            </a:solidFill>
            <a:ln w="12700">
              <a:solidFill>
                <a:srgbClr val="7665B7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20" name="Text 18"/>
            <p:cNvSpPr/>
            <p:nvPr/>
          </p:nvSpPr>
          <p:spPr>
            <a:xfrm>
              <a:off x="4416552" y="3292411"/>
              <a:ext cx="2642616" cy="228600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marL="0" indent="0" algn="ctr">
                <a:buNone/>
              </a:pPr>
              <a:r>
                <a:rPr lang="ko-KR" altLang="en-US" sz="16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보조 모델</a:t>
              </a:r>
              <a:endParaRPr lang="en-US" sz="16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4507992" y="3740466"/>
              <a:ext cx="2459736" cy="1060133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t">
              <a:noAutofit/>
            </a:bodyPr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LLaVA-NeXT-Video-7B</a:t>
              </a:r>
              <a:endParaRPr lang="en-US" sz="1400" b="1" dirty="0"/>
            </a:p>
            <a:p>
              <a:pPr marL="0" indent="0">
                <a:buNone/>
              </a:pPr>
              <a:endParaRPr lang="en-US" sz="1400" dirty="0"/>
            </a:p>
            <a:p>
              <a:r>
                <a:rPr lang="en-US" altLang="ko-KR" sz="1400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Qwen </a:t>
              </a:r>
              <a:r>
                <a:rPr lang="en-US" altLang="ko-KR" sz="1400" dirty="0" err="1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이외의</a:t>
              </a:r>
              <a:r>
                <a:rPr lang="en-US" altLang="ko-KR" sz="1400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altLang="ko-KR" sz="1400" dirty="0" err="1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모델</a:t>
              </a:r>
              <a:r>
                <a:rPr lang="en-US" altLang="ko-KR" sz="1400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altLang="ko-KR" sz="1400" dirty="0" err="1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계열에서도</a:t>
              </a:r>
              <a:r>
                <a:rPr lang="en-US" altLang="ko-KR" sz="1400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altLang="ko-KR" sz="1400" dirty="0" err="1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추가정보</a:t>
              </a:r>
              <a:r>
                <a:rPr lang="en-US" altLang="ko-KR" sz="1400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altLang="ko-KR" sz="1400" dirty="0" err="1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효과가</a:t>
              </a:r>
              <a:r>
                <a:rPr lang="en-US" altLang="ko-KR" sz="1400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altLang="ko-KR" sz="1400" dirty="0" err="1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특정</a:t>
              </a:r>
              <a:r>
                <a:rPr lang="en-US" altLang="ko-KR" sz="1400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altLang="ko-KR" sz="1400" dirty="0" err="1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모델</a:t>
              </a:r>
              <a:r>
                <a:rPr lang="en-US" altLang="ko-KR" sz="1400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altLang="ko-KR" sz="1400" dirty="0" err="1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의존인지</a:t>
              </a:r>
              <a:r>
                <a:rPr lang="en-US" altLang="ko-KR" sz="1400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altLang="ko-KR" sz="1400" dirty="0" err="1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살핀다</a:t>
              </a:r>
              <a:r>
                <a:rPr lang="en-US" altLang="ko-KR" sz="1400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.</a:t>
              </a:r>
              <a:endParaRPr lang="en-US" altLang="ko-KR" sz="14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7424928" y="3210115"/>
              <a:ext cx="3611880" cy="1819084"/>
            </a:xfrm>
            <a:prstGeom prst="roundRect">
              <a:avLst>
                <a:gd name="adj" fmla="val 4444"/>
              </a:avLst>
            </a:prstGeom>
            <a:solidFill>
              <a:srgbClr val="F8FAFC"/>
            </a:solidFill>
            <a:ln w="12700">
              <a:solidFill>
                <a:srgbClr val="D7E3ED"/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23" name="Shape 21"/>
            <p:cNvSpPr/>
            <p:nvPr/>
          </p:nvSpPr>
          <p:spPr>
            <a:xfrm>
              <a:off x="7424928" y="3210115"/>
              <a:ext cx="3611880" cy="411480"/>
            </a:xfrm>
            <a:prstGeom prst="rect">
              <a:avLst/>
            </a:prstGeom>
            <a:solidFill>
              <a:srgbClr val="7665B7"/>
            </a:solidFill>
            <a:ln w="12700">
              <a:solidFill>
                <a:srgbClr val="7665B7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24" name="Text 22"/>
            <p:cNvSpPr/>
            <p:nvPr/>
          </p:nvSpPr>
          <p:spPr>
            <a:xfrm>
              <a:off x="7498080" y="3292411"/>
              <a:ext cx="3465576" cy="228600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marL="0" indent="0" algn="ctr">
                <a:buNone/>
              </a:pPr>
              <a:r>
                <a:rPr lang="ko-KR" altLang="en-US" sz="16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보조 모델</a:t>
              </a:r>
              <a:endParaRPr lang="en-US" sz="16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7589520" y="3740466"/>
              <a:ext cx="3282696" cy="888683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t">
              <a:noAutofit/>
            </a:bodyPr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LLaVA-OneVision-7B</a:t>
              </a:r>
              <a:endParaRPr lang="en-US" sz="1400" b="1" dirty="0"/>
            </a:p>
            <a:p>
              <a:pPr marL="0" indent="0">
                <a:buNone/>
              </a:pP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Qwen 이외의 모델 계열에서도 추가정보 효과가 특정 모델 의존인지 살핀다.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3A66"/>
          </a:solidFill>
          <a:ln w="12700">
            <a:solidFill>
              <a:srgbClr val="193A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 1"/>
          <p:cNvSpPr/>
          <p:nvPr/>
        </p:nvSpPr>
        <p:spPr>
          <a:xfrm>
            <a:off x="11109960" y="3474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AA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402336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F2C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분석과 결과 해석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813816"/>
            <a:ext cx="10927080" cy="3200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6A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오차의 크기와 불확실성, 판독률과 실패 양상을 함께 보고한다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70739" y="1307591"/>
            <a:ext cx="4883373" cy="4245483"/>
          </a:xfrm>
          <a:prstGeom prst="roundRect">
            <a:avLst>
              <a:gd name="adj" fmla="val 3077"/>
            </a:avLst>
          </a:prstGeom>
          <a:blipFill>
            <a:blip r:embed="rId3"/>
            <a:stretch>
              <a:fillRect/>
            </a:stretch>
          </a:blip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55228D64-1490-EF06-7FA1-5CC270374904}"/>
              </a:ext>
            </a:extLst>
          </p:cNvPr>
          <p:cNvGrpSpPr/>
          <p:nvPr/>
        </p:nvGrpSpPr>
        <p:grpSpPr>
          <a:xfrm>
            <a:off x="5638514" y="1261872"/>
            <a:ext cx="5950267" cy="5003481"/>
            <a:chOff x="4480560" y="1261872"/>
            <a:chExt cx="6446520" cy="5003481"/>
          </a:xfrm>
        </p:grpSpPr>
        <p:sp>
          <p:nvSpPr>
            <p:cNvPr id="14" name="Shape 12"/>
            <p:cNvSpPr/>
            <p:nvPr/>
          </p:nvSpPr>
          <p:spPr>
            <a:xfrm>
              <a:off x="4480560" y="1261872"/>
              <a:ext cx="2971800" cy="2423160"/>
            </a:xfrm>
            <a:prstGeom prst="roundRect">
              <a:avLst>
                <a:gd name="adj" fmla="val 4444"/>
              </a:avLst>
            </a:prstGeom>
            <a:solidFill>
              <a:srgbClr val="F8FAFC"/>
            </a:solidFill>
            <a:ln w="12700">
              <a:solidFill>
                <a:srgbClr val="D7E3ED"/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5" name="Shape 13"/>
            <p:cNvSpPr/>
            <p:nvPr/>
          </p:nvSpPr>
          <p:spPr>
            <a:xfrm>
              <a:off x="4480560" y="1261872"/>
              <a:ext cx="2971800" cy="411480"/>
            </a:xfrm>
            <a:prstGeom prst="rect">
              <a:avLst/>
            </a:prstGeom>
            <a:solidFill>
              <a:srgbClr val="16A7B8"/>
            </a:solidFill>
            <a:ln w="12700">
              <a:solidFill>
                <a:srgbClr val="16A7B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6" name="Text 14"/>
            <p:cNvSpPr/>
            <p:nvPr/>
          </p:nvSpPr>
          <p:spPr>
            <a:xfrm>
              <a:off x="4553712" y="1344168"/>
              <a:ext cx="2825496" cy="228600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MAE 계산</a:t>
              </a:r>
              <a:endParaRPr lang="en-US" sz="14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4645152" y="1792224"/>
              <a:ext cx="2642616" cy="576072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t">
              <a:no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전문가 점수와 모델 점수의 절대 차이를 계산한다.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예: 절대오차 0, 1, 2의 평균 → MAE = 1</a:t>
              </a:r>
              <a:endParaRPr lang="en-US" sz="14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7726680" y="1261872"/>
              <a:ext cx="3200400" cy="2423160"/>
            </a:xfrm>
            <a:prstGeom prst="roundRect">
              <a:avLst>
                <a:gd name="adj" fmla="val 4444"/>
              </a:avLst>
            </a:prstGeom>
            <a:solidFill>
              <a:srgbClr val="F8FAFC"/>
            </a:solidFill>
            <a:ln w="12700">
              <a:solidFill>
                <a:srgbClr val="D7E3ED"/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9" name="Shape 17"/>
            <p:cNvSpPr/>
            <p:nvPr/>
          </p:nvSpPr>
          <p:spPr>
            <a:xfrm>
              <a:off x="7726680" y="1261872"/>
              <a:ext cx="3200400" cy="411480"/>
            </a:xfrm>
            <a:prstGeom prst="rect">
              <a:avLst/>
            </a:prstGeom>
            <a:solidFill>
              <a:srgbClr val="199E75"/>
            </a:solidFill>
            <a:ln w="12700">
              <a:solidFill>
                <a:srgbClr val="199E75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20" name="Text 18"/>
            <p:cNvSpPr/>
            <p:nvPr/>
          </p:nvSpPr>
          <p:spPr>
            <a:xfrm>
              <a:off x="7799832" y="1344168"/>
              <a:ext cx="3054096" cy="228600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환자별 주 비교</a:t>
              </a:r>
              <a:endParaRPr lang="en-US" sz="14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7891272" y="1792224"/>
              <a:ext cx="2871216" cy="576072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t">
              <a:no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같은 시행의 A1·A3 유효 판정을 짝지어 비교한다.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과제별 오차를 평균하고 네 과제에 동일 가중을 준다.</a:t>
              </a:r>
              <a:endParaRPr lang="en-US" sz="14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4480560" y="4050790"/>
              <a:ext cx="2971800" cy="2214563"/>
            </a:xfrm>
            <a:prstGeom prst="roundRect">
              <a:avLst>
                <a:gd name="adj" fmla="val 4444"/>
              </a:avLst>
            </a:prstGeom>
            <a:solidFill>
              <a:srgbClr val="FFF8ED"/>
            </a:solidFill>
            <a:ln w="12700">
              <a:solidFill>
                <a:srgbClr val="D7E3ED"/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23" name="Shape 21"/>
            <p:cNvSpPr/>
            <p:nvPr/>
          </p:nvSpPr>
          <p:spPr>
            <a:xfrm>
              <a:off x="4480560" y="4050791"/>
              <a:ext cx="2971800" cy="411480"/>
            </a:xfrm>
            <a:prstGeom prst="rect">
              <a:avLst/>
            </a:prstGeom>
            <a:solidFill>
              <a:srgbClr val="F1A438"/>
            </a:solidFill>
            <a:ln w="12700">
              <a:solidFill>
                <a:srgbClr val="F1A43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24" name="Text 22"/>
            <p:cNvSpPr/>
            <p:nvPr/>
          </p:nvSpPr>
          <p:spPr>
            <a:xfrm>
              <a:off x="4553712" y="4133087"/>
              <a:ext cx="2825496" cy="228600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핵심 수식</a:t>
              </a:r>
              <a:endParaRPr lang="en-US" sz="14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4645152" y="4581143"/>
              <a:ext cx="2642616" cy="576072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t">
              <a:no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ΔMAE = MAE(A3) − MAE(A1)</a:t>
              </a:r>
              <a:endParaRPr lang="en-US" sz="1400" dirty="0"/>
            </a:p>
            <a:p>
              <a:pPr marL="0" indent="0">
                <a:buNone/>
              </a:pP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음수일수록 최종 제안 방식의 오차가 작다.</a:t>
              </a:r>
              <a:endParaRPr lang="en-US" sz="14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7726680" y="4050791"/>
              <a:ext cx="3200400" cy="2214562"/>
            </a:xfrm>
            <a:prstGeom prst="roundRect">
              <a:avLst>
                <a:gd name="adj" fmla="val 4444"/>
              </a:avLst>
            </a:prstGeom>
            <a:solidFill>
              <a:srgbClr val="F8FAFC"/>
            </a:solidFill>
            <a:ln w="12700">
              <a:solidFill>
                <a:srgbClr val="D7E3ED"/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27" name="Shape 25"/>
            <p:cNvSpPr/>
            <p:nvPr/>
          </p:nvSpPr>
          <p:spPr>
            <a:xfrm>
              <a:off x="7726680" y="4050791"/>
              <a:ext cx="3200400" cy="411480"/>
            </a:xfrm>
            <a:prstGeom prst="rect">
              <a:avLst/>
            </a:prstGeom>
            <a:solidFill>
              <a:srgbClr val="193A66"/>
            </a:solidFill>
            <a:ln w="12700">
              <a:solidFill>
                <a:srgbClr val="193A66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28" name="Text 26"/>
            <p:cNvSpPr/>
            <p:nvPr/>
          </p:nvSpPr>
          <p:spPr>
            <a:xfrm>
              <a:off x="7799832" y="4133087"/>
              <a:ext cx="3054096" cy="228600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불확실성 보고</a:t>
              </a:r>
              <a:endParaRPr lang="en-US" sz="14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7891272" y="4581143"/>
              <a:ext cx="2871216" cy="576072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t">
              <a:no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환자를 재추출하는 부트스트랩으로 95% 신뢰구간을 구한다.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 err="1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판독불가와</a:t>
              </a:r>
              <a:r>
                <a:rPr lang="en-US" sz="1400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ko-KR" altLang="en-US" sz="1400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측정</a:t>
              </a:r>
              <a:r>
                <a:rPr lang="en-US" sz="1400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실패는 별도 보고한다.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3A66"/>
          </a:solidFill>
          <a:ln w="12700">
            <a:solidFill>
              <a:srgbClr val="193A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 1"/>
          <p:cNvSpPr/>
          <p:nvPr/>
        </p:nvSpPr>
        <p:spPr>
          <a:xfrm>
            <a:off x="11109960" y="3474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AA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402336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F2C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기여와 해석의 한계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813816"/>
            <a:ext cx="10927080" cy="3200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6A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정보의 효과를 추정하고 후속 임상 평가 연구의 설계 근거를 마련한다</a:t>
            </a:r>
            <a:endParaRPr lang="en-US" sz="2000" dirty="0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BE033591-5526-9CA8-1BFC-20ECC5D21203}"/>
              </a:ext>
            </a:extLst>
          </p:cNvPr>
          <p:cNvGrpSpPr/>
          <p:nvPr/>
        </p:nvGrpSpPr>
        <p:grpSpPr>
          <a:xfrm>
            <a:off x="566928" y="5704713"/>
            <a:ext cx="11018520" cy="805815"/>
            <a:chOff x="566928" y="5704713"/>
            <a:chExt cx="11018520" cy="805815"/>
          </a:xfrm>
        </p:grpSpPr>
        <p:sp>
          <p:nvSpPr>
            <p:cNvPr id="22" name="Shape 20"/>
            <p:cNvSpPr/>
            <p:nvPr/>
          </p:nvSpPr>
          <p:spPr>
            <a:xfrm>
              <a:off x="566928" y="5704713"/>
              <a:ext cx="11018520" cy="805815"/>
            </a:xfrm>
            <a:prstGeom prst="roundRect">
              <a:avLst>
                <a:gd name="adj" fmla="val 10000"/>
              </a:avLst>
            </a:prstGeom>
            <a:solidFill>
              <a:srgbClr val="193A66"/>
            </a:solidFill>
            <a:ln w="12700">
              <a:solidFill>
                <a:srgbClr val="193A66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23" name="Text 21"/>
            <p:cNvSpPr/>
            <p:nvPr/>
          </p:nvSpPr>
          <p:spPr>
            <a:xfrm>
              <a:off x="777240" y="5814442"/>
              <a:ext cx="10607040" cy="58521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본 연구는 “RGB-D가 반드시 필요하다”고 가정하지 않고, 자동 손 기능 평가에 어떤 정보가 실제로 필요한지 검증한다.</a:t>
              </a:r>
              <a:endParaRPr lang="en-US" dirty="0"/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AFDF7A34-5681-2321-7ABA-71115C23E8D8}"/>
              </a:ext>
            </a:extLst>
          </p:cNvPr>
          <p:cNvGrpSpPr/>
          <p:nvPr/>
        </p:nvGrpSpPr>
        <p:grpSpPr>
          <a:xfrm>
            <a:off x="630936" y="1307020"/>
            <a:ext cx="10927080" cy="4224528"/>
            <a:chOff x="630936" y="1307020"/>
            <a:chExt cx="6446520" cy="4224528"/>
          </a:xfrm>
        </p:grpSpPr>
        <p:sp>
          <p:nvSpPr>
            <p:cNvPr id="14" name="Shape 12"/>
            <p:cNvSpPr/>
            <p:nvPr/>
          </p:nvSpPr>
          <p:spPr>
            <a:xfrm>
              <a:off x="630936" y="1307020"/>
              <a:ext cx="3017520" cy="2274380"/>
            </a:xfrm>
            <a:prstGeom prst="roundRect">
              <a:avLst>
                <a:gd name="adj" fmla="val 4286"/>
              </a:avLst>
            </a:prstGeom>
            <a:solidFill>
              <a:srgbClr val="F8FAFC"/>
            </a:solidFill>
            <a:ln w="12700">
              <a:solidFill>
                <a:srgbClr val="D7E3ED"/>
              </a:solidFill>
              <a:prstDash val="solid"/>
            </a:ln>
          </p:spPr>
          <p:txBody>
            <a:bodyPr/>
            <a:lstStyle/>
            <a:p>
              <a:endParaRPr lang="ko-KR" altLang="en-US" sz="3200"/>
            </a:p>
          </p:txBody>
        </p:sp>
        <p:sp>
          <p:nvSpPr>
            <p:cNvPr id="15" name="Shape 13"/>
            <p:cNvSpPr/>
            <p:nvPr/>
          </p:nvSpPr>
          <p:spPr>
            <a:xfrm>
              <a:off x="630936" y="1307020"/>
              <a:ext cx="3017520" cy="411480"/>
            </a:xfrm>
            <a:prstGeom prst="rect">
              <a:avLst/>
            </a:prstGeom>
            <a:solidFill>
              <a:srgbClr val="199E75"/>
            </a:solidFill>
            <a:ln w="12700">
              <a:solidFill>
                <a:srgbClr val="199E75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3200"/>
            </a:p>
          </p:txBody>
        </p:sp>
        <p:sp>
          <p:nvSpPr>
            <p:cNvPr id="16" name="Text 14"/>
            <p:cNvSpPr/>
            <p:nvPr/>
          </p:nvSpPr>
          <p:spPr>
            <a:xfrm>
              <a:off x="704088" y="1389316"/>
              <a:ext cx="2871216" cy="228600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이번 연구에서 확인할 것</a:t>
              </a:r>
              <a:endParaRPr lang="en-US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795528" y="1837372"/>
              <a:ext cx="2688336" cy="969264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t">
              <a:noAutofit/>
            </a:bodyPr>
            <a:lstStyle/>
            <a:p>
              <a:pPr marL="0" indent="0">
                <a:buNone/>
              </a:pPr>
              <a:r>
                <a:rPr lang="en-US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최종 제안(A3)과 영상만(A1)의 오차 차이</a:t>
              </a:r>
              <a:endParaRPr lang="en-US" dirty="0"/>
            </a:p>
            <a:p>
              <a:pPr marL="0" indent="0">
                <a:buNone/>
              </a:pPr>
              <a:r>
                <a:rPr lang="en-US" dirty="0" err="1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수치</a:t>
              </a:r>
              <a:r>
                <a:rPr lang="en-US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·</a:t>
              </a:r>
              <a:r>
                <a:rPr lang="ko-KR" altLang="en-US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비장애</a:t>
              </a:r>
              <a:r>
                <a:rPr lang="en-US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인 참조의 단계적 기여</a:t>
              </a:r>
              <a:endParaRPr lang="en-US" dirty="0"/>
            </a:p>
            <a:p>
              <a:pPr marL="0" indent="0">
                <a:buNone/>
              </a:pPr>
              <a:r>
                <a:rPr lang="ko-KR" altLang="en-US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측정 실패와</a:t>
              </a:r>
              <a:r>
                <a:rPr lang="en-US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dirty="0" err="1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판독</a:t>
              </a:r>
              <a:r>
                <a:rPr lang="en-US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실패 양상</a:t>
              </a:r>
              <a:endParaRPr lang="en-US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3922776" y="1307020"/>
              <a:ext cx="3154680" cy="2217230"/>
            </a:xfrm>
            <a:prstGeom prst="roundRect">
              <a:avLst>
                <a:gd name="adj" fmla="val 4286"/>
              </a:avLst>
            </a:prstGeom>
            <a:solidFill>
              <a:srgbClr val="F8FAFC"/>
            </a:solidFill>
            <a:ln w="12700">
              <a:solidFill>
                <a:srgbClr val="D7E3ED"/>
              </a:solidFill>
              <a:prstDash val="solid"/>
            </a:ln>
          </p:spPr>
          <p:txBody>
            <a:bodyPr/>
            <a:lstStyle/>
            <a:p>
              <a:endParaRPr lang="ko-KR" altLang="en-US" sz="3200"/>
            </a:p>
          </p:txBody>
        </p:sp>
        <p:sp>
          <p:nvSpPr>
            <p:cNvPr id="19" name="Shape 17"/>
            <p:cNvSpPr/>
            <p:nvPr/>
          </p:nvSpPr>
          <p:spPr>
            <a:xfrm>
              <a:off x="3922776" y="1307020"/>
              <a:ext cx="3154680" cy="411480"/>
            </a:xfrm>
            <a:prstGeom prst="rect">
              <a:avLst/>
            </a:prstGeom>
            <a:solidFill>
              <a:srgbClr val="F1A438"/>
            </a:solidFill>
            <a:ln w="12700">
              <a:solidFill>
                <a:srgbClr val="F1A43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3200"/>
            </a:p>
          </p:txBody>
        </p:sp>
        <p:sp>
          <p:nvSpPr>
            <p:cNvPr id="20" name="Text 18"/>
            <p:cNvSpPr/>
            <p:nvPr/>
          </p:nvSpPr>
          <p:spPr>
            <a:xfrm>
              <a:off x="3995928" y="1389316"/>
              <a:ext cx="3008376" cy="228600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유지할 한계</a:t>
              </a:r>
              <a:endParaRPr lang="en-US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4087368" y="1837372"/>
              <a:ext cx="2825496" cy="905256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t">
              <a:noAutofit/>
            </a:bodyPr>
            <a:lstStyle/>
            <a:p>
              <a:pPr marL="0" indent="0">
                <a:buNone/>
              </a:pPr>
              <a:r>
                <a:rPr lang="en-US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환자 15명의 탐색적 파일럿</a:t>
              </a:r>
              <a:endParaRPr lang="en-US" dirty="0"/>
            </a:p>
            <a:p>
              <a:pPr marL="0" indent="0">
                <a:buNone/>
              </a:pPr>
              <a:r>
                <a:rPr lang="en-US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한정된 촬영 </a:t>
              </a:r>
              <a:r>
                <a:rPr lang="en-US" dirty="0" err="1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조건과</a:t>
              </a:r>
              <a:r>
                <a:rPr lang="en-US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ko-KR" altLang="en-US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적</a:t>
              </a:r>
              <a:r>
                <a:rPr lang="en-US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은 </a:t>
              </a:r>
              <a:r>
                <a:rPr lang="ko-KR" altLang="en-US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비장애</a:t>
              </a:r>
              <a:r>
                <a:rPr lang="en-US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인 참조</a:t>
              </a:r>
              <a:endParaRPr lang="en-US" dirty="0"/>
            </a:p>
            <a:p>
              <a:pPr marL="0" indent="0">
                <a:buNone/>
              </a:pPr>
              <a:r>
                <a:rPr lang="en-US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14프레임의 시간적 관찰 한계</a:t>
              </a:r>
              <a:endParaRPr lang="en-US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630936" y="3794188"/>
              <a:ext cx="6446520" cy="1737360"/>
            </a:xfrm>
            <a:prstGeom prst="roundRect">
              <a:avLst>
                <a:gd name="adj" fmla="val 4444"/>
              </a:avLst>
            </a:prstGeom>
            <a:solidFill>
              <a:srgbClr val="F8FAFC"/>
            </a:solidFill>
            <a:ln w="12700">
              <a:solidFill>
                <a:srgbClr val="D7E3ED"/>
              </a:solidFill>
              <a:prstDash val="solid"/>
            </a:ln>
          </p:spPr>
          <p:txBody>
            <a:bodyPr/>
            <a:lstStyle/>
            <a:p>
              <a:endParaRPr lang="ko-KR" altLang="en-US" sz="3200"/>
            </a:p>
          </p:txBody>
        </p:sp>
        <p:sp>
          <p:nvSpPr>
            <p:cNvPr id="25" name="Shape 23"/>
            <p:cNvSpPr/>
            <p:nvPr/>
          </p:nvSpPr>
          <p:spPr>
            <a:xfrm>
              <a:off x="630936" y="3794188"/>
              <a:ext cx="6446520" cy="411480"/>
            </a:xfrm>
            <a:prstGeom prst="rect">
              <a:avLst/>
            </a:prstGeom>
            <a:solidFill>
              <a:srgbClr val="16A7B8"/>
            </a:solidFill>
            <a:ln w="12700">
              <a:solidFill>
                <a:srgbClr val="16A7B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3200"/>
            </a:p>
          </p:txBody>
        </p:sp>
        <p:sp>
          <p:nvSpPr>
            <p:cNvPr id="26" name="Text 24"/>
            <p:cNvSpPr/>
            <p:nvPr/>
          </p:nvSpPr>
          <p:spPr>
            <a:xfrm>
              <a:off x="704088" y="3876484"/>
              <a:ext cx="6300216" cy="228600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후속 가능성</a:t>
              </a:r>
              <a:endParaRPr lang="en-US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795528" y="4324540"/>
              <a:ext cx="6117336" cy="1004698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t">
              <a:normAutofit/>
            </a:bodyPr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다양한 환자와 촬영 환경에서 재평가하고, 실제 판독시간 절감과 자동화 가능성은 별도 연구로 검증한다.</a:t>
              </a:r>
              <a:endParaRPr lang="en-US" sz="1600" dirty="0"/>
            </a:p>
            <a:p>
              <a:pPr marL="0" indent="0">
                <a:buNone/>
              </a:pPr>
              <a:endParaRPr lang="en-US" sz="1600" dirty="0"/>
            </a:p>
            <a:p>
              <a:pPr marL="0" indent="0">
                <a:buNone/>
              </a:pPr>
              <a:r>
                <a:rPr lang="en-US" sz="1600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효과가 작거나 실패율이 높아도, 그 결과는 더 단순한 시스템을 선택할 근거가 된다.</a:t>
              </a:r>
              <a:endParaRPr lang="en-US" sz="1600" dirty="0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3A66"/>
          </a:solidFill>
          <a:ln w="12700">
            <a:solidFill>
              <a:srgbClr val="193A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1109960" y="3474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AA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822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C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메시지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883538" y="1600199"/>
            <a:ext cx="7588949" cy="1152525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2C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판독 부담과 과제별 재학습 부담 사이에서,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0F2C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VLM에 어떤 정보를 추가해야 실제로 도움이 되는지 검증한다.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1930</Words>
  <Application>Microsoft Office PowerPoint</Application>
  <PresentationFormat>와이드스크린</PresentationFormat>
  <Paragraphs>333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3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Human Robotics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손 과제 VLM 평가 연구계획</dc:title>
  <dc:subject>RGB-D VLM 손 과제 평가 연구계획</dc:subject>
  <dc:creator>OpenAI</dc:creator>
  <cp:lastModifiedBy>jeayong lee</cp:lastModifiedBy>
  <cp:revision>87</cp:revision>
  <dcterms:created xsi:type="dcterms:W3CDTF">2026-09-14T01:46:24Z</dcterms:created>
  <dcterms:modified xsi:type="dcterms:W3CDTF">2026-09-14T06:07:49Z</dcterms:modified>
</cp:coreProperties>
</file>