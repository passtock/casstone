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67" r:id="rId5"/>
    <p:sldId id="273" r:id="rId6"/>
    <p:sldId id="266" r:id="rId7"/>
    <p:sldId id="274" r:id="rId8"/>
    <p:sldId id="271" r:id="rId9"/>
    <p:sldId id="272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4CC"/>
    <a:srgbClr val="D98C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EC7D52-6F07-49FE-BE3B-7B49B686AFAA}" v="8" dt="2026-09-14T06:28:17.8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5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yong lee" userId="0e8205fbd6162578" providerId="LiveId" clId="{AE34F6A3-7111-4D1D-9D41-1048805A1372}"/>
    <pc:docChg chg="undo custSel modSld">
      <pc:chgData name="jeayong lee" userId="0e8205fbd6162578" providerId="LiveId" clId="{AE34F6A3-7111-4D1D-9D41-1048805A1372}" dt="2026-09-14T06:31:29.120" v="19" actId="14100"/>
      <pc:docMkLst>
        <pc:docMk/>
      </pc:docMkLst>
      <pc:sldChg chg="modSp mod">
        <pc:chgData name="jeayong lee" userId="0e8205fbd6162578" providerId="LiveId" clId="{AE34F6A3-7111-4D1D-9D41-1048805A1372}" dt="2026-09-14T06:27:23.300" v="1" actId="1076"/>
        <pc:sldMkLst>
          <pc:docMk/>
          <pc:sldMk cId="0" sldId="269"/>
        </pc:sldMkLst>
        <pc:spChg chg="mod">
          <ac:chgData name="jeayong lee" userId="0e8205fbd6162578" providerId="LiveId" clId="{AE34F6A3-7111-4D1D-9D41-1048805A1372}" dt="2026-09-14T06:27:23.300" v="1" actId="1076"/>
          <ac:spMkLst>
            <pc:docMk/>
            <pc:sldMk cId="0" sldId="269"/>
            <ac:spMk id="15" creationId="{00000000-0000-0000-0000-000000000000}"/>
          </ac:spMkLst>
        </pc:spChg>
      </pc:sldChg>
      <pc:sldChg chg="modSp mod">
        <pc:chgData name="jeayong lee" userId="0e8205fbd6162578" providerId="LiveId" clId="{AE34F6A3-7111-4D1D-9D41-1048805A1372}" dt="2026-09-14T06:31:29.120" v="19" actId="14100"/>
        <pc:sldMkLst>
          <pc:docMk/>
          <pc:sldMk cId="0" sldId="271"/>
        </pc:sldMkLst>
        <pc:spChg chg="mod">
          <ac:chgData name="jeayong lee" userId="0e8205fbd6162578" providerId="LiveId" clId="{AE34F6A3-7111-4D1D-9D41-1048805A1372}" dt="2026-09-14T06:31:29.120" v="19" actId="14100"/>
          <ac:spMkLst>
            <pc:docMk/>
            <pc:sldMk cId="0" sldId="271"/>
            <ac:spMk id="6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7:36.704" v="5" actId="14100"/>
          <ac:spMkLst>
            <pc:docMk/>
            <pc:sldMk cId="0" sldId="271"/>
            <ac:spMk id="13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7:52.302" v="9" actId="14100"/>
          <ac:spMkLst>
            <pc:docMk/>
            <pc:sldMk cId="0" sldId="271"/>
            <ac:spMk id="16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8:08.750" v="13" actId="14100"/>
          <ac:spMkLst>
            <pc:docMk/>
            <pc:sldMk cId="0" sldId="271"/>
            <ac:spMk id="19" creationId="{00000000-0000-0000-0000-000000000000}"/>
          </ac:spMkLst>
        </pc:spChg>
        <pc:spChg chg="mod">
          <ac:chgData name="jeayong lee" userId="0e8205fbd6162578" providerId="LiveId" clId="{AE34F6A3-7111-4D1D-9D41-1048805A1372}" dt="2026-09-14T06:28:21.135" v="17" actId="14100"/>
          <ac:spMkLst>
            <pc:docMk/>
            <pc:sldMk cId="0" sldId="271"/>
            <ac:spMk id="2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1303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2842C-2162-D64C-F0A5-27C1B8BA4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67DE9A-2A78-7A5E-56D4-D9FACAE24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4762A2-1F8A-0B4B-4793-29DBA4D84B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CADAAB-AE44-A706-3196-0A47CE8E3E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59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8C85-FBBF-8A7C-C015-1DF463CF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6B33E-2144-1371-DE80-2897035DF3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75B38A-156D-D02D-EE30-7C863E4FE4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4275E-3E22-D029-8EC2-36242EC346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824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5524"/>
            <a:ext cx="12191695" cy="685800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2743200" cy="685800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743200" y="0"/>
            <a:ext cx="109728" cy="685800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46120" y="1143000"/>
            <a:ext cx="7955280" cy="11704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RGB-D 운동학 정보를 활용한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과제 VLM 평가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3273552" y="2487168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</a:t>
            </a: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수치와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참조의 추가 효과를 검증하는 파일럿 연구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73552" y="5715000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261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연구계획 발표  |  이재용 22000561  |  한동대학교 기계제어공학부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배경과 기존 접근의 부담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판독과 과제 전용 학습 모델의 부담을 줄일 수 있는 대안이 필요하다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" y="1234440"/>
            <a:ext cx="2871216" cy="2227898"/>
          </a:xfrm>
          <a:prstGeom prst="roundRect">
            <a:avLst>
              <a:gd name="adj" fmla="val 3556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3657600" y="1234440"/>
            <a:ext cx="2286000" cy="2194560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/>
          <p:cNvSpPr/>
          <p:nvPr/>
        </p:nvSpPr>
        <p:spPr>
          <a:xfrm>
            <a:off x="36576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/>
          <p:cNvSpPr/>
          <p:nvPr/>
        </p:nvSpPr>
        <p:spPr>
          <a:xfrm>
            <a:off x="37307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전문가 영상 판독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8221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반복 영상 관찰</a:t>
            </a:r>
            <a:endParaRPr lang="ko-KR" altLang="en-US" sz="1400" dirty="0"/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수행 상태</a:t>
            </a:r>
            <a:r>
              <a:rPr lang="en-US" altLang="ko-KR" sz="1400" dirty="0">
                <a:solidFill>
                  <a:srgbClr val="1F2937"/>
                </a:solidFill>
              </a:rPr>
              <a:t>·</a:t>
            </a:r>
            <a:r>
              <a:rPr lang="ko-KR" altLang="en-US" sz="1400" dirty="0">
                <a:solidFill>
                  <a:srgbClr val="1F2937"/>
                </a:solidFill>
              </a:rPr>
              <a:t>근거 기록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참조기준 형성 가능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시간</a:t>
            </a:r>
            <a:r>
              <a:rPr lang="en-US" altLang="ko-KR" sz="1400" dirty="0">
                <a:solidFill>
                  <a:srgbClr val="1F2937"/>
                </a:solidFill>
              </a:rPr>
              <a:t>·</a:t>
            </a:r>
            <a:r>
              <a:rPr lang="ko-KR" altLang="en-US" sz="1400" dirty="0">
                <a:solidFill>
                  <a:srgbClr val="1F2937"/>
                </a:solidFill>
              </a:rPr>
              <a:t>인력 부담 큼</a:t>
            </a:r>
          </a:p>
        </p:txBody>
      </p:sp>
      <p:sp>
        <p:nvSpPr>
          <p:cNvPr id="14" name="Shape 12"/>
          <p:cNvSpPr/>
          <p:nvPr/>
        </p:nvSpPr>
        <p:spPr>
          <a:xfrm>
            <a:off x="6172200" y="1234439"/>
            <a:ext cx="2286000" cy="2194559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/>
          <p:cNvSpPr/>
          <p:nvPr/>
        </p:nvSpPr>
        <p:spPr>
          <a:xfrm>
            <a:off x="61722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/>
          <p:cNvSpPr/>
          <p:nvPr/>
        </p:nvSpPr>
        <p:spPr>
          <a:xfrm>
            <a:off x="62453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전용 학습 모델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367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학습 영상 수집 필요</a:t>
            </a:r>
            <a:endParaRPr lang="ko-KR" altLang="en-US" sz="1400" dirty="0"/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세부 </a:t>
            </a:r>
            <a:r>
              <a:rPr lang="ko-KR" altLang="en-US" sz="1400" dirty="0" err="1">
                <a:solidFill>
                  <a:srgbClr val="1F2937"/>
                </a:solidFill>
              </a:rPr>
              <a:t>라벨링</a:t>
            </a:r>
            <a:r>
              <a:rPr lang="ko-KR" altLang="en-US" sz="1400" dirty="0">
                <a:solidFill>
                  <a:srgbClr val="1F2937"/>
                </a:solidFill>
              </a:rPr>
              <a:t> 필요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과제</a:t>
            </a:r>
            <a:r>
              <a:rPr lang="en-US" altLang="ko-KR" sz="1400" dirty="0">
                <a:solidFill>
                  <a:srgbClr val="1F2937"/>
                </a:solidFill>
              </a:rPr>
              <a:t>·</a:t>
            </a:r>
            <a:r>
              <a:rPr lang="ko-KR" altLang="en-US" sz="1400" dirty="0">
                <a:solidFill>
                  <a:srgbClr val="1F2937"/>
                </a:solidFill>
              </a:rPr>
              <a:t>환경 변경 시 추가 조정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자동화 가능성은 있으나 준비 비용 큼</a:t>
            </a:r>
          </a:p>
        </p:txBody>
      </p:sp>
      <p:sp>
        <p:nvSpPr>
          <p:cNvPr id="18" name="Shape 16"/>
          <p:cNvSpPr/>
          <p:nvPr/>
        </p:nvSpPr>
        <p:spPr>
          <a:xfrm>
            <a:off x="8686800" y="1216152"/>
            <a:ext cx="2286000" cy="2212846"/>
          </a:xfrm>
          <a:prstGeom prst="roundRect">
            <a:avLst>
              <a:gd name="adj" fmla="val 2667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9" name="Shape 17"/>
          <p:cNvSpPr/>
          <p:nvPr/>
        </p:nvSpPr>
        <p:spPr>
          <a:xfrm>
            <a:off x="8686800" y="1234440"/>
            <a:ext cx="228600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0" name="Text 18"/>
          <p:cNvSpPr/>
          <p:nvPr/>
        </p:nvSpPr>
        <p:spPr>
          <a:xfrm>
            <a:off x="8759952" y="1316736"/>
            <a:ext cx="21396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VLM 활용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851392" y="1764792"/>
            <a:ext cx="1956816" cy="1399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rmAutofit/>
          </a:bodyPr>
          <a:lstStyle/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모델 가중치 고정</a:t>
            </a:r>
            <a:endParaRPr lang="ko-KR" altLang="en-US" sz="1400" dirty="0"/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과제 지침</a:t>
            </a:r>
            <a:r>
              <a:rPr lang="en-US" altLang="ko-KR" sz="1400" dirty="0">
                <a:solidFill>
                  <a:srgbClr val="1F2937"/>
                </a:solidFill>
              </a:rPr>
              <a:t>·</a:t>
            </a:r>
            <a:r>
              <a:rPr lang="ko-KR" altLang="en-US" sz="1400" dirty="0">
                <a:solidFill>
                  <a:srgbClr val="1F2937"/>
                </a:solidFill>
              </a:rPr>
              <a:t>관찰 정보 입력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추가 운동학 정보 제공</a:t>
            </a:r>
          </a:p>
          <a:p>
            <a:r>
              <a:rPr lang="en-US" altLang="ko-KR" sz="1400" dirty="0">
                <a:solidFill>
                  <a:srgbClr val="1F2937"/>
                </a:solidFill>
              </a:rPr>
              <a:t>• </a:t>
            </a:r>
            <a:r>
              <a:rPr lang="ko-KR" altLang="en-US" sz="1400" dirty="0">
                <a:solidFill>
                  <a:srgbClr val="1F2937"/>
                </a:solidFill>
              </a:rPr>
              <a:t>부족한 판단 근거 보완 여부 확인</a:t>
            </a:r>
          </a:p>
        </p:txBody>
      </p:sp>
      <p:sp>
        <p:nvSpPr>
          <p:cNvPr id="22" name="Shape 20"/>
          <p:cNvSpPr/>
          <p:nvPr/>
        </p:nvSpPr>
        <p:spPr>
          <a:xfrm>
            <a:off x="566928" y="3749040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3" name="Text 21"/>
          <p:cNvSpPr/>
          <p:nvPr/>
        </p:nvSpPr>
        <p:spPr>
          <a:xfrm>
            <a:off x="777240" y="3803904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6.4시간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</a:t>
            </a:r>
            <a:r>
              <a:rPr lang="en-US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기록의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수작업 주석에 513.6시간,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학습을 통한 </a:t>
            </a:r>
            <a:r>
              <a:rPr lang="en-US" b="1" dirty="0" err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</a:t>
            </a: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처리에 1.4시간 </a:t>
            </a:r>
            <a:r>
              <a:rPr lang="ko-KR" alt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소모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564832" y="4261104"/>
            <a:ext cx="3703320" cy="2114931"/>
          </a:xfrm>
          <a:prstGeom prst="roundRect">
            <a:avLst>
              <a:gd name="adj" fmla="val 5926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8" name="Text 26"/>
          <p:cNvSpPr/>
          <p:nvPr/>
        </p:nvSpPr>
        <p:spPr>
          <a:xfrm>
            <a:off x="4617720" y="4407408"/>
            <a:ext cx="6309360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sz="1600" dirty="0">
                <a:solidFill>
                  <a:srgbClr val="1F2937"/>
                </a:solidFill>
              </a:rPr>
              <a:t>세부 동작 주석 작업의 시간 비교</a:t>
            </a:r>
            <a:endParaRPr lang="ko-KR" altLang="en-US" sz="1600" dirty="0"/>
          </a:p>
          <a:p>
            <a:r>
              <a:rPr lang="en-US" altLang="ko-KR" sz="1600" dirty="0">
                <a:solidFill>
                  <a:srgbClr val="1F2937"/>
                </a:solidFill>
              </a:rPr>
              <a:t>• FMA </a:t>
            </a:r>
            <a:r>
              <a:rPr lang="ko-KR" altLang="en-US" sz="1600" dirty="0">
                <a:solidFill>
                  <a:srgbClr val="1F2937"/>
                </a:solidFill>
              </a:rPr>
              <a:t>검사시간 자체와 구분</a:t>
            </a:r>
          </a:p>
          <a:p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sz="1600" dirty="0">
                <a:solidFill>
                  <a:srgbClr val="1F2937"/>
                </a:solidFill>
              </a:rPr>
              <a:t>치료사 대체 주장 아님</a:t>
            </a:r>
          </a:p>
          <a:p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sz="1600" dirty="0">
                <a:solidFill>
                  <a:srgbClr val="1F2937"/>
                </a:solidFill>
              </a:rPr>
              <a:t>반복 판독 보조를 위한 입력 설계 검토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선행연구가 제공한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</a:t>
            </a:r>
            <a:r>
              <a:rPr lang="en-US" sz="28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2800" b="1" dirty="0" err="1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과제에서 어떤 입력 조합이 </a:t>
            </a:r>
            <a:r>
              <a:rPr lang="en-US" sz="1600" b="1" dirty="0" err="1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</a:t>
            </a: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상승에 영향을 끼치는지 검증이 필요하다</a:t>
            </a:r>
            <a:r>
              <a:rPr lang="en-US" altLang="ko-KR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1170432"/>
            <a:ext cx="3429000" cy="1984248"/>
          </a:xfrm>
          <a:prstGeom prst="roundRect">
            <a:avLst>
              <a:gd name="adj" fmla="val 390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429000" cy="2063686"/>
          </a:xfrm>
          <a:prstGeom prst="roundRect">
            <a:avLst>
              <a:gd name="adj" fmla="val 3902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Shape 12"/>
          <p:cNvSpPr/>
          <p:nvPr/>
        </p:nvSpPr>
        <p:spPr>
          <a:xfrm>
            <a:off x="4160520" y="1452748"/>
            <a:ext cx="3566160" cy="1716217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Shape 13"/>
          <p:cNvSpPr/>
          <p:nvPr/>
        </p:nvSpPr>
        <p:spPr>
          <a:xfrm>
            <a:off x="4160520" y="1452748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6" name="Text 14"/>
          <p:cNvSpPr/>
          <p:nvPr/>
        </p:nvSpPr>
        <p:spPr>
          <a:xfrm>
            <a:off x="4233672" y="1535044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 등 2026: VLM 동작 이해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325112" y="1983100"/>
            <a:ext cx="3236976" cy="138303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algn="just"/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sz="1600" dirty="0">
                <a:solidFill>
                  <a:srgbClr val="1F2937"/>
                </a:solidFill>
              </a:rPr>
              <a:t>활동 인식</a:t>
            </a:r>
            <a:r>
              <a:rPr lang="en-US" altLang="ko-KR" sz="1600" dirty="0">
                <a:solidFill>
                  <a:srgbClr val="1F2937"/>
                </a:solidFill>
              </a:rPr>
              <a:t>·</a:t>
            </a:r>
            <a:r>
              <a:rPr lang="ko-KR" altLang="en-US" sz="1600" dirty="0">
                <a:solidFill>
                  <a:srgbClr val="1F2937"/>
                </a:solidFill>
              </a:rPr>
              <a:t>횟수</a:t>
            </a:r>
            <a:r>
              <a:rPr lang="en-US" altLang="ko-KR" sz="1600" dirty="0">
                <a:solidFill>
                  <a:srgbClr val="1F2937"/>
                </a:solidFill>
              </a:rPr>
              <a:t>·FMA</a:t>
            </a:r>
            <a:r>
              <a:rPr lang="ko-KR" altLang="en-US" sz="1600" dirty="0">
                <a:solidFill>
                  <a:srgbClr val="1F2937"/>
                </a:solidFill>
              </a:rPr>
              <a:t> 추정 평가</a:t>
            </a:r>
          </a:p>
          <a:p>
            <a:pPr algn="just"/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sz="1600" dirty="0">
                <a:solidFill>
                  <a:srgbClr val="1F2937"/>
                </a:solidFill>
              </a:rPr>
              <a:t>미세 손 동작 판단 한계</a:t>
            </a:r>
          </a:p>
          <a:p>
            <a:pPr algn="just"/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b="1" dirty="0">
                <a:solidFill>
                  <a:srgbClr val="FF0000"/>
                </a:solidFill>
              </a:rPr>
              <a:t>접촉 판단의 불안정성</a:t>
            </a:r>
            <a:r>
              <a:rPr lang="ko-KR" altLang="en-US" sz="1600" dirty="0">
                <a:solidFill>
                  <a:srgbClr val="1F2937"/>
                </a:solidFill>
              </a:rPr>
              <a:t> 보고</a:t>
            </a:r>
          </a:p>
          <a:p>
            <a:pPr algn="just"/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sz="1600" dirty="0">
                <a:solidFill>
                  <a:srgbClr val="1F2937"/>
                </a:solidFill>
              </a:rPr>
              <a:t>영상 외 정보 보완 가능성 제시</a:t>
            </a:r>
          </a:p>
        </p:txBody>
      </p:sp>
      <p:sp>
        <p:nvSpPr>
          <p:cNvPr id="18" name="Shape 16"/>
          <p:cNvSpPr/>
          <p:nvPr/>
        </p:nvSpPr>
        <p:spPr>
          <a:xfrm>
            <a:off x="7973568" y="1452748"/>
            <a:ext cx="3566160" cy="1716217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Shape 17"/>
          <p:cNvSpPr/>
          <p:nvPr/>
        </p:nvSpPr>
        <p:spPr>
          <a:xfrm>
            <a:off x="7973568" y="1452748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8"/>
          <p:cNvSpPr/>
          <p:nvPr/>
        </p:nvSpPr>
        <p:spPr>
          <a:xfrm>
            <a:off x="8046720" y="1535044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Qiu·Lang: </a:t>
            </a:r>
            <a:r>
              <a:rPr lang="ko-KR" alt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운동학적 지표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38160" y="1983100"/>
            <a:ext cx="3236976" cy="127730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algn="just"/>
            <a:r>
              <a:rPr lang="en-US" altLang="ko-KR" sz="1600" b="1" dirty="0">
                <a:solidFill>
                  <a:srgbClr val="1F2937"/>
                </a:solidFill>
              </a:rPr>
              <a:t>• </a:t>
            </a:r>
            <a:r>
              <a:rPr lang="ko-KR" altLang="en-US" sz="2000" b="1" dirty="0">
                <a:solidFill>
                  <a:srgbClr val="D604CC"/>
                </a:solidFill>
              </a:rPr>
              <a:t>최대 간격</a:t>
            </a:r>
            <a:r>
              <a:rPr lang="en-US" altLang="ko-KR" sz="1600" b="1" dirty="0">
                <a:solidFill>
                  <a:srgbClr val="1F2937"/>
                </a:solidFill>
              </a:rPr>
              <a:t>·</a:t>
            </a:r>
            <a:r>
              <a:rPr lang="ko-KR" altLang="en-US" sz="1600" b="1" dirty="0">
                <a:solidFill>
                  <a:srgbClr val="1F2937"/>
                </a:solidFill>
              </a:rPr>
              <a:t>도달 시간 변수 제시</a:t>
            </a:r>
          </a:p>
          <a:p>
            <a:pPr algn="just"/>
            <a:r>
              <a:rPr lang="en-US" altLang="ko-KR" sz="1600" b="1" dirty="0">
                <a:solidFill>
                  <a:srgbClr val="1F2937"/>
                </a:solidFill>
              </a:rPr>
              <a:t>• </a:t>
            </a:r>
            <a:r>
              <a:rPr lang="ko-KR" altLang="en-US" sz="1600" b="1" dirty="0">
                <a:solidFill>
                  <a:srgbClr val="1F2937"/>
                </a:solidFill>
              </a:rPr>
              <a:t>손가락 신전 관련 지표 활용</a:t>
            </a:r>
          </a:p>
          <a:p>
            <a:pPr algn="just"/>
            <a:r>
              <a:rPr lang="en-US" altLang="ko-KR" sz="1600" b="1" dirty="0">
                <a:solidFill>
                  <a:srgbClr val="1F2937"/>
                </a:solidFill>
              </a:rPr>
              <a:t>• </a:t>
            </a:r>
            <a:r>
              <a:rPr lang="ko-KR" altLang="en-US" sz="1600" b="1" dirty="0">
                <a:solidFill>
                  <a:srgbClr val="1F2937"/>
                </a:solidFill>
              </a:rPr>
              <a:t>손 기능과의 관련성 근거</a:t>
            </a:r>
          </a:p>
          <a:p>
            <a:pPr algn="just"/>
            <a:endParaRPr lang="ko-KR" altLang="en-US" sz="1600" b="1" dirty="0">
              <a:solidFill>
                <a:srgbClr val="1F2937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160520" y="3447288"/>
            <a:ext cx="3566160" cy="1142467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3" name="Shape 21"/>
          <p:cNvSpPr/>
          <p:nvPr/>
        </p:nvSpPr>
        <p:spPr>
          <a:xfrm>
            <a:off x="4160520" y="3447288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Text 22"/>
          <p:cNvSpPr/>
          <p:nvPr/>
        </p:nvSpPr>
        <p:spPr>
          <a:xfrm>
            <a:off x="4233672" y="3529584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Amprimo: 깊이 결합 추적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325112" y="3977640"/>
            <a:ext cx="3236976" cy="122758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algn="just"/>
            <a:r>
              <a:rPr lang="en-US" altLang="ko-KR" b="1" dirty="0">
                <a:solidFill>
                  <a:srgbClr val="1F2937"/>
                </a:solidFill>
              </a:rPr>
              <a:t>• </a:t>
            </a:r>
            <a:r>
              <a:rPr lang="en-US" altLang="ko-KR" b="1" dirty="0" err="1">
                <a:solidFill>
                  <a:srgbClr val="1F2937"/>
                </a:solidFill>
              </a:rPr>
              <a:t>MediaPipe</a:t>
            </a:r>
            <a:r>
              <a:rPr lang="ko-KR" altLang="en-US" b="1" dirty="0">
                <a:solidFill>
                  <a:srgbClr val="1F2937"/>
                </a:solidFill>
              </a:rPr>
              <a:t> </a:t>
            </a:r>
            <a:r>
              <a:rPr lang="en-US" altLang="ko-KR" b="1" dirty="0">
                <a:solidFill>
                  <a:srgbClr val="1F2937"/>
                </a:solidFill>
              </a:rPr>
              <a:t>+ </a:t>
            </a:r>
            <a:r>
              <a:rPr lang="ko-KR" altLang="en-US" b="1" dirty="0">
                <a:solidFill>
                  <a:srgbClr val="1F2937"/>
                </a:solidFill>
              </a:rPr>
              <a:t>깊이정보 결합</a:t>
            </a:r>
            <a:endParaRPr lang="ko-KR" altLang="en-US" dirty="0"/>
          </a:p>
          <a:p>
            <a:pPr algn="just"/>
            <a:r>
              <a:rPr lang="en-US" altLang="ko-KR" b="1" dirty="0">
                <a:solidFill>
                  <a:srgbClr val="1F2937"/>
                </a:solidFill>
              </a:rPr>
              <a:t>• 3D </a:t>
            </a:r>
            <a:r>
              <a:rPr lang="ko-KR" altLang="en-US" b="1" dirty="0">
                <a:solidFill>
                  <a:srgbClr val="1F2937"/>
                </a:solidFill>
              </a:rPr>
              <a:t>손 추적 방법론 근거</a:t>
            </a:r>
          </a:p>
        </p:txBody>
      </p:sp>
      <p:sp>
        <p:nvSpPr>
          <p:cNvPr id="26" name="Shape 24"/>
          <p:cNvSpPr/>
          <p:nvPr/>
        </p:nvSpPr>
        <p:spPr>
          <a:xfrm>
            <a:off x="7973568" y="3447288"/>
            <a:ext cx="3566160" cy="1142467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7" name="Shape 25"/>
          <p:cNvSpPr/>
          <p:nvPr/>
        </p:nvSpPr>
        <p:spPr>
          <a:xfrm>
            <a:off x="7973568" y="3447288"/>
            <a:ext cx="356616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8" name="Text 26"/>
          <p:cNvSpPr/>
          <p:nvPr/>
        </p:nvSpPr>
        <p:spPr>
          <a:xfrm>
            <a:off x="8046720" y="3529584"/>
            <a:ext cx="341985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Tang·Wang: 추가정보 입력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046720" y="3941064"/>
            <a:ext cx="3447288" cy="122758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algn="just"/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sz="1600" dirty="0">
                <a:solidFill>
                  <a:srgbClr val="1F2937"/>
                </a:solidFill>
              </a:rPr>
              <a:t>수치</a:t>
            </a:r>
            <a:r>
              <a:rPr lang="en-US" altLang="ko-KR" sz="1600" dirty="0">
                <a:solidFill>
                  <a:srgbClr val="1F2937"/>
                </a:solidFill>
              </a:rPr>
              <a:t>·</a:t>
            </a:r>
            <a:r>
              <a:rPr lang="ko-KR" altLang="en-US" sz="1600" dirty="0">
                <a:solidFill>
                  <a:srgbClr val="1F2937"/>
                </a:solidFill>
              </a:rPr>
              <a:t>임상 지식 입력 가능성</a:t>
            </a:r>
          </a:p>
          <a:p>
            <a:pPr algn="just"/>
            <a:r>
              <a:rPr lang="en-US" altLang="ko-KR" sz="1600" dirty="0">
                <a:solidFill>
                  <a:srgbClr val="1F2937"/>
                </a:solidFill>
              </a:rPr>
              <a:t>• </a:t>
            </a:r>
            <a:r>
              <a:rPr lang="ko-KR" altLang="en-US" sz="1600" dirty="0">
                <a:solidFill>
                  <a:srgbClr val="1F2937"/>
                </a:solidFill>
              </a:rPr>
              <a:t>파운데이션 모델 활용 방향 제시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63C1EF35-5D69-160D-1597-87A785C9D517}"/>
              </a:ext>
            </a:extLst>
          </p:cNvPr>
          <p:cNvGrpSpPr/>
          <p:nvPr/>
        </p:nvGrpSpPr>
        <p:grpSpPr>
          <a:xfrm>
            <a:off x="566928" y="5483545"/>
            <a:ext cx="11045952" cy="811492"/>
            <a:chOff x="566928" y="5815583"/>
            <a:chExt cx="11045952" cy="470089"/>
          </a:xfrm>
        </p:grpSpPr>
        <p:sp>
          <p:nvSpPr>
            <p:cNvPr id="30" name="Shape 28"/>
            <p:cNvSpPr/>
            <p:nvPr/>
          </p:nvSpPr>
          <p:spPr>
            <a:xfrm>
              <a:off x="566928" y="5815584"/>
              <a:ext cx="11018520" cy="457200"/>
            </a:xfrm>
            <a:prstGeom prst="roundRect">
              <a:avLst>
                <a:gd name="adj" fmla="val 10000"/>
              </a:avLst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1" name="Text 29"/>
            <p:cNvSpPr/>
            <p:nvPr/>
          </p:nvSpPr>
          <p:spPr>
            <a:xfrm>
              <a:off x="606552" y="5815583"/>
              <a:ext cx="11006328" cy="470089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질문: 영상만 보는 VLM보다, 3D </a:t>
              </a:r>
              <a:r>
                <a:rPr lang="en-US" sz="1600" b="1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운동학과</a:t>
              </a: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비장애</a:t>
              </a: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인 참조를 함께 받은 VLM이 전문가 판단에 가까워지는가?</a:t>
              </a:r>
              <a:endParaRPr lang="en-US" sz="1600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7BA69E8C-C62F-14E7-B82A-FEC3E8F247FA}"/>
              </a:ext>
            </a:extLst>
          </p:cNvPr>
          <p:cNvSpPr/>
          <p:nvPr/>
        </p:nvSpPr>
        <p:spPr>
          <a:xfrm>
            <a:off x="640080" y="2432482"/>
            <a:ext cx="3429000" cy="706196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25255CB-667D-6724-12CD-AACDEB7D1AB7}"/>
              </a:ext>
            </a:extLst>
          </p:cNvPr>
          <p:cNvSpPr/>
          <p:nvPr/>
        </p:nvSpPr>
        <p:spPr>
          <a:xfrm>
            <a:off x="1811045" y="3337560"/>
            <a:ext cx="1056442" cy="2063686"/>
          </a:xfrm>
          <a:prstGeom prst="rect">
            <a:avLst/>
          </a:prstGeom>
          <a:noFill/>
          <a:ln w="57150">
            <a:solidFill>
              <a:srgbClr val="D604CC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</a:rPr>
              <a:t>사용하는 데이터 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1600" dirty="0"/>
              <a:t>데이터는 총 </a:t>
            </a:r>
            <a:r>
              <a:rPr lang="en-US" altLang="ko-KR" sz="1600" dirty="0"/>
              <a:t>3</a:t>
            </a:r>
            <a:r>
              <a:rPr lang="ko-KR" altLang="en-US" sz="1600" dirty="0"/>
              <a:t>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행동의 원본영상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Mediapipe+depth</a:t>
            </a:r>
            <a:r>
              <a:rPr lang="ko-KR" altLang="en-US" sz="1600" dirty="0"/>
              <a:t>를 이용한 운동학적 지표</a:t>
            </a:r>
            <a:r>
              <a:rPr lang="en-US" altLang="ko-KR" sz="1600" dirty="0"/>
              <a:t>, </a:t>
            </a:r>
            <a:r>
              <a:rPr lang="ko-KR" altLang="en-US" sz="1600" dirty="0"/>
              <a:t>비장애인 참조로 이루어진다</a:t>
            </a:r>
            <a:r>
              <a:rPr lang="en-US" altLang="ko-KR" sz="1600" dirty="0"/>
              <a:t>.</a:t>
            </a:r>
            <a:endParaRPr lang="en-US" sz="16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A743ABF8-1F6E-23BE-ED70-0EFBF4B2EA8F}"/>
              </a:ext>
            </a:extLst>
          </p:cNvPr>
          <p:cNvGrpSpPr/>
          <p:nvPr/>
        </p:nvGrpSpPr>
        <p:grpSpPr>
          <a:xfrm>
            <a:off x="376427" y="1561891"/>
            <a:ext cx="3474720" cy="1471030"/>
            <a:chOff x="685800" y="1268441"/>
            <a:chExt cx="3474720" cy="1401318"/>
          </a:xfrm>
        </p:grpSpPr>
        <p:sp>
          <p:nvSpPr>
            <p:cNvPr id="6" name="Shape 4"/>
            <p:cNvSpPr/>
            <p:nvPr/>
          </p:nvSpPr>
          <p:spPr>
            <a:xfrm>
              <a:off x="685800" y="1268441"/>
              <a:ext cx="3474720" cy="1401318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7" name="Shape 5"/>
            <p:cNvSpPr/>
            <p:nvPr/>
          </p:nvSpPr>
          <p:spPr>
            <a:xfrm>
              <a:off x="685800" y="1268441"/>
              <a:ext cx="3474720" cy="411480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8" name="Text 6"/>
            <p:cNvSpPr/>
            <p:nvPr/>
          </p:nvSpPr>
          <p:spPr>
            <a:xfrm>
              <a:off x="758952" y="1350737"/>
              <a:ext cx="33284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행동 영상</a:t>
              </a:r>
              <a:endParaRPr lang="en-US" sz="1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850392" y="1798793"/>
              <a:ext cx="3145536" cy="79552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ko-KR" altLang="en-US" sz="1400" dirty="0"/>
                <a:t>피실험자의 행동영상</a:t>
              </a:r>
              <a:endParaRPr lang="en-US" altLang="ko-KR" sz="1400" dirty="0"/>
            </a:p>
            <a:p>
              <a:pPr marL="0" indent="0">
                <a:buNone/>
              </a:pPr>
              <a:r>
                <a:rPr lang="en-US" sz="1400" dirty="0"/>
                <a:t>14</a:t>
              </a:r>
              <a:r>
                <a:rPr lang="ko-KR" altLang="en-US" sz="1400" dirty="0"/>
                <a:t>프레임으로 정규화 후 </a:t>
              </a:r>
              <a:r>
                <a:rPr lang="en-US" altLang="ko-KR" sz="1400" dirty="0"/>
                <a:t>VLM</a:t>
              </a:r>
              <a:r>
                <a:rPr lang="ko-KR" altLang="en-US" sz="1400" dirty="0"/>
                <a:t>에 입력</a:t>
              </a:r>
              <a:endParaRPr lang="en-US" sz="1400" dirty="0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97DC481-1CA8-850E-2786-68EA7D664977}"/>
              </a:ext>
            </a:extLst>
          </p:cNvPr>
          <p:cNvGrpSpPr/>
          <p:nvPr/>
        </p:nvGrpSpPr>
        <p:grpSpPr>
          <a:xfrm>
            <a:off x="4129094" y="1561891"/>
            <a:ext cx="3474720" cy="1471030"/>
            <a:chOff x="4343400" y="1268441"/>
            <a:chExt cx="2990088" cy="1401318"/>
          </a:xfrm>
        </p:grpSpPr>
        <p:sp>
          <p:nvSpPr>
            <p:cNvPr id="10" name="Shape 8"/>
            <p:cNvSpPr/>
            <p:nvPr/>
          </p:nvSpPr>
          <p:spPr>
            <a:xfrm>
              <a:off x="4361688" y="1339307"/>
              <a:ext cx="2971800" cy="1330452"/>
            </a:xfrm>
            <a:prstGeom prst="roundRect">
              <a:avLst>
                <a:gd name="adj" fmla="val 571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1" name="Shape 9"/>
            <p:cNvSpPr/>
            <p:nvPr/>
          </p:nvSpPr>
          <p:spPr>
            <a:xfrm>
              <a:off x="4343400" y="1268441"/>
              <a:ext cx="2990088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2" name="Text 10"/>
            <p:cNvSpPr/>
            <p:nvPr/>
          </p:nvSpPr>
          <p:spPr>
            <a:xfrm>
              <a:off x="4416552" y="1350737"/>
              <a:ext cx="282549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운동학적 지표</a:t>
              </a:r>
              <a:endParaRPr lang="en-US" sz="1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507992" y="1798793"/>
              <a:ext cx="2642616" cy="79552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40–80세, </a:t>
              </a:r>
              <a:r>
                <a:rPr lang="en-US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일측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편마비, </a:t>
              </a:r>
              <a:r>
                <a:rPr lang="ko-KR" altLang="en-US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브론스트롬</a:t>
              </a:r>
              <a:r>
                <a:rPr lang="ko-KR" alt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손 회복 III–V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지시 이해와 착석 수행 가능</a:t>
              </a:r>
              <a:endParaRPr lang="en-US" sz="1400" dirty="0"/>
            </a:p>
          </p:txBody>
        </p:sp>
      </p:grpSp>
      <p:sp>
        <p:nvSpPr>
          <p:cNvPr id="18" name="Shape 16"/>
          <p:cNvSpPr/>
          <p:nvPr/>
        </p:nvSpPr>
        <p:spPr>
          <a:xfrm>
            <a:off x="376427" y="3426112"/>
            <a:ext cx="3474720" cy="2256083"/>
          </a:xfrm>
          <a:prstGeom prst="roundRect">
            <a:avLst>
              <a:gd name="adj" fmla="val 372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4"/>
          <p:cNvSpPr/>
          <p:nvPr/>
        </p:nvSpPr>
        <p:spPr>
          <a:xfrm>
            <a:off x="4129094" y="3428999"/>
            <a:ext cx="3474720" cy="2253195"/>
          </a:xfrm>
          <a:prstGeom prst="roundRect">
            <a:avLst>
              <a:gd name="adj" fmla="val 3721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0" name="Shape 28"/>
          <p:cNvSpPr/>
          <p:nvPr/>
        </p:nvSpPr>
        <p:spPr>
          <a:xfrm>
            <a:off x="7982001" y="3429000"/>
            <a:ext cx="3474719" cy="2253194"/>
          </a:xfrm>
          <a:prstGeom prst="roundRect">
            <a:avLst>
              <a:gd name="adj" fmla="val 3721"/>
            </a:avLst>
          </a:prstGeom>
          <a:blipFill>
            <a:blip r:embed="rId5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9812DCD-0B75-DDB5-0AB1-DCBE5D440447}"/>
              </a:ext>
            </a:extLst>
          </p:cNvPr>
          <p:cNvGrpSpPr/>
          <p:nvPr/>
        </p:nvGrpSpPr>
        <p:grpSpPr>
          <a:xfrm>
            <a:off x="7982002" y="1561891"/>
            <a:ext cx="3474720" cy="1471030"/>
            <a:chOff x="7498080" y="1268441"/>
            <a:chExt cx="3246120" cy="1444752"/>
          </a:xfrm>
        </p:grpSpPr>
        <p:sp>
          <p:nvSpPr>
            <p:cNvPr id="14" name="Shape 12"/>
            <p:cNvSpPr/>
            <p:nvPr/>
          </p:nvSpPr>
          <p:spPr>
            <a:xfrm>
              <a:off x="7498080" y="1268441"/>
              <a:ext cx="3246120" cy="1444752"/>
            </a:xfrm>
            <a:prstGeom prst="roundRect">
              <a:avLst>
                <a:gd name="adj" fmla="val 5714"/>
              </a:avLst>
            </a:prstGeom>
            <a:solidFill>
              <a:srgbClr val="FFF8ED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/>
            <p:cNvSpPr/>
            <p:nvPr/>
          </p:nvSpPr>
          <p:spPr>
            <a:xfrm>
              <a:off x="7498080" y="1268441"/>
              <a:ext cx="3246120" cy="411480"/>
            </a:xfrm>
            <a:prstGeom prst="rect">
              <a:avLst/>
            </a:prstGeom>
            <a:solidFill>
              <a:srgbClr val="F1A438"/>
            </a:solidFill>
            <a:ln w="12700">
              <a:solidFill>
                <a:srgbClr val="F1A43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7571232" y="1350737"/>
              <a:ext cx="30998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</a:rPr>
                <a:t>비장애인 참조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662672" y="1798793"/>
              <a:ext cx="2916936" cy="79552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양손은 함께 촬영하지만 마비측이 주 분석이다.</a:t>
              </a: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15명 파일럿이므로 충분한 검정력을 보장하지 않는다.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DC3177-B716-14A3-175D-AB0069836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D3A4CE-3384-CA88-918D-402EA5EE4233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5D1E5AF-F1E5-EC37-CDCC-3EF77506B97D}"/>
              </a:ext>
            </a:extLst>
          </p:cNvPr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B428A3C-7CB9-6C82-C91F-9C2F918A3E65}"/>
              </a:ext>
            </a:extLst>
          </p:cNvPr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대상자와 네 가지 손 과제</a:t>
            </a:r>
            <a:endParaRPr lang="en-US" sz="3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B281B22-4B7E-F48C-7555-BE440E636C61}"/>
              </a:ext>
            </a:extLst>
          </p:cNvPr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과제 8회 양손 동시 수행. 환자 15명을 독립 분석 단위로 사용한다</a:t>
            </a:r>
            <a:endParaRPr lang="en-US" sz="1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B603707-A43E-C72B-A540-2D84D3425D97}"/>
              </a:ext>
            </a:extLst>
          </p:cNvPr>
          <p:cNvSpPr/>
          <p:nvPr/>
        </p:nvSpPr>
        <p:spPr>
          <a:xfrm>
            <a:off x="685800" y="1268441"/>
            <a:ext cx="3474720" cy="1401318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A7907FF-FC8A-8A1E-EE82-0CE289741319}"/>
              </a:ext>
            </a:extLst>
          </p:cNvPr>
          <p:cNvSpPr/>
          <p:nvPr/>
        </p:nvSpPr>
        <p:spPr>
          <a:xfrm>
            <a:off x="685800" y="1268441"/>
            <a:ext cx="3474720" cy="411480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682CC51-9731-7023-66B2-B927D175689E}"/>
              </a:ext>
            </a:extLst>
          </p:cNvPr>
          <p:cNvSpPr/>
          <p:nvPr/>
        </p:nvSpPr>
        <p:spPr>
          <a:xfrm>
            <a:off x="758952" y="1350737"/>
            <a:ext cx="33284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대상자 구성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937B510-A130-B309-A5A9-CE0A37B57C62}"/>
              </a:ext>
            </a:extLst>
          </p:cNvPr>
          <p:cNvSpPr/>
          <p:nvPr/>
        </p:nvSpPr>
        <p:spPr>
          <a:xfrm>
            <a:off x="850392" y="1798793"/>
            <a:ext cx="3145536" cy="7955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4명: 측정·지침 점검</a:t>
            </a:r>
            <a:endParaRPr lang="en-US" sz="1400" dirty="0"/>
          </a:p>
          <a:p>
            <a:pPr marL="0" indent="0">
              <a:buNone/>
            </a:pP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비장애인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참조 15명: 비교 분포 구성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뇌졸중 환자 15명: 입력 효과 평가</a:t>
            </a:r>
            <a:endParaRPr lang="en-US" sz="14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2FE2C6C-316C-1D38-0490-931A66BF4C5B}"/>
              </a:ext>
            </a:extLst>
          </p:cNvPr>
          <p:cNvSpPr/>
          <p:nvPr/>
        </p:nvSpPr>
        <p:spPr>
          <a:xfrm>
            <a:off x="4361688" y="1339307"/>
            <a:ext cx="2971800" cy="1330452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943844C6-0021-0CF1-80B9-9804038C4472}"/>
              </a:ext>
            </a:extLst>
          </p:cNvPr>
          <p:cNvSpPr/>
          <p:nvPr/>
        </p:nvSpPr>
        <p:spPr>
          <a:xfrm>
            <a:off x="4343400" y="1268441"/>
            <a:ext cx="297180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4BF40C1-7DC6-5CA8-4802-0B7FE73EF045}"/>
              </a:ext>
            </a:extLst>
          </p:cNvPr>
          <p:cNvSpPr/>
          <p:nvPr/>
        </p:nvSpPr>
        <p:spPr>
          <a:xfrm>
            <a:off x="4416552" y="1350737"/>
            <a:ext cx="28254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 기준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9224FB-38C2-BF09-5717-AFCA4253074E}"/>
              </a:ext>
            </a:extLst>
          </p:cNvPr>
          <p:cNvSpPr/>
          <p:nvPr/>
        </p:nvSpPr>
        <p:spPr>
          <a:xfrm>
            <a:off x="4507992" y="1798793"/>
            <a:ext cx="2642616" cy="6858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40–80세, </a:t>
            </a:r>
            <a:r>
              <a:rPr 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일측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편마비, </a:t>
            </a:r>
            <a:r>
              <a:rPr lang="ko-KR" altLang="en-US" sz="1400" dirty="0" err="1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브론스트롬</a:t>
            </a:r>
            <a:r>
              <a:rPr lang="ko-KR" alt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회복 III–V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 이해와 착석 수행 가능</a:t>
            </a:r>
            <a:endParaRPr lang="en-US" sz="14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595D827-06C5-3CE7-73F7-D063CB2BDE2B}"/>
              </a:ext>
            </a:extLst>
          </p:cNvPr>
          <p:cNvSpPr/>
          <p:nvPr/>
        </p:nvSpPr>
        <p:spPr>
          <a:xfrm>
            <a:off x="7498080" y="1268441"/>
            <a:ext cx="3246120" cy="1444752"/>
          </a:xfrm>
          <a:prstGeom prst="roundRect">
            <a:avLst>
              <a:gd name="adj" fmla="val 5714"/>
            </a:avLst>
          </a:prstGeom>
          <a:solidFill>
            <a:srgbClr val="FFF8ED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6CD5DC2E-879F-B420-F695-851E2FCFD3CC}"/>
              </a:ext>
            </a:extLst>
          </p:cNvPr>
          <p:cNvSpPr/>
          <p:nvPr/>
        </p:nvSpPr>
        <p:spPr>
          <a:xfrm>
            <a:off x="7498080" y="1268441"/>
            <a:ext cx="324612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0528D6ED-9EF5-BC1D-75BF-FA852CD978F9}"/>
              </a:ext>
            </a:extLst>
          </p:cNvPr>
          <p:cNvSpPr/>
          <p:nvPr/>
        </p:nvSpPr>
        <p:spPr>
          <a:xfrm>
            <a:off x="7571232" y="1350737"/>
            <a:ext cx="309981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원칙</a:t>
            </a:r>
            <a:endParaRPr lang="en-US"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10FA495-3696-4B42-A072-84CB1DF6C45D}"/>
              </a:ext>
            </a:extLst>
          </p:cNvPr>
          <p:cNvSpPr/>
          <p:nvPr/>
        </p:nvSpPr>
        <p:spPr>
          <a:xfrm>
            <a:off x="7662672" y="1798793"/>
            <a:ext cx="2916936" cy="7955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양손은 함께 촬영하지만 마비측이 주 분석이다.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15명 파일럿이므로 충분한 검정력을 보장하지 않는다.</a:t>
            </a:r>
            <a:endParaRPr lang="en-US" sz="14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AF9AECE-4353-AAEF-C624-6F36015F6C1E}"/>
              </a:ext>
            </a:extLst>
          </p:cNvPr>
          <p:cNvSpPr/>
          <p:nvPr/>
        </p:nvSpPr>
        <p:spPr>
          <a:xfrm>
            <a:off x="685800" y="2896073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15B1C3-337A-30F0-08FD-1E51C9E27659}"/>
              </a:ext>
            </a:extLst>
          </p:cNvPr>
          <p:cNvSpPr/>
          <p:nvPr/>
        </p:nvSpPr>
        <p:spPr>
          <a:xfrm>
            <a:off x="3541777" y="2896073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4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BFBBD-EAB2-8E9E-2073-1B366EEFA3C9}"/>
              </a:ext>
            </a:extLst>
          </p:cNvPr>
          <p:cNvSpPr/>
          <p:nvPr/>
        </p:nvSpPr>
        <p:spPr>
          <a:xfrm>
            <a:off x="6409944" y="2896073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5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D0ECEF8C-4395-B054-B0F0-3F4B93F8EB58}"/>
              </a:ext>
            </a:extLst>
          </p:cNvPr>
          <p:cNvSpPr/>
          <p:nvPr/>
        </p:nvSpPr>
        <p:spPr>
          <a:xfrm>
            <a:off x="9278111" y="2896073"/>
            <a:ext cx="2240280" cy="1965960"/>
          </a:xfrm>
          <a:prstGeom prst="roundRect">
            <a:avLst>
              <a:gd name="adj" fmla="val 3721"/>
            </a:avLst>
          </a:prstGeom>
          <a:blipFill>
            <a:blip r:embed="rId6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BC92D76-34CA-60F3-879E-5D508765843D}"/>
              </a:ext>
            </a:extLst>
          </p:cNvPr>
          <p:cNvSpPr/>
          <p:nvPr/>
        </p:nvSpPr>
        <p:spPr>
          <a:xfrm>
            <a:off x="566928" y="5227793"/>
            <a:ext cx="11018520" cy="502920"/>
          </a:xfrm>
          <a:prstGeom prst="roundRect">
            <a:avLst>
              <a:gd name="adj" fmla="val 9091"/>
            </a:avLst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99103524-0CA0-829A-E6BE-377416ED999F}"/>
              </a:ext>
            </a:extLst>
          </p:cNvPr>
          <p:cNvSpPr/>
          <p:nvPr/>
        </p:nvSpPr>
        <p:spPr>
          <a:xfrm>
            <a:off x="777240" y="5337521"/>
            <a:ext cx="10607040" cy="393192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구성은 Brunnstrom 손 회복단계와 FMA·ARAT의 대표 손 기능 개념을 참고하되, 본 연구용 과제로 표준화한다.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44859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조건과 비교 목적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66928" y="1078992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" name="Text 5"/>
          <p:cNvSpPr/>
          <p:nvPr/>
        </p:nvSpPr>
        <p:spPr>
          <a:xfrm>
            <a:off x="777240" y="1188720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비교: 최종 제안 방식(A3)과 영상만(A1) — 전체 정보 묶음의 추가효과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1783080"/>
            <a:ext cx="2651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9" name="Text 7"/>
          <p:cNvSpPr/>
          <p:nvPr/>
        </p:nvSpPr>
        <p:spPr>
          <a:xfrm>
            <a:off x="722376" y="1901952"/>
            <a:ext cx="2578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37560" y="1783080"/>
            <a:ext cx="1508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1" name="Text 9"/>
          <p:cNvSpPr/>
          <p:nvPr/>
        </p:nvSpPr>
        <p:spPr>
          <a:xfrm>
            <a:off x="3374136" y="1901952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46320" y="1783080"/>
            <a:ext cx="1508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3" name="Text 11"/>
          <p:cNvSpPr/>
          <p:nvPr/>
        </p:nvSpPr>
        <p:spPr>
          <a:xfrm>
            <a:off x="4882896" y="1901952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수치·품질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55080" y="1783080"/>
            <a:ext cx="169164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Text 13"/>
          <p:cNvSpPr/>
          <p:nvPr/>
        </p:nvSpPr>
        <p:spPr>
          <a:xfrm>
            <a:off x="6391656" y="1901952"/>
            <a:ext cx="1618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3375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7" name="Text 15"/>
          <p:cNvSpPr/>
          <p:nvPr/>
        </p:nvSpPr>
        <p:spPr>
          <a:xfrm>
            <a:off x="8083296" y="1901952"/>
            <a:ext cx="32644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방법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" y="2313432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9" name="Text 17"/>
          <p:cNvSpPr/>
          <p:nvPr/>
        </p:nvSpPr>
        <p:spPr>
          <a:xfrm>
            <a:off x="731520" y="243230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A0 수치 학습 기준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37560" y="2313432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1" name="Text 19"/>
          <p:cNvSpPr/>
          <p:nvPr/>
        </p:nvSpPr>
        <p:spPr>
          <a:xfrm>
            <a:off x="3383280" y="24323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2313432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3" name="Text 21"/>
          <p:cNvSpPr/>
          <p:nvPr/>
        </p:nvSpPr>
        <p:spPr>
          <a:xfrm>
            <a:off x="4892040" y="24323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55080" y="2313432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5" name="Text 23"/>
          <p:cNvSpPr/>
          <p:nvPr/>
        </p:nvSpPr>
        <p:spPr>
          <a:xfrm>
            <a:off x="6400800" y="243230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46720" y="2313432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7" name="Text 25"/>
          <p:cNvSpPr/>
          <p:nvPr/>
        </p:nvSpPr>
        <p:spPr>
          <a:xfrm>
            <a:off x="8092440" y="2432304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로지스틱 회귀 학습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85800" y="2843784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9" name="Text 27"/>
          <p:cNvSpPr/>
          <p:nvPr/>
        </p:nvSpPr>
        <p:spPr>
          <a:xfrm>
            <a:off x="731520" y="296265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영상만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337560" y="2843784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1" name="Text 29"/>
          <p:cNvSpPr/>
          <p:nvPr/>
        </p:nvSpPr>
        <p:spPr>
          <a:xfrm>
            <a:off x="3383280" y="2962656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846320" y="2843784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3" name="Text 31"/>
          <p:cNvSpPr/>
          <p:nvPr/>
        </p:nvSpPr>
        <p:spPr>
          <a:xfrm>
            <a:off x="4892040" y="2962656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55080" y="2843784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5" name="Text 33"/>
          <p:cNvSpPr/>
          <p:nvPr/>
        </p:nvSpPr>
        <p:spPr>
          <a:xfrm>
            <a:off x="6400800" y="296265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046720" y="2843784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7" name="Text 35"/>
          <p:cNvSpPr/>
          <p:nvPr/>
        </p:nvSpPr>
        <p:spPr>
          <a:xfrm>
            <a:off x="8092440" y="2962656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85800" y="3374136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9" name="Text 37"/>
          <p:cNvSpPr/>
          <p:nvPr/>
        </p:nvSpPr>
        <p:spPr>
          <a:xfrm>
            <a:off x="731520" y="349300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영상+수치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337560" y="3374136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1" name="Text 39"/>
          <p:cNvSpPr/>
          <p:nvPr/>
        </p:nvSpPr>
        <p:spPr>
          <a:xfrm>
            <a:off x="3383280" y="34930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846320" y="3374136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3" name="Text 41"/>
          <p:cNvSpPr/>
          <p:nvPr/>
        </p:nvSpPr>
        <p:spPr>
          <a:xfrm>
            <a:off x="4892040" y="34930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355080" y="3374136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5" name="Text 43"/>
          <p:cNvSpPr/>
          <p:nvPr/>
        </p:nvSpPr>
        <p:spPr>
          <a:xfrm>
            <a:off x="6400800" y="349300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046720" y="3374136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7" name="Text 45"/>
          <p:cNvSpPr/>
          <p:nvPr/>
        </p:nvSpPr>
        <p:spPr>
          <a:xfrm>
            <a:off x="8092440" y="3493008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85800" y="3904488"/>
            <a:ext cx="2651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9" name="Text 47"/>
          <p:cNvSpPr/>
          <p:nvPr/>
        </p:nvSpPr>
        <p:spPr>
          <a:xfrm>
            <a:off x="731520" y="40233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최종 제안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337560" y="3904488"/>
            <a:ext cx="1508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1" name="Text 49"/>
          <p:cNvSpPr/>
          <p:nvPr/>
        </p:nvSpPr>
        <p:spPr>
          <a:xfrm>
            <a:off x="3383280" y="40233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846320" y="3904488"/>
            <a:ext cx="1508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3" name="Text 51"/>
          <p:cNvSpPr/>
          <p:nvPr/>
        </p:nvSpPr>
        <p:spPr>
          <a:xfrm>
            <a:off x="4892040" y="40233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355080" y="3904488"/>
            <a:ext cx="169164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5" name="Text 53"/>
          <p:cNvSpPr/>
          <p:nvPr/>
        </p:nvSpPr>
        <p:spPr>
          <a:xfrm>
            <a:off x="6400800" y="402336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8046720" y="3904488"/>
            <a:ext cx="33375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7" name="Text 55"/>
          <p:cNvSpPr/>
          <p:nvPr/>
        </p:nvSpPr>
        <p:spPr>
          <a:xfrm>
            <a:off x="8092440" y="4023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85800" y="4434840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9" name="Text 57"/>
          <p:cNvSpPr/>
          <p:nvPr/>
        </p:nvSpPr>
        <p:spPr>
          <a:xfrm>
            <a:off x="731520" y="455371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 수치만 VLM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3337560" y="4434840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1" name="Text 59"/>
          <p:cNvSpPr/>
          <p:nvPr/>
        </p:nvSpPr>
        <p:spPr>
          <a:xfrm>
            <a:off x="3383280" y="4553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4846320" y="4434840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3" name="Text 61"/>
          <p:cNvSpPr/>
          <p:nvPr/>
        </p:nvSpPr>
        <p:spPr>
          <a:xfrm>
            <a:off x="4892040" y="4553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6355080" y="4434840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5" name="Text 63"/>
          <p:cNvSpPr/>
          <p:nvPr/>
        </p:nvSpPr>
        <p:spPr>
          <a:xfrm>
            <a:off x="6400800" y="45537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8046720" y="4434840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7" name="Text 65"/>
          <p:cNvSpPr/>
          <p:nvPr/>
        </p:nvSpPr>
        <p:spPr>
          <a:xfrm>
            <a:off x="8092440" y="455371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02BF22B-BA17-2E6D-708C-E9CA6C8F1C6B}"/>
              </a:ext>
            </a:extLst>
          </p:cNvPr>
          <p:cNvGrpSpPr/>
          <p:nvPr/>
        </p:nvGrpSpPr>
        <p:grpSpPr>
          <a:xfrm>
            <a:off x="673282" y="5138927"/>
            <a:ext cx="3011750" cy="1501570"/>
            <a:chOff x="685800" y="5138927"/>
            <a:chExt cx="2743200" cy="1118997"/>
          </a:xfrm>
        </p:grpSpPr>
        <p:sp>
          <p:nvSpPr>
            <p:cNvPr id="68" name="Shape 66"/>
            <p:cNvSpPr/>
            <p:nvPr/>
          </p:nvSpPr>
          <p:spPr>
            <a:xfrm>
              <a:off x="685800" y="5138927"/>
              <a:ext cx="2743200" cy="1118997"/>
            </a:xfrm>
            <a:prstGeom prst="roundRect">
              <a:avLst>
                <a:gd name="adj" fmla="val 8108"/>
              </a:avLst>
            </a:prstGeom>
            <a:solidFill>
              <a:srgbClr val="EAF7F2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69" name="Shape 67"/>
            <p:cNvSpPr/>
            <p:nvPr/>
          </p:nvSpPr>
          <p:spPr>
            <a:xfrm>
              <a:off x="685800" y="5138928"/>
              <a:ext cx="2743200" cy="411480"/>
            </a:xfrm>
            <a:prstGeom prst="rect">
              <a:avLst/>
            </a:prstGeom>
            <a:solidFill>
              <a:srgbClr val="199E75"/>
            </a:solidFill>
            <a:ln w="12700">
              <a:solidFill>
                <a:srgbClr val="199E7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70" name="Text 68"/>
            <p:cNvSpPr/>
            <p:nvPr/>
          </p:nvSpPr>
          <p:spPr>
            <a:xfrm>
              <a:off x="758952" y="5221224"/>
              <a:ext cx="2596896" cy="312932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영상</a:t>
              </a:r>
              <a:r>
                <a:rPr lang="en-US" altLang="ko-KR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</a:t>
              </a:r>
              <a:r>
                <a:rPr lang="en-US" altLang="ko-KR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참조 추가의 효과</a:t>
              </a:r>
              <a:endParaRPr lang="en-US" dirty="0"/>
            </a:p>
          </p:txBody>
        </p:sp>
      </p:grpSp>
      <p:sp>
        <p:nvSpPr>
          <p:cNvPr id="71" name="Text 69"/>
          <p:cNvSpPr/>
          <p:nvPr/>
        </p:nvSpPr>
        <p:spPr>
          <a:xfrm>
            <a:off x="1106424" y="5875144"/>
            <a:ext cx="2414016" cy="676655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A1</a:t>
            </a:r>
            <a:endParaRPr lang="en-US" sz="20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제안 방식 vs 영상만</a:t>
            </a:r>
            <a:endParaRPr lang="en-US" sz="16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BADFF6EB-109A-42B7-EF62-192E3ABDFFAA}"/>
              </a:ext>
            </a:extLst>
          </p:cNvPr>
          <p:cNvGrpSpPr/>
          <p:nvPr/>
        </p:nvGrpSpPr>
        <p:grpSpPr>
          <a:xfrm>
            <a:off x="3867912" y="5138927"/>
            <a:ext cx="2240280" cy="1501569"/>
            <a:chOff x="3611880" y="5138928"/>
            <a:chExt cx="2240280" cy="1118996"/>
          </a:xfrm>
        </p:grpSpPr>
        <p:sp>
          <p:nvSpPr>
            <p:cNvPr id="72" name="Shape 70"/>
            <p:cNvSpPr/>
            <p:nvPr/>
          </p:nvSpPr>
          <p:spPr>
            <a:xfrm>
              <a:off x="3611880" y="5138928"/>
              <a:ext cx="2240280" cy="1118996"/>
            </a:xfrm>
            <a:prstGeom prst="roundRect">
              <a:avLst>
                <a:gd name="adj" fmla="val 8108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73" name="Shape 71"/>
            <p:cNvSpPr/>
            <p:nvPr/>
          </p:nvSpPr>
          <p:spPr>
            <a:xfrm>
              <a:off x="3611880" y="5138928"/>
              <a:ext cx="224028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74" name="Text 72"/>
            <p:cNvSpPr/>
            <p:nvPr/>
          </p:nvSpPr>
          <p:spPr>
            <a:xfrm>
              <a:off x="3685032" y="5221224"/>
              <a:ext cx="20939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수치</a:t>
              </a: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b="1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추가</a:t>
              </a: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효과</a:t>
              </a:r>
              <a:endParaRPr lang="en-US" dirty="0"/>
            </a:p>
          </p:txBody>
        </p:sp>
        <p:sp>
          <p:nvSpPr>
            <p:cNvPr id="75" name="Text 73"/>
            <p:cNvSpPr/>
            <p:nvPr/>
          </p:nvSpPr>
          <p:spPr>
            <a:xfrm>
              <a:off x="3776472" y="5669280"/>
              <a:ext cx="1911096" cy="18288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A2 − A1</a:t>
              </a:r>
              <a:endParaRPr lang="en-US" sz="24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0EDA1BF-0951-6E42-989E-60211E0A33B3}"/>
              </a:ext>
            </a:extLst>
          </p:cNvPr>
          <p:cNvGrpSpPr/>
          <p:nvPr/>
        </p:nvGrpSpPr>
        <p:grpSpPr>
          <a:xfrm>
            <a:off x="6291072" y="5138927"/>
            <a:ext cx="2240280" cy="1501570"/>
            <a:chOff x="6035040" y="5138927"/>
            <a:chExt cx="2240280" cy="1118995"/>
          </a:xfrm>
        </p:grpSpPr>
        <p:sp>
          <p:nvSpPr>
            <p:cNvPr id="76" name="Shape 74"/>
            <p:cNvSpPr/>
            <p:nvPr/>
          </p:nvSpPr>
          <p:spPr>
            <a:xfrm>
              <a:off x="6035040" y="5138927"/>
              <a:ext cx="2240280" cy="1118995"/>
            </a:xfrm>
            <a:prstGeom prst="roundRect">
              <a:avLst>
                <a:gd name="adj" fmla="val 8108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77" name="Shape 75"/>
            <p:cNvSpPr/>
            <p:nvPr/>
          </p:nvSpPr>
          <p:spPr>
            <a:xfrm>
              <a:off x="6035040" y="5138928"/>
              <a:ext cx="2240280" cy="411480"/>
            </a:xfrm>
            <a:prstGeom prst="rect">
              <a:avLst/>
            </a:prstGeom>
            <a:solidFill>
              <a:srgbClr val="199E75"/>
            </a:solidFill>
            <a:ln w="12700">
              <a:solidFill>
                <a:srgbClr val="199E75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78" name="Text 76"/>
            <p:cNvSpPr/>
            <p:nvPr/>
          </p:nvSpPr>
          <p:spPr>
            <a:xfrm>
              <a:off x="6108192" y="5221224"/>
              <a:ext cx="20939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b="1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참조</a:t>
              </a:r>
              <a:r>
                <a:rPr 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b="1" dirty="0" err="1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추가</a:t>
              </a: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 효과</a:t>
              </a:r>
              <a:endParaRPr lang="en-US" dirty="0"/>
            </a:p>
          </p:txBody>
        </p:sp>
        <p:sp>
          <p:nvSpPr>
            <p:cNvPr id="79" name="Text 77"/>
            <p:cNvSpPr/>
            <p:nvPr/>
          </p:nvSpPr>
          <p:spPr>
            <a:xfrm>
              <a:off x="6199632" y="5669280"/>
              <a:ext cx="1911096" cy="395227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A3 </a:t>
              </a:r>
              <a:r>
                <a:rPr lang="en-US" sz="28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−</a:t>
              </a:r>
              <a:r>
                <a:rPr lang="en-US" sz="24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A2</a:t>
              </a:r>
              <a:endParaRPr lang="en-US" sz="24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CDC97F94-DAF2-0417-9E1E-A09B42E2B4F8}"/>
              </a:ext>
            </a:extLst>
          </p:cNvPr>
          <p:cNvGrpSpPr/>
          <p:nvPr/>
        </p:nvGrpSpPr>
        <p:grpSpPr>
          <a:xfrm>
            <a:off x="8714232" y="5138928"/>
            <a:ext cx="2697480" cy="1501568"/>
            <a:chOff x="8458200" y="5138928"/>
            <a:chExt cx="2697480" cy="1118994"/>
          </a:xfrm>
        </p:grpSpPr>
        <p:sp>
          <p:nvSpPr>
            <p:cNvPr id="80" name="Shape 78"/>
            <p:cNvSpPr/>
            <p:nvPr/>
          </p:nvSpPr>
          <p:spPr>
            <a:xfrm>
              <a:off x="8458200" y="5138928"/>
              <a:ext cx="2697480" cy="1118994"/>
            </a:xfrm>
            <a:prstGeom prst="roundRect">
              <a:avLst>
                <a:gd name="adj" fmla="val 8108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81" name="Shape 79"/>
            <p:cNvSpPr/>
            <p:nvPr/>
          </p:nvSpPr>
          <p:spPr>
            <a:xfrm>
              <a:off x="8458200" y="5138928"/>
              <a:ext cx="2697480" cy="411480"/>
            </a:xfrm>
            <a:prstGeom prst="rect">
              <a:avLst/>
            </a:prstGeom>
            <a:solidFill>
              <a:srgbClr val="F1A438"/>
            </a:solidFill>
            <a:ln w="12700">
              <a:solidFill>
                <a:srgbClr val="F1A43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82" name="Text 80"/>
            <p:cNvSpPr/>
            <p:nvPr/>
          </p:nvSpPr>
          <p:spPr>
            <a:xfrm>
              <a:off x="8531352" y="5221224"/>
              <a:ext cx="25511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영상</a:t>
              </a:r>
              <a:r>
                <a:rPr lang="en-US" altLang="ko-KR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, </a:t>
              </a:r>
              <a:r>
                <a:rPr lang="ko-KR" altLang="en-US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학습만의 효과</a:t>
              </a:r>
              <a:endParaRPr lang="en-US" dirty="0"/>
            </a:p>
          </p:txBody>
        </p:sp>
        <p:sp>
          <p:nvSpPr>
            <p:cNvPr id="83" name="Text 81"/>
            <p:cNvSpPr/>
            <p:nvPr/>
          </p:nvSpPr>
          <p:spPr>
            <a:xfrm>
              <a:off x="8622792" y="5669280"/>
              <a:ext cx="2368296" cy="395227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A3 − A4 / A3 − A0</a:t>
              </a:r>
              <a:endParaRPr lang="en-US" sz="2000" b="1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1A68BF-596D-0D00-81D1-A63913E8E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3BEFD47-C3FC-8383-7C01-698A0F670EE0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C21892D-8D39-1993-27BA-46D4BDB7D079}"/>
              </a:ext>
            </a:extLst>
          </p:cNvPr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25B424-03C0-2C87-51A6-5835A840FE9E}"/>
              </a:ext>
            </a:extLst>
          </p:cNvPr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ko-KR" altLang="en-US" sz="36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보조비교</a:t>
            </a:r>
            <a:endParaRPr lang="en-US" sz="3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E63D7A4-D14F-137B-AAF8-87D50FBBF36B}"/>
              </a:ext>
            </a:extLst>
          </p:cNvPr>
          <p:cNvSpPr/>
          <p:nvPr/>
        </p:nvSpPr>
        <p:spPr>
          <a:xfrm>
            <a:off x="566928" y="1078992"/>
            <a:ext cx="11018520" cy="438912"/>
          </a:xfrm>
          <a:prstGeom prst="roundRect">
            <a:avLst>
              <a:gd name="adj" fmla="val 10417"/>
            </a:avLst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266E882-6139-D697-E642-E2B54508D313}"/>
              </a:ext>
            </a:extLst>
          </p:cNvPr>
          <p:cNvSpPr/>
          <p:nvPr/>
        </p:nvSpPr>
        <p:spPr>
          <a:xfrm>
            <a:off x="777240" y="1188720"/>
            <a:ext cx="10607040" cy="329184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비교</a:t>
            </a: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</a:t>
            </a:r>
            <a:r>
              <a:rPr lang="ko-KR" altLang="en-US" sz="2000" b="1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수치의 </a:t>
            </a:r>
            <a:endParaRPr lang="en-US" sz="2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52474DB-A484-52C1-6280-CBBB7CE4E042}"/>
              </a:ext>
            </a:extLst>
          </p:cNvPr>
          <p:cNvSpPr/>
          <p:nvPr/>
        </p:nvSpPr>
        <p:spPr>
          <a:xfrm>
            <a:off x="685800" y="1783080"/>
            <a:ext cx="2651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D5650A7A-DB84-4FF7-8833-F1E8B2C19390}"/>
              </a:ext>
            </a:extLst>
          </p:cNvPr>
          <p:cNvSpPr/>
          <p:nvPr/>
        </p:nvSpPr>
        <p:spPr>
          <a:xfrm>
            <a:off x="722376" y="1901952"/>
            <a:ext cx="2578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E1639B6-98A4-7549-E24E-F5B9246F41DB}"/>
              </a:ext>
            </a:extLst>
          </p:cNvPr>
          <p:cNvSpPr/>
          <p:nvPr/>
        </p:nvSpPr>
        <p:spPr>
          <a:xfrm>
            <a:off x="3337560" y="1783080"/>
            <a:ext cx="1508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26A5AF7-31B3-CA16-1EAF-8540FDD60A50}"/>
              </a:ext>
            </a:extLst>
          </p:cNvPr>
          <p:cNvSpPr/>
          <p:nvPr/>
        </p:nvSpPr>
        <p:spPr>
          <a:xfrm>
            <a:off x="3374136" y="1901952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</a:t>
            </a:r>
            <a:endParaRPr lang="en-US" sz="16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4E5417B-DB35-4E44-0B7B-8B8E5B54BF2F}"/>
              </a:ext>
            </a:extLst>
          </p:cNvPr>
          <p:cNvSpPr/>
          <p:nvPr/>
        </p:nvSpPr>
        <p:spPr>
          <a:xfrm>
            <a:off x="4846320" y="1783080"/>
            <a:ext cx="15087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DA9DB2E-CDC0-1294-1105-D9A2E33A64F5}"/>
              </a:ext>
            </a:extLst>
          </p:cNvPr>
          <p:cNvSpPr/>
          <p:nvPr/>
        </p:nvSpPr>
        <p:spPr>
          <a:xfrm>
            <a:off x="4882896" y="1901952"/>
            <a:ext cx="1435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수치·품질</a:t>
            </a:r>
            <a:endParaRPr lang="en-US" sz="16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CB30DE5-2C14-B6E5-439B-172713376D70}"/>
              </a:ext>
            </a:extLst>
          </p:cNvPr>
          <p:cNvSpPr/>
          <p:nvPr/>
        </p:nvSpPr>
        <p:spPr>
          <a:xfrm>
            <a:off x="6355080" y="1783080"/>
            <a:ext cx="169164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F8DE1B1D-D82C-43AA-4079-8209D30205D5}"/>
              </a:ext>
            </a:extLst>
          </p:cNvPr>
          <p:cNvSpPr/>
          <p:nvPr/>
        </p:nvSpPr>
        <p:spPr>
          <a:xfrm>
            <a:off x="6391656" y="1901952"/>
            <a:ext cx="161848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비장애</a:t>
            </a: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 참조</a:t>
            </a:r>
            <a:endParaRPr lang="en-US" sz="16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F677A68-BD0B-05EF-B63D-BB9C3C40F4AA}"/>
              </a:ext>
            </a:extLst>
          </p:cNvPr>
          <p:cNvSpPr/>
          <p:nvPr/>
        </p:nvSpPr>
        <p:spPr>
          <a:xfrm>
            <a:off x="8046720" y="1783080"/>
            <a:ext cx="3337560" cy="530352"/>
          </a:xfrm>
          <a:prstGeom prst="rect">
            <a:avLst/>
          </a:prstGeom>
          <a:solidFill>
            <a:srgbClr val="193A6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AF2F1E7-6AE1-16F3-9DFE-D19C4E9FCDDE}"/>
              </a:ext>
            </a:extLst>
          </p:cNvPr>
          <p:cNvSpPr/>
          <p:nvPr/>
        </p:nvSpPr>
        <p:spPr>
          <a:xfrm>
            <a:off x="8083296" y="1901952"/>
            <a:ext cx="32644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방법</a:t>
            </a:r>
            <a:endParaRPr lang="en-US" sz="16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80FBC1D-471B-0C31-235A-29F740DF6C86}"/>
              </a:ext>
            </a:extLst>
          </p:cNvPr>
          <p:cNvSpPr/>
          <p:nvPr/>
        </p:nvSpPr>
        <p:spPr>
          <a:xfrm>
            <a:off x="685800" y="2313432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E56408D4-69A3-615E-8ABA-14419563B385}"/>
              </a:ext>
            </a:extLst>
          </p:cNvPr>
          <p:cNvSpPr/>
          <p:nvPr/>
        </p:nvSpPr>
        <p:spPr>
          <a:xfrm>
            <a:off x="731520" y="2432304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A0 수치 학습 기준</a:t>
            </a:r>
            <a:endParaRPr lang="en-US" sz="14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DF53E69-9AD8-CAB5-2F82-5426623DD544}"/>
              </a:ext>
            </a:extLst>
          </p:cNvPr>
          <p:cNvSpPr/>
          <p:nvPr/>
        </p:nvSpPr>
        <p:spPr>
          <a:xfrm>
            <a:off x="3337560" y="2313432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D566138-5947-9215-D8F8-3EB17A5F13BD}"/>
              </a:ext>
            </a:extLst>
          </p:cNvPr>
          <p:cNvSpPr/>
          <p:nvPr/>
        </p:nvSpPr>
        <p:spPr>
          <a:xfrm>
            <a:off x="3383280" y="24323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09617AFC-425A-A05E-6ECE-30F71200EA54}"/>
              </a:ext>
            </a:extLst>
          </p:cNvPr>
          <p:cNvSpPr/>
          <p:nvPr/>
        </p:nvSpPr>
        <p:spPr>
          <a:xfrm>
            <a:off x="4846320" y="2313432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65888FD8-0EEE-C951-9013-0F883C6B7D89}"/>
              </a:ext>
            </a:extLst>
          </p:cNvPr>
          <p:cNvSpPr/>
          <p:nvPr/>
        </p:nvSpPr>
        <p:spPr>
          <a:xfrm>
            <a:off x="4892040" y="2432304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endParaRPr lang="en-US" sz="14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A750062-D56A-5A8C-7A79-904B8228A686}"/>
              </a:ext>
            </a:extLst>
          </p:cNvPr>
          <p:cNvSpPr/>
          <p:nvPr/>
        </p:nvSpPr>
        <p:spPr>
          <a:xfrm>
            <a:off x="6355080" y="2313432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CE5F53A-8126-FB6E-C80B-D69AAF60A6AF}"/>
              </a:ext>
            </a:extLst>
          </p:cNvPr>
          <p:cNvSpPr/>
          <p:nvPr/>
        </p:nvSpPr>
        <p:spPr>
          <a:xfrm>
            <a:off x="6400800" y="2432304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400" dirty="0"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9604403-C5FF-B51E-E99A-6C45CB08AC7A}"/>
              </a:ext>
            </a:extLst>
          </p:cNvPr>
          <p:cNvSpPr/>
          <p:nvPr/>
        </p:nvSpPr>
        <p:spPr>
          <a:xfrm>
            <a:off x="8046720" y="2313432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30C7C002-BD04-0510-3060-418127B2DFF0}"/>
              </a:ext>
            </a:extLst>
          </p:cNvPr>
          <p:cNvSpPr/>
          <p:nvPr/>
        </p:nvSpPr>
        <p:spPr>
          <a:xfrm>
            <a:off x="8092440" y="2432304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로지스틱 회귀 학습</a:t>
            </a:r>
            <a:endParaRPr lang="en-US" sz="140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5FFCC1A-AF97-B20F-50ED-4F8D2BA1DE7B}"/>
              </a:ext>
            </a:extLst>
          </p:cNvPr>
          <p:cNvSpPr/>
          <p:nvPr/>
        </p:nvSpPr>
        <p:spPr>
          <a:xfrm>
            <a:off x="685800" y="2843784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30B6AC4F-215A-9486-D9CF-1D29EDBE6307}"/>
              </a:ext>
            </a:extLst>
          </p:cNvPr>
          <p:cNvSpPr/>
          <p:nvPr/>
        </p:nvSpPr>
        <p:spPr>
          <a:xfrm>
            <a:off x="731520" y="2962656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 영상만</a:t>
            </a:r>
            <a:endParaRPr lang="en-US" sz="14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ADACD211-9233-6682-D763-1DAAAD796909}"/>
              </a:ext>
            </a:extLst>
          </p:cNvPr>
          <p:cNvSpPr/>
          <p:nvPr/>
        </p:nvSpPr>
        <p:spPr>
          <a:xfrm>
            <a:off x="3337560" y="2843784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05030A6-0951-E6EA-448A-EAC5B5654178}"/>
              </a:ext>
            </a:extLst>
          </p:cNvPr>
          <p:cNvSpPr/>
          <p:nvPr/>
        </p:nvSpPr>
        <p:spPr>
          <a:xfrm>
            <a:off x="3383280" y="2962656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FDBF9EF0-6C1F-4B2E-EF50-13B3CE660721}"/>
              </a:ext>
            </a:extLst>
          </p:cNvPr>
          <p:cNvSpPr/>
          <p:nvPr/>
        </p:nvSpPr>
        <p:spPr>
          <a:xfrm>
            <a:off x="4846320" y="2843784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3A26A10D-FCBB-905F-0CD7-B9A703A884FB}"/>
              </a:ext>
            </a:extLst>
          </p:cNvPr>
          <p:cNvSpPr/>
          <p:nvPr/>
        </p:nvSpPr>
        <p:spPr>
          <a:xfrm>
            <a:off x="4892040" y="2962656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9A82AA23-068F-CDC8-221D-7CAAE8FA5246}"/>
              </a:ext>
            </a:extLst>
          </p:cNvPr>
          <p:cNvSpPr/>
          <p:nvPr/>
        </p:nvSpPr>
        <p:spPr>
          <a:xfrm>
            <a:off x="6355080" y="2843784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17BDA5D9-159D-047C-0F80-372B6CD49211}"/>
              </a:ext>
            </a:extLst>
          </p:cNvPr>
          <p:cNvSpPr/>
          <p:nvPr/>
        </p:nvSpPr>
        <p:spPr>
          <a:xfrm>
            <a:off x="6400800" y="2962656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F7BECAA9-9D2F-C88B-2F63-0E0FB0D57705}"/>
              </a:ext>
            </a:extLst>
          </p:cNvPr>
          <p:cNvSpPr/>
          <p:nvPr/>
        </p:nvSpPr>
        <p:spPr>
          <a:xfrm>
            <a:off x="8046720" y="2843784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A2359458-A3AB-305A-8539-0722E11265F5}"/>
              </a:ext>
            </a:extLst>
          </p:cNvPr>
          <p:cNvSpPr/>
          <p:nvPr/>
        </p:nvSpPr>
        <p:spPr>
          <a:xfrm>
            <a:off x="8092440" y="2962656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55EF1079-F3AF-3D6B-A295-DE5975BB5994}"/>
              </a:ext>
            </a:extLst>
          </p:cNvPr>
          <p:cNvSpPr/>
          <p:nvPr/>
        </p:nvSpPr>
        <p:spPr>
          <a:xfrm>
            <a:off x="685800" y="3374136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3458B23-EC0A-7997-2076-DA0896DC3976}"/>
              </a:ext>
            </a:extLst>
          </p:cNvPr>
          <p:cNvSpPr/>
          <p:nvPr/>
        </p:nvSpPr>
        <p:spPr>
          <a:xfrm>
            <a:off x="731520" y="349300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영상+수치</a:t>
            </a:r>
            <a:endParaRPr lang="en-US" sz="14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44FB1289-3355-F970-4DB6-1E6D22FB21D1}"/>
              </a:ext>
            </a:extLst>
          </p:cNvPr>
          <p:cNvSpPr/>
          <p:nvPr/>
        </p:nvSpPr>
        <p:spPr>
          <a:xfrm>
            <a:off x="3337560" y="3374136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4B4A770C-5B8D-6613-45F0-E70587BF8884}"/>
              </a:ext>
            </a:extLst>
          </p:cNvPr>
          <p:cNvSpPr/>
          <p:nvPr/>
        </p:nvSpPr>
        <p:spPr>
          <a:xfrm>
            <a:off x="3383280" y="34930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1C0ACD20-63B5-7B3A-4BCB-1184724EE6FC}"/>
              </a:ext>
            </a:extLst>
          </p:cNvPr>
          <p:cNvSpPr/>
          <p:nvPr/>
        </p:nvSpPr>
        <p:spPr>
          <a:xfrm>
            <a:off x="4846320" y="3374136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4D6895F3-1B3B-29E3-FF81-F29FA1BE349C}"/>
              </a:ext>
            </a:extLst>
          </p:cNvPr>
          <p:cNvSpPr/>
          <p:nvPr/>
        </p:nvSpPr>
        <p:spPr>
          <a:xfrm>
            <a:off x="4892040" y="3493008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FB5F4C46-93DC-25FC-754B-8068B091B933}"/>
              </a:ext>
            </a:extLst>
          </p:cNvPr>
          <p:cNvSpPr/>
          <p:nvPr/>
        </p:nvSpPr>
        <p:spPr>
          <a:xfrm>
            <a:off x="6355080" y="3374136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55FF602F-11E1-2E68-83DB-78AD01272900}"/>
              </a:ext>
            </a:extLst>
          </p:cNvPr>
          <p:cNvSpPr/>
          <p:nvPr/>
        </p:nvSpPr>
        <p:spPr>
          <a:xfrm>
            <a:off x="6400800" y="3493008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BD48FD99-1FA6-5F63-3698-4AC2C152C534}"/>
              </a:ext>
            </a:extLst>
          </p:cNvPr>
          <p:cNvSpPr/>
          <p:nvPr/>
        </p:nvSpPr>
        <p:spPr>
          <a:xfrm>
            <a:off x="8046720" y="3374136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BF6FFE61-BEBD-6ACE-47A2-9CA80310B464}"/>
              </a:ext>
            </a:extLst>
          </p:cNvPr>
          <p:cNvSpPr/>
          <p:nvPr/>
        </p:nvSpPr>
        <p:spPr>
          <a:xfrm>
            <a:off x="8092440" y="3493008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48" name="Shape 46">
            <a:extLst>
              <a:ext uri="{FF2B5EF4-FFF2-40B4-BE49-F238E27FC236}">
                <a16:creationId xmlns:a16="http://schemas.microsoft.com/office/drawing/2014/main" id="{7983DF33-6826-2AE2-187E-3B65440B1FB2}"/>
              </a:ext>
            </a:extLst>
          </p:cNvPr>
          <p:cNvSpPr/>
          <p:nvPr/>
        </p:nvSpPr>
        <p:spPr>
          <a:xfrm>
            <a:off x="685800" y="3904488"/>
            <a:ext cx="2651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A1A5C4F8-7A2A-5178-E955-B24F96DDDE5E}"/>
              </a:ext>
            </a:extLst>
          </p:cNvPr>
          <p:cNvSpPr/>
          <p:nvPr/>
        </p:nvSpPr>
        <p:spPr>
          <a:xfrm>
            <a:off x="731520" y="40233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최종 제안</a:t>
            </a:r>
            <a:endParaRPr lang="en-US" sz="1400" dirty="0"/>
          </a:p>
        </p:txBody>
      </p:sp>
      <p:sp>
        <p:nvSpPr>
          <p:cNvPr id="50" name="Shape 48">
            <a:extLst>
              <a:ext uri="{FF2B5EF4-FFF2-40B4-BE49-F238E27FC236}">
                <a16:creationId xmlns:a16="http://schemas.microsoft.com/office/drawing/2014/main" id="{34A190C1-97A5-ED80-4468-DAF51D33BD6D}"/>
              </a:ext>
            </a:extLst>
          </p:cNvPr>
          <p:cNvSpPr/>
          <p:nvPr/>
        </p:nvSpPr>
        <p:spPr>
          <a:xfrm>
            <a:off x="3337560" y="3904488"/>
            <a:ext cx="1508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2C0800EE-B586-C7D6-99AF-CBC8E01C81AF}"/>
              </a:ext>
            </a:extLst>
          </p:cNvPr>
          <p:cNvSpPr/>
          <p:nvPr/>
        </p:nvSpPr>
        <p:spPr>
          <a:xfrm>
            <a:off x="3383280" y="40233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557BA4B0-6CDB-A397-DD5A-5913A0110E0E}"/>
              </a:ext>
            </a:extLst>
          </p:cNvPr>
          <p:cNvSpPr/>
          <p:nvPr/>
        </p:nvSpPr>
        <p:spPr>
          <a:xfrm>
            <a:off x="4846320" y="3904488"/>
            <a:ext cx="15087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FEF9947E-899A-41B3-9DE6-6C77951187F2}"/>
              </a:ext>
            </a:extLst>
          </p:cNvPr>
          <p:cNvSpPr/>
          <p:nvPr/>
        </p:nvSpPr>
        <p:spPr>
          <a:xfrm>
            <a:off x="4892040" y="4023360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4" name="Shape 52">
            <a:extLst>
              <a:ext uri="{FF2B5EF4-FFF2-40B4-BE49-F238E27FC236}">
                <a16:creationId xmlns:a16="http://schemas.microsoft.com/office/drawing/2014/main" id="{C88F2374-98EB-0526-331E-5D6D83541E6C}"/>
              </a:ext>
            </a:extLst>
          </p:cNvPr>
          <p:cNvSpPr/>
          <p:nvPr/>
        </p:nvSpPr>
        <p:spPr>
          <a:xfrm>
            <a:off x="6355080" y="3904488"/>
            <a:ext cx="169164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41C7240C-4D61-D1BD-5901-EFB113C28E4E}"/>
              </a:ext>
            </a:extLst>
          </p:cNvPr>
          <p:cNvSpPr/>
          <p:nvPr/>
        </p:nvSpPr>
        <p:spPr>
          <a:xfrm>
            <a:off x="6400800" y="402336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F123DA1C-B44C-684A-4FB5-2BDE13DC839D}"/>
              </a:ext>
            </a:extLst>
          </p:cNvPr>
          <p:cNvSpPr/>
          <p:nvPr/>
        </p:nvSpPr>
        <p:spPr>
          <a:xfrm>
            <a:off x="8046720" y="3904488"/>
            <a:ext cx="3337560" cy="530352"/>
          </a:xfrm>
          <a:prstGeom prst="rect">
            <a:avLst/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9F1F8893-4CC5-3A6F-B40E-640A37800DFA}"/>
              </a:ext>
            </a:extLst>
          </p:cNvPr>
          <p:cNvSpPr/>
          <p:nvPr/>
        </p:nvSpPr>
        <p:spPr>
          <a:xfrm>
            <a:off x="8092440" y="4023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9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CE47BE51-3686-EA0F-5FB4-15D32287FDBA}"/>
              </a:ext>
            </a:extLst>
          </p:cNvPr>
          <p:cNvSpPr/>
          <p:nvPr/>
        </p:nvSpPr>
        <p:spPr>
          <a:xfrm>
            <a:off x="685800" y="4434840"/>
            <a:ext cx="2651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4F15F312-1AD8-E440-0424-21C37DCD4A24}"/>
              </a:ext>
            </a:extLst>
          </p:cNvPr>
          <p:cNvSpPr/>
          <p:nvPr/>
        </p:nvSpPr>
        <p:spPr>
          <a:xfrm>
            <a:off x="731520" y="455371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 수치만 VLM</a:t>
            </a:r>
            <a:endParaRPr lang="en-US" sz="1400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73D9FAF1-CFC3-C12E-C624-3105DBB107DE}"/>
              </a:ext>
            </a:extLst>
          </p:cNvPr>
          <p:cNvSpPr/>
          <p:nvPr/>
        </p:nvSpPr>
        <p:spPr>
          <a:xfrm>
            <a:off x="3337560" y="4434840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DA3D9C12-48A9-81C4-8600-574671C4EF6C}"/>
              </a:ext>
            </a:extLst>
          </p:cNvPr>
          <p:cNvSpPr/>
          <p:nvPr/>
        </p:nvSpPr>
        <p:spPr>
          <a:xfrm>
            <a:off x="3383280" y="4553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</a:t>
            </a:r>
            <a:endParaRPr lang="en-US" sz="1400" dirty="0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970398EC-24EA-7090-95B9-4FAA33F22D95}"/>
              </a:ext>
            </a:extLst>
          </p:cNvPr>
          <p:cNvSpPr/>
          <p:nvPr/>
        </p:nvSpPr>
        <p:spPr>
          <a:xfrm>
            <a:off x="4846320" y="4434840"/>
            <a:ext cx="15087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FE5B15EA-CC71-7E9F-CB4F-F6848941C824}"/>
              </a:ext>
            </a:extLst>
          </p:cNvPr>
          <p:cNvSpPr/>
          <p:nvPr/>
        </p:nvSpPr>
        <p:spPr>
          <a:xfrm>
            <a:off x="4892040" y="4553712"/>
            <a:ext cx="14173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64" name="Shape 62">
            <a:extLst>
              <a:ext uri="{FF2B5EF4-FFF2-40B4-BE49-F238E27FC236}">
                <a16:creationId xmlns:a16="http://schemas.microsoft.com/office/drawing/2014/main" id="{1367253A-0C57-042B-407D-FA565932F489}"/>
              </a:ext>
            </a:extLst>
          </p:cNvPr>
          <p:cNvSpPr/>
          <p:nvPr/>
        </p:nvSpPr>
        <p:spPr>
          <a:xfrm>
            <a:off x="6355080" y="4434840"/>
            <a:ext cx="169164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0B7E28DC-51A2-B431-757D-AA81C1EFC0F3}"/>
              </a:ext>
            </a:extLst>
          </p:cNvPr>
          <p:cNvSpPr/>
          <p:nvPr/>
        </p:nvSpPr>
        <p:spPr>
          <a:xfrm>
            <a:off x="6400800" y="4553712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en-US" sz="1400" dirty="0"/>
          </a:p>
        </p:txBody>
      </p:sp>
      <p:sp>
        <p:nvSpPr>
          <p:cNvPr id="66" name="Shape 64">
            <a:extLst>
              <a:ext uri="{FF2B5EF4-FFF2-40B4-BE49-F238E27FC236}">
                <a16:creationId xmlns:a16="http://schemas.microsoft.com/office/drawing/2014/main" id="{6FDC21A7-3F83-25C6-0D1E-C7F7748CF3F7}"/>
              </a:ext>
            </a:extLst>
          </p:cNvPr>
          <p:cNvSpPr/>
          <p:nvPr/>
        </p:nvSpPr>
        <p:spPr>
          <a:xfrm>
            <a:off x="8046720" y="4434840"/>
            <a:ext cx="3337560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85501D4B-690F-2F4B-CC4D-521FA49CECA4}"/>
              </a:ext>
            </a:extLst>
          </p:cNvPr>
          <p:cNvSpPr/>
          <p:nvPr/>
        </p:nvSpPr>
        <p:spPr>
          <a:xfrm>
            <a:off x="8092440" y="4553712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동일한 동결 VLM</a:t>
            </a:r>
            <a:endParaRPr lang="en-US" sz="1400" dirty="0"/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8B5729CB-136C-A2C9-E864-53BA5EEC2ED0}"/>
              </a:ext>
            </a:extLst>
          </p:cNvPr>
          <p:cNvSpPr/>
          <p:nvPr/>
        </p:nvSpPr>
        <p:spPr>
          <a:xfrm>
            <a:off x="685800" y="5138927"/>
            <a:ext cx="2743200" cy="1118997"/>
          </a:xfrm>
          <a:prstGeom prst="roundRect">
            <a:avLst>
              <a:gd name="adj" fmla="val 8108"/>
            </a:avLst>
          </a:prstGeom>
          <a:solidFill>
            <a:srgbClr val="EAF7F2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090449BA-2F2C-1B50-11D1-8C96EA7044F1}"/>
              </a:ext>
            </a:extLst>
          </p:cNvPr>
          <p:cNvSpPr/>
          <p:nvPr/>
        </p:nvSpPr>
        <p:spPr>
          <a:xfrm>
            <a:off x="685800" y="5138928"/>
            <a:ext cx="274320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0" name="Text 68">
            <a:extLst>
              <a:ext uri="{FF2B5EF4-FFF2-40B4-BE49-F238E27FC236}">
                <a16:creationId xmlns:a16="http://schemas.microsoft.com/office/drawing/2014/main" id="{C3682B54-FF78-04CC-F64C-BA4A39509A59}"/>
              </a:ext>
            </a:extLst>
          </p:cNvPr>
          <p:cNvSpPr/>
          <p:nvPr/>
        </p:nvSpPr>
        <p:spPr>
          <a:xfrm>
            <a:off x="758952" y="5221224"/>
            <a:ext cx="259689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효과</a:t>
            </a:r>
            <a:endParaRPr lang="en-US" dirty="0"/>
          </a:p>
        </p:txBody>
      </p:sp>
      <p:sp>
        <p:nvSpPr>
          <p:cNvPr id="71" name="Text 69">
            <a:extLst>
              <a:ext uri="{FF2B5EF4-FFF2-40B4-BE49-F238E27FC236}">
                <a16:creationId xmlns:a16="http://schemas.microsoft.com/office/drawing/2014/main" id="{3BAB5B3A-3320-959F-B563-4BC6109642DA}"/>
              </a:ext>
            </a:extLst>
          </p:cNvPr>
          <p:cNvSpPr/>
          <p:nvPr/>
        </p:nvSpPr>
        <p:spPr>
          <a:xfrm>
            <a:off x="850392" y="5669279"/>
            <a:ext cx="2414016" cy="676655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A1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제안 방식 vs 영상만</a:t>
            </a:r>
            <a:endParaRPr lang="en-US" sz="1600" dirty="0"/>
          </a:p>
        </p:txBody>
      </p:sp>
      <p:sp>
        <p:nvSpPr>
          <p:cNvPr id="72" name="Shape 70">
            <a:extLst>
              <a:ext uri="{FF2B5EF4-FFF2-40B4-BE49-F238E27FC236}">
                <a16:creationId xmlns:a16="http://schemas.microsoft.com/office/drawing/2014/main" id="{F74BEF7A-4395-7E2C-890E-AFBD45CF2645}"/>
              </a:ext>
            </a:extLst>
          </p:cNvPr>
          <p:cNvSpPr/>
          <p:nvPr/>
        </p:nvSpPr>
        <p:spPr>
          <a:xfrm>
            <a:off x="3611880" y="5138928"/>
            <a:ext cx="2240280" cy="1118996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3" name="Shape 71">
            <a:extLst>
              <a:ext uri="{FF2B5EF4-FFF2-40B4-BE49-F238E27FC236}">
                <a16:creationId xmlns:a16="http://schemas.microsoft.com/office/drawing/2014/main" id="{B1052505-7AC5-0472-BF66-46A3669E1F83}"/>
              </a:ext>
            </a:extLst>
          </p:cNvPr>
          <p:cNvSpPr/>
          <p:nvPr/>
        </p:nvSpPr>
        <p:spPr>
          <a:xfrm>
            <a:off x="3611880" y="5138928"/>
            <a:ext cx="2240280" cy="411480"/>
          </a:xfrm>
          <a:prstGeom prst="rect">
            <a:avLst/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DE0B0BC2-837A-A34A-9356-F61BDF469E24}"/>
              </a:ext>
            </a:extLst>
          </p:cNvPr>
          <p:cNvSpPr/>
          <p:nvPr/>
        </p:nvSpPr>
        <p:spPr>
          <a:xfrm>
            <a:off x="3685032" y="5221224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추가</a:t>
            </a:r>
            <a:endParaRPr lang="en-US" dirty="0"/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193DAEC6-D426-3F37-880A-0A80FFEF0CB6}"/>
              </a:ext>
            </a:extLst>
          </p:cNvPr>
          <p:cNvSpPr/>
          <p:nvPr/>
        </p:nvSpPr>
        <p:spPr>
          <a:xfrm>
            <a:off x="3776472" y="5669280"/>
            <a:ext cx="19110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A2 − A1</a:t>
            </a:r>
            <a:endParaRPr lang="en-US" dirty="0"/>
          </a:p>
        </p:txBody>
      </p:sp>
      <p:sp>
        <p:nvSpPr>
          <p:cNvPr id="76" name="Shape 74">
            <a:extLst>
              <a:ext uri="{FF2B5EF4-FFF2-40B4-BE49-F238E27FC236}">
                <a16:creationId xmlns:a16="http://schemas.microsoft.com/office/drawing/2014/main" id="{675049F4-048B-DFA2-A9DF-0F07F2308867}"/>
              </a:ext>
            </a:extLst>
          </p:cNvPr>
          <p:cNvSpPr/>
          <p:nvPr/>
        </p:nvSpPr>
        <p:spPr>
          <a:xfrm>
            <a:off x="6035040" y="5138927"/>
            <a:ext cx="2240280" cy="1118995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7" name="Shape 75">
            <a:extLst>
              <a:ext uri="{FF2B5EF4-FFF2-40B4-BE49-F238E27FC236}">
                <a16:creationId xmlns:a16="http://schemas.microsoft.com/office/drawing/2014/main" id="{2453A8D0-93D0-CE82-8C4B-00F1810C9BDB}"/>
              </a:ext>
            </a:extLst>
          </p:cNvPr>
          <p:cNvSpPr/>
          <p:nvPr/>
        </p:nvSpPr>
        <p:spPr>
          <a:xfrm>
            <a:off x="6035040" y="5138928"/>
            <a:ext cx="2240280" cy="411480"/>
          </a:xfrm>
          <a:prstGeom prst="rect">
            <a:avLst/>
          </a:prstGeom>
          <a:solidFill>
            <a:srgbClr val="199E75"/>
          </a:solidFill>
          <a:ln w="12700">
            <a:solidFill>
              <a:srgbClr val="199E7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6A90A82C-DD25-17BF-1C71-F588E17CC994}"/>
              </a:ext>
            </a:extLst>
          </p:cNvPr>
          <p:cNvSpPr/>
          <p:nvPr/>
        </p:nvSpPr>
        <p:spPr>
          <a:xfrm>
            <a:off x="6108192" y="5221224"/>
            <a:ext cx="20939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추가</a:t>
            </a:r>
            <a:endParaRPr lang="en-US" dirty="0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91730458-F082-2AB0-91EF-1FFC5ED82A5D}"/>
              </a:ext>
            </a:extLst>
          </p:cNvPr>
          <p:cNvSpPr/>
          <p:nvPr/>
        </p:nvSpPr>
        <p:spPr>
          <a:xfrm>
            <a:off x="6199632" y="5669280"/>
            <a:ext cx="19110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A2</a:t>
            </a:r>
            <a:endParaRPr lang="en-US" dirty="0"/>
          </a:p>
        </p:txBody>
      </p:sp>
      <p:sp>
        <p:nvSpPr>
          <p:cNvPr id="80" name="Shape 78">
            <a:extLst>
              <a:ext uri="{FF2B5EF4-FFF2-40B4-BE49-F238E27FC236}">
                <a16:creationId xmlns:a16="http://schemas.microsoft.com/office/drawing/2014/main" id="{1BF3FA4E-D8E7-C756-B4C5-F2C5FA531920}"/>
              </a:ext>
            </a:extLst>
          </p:cNvPr>
          <p:cNvSpPr/>
          <p:nvPr/>
        </p:nvSpPr>
        <p:spPr>
          <a:xfrm>
            <a:off x="8458200" y="5138928"/>
            <a:ext cx="2697480" cy="1118994"/>
          </a:xfrm>
          <a:prstGeom prst="roundRect">
            <a:avLst>
              <a:gd name="adj" fmla="val 8108"/>
            </a:avLst>
          </a:prstGeom>
          <a:solidFill>
            <a:srgbClr val="F8FAFC"/>
          </a:solidFill>
          <a:ln w="12700">
            <a:solidFill>
              <a:srgbClr val="D7E3ED"/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81" name="Shape 79">
            <a:extLst>
              <a:ext uri="{FF2B5EF4-FFF2-40B4-BE49-F238E27FC236}">
                <a16:creationId xmlns:a16="http://schemas.microsoft.com/office/drawing/2014/main" id="{8854EFCE-594F-E4A3-9ABA-97AAE7998327}"/>
              </a:ext>
            </a:extLst>
          </p:cNvPr>
          <p:cNvSpPr/>
          <p:nvPr/>
        </p:nvSpPr>
        <p:spPr>
          <a:xfrm>
            <a:off x="8458200" y="5138928"/>
            <a:ext cx="2697480" cy="411480"/>
          </a:xfrm>
          <a:prstGeom prst="rect">
            <a:avLst/>
          </a:prstGeom>
          <a:solidFill>
            <a:srgbClr val="F1A438"/>
          </a:solidFill>
          <a:ln w="12700">
            <a:solidFill>
              <a:srgbClr val="F1A4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800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097BEEED-C046-9CF1-709A-60EA91193C2D}"/>
              </a:ext>
            </a:extLst>
          </p:cNvPr>
          <p:cNvSpPr/>
          <p:nvPr/>
        </p:nvSpPr>
        <p:spPr>
          <a:xfrm>
            <a:off x="8531352" y="5221224"/>
            <a:ext cx="2551176" cy="2286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영상·학습 기준</a:t>
            </a:r>
            <a:endParaRPr lang="en-US" dirty="0"/>
          </a:p>
        </p:txBody>
      </p:sp>
      <p:sp>
        <p:nvSpPr>
          <p:cNvPr id="83" name="Text 81">
            <a:extLst>
              <a:ext uri="{FF2B5EF4-FFF2-40B4-BE49-F238E27FC236}">
                <a16:creationId xmlns:a16="http://schemas.microsoft.com/office/drawing/2014/main" id="{15099108-BD0E-0A18-8E91-D92913B70543}"/>
              </a:ext>
            </a:extLst>
          </p:cNvPr>
          <p:cNvSpPr/>
          <p:nvPr/>
        </p:nvSpPr>
        <p:spPr>
          <a:xfrm>
            <a:off x="8622792" y="5669280"/>
            <a:ext cx="2368296" cy="1828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A3 − A4 / A3 − A0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64837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운동학 수치를 하나씩 제외하는 보조 분석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813816"/>
            <a:ext cx="1092708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6A7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피처의 조건부 기여를 탐색하되, 최적 조합을 확증하지 않는다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1936" y="1115567"/>
            <a:ext cx="4872039" cy="4089846"/>
          </a:xfrm>
          <a:prstGeom prst="roundRect">
            <a:avLst>
              <a:gd name="adj" fmla="val 246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0" name="Shape 8"/>
          <p:cNvSpPr/>
          <p:nvPr/>
        </p:nvSpPr>
        <p:spPr>
          <a:xfrm>
            <a:off x="566928" y="5349240"/>
            <a:ext cx="11018520" cy="457200"/>
          </a:xfrm>
          <a:prstGeom prst="roundRect">
            <a:avLst>
              <a:gd name="adj" fmla="val 10000"/>
            </a:avLst>
          </a:prstGeom>
          <a:solidFill>
            <a:srgbClr val="16A7B8"/>
          </a:solidFill>
          <a:ln w="12700">
            <a:solidFill>
              <a:srgbClr val="16A7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1" name="Text 9"/>
          <p:cNvSpPr/>
          <p:nvPr/>
        </p:nvSpPr>
        <p:spPr>
          <a:xfrm>
            <a:off x="777240" y="5458968"/>
            <a:ext cx="10607040" cy="347472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소거: 나머지 정보는 유지하고 한 종류만 제외한다. 기준은 영상 + 수치 조건(A2).</a:t>
            </a:r>
            <a:endParaRPr lang="en-US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F4AD2530-27AF-4EFE-4E8A-ABD7451E7005}"/>
              </a:ext>
            </a:extLst>
          </p:cNvPr>
          <p:cNvGrpSpPr/>
          <p:nvPr/>
        </p:nvGrpSpPr>
        <p:grpSpPr>
          <a:xfrm>
            <a:off x="5201603" y="1115568"/>
            <a:ext cx="6645783" cy="3950208"/>
            <a:chOff x="4544568" y="1143000"/>
            <a:chExt cx="6949440" cy="3950208"/>
          </a:xfrm>
        </p:grpSpPr>
        <p:sp>
          <p:nvSpPr>
            <p:cNvPr id="12" name="Shape 10"/>
            <p:cNvSpPr/>
            <p:nvPr/>
          </p:nvSpPr>
          <p:spPr>
            <a:xfrm>
              <a:off x="4544568" y="1143000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EFF7FA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3" name="Text 11"/>
            <p:cNvSpPr/>
            <p:nvPr/>
          </p:nvSpPr>
          <p:spPr>
            <a:xfrm>
              <a:off x="4773167" y="1280160"/>
              <a:ext cx="1789374" cy="37490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운동 범위</a:t>
              </a: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F1</a:t>
              </a:r>
              <a:endParaRPr lang="en-US" sz="16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6327648" y="1261872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움직임 크기를 알려주지 않았을 때의 변화</a:t>
              </a:r>
              <a:endParaRPr lang="en-US" sz="16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4544568" y="1901952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4773167" y="2039112"/>
              <a:ext cx="1678861" cy="37490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도달 시간</a:t>
              </a: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F2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6327648" y="2020824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극값</a:t>
              </a: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sz="16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도달</a:t>
              </a: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sz="16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시간을</a:t>
              </a: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알려주지 않았을 때의 변화</a:t>
              </a:r>
              <a:endParaRPr lang="en-US" sz="16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544568" y="2660904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EFF7FA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Text 17"/>
            <p:cNvSpPr/>
            <p:nvPr/>
          </p:nvSpPr>
          <p:spPr>
            <a:xfrm>
              <a:off x="4773168" y="2798064"/>
              <a:ext cx="1717300" cy="338328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유지 안정성</a:t>
              </a: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F3</a:t>
              </a:r>
              <a:endParaRPr lang="en-US" sz="16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6327648" y="2779776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유지 중 거리 변동을 알려주지 않았을 때의 변화</a:t>
              </a:r>
              <a:endParaRPr lang="en-US" sz="1600" dirty="0"/>
            </a:p>
          </p:txBody>
        </p:sp>
        <p:sp>
          <p:nvSpPr>
            <p:cNvPr id="21" name="Shape 19"/>
            <p:cNvSpPr/>
            <p:nvPr/>
          </p:nvSpPr>
          <p:spPr>
            <a:xfrm>
              <a:off x="4544568" y="3419856"/>
              <a:ext cx="6949440" cy="566928"/>
            </a:xfrm>
            <a:prstGeom prst="roundRect">
              <a:avLst>
                <a:gd name="adj" fmla="val 8065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2" name="Text 20"/>
            <p:cNvSpPr/>
            <p:nvPr/>
          </p:nvSpPr>
          <p:spPr>
            <a:xfrm>
              <a:off x="4773168" y="3557016"/>
              <a:ext cx="1717300" cy="36236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ko-KR" alt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해제</a:t>
              </a:r>
              <a:r>
                <a:rPr lang="en-US" altLang="ko-KR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·</a:t>
              </a:r>
              <a:r>
                <a:rPr lang="ko-KR" altLang="en-US" sz="1600" b="1" dirty="0" err="1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재개방</a:t>
              </a:r>
              <a:r>
                <a:rPr lang="en-US" sz="1600" b="1" dirty="0">
                  <a:solidFill>
                    <a:srgbClr val="193A66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F4</a:t>
              </a:r>
              <a:endParaRPr lang="en-US" sz="16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6327648" y="3538728"/>
              <a:ext cx="4800600" cy="21945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해제 시 개방량을 알려주지 않았을 때의 변화</a:t>
              </a:r>
              <a:endParaRPr lang="en-US" sz="160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4681728" y="4096512"/>
              <a:ext cx="6312079" cy="996696"/>
            </a:xfrm>
            <a:prstGeom prst="rect">
              <a:avLst/>
            </a:prstGeom>
            <a:noFill/>
            <a:ln/>
          </p:spPr>
          <p:txBody>
            <a:bodyPr wrap="square" lIns="508" tIns="508" rIns="508" bIns="508" rtlCol="0" anchor="ctr">
              <a:normAutofit/>
            </a:bodyPr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해석 원칙: D1–D4는 “나머지 피처가 있을 때” 해당 피처를 제거한 결과다.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모든 부분집합을 시험하는 것이 아니므로 최소·최적 피처 조합을 발견했다고 말하지 않는다.</a:t>
              </a:r>
              <a:endParaRPr lang="en-US" sz="160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93A66"/>
          </a:solidFill>
          <a:ln w="12700">
            <a:solidFill>
              <a:srgbClr val="193A6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 1"/>
          <p:cNvSpPr/>
          <p:nvPr/>
        </p:nvSpPr>
        <p:spPr>
          <a:xfrm>
            <a:off x="11109960" y="347472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6B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402336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F2C4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후보와 선정 근거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1142999"/>
            <a:ext cx="4681378" cy="3467101"/>
          </a:xfrm>
          <a:prstGeom prst="roundRect">
            <a:avLst>
              <a:gd name="adj" fmla="val 2222"/>
            </a:avLst>
          </a:prstGeom>
          <a:blipFill>
            <a:blip r:embed="rId3"/>
            <a:stretch>
              <a:fillRect/>
            </a:stretch>
          </a:blip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6E6AD82-0C81-15A1-9E1A-10F8DDD8A6CB}"/>
              </a:ext>
            </a:extLst>
          </p:cNvPr>
          <p:cNvGrpSpPr/>
          <p:nvPr/>
        </p:nvGrpSpPr>
        <p:grpSpPr>
          <a:xfrm>
            <a:off x="5519356" y="1142999"/>
            <a:ext cx="6188583" cy="4443414"/>
            <a:chOff x="4343400" y="1142999"/>
            <a:chExt cx="6693408" cy="3886200"/>
          </a:xfrm>
        </p:grpSpPr>
        <p:sp>
          <p:nvSpPr>
            <p:cNvPr id="10" name="Shape 8"/>
            <p:cNvSpPr/>
            <p:nvPr/>
          </p:nvSpPr>
          <p:spPr>
            <a:xfrm>
              <a:off x="4343400" y="1142999"/>
              <a:ext cx="2788920" cy="1876425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1" name="Shape 9"/>
            <p:cNvSpPr/>
            <p:nvPr/>
          </p:nvSpPr>
          <p:spPr>
            <a:xfrm>
              <a:off x="4343400" y="1143000"/>
              <a:ext cx="2788920" cy="411480"/>
            </a:xfrm>
            <a:prstGeom prst="rect">
              <a:avLst/>
            </a:prstGeom>
            <a:solidFill>
              <a:srgbClr val="193A66"/>
            </a:solidFill>
            <a:ln w="12700">
              <a:solidFill>
                <a:srgbClr val="193A66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2" name="Text 10"/>
            <p:cNvSpPr/>
            <p:nvPr/>
          </p:nvSpPr>
          <p:spPr>
            <a:xfrm>
              <a:off x="4416552" y="1225296"/>
              <a:ext cx="26426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주 모델</a:t>
              </a:r>
              <a:endParaRPr lang="en-US" sz="1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4507992" y="1673352"/>
              <a:ext cx="245973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Qwen2.5-VL-32B-Instruct</a:t>
              </a:r>
              <a:endParaRPr lang="en-US" sz="1600" b="1" dirty="0"/>
            </a:p>
            <a:p>
              <a:pPr marL="0" indent="0">
                <a:buNone/>
              </a:pP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선행 VLM 재활 연구와의 연결성이 있어 기준 모델로 사용한다.</a:t>
              </a:r>
              <a:endParaRPr lang="en-US" sz="160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7424928" y="1143000"/>
              <a:ext cx="3611880" cy="1876424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5" name="Shape 13"/>
            <p:cNvSpPr/>
            <p:nvPr/>
          </p:nvSpPr>
          <p:spPr>
            <a:xfrm>
              <a:off x="7424928" y="1143000"/>
              <a:ext cx="3611880" cy="411480"/>
            </a:xfrm>
            <a:prstGeom prst="rect">
              <a:avLst/>
            </a:prstGeom>
            <a:solidFill>
              <a:srgbClr val="16A7B8"/>
            </a:solidFill>
            <a:ln w="12700">
              <a:solidFill>
                <a:srgbClr val="16A7B8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6" name="Text 14"/>
            <p:cNvSpPr/>
            <p:nvPr/>
          </p:nvSpPr>
          <p:spPr>
            <a:xfrm>
              <a:off x="7498080" y="1225296"/>
              <a:ext cx="34655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최신 계열 확인</a:t>
              </a:r>
              <a:endParaRPr lang="en-US" sz="16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7589520" y="1673352"/>
              <a:ext cx="3282696" cy="576072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Qwen3-VL-8B-Instruct</a:t>
              </a:r>
              <a:endParaRPr lang="en-US" sz="1400" b="1" dirty="0"/>
            </a:p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Qwen3-VL-30B-A3B-Instruct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더 최신 모델에서도 같은 경향이 유지되는지 확인한다.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343400" y="3210114"/>
              <a:ext cx="2788920" cy="1819085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9" name="Shape 17"/>
            <p:cNvSpPr/>
            <p:nvPr/>
          </p:nvSpPr>
          <p:spPr>
            <a:xfrm>
              <a:off x="4343400" y="3210115"/>
              <a:ext cx="2788920" cy="411480"/>
            </a:xfrm>
            <a:prstGeom prst="rect">
              <a:avLst/>
            </a:prstGeom>
            <a:solidFill>
              <a:srgbClr val="7665B7"/>
            </a:solidFill>
            <a:ln w="12700">
              <a:solidFill>
                <a:srgbClr val="7665B7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0" name="Text 18"/>
            <p:cNvSpPr/>
            <p:nvPr/>
          </p:nvSpPr>
          <p:spPr>
            <a:xfrm>
              <a:off x="4416552" y="3292411"/>
              <a:ext cx="264261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모델</a:t>
              </a:r>
              <a:endParaRPr lang="en-US" sz="16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4507992" y="3740466"/>
              <a:ext cx="2459736" cy="1060133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LLaVA-NeXT-Video-7B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이외의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계열에서도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추가정보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효과가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특정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모델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의존인지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 </a:t>
              </a:r>
              <a:r>
                <a:rPr lang="en-US" altLang="ko-KR" sz="1400" dirty="0" err="1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살핀다</a:t>
              </a:r>
              <a:r>
                <a:rPr lang="en-US" altLang="ko-KR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.</a:t>
              </a:r>
              <a:endParaRPr lang="en-US" altLang="ko-KR" sz="140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7424928" y="3210115"/>
              <a:ext cx="3611880" cy="1819084"/>
            </a:xfrm>
            <a:prstGeom prst="roundRect">
              <a:avLst>
                <a:gd name="adj" fmla="val 4444"/>
              </a:avLst>
            </a:prstGeom>
            <a:solidFill>
              <a:srgbClr val="F8FAFC"/>
            </a:solidFill>
            <a:ln w="12700">
              <a:solidFill>
                <a:srgbClr val="D7E3ED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3" name="Shape 21"/>
            <p:cNvSpPr/>
            <p:nvPr/>
          </p:nvSpPr>
          <p:spPr>
            <a:xfrm>
              <a:off x="7424928" y="3210115"/>
              <a:ext cx="3611880" cy="411480"/>
            </a:xfrm>
            <a:prstGeom prst="rect">
              <a:avLst/>
            </a:prstGeom>
            <a:solidFill>
              <a:srgbClr val="7665B7"/>
            </a:solidFill>
            <a:ln w="12700">
              <a:solidFill>
                <a:srgbClr val="7665B7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24" name="Text 22"/>
            <p:cNvSpPr/>
            <p:nvPr/>
          </p:nvSpPr>
          <p:spPr>
            <a:xfrm>
              <a:off x="7498080" y="3292411"/>
              <a:ext cx="3465576" cy="228600"/>
            </a:xfrm>
            <a:prstGeom prst="rect">
              <a:avLst/>
            </a:prstGeom>
            <a:noFill/>
            <a:ln/>
          </p:spPr>
          <p:txBody>
            <a:bodyPr wrap="square" rtlCol="0" anchor="ctr">
              <a:noAutofit/>
            </a:bodyPr>
            <a:lstStyle/>
            <a:p>
              <a:pPr marL="0" indent="0" algn="ctr">
                <a:buNone/>
              </a:pPr>
              <a:r>
                <a:rPr lang="ko-KR" altLang="en-US" sz="1600" b="1" dirty="0">
                  <a:solidFill>
                    <a:srgbClr val="FFFFFF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보조 모델</a:t>
              </a:r>
              <a:endParaRPr lang="en-US" sz="16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7589520" y="3740466"/>
              <a:ext cx="3282696" cy="888683"/>
            </a:xfrm>
            <a:prstGeom prst="rect">
              <a:avLst/>
            </a:prstGeom>
            <a:noFill/>
            <a:ln/>
          </p:spPr>
          <p:txBody>
            <a:bodyPr wrap="square" lIns="762" tIns="762" rIns="762" bIns="762" rtlCol="0" anchor="t">
              <a:noAutofit/>
            </a:bodyPr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LLaVA-OneVision-7B</a:t>
              </a:r>
              <a:endParaRPr lang="en-US" sz="1400" b="1" dirty="0"/>
            </a:p>
            <a:p>
              <a:pPr marL="0" indent="0">
                <a:buNone/>
              </a:pPr>
              <a:endParaRPr lang="en-US" sz="1400" dirty="0"/>
            </a:p>
            <a:p>
              <a:pPr marL="0" indent="0">
                <a:buNone/>
              </a:pPr>
              <a:r>
                <a:rPr lang="en-US" sz="1400" dirty="0">
                  <a:solidFill>
                    <a:srgbClr val="1F2937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Qwen 이외의 모델 계열에서도 추가정보 효과가 특정 모델 의존인지 살핀다.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859</Words>
  <Application>Microsoft Office PowerPoint</Application>
  <PresentationFormat>와이드스크린</PresentationFormat>
  <Paragraphs>199</Paragraphs>
  <Slides>9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Human Robotics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손 과제 VLM 평가 연구계획</dc:title>
  <dc:subject>RGB-D VLM 손 과제 평가 연구계획</dc:subject>
  <dc:creator>OpenAI</dc:creator>
  <cp:lastModifiedBy>이재용/22000561</cp:lastModifiedBy>
  <cp:revision>124</cp:revision>
  <dcterms:created xsi:type="dcterms:W3CDTF">2026-09-14T01:46:24Z</dcterms:created>
  <dcterms:modified xsi:type="dcterms:W3CDTF">2026-09-14T15:14:54Z</dcterms:modified>
</cp:coreProperties>
</file>