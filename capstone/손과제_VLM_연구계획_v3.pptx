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64592"/>
          </a:xfrm>
          <a:prstGeom prst="rect">
            <a:avLst/>
          </a:prstGeom>
          <a:solidFill>
            <a:srgbClr val="0E8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828800"/>
            <a:ext cx="1463040" cy="82296"/>
          </a:xfrm>
          <a:prstGeom prst="rect">
            <a:avLst/>
          </a:prstGeom>
          <a:solidFill>
            <a:srgbClr val="0E8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029968"/>
            <a:ext cx="10607040" cy="21945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300"/>
              </a:spcAft>
            </a:pPr>
            <a:r>
              <a:rPr sz="3600" b="1">
                <a:solidFill>
                  <a:srgbClr val="FFFFFF"/>
                </a:solidFill>
                <a:latin typeface="Malgun Gothic"/>
                <a:ea typeface="Malgun Gothic"/>
              </a:rPr>
              <a:t>수치를 넣으면 VLM 채점이 좋아지는가,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1400"/>
              </a:spcAft>
            </a:pPr>
            <a:r>
              <a:rPr sz="3600" b="1">
                <a:solidFill>
                  <a:srgbClr val="FFFFFF"/>
                </a:solidFill>
                <a:latin typeface="Malgun Gothic"/>
                <a:ea typeface="Malgun Gothic"/>
              </a:rPr>
              <a:t>아니면 나빠지는가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700" b="0">
                <a:solidFill>
                  <a:srgbClr val="A8C6D8"/>
                </a:solidFill>
                <a:latin typeface="Malgun Gothic"/>
                <a:ea typeface="Malgun Gothic"/>
              </a:rPr>
              <a:t>ARAT 두 항목 · 품질 기반 수치 선별의 효과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800600"/>
            <a:ext cx="10607040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500"/>
              </a:spcAft>
            </a:pPr>
            <a:r>
              <a:rPr sz="1500" b="0">
                <a:solidFill>
                  <a:srgbClr val="FFFFFF"/>
                </a:solidFill>
                <a:latin typeface="Malgun Gothic"/>
                <a:ea typeface="Malgun Gothic"/>
              </a:rPr>
              <a:t>이재용  22000561  |  한동대학교 기계제어공학부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350" b="0">
                <a:solidFill>
                  <a:srgbClr val="8FA8BE"/>
                </a:solidFill>
                <a:latin typeface="Malgun Gothic"/>
                <a:ea typeface="Malgun Gothic"/>
              </a:rPr>
              <a:t>연구계획 발표 · 2026-09-28 · 설계 정본 v6.3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870448"/>
            <a:ext cx="106070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>
                <a:solidFill>
                  <a:srgbClr val="D9B06B"/>
                </a:solidFill>
                <a:latin typeface="Malgun Gothic"/>
                <a:ea typeface="Malgun Gothic"/>
              </a:rPr>
              <a:t>※ 모든 수치 = 계획값. 본평가 결과 아님 (실증 데이터 수집 전).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28016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365760"/>
            <a:ext cx="603504" cy="603504"/>
          </a:xfrm>
          <a:prstGeom prst="roundRect">
            <a:avLst>
              <a:gd name="adj" fmla="val 5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74320"/>
            <a:ext cx="7360920" cy="8869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3000" b="1">
                <a:solidFill>
                  <a:srgbClr val="142A4C"/>
                </a:solidFill>
                <a:latin typeface="Malgun Gothic"/>
                <a:ea typeface="Malgun Gothic"/>
              </a:rPr>
              <a:t>이 연구는 무엇을 하는가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350" b="0">
                <a:solidFill>
                  <a:srgbClr val="5B6B80"/>
                </a:solidFill>
                <a:latin typeface="Malgun Gothic"/>
                <a:ea typeface="Malgun Gothic"/>
              </a:rPr>
              <a:t>질문 · 개입 · 대상 · 결과 한 장 요약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384048"/>
            <a:ext cx="306324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250" b="1">
                <a:solidFill>
                  <a:srgbClr val="0E838A"/>
                </a:solidFill>
                <a:latin typeface="Malgun Gothic"/>
                <a:ea typeface="Malgun Gothic"/>
              </a:rPr>
              <a:t>SUMMARY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5532120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3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71016"/>
            <a:ext cx="50292" cy="2167127"/>
          </a:xfrm>
          <a:prstGeom prst="rect">
            <a:avLst/>
          </a:prstGeom>
          <a:solidFill>
            <a:srgbClr val="0E8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43584"/>
            <a:ext cx="5212080" cy="2221991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</a:pPr>
            <a:r>
              <a:rPr sz="1750" b="1">
                <a:solidFill>
                  <a:srgbClr val="142A4C"/>
                </a:solidFill>
                <a:latin typeface="Malgun Gothic"/>
                <a:ea typeface="Malgun Gothic"/>
              </a:rPr>
              <a:t>연구 질문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0">
                <a:solidFill>
                  <a:srgbClr val="1F2A37"/>
                </a:solidFill>
                <a:latin typeface="Malgun Gothic"/>
                <a:ea typeface="Malgun Gothic"/>
              </a:rPr>
              <a:t>① 수치 주입 → 채점 개선? 악화?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0">
                <a:solidFill>
                  <a:srgbClr val="1F2A37"/>
                </a:solidFill>
                <a:latin typeface="Malgun Gothic"/>
                <a:ea typeface="Malgun Gothic"/>
              </a:rPr>
              <a:t>② 품질 선별 → 악화 완화?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0">
                <a:solidFill>
                  <a:srgbClr val="1F2A37"/>
                </a:solidFill>
                <a:latin typeface="Malgun Gothic"/>
                <a:ea typeface="Malgun Gothic"/>
              </a:rPr>
              <a:t>③ 대가 = 과잉 보류?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188720"/>
            <a:ext cx="5532120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3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9632" y="1271016"/>
            <a:ext cx="50292" cy="2167127"/>
          </a:xfrm>
          <a:prstGeom prst="rect">
            <a:avLst/>
          </a:prstGeom>
          <a:solidFill>
            <a:srgbClr val="B8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2512" y="1243584"/>
            <a:ext cx="5212080" cy="2221991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</a:pPr>
            <a:r>
              <a:rPr sz="1750" b="1">
                <a:solidFill>
                  <a:srgbClr val="142A4C"/>
                </a:solidFill>
                <a:latin typeface="Malgun Gothic"/>
                <a:ea typeface="Malgun Gothic"/>
              </a:rPr>
              <a:t>개입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0">
                <a:solidFill>
                  <a:srgbClr val="1F2A37"/>
                </a:solidFill>
                <a:latin typeface="Malgun Gothic"/>
                <a:ea typeface="Malgun Gothic"/>
              </a:rPr>
              <a:t>같은 영상 · 같은 사람 · 같은 시행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0">
                <a:solidFill>
                  <a:srgbClr val="1F2A37"/>
                </a:solidFill>
                <a:latin typeface="Malgun Gothic"/>
                <a:ea typeface="Malgun Gothic"/>
              </a:rPr>
              <a:t>바꾸는 것 = 수치의 양 · 품질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0">
                <a:solidFill>
                  <a:srgbClr val="1F2A37"/>
                </a:solidFill>
                <a:latin typeface="Malgun Gothic"/>
                <a:ea typeface="Malgun Gothic"/>
              </a:rPr>
              <a:t>A1 없음 · A2 전체 · A3 선별 · R 무작위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657600"/>
            <a:ext cx="5532120" cy="2651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3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739896"/>
            <a:ext cx="50292" cy="2487168"/>
          </a:xfrm>
          <a:prstGeom prst="rect">
            <a:avLst/>
          </a:prstGeom>
          <a:solidFill>
            <a:srgbClr val="0E8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712463"/>
            <a:ext cx="5212080" cy="2542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</a:pPr>
            <a:r>
              <a:rPr sz="1750" b="1">
                <a:solidFill>
                  <a:srgbClr val="142A4C"/>
                </a:solidFill>
                <a:latin typeface="Malgun Gothic"/>
                <a:ea typeface="Malgun Gothic"/>
              </a:rPr>
              <a:t>대상 · 규모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0">
                <a:solidFill>
                  <a:srgbClr val="1F2A37"/>
                </a:solidFill>
                <a:latin typeface="Malgun Gothic"/>
                <a:ea typeface="Malgun Gothic"/>
              </a:rPr>
              <a:t>뇌졸중 23명 (개발 3 + 본 20)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0">
                <a:solidFill>
                  <a:srgbClr val="1F2A37"/>
                </a:solidFill>
                <a:latin typeface="Malgun Gothic"/>
                <a:ea typeface="Malgun Gothic"/>
              </a:rPr>
              <a:t>비장애인 22명 (개발 6 + 검증 16)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0">
                <a:solidFill>
                  <a:srgbClr val="1F2A37"/>
                </a:solidFill>
                <a:latin typeface="Malgun Gothic"/>
                <a:ea typeface="Malgun Gothic"/>
              </a:rPr>
              <a:t>20명 × 2과제 × 3시행 = 120영상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0">
                <a:solidFill>
                  <a:srgbClr val="1F2A37"/>
                </a:solidFill>
                <a:latin typeface="Malgun Gothic"/>
                <a:ea typeface="Malgun Gothic"/>
              </a:rPr>
              <a:t>독립 분석 단위 = 사람 20명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9632" y="3657600"/>
            <a:ext cx="5532120" cy="2651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3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99632" y="3739896"/>
            <a:ext cx="50292" cy="2487168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82512" y="3712463"/>
            <a:ext cx="5212080" cy="2542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</a:pPr>
            <a:r>
              <a:rPr sz="1750" b="1">
                <a:solidFill>
                  <a:srgbClr val="142A4C"/>
                </a:solidFill>
                <a:latin typeface="Malgun Gothic"/>
                <a:ea typeface="Malgun Gothic"/>
              </a:rPr>
              <a:t>주 결과 3개 (Holm k=3)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0">
                <a:solidFill>
                  <a:srgbClr val="1F2A37"/>
                </a:solidFill>
                <a:latin typeface="Malgun Gothic"/>
                <a:ea typeface="Malgun Gothic"/>
              </a:rPr>
              <a:t>PR-1  MAE(A2)−MAE(A1)  수치 주입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0">
                <a:solidFill>
                  <a:srgbClr val="1F2A37"/>
                </a:solidFill>
                <a:latin typeface="Malgun Gothic"/>
                <a:ea typeface="Malgun Gothic"/>
              </a:rPr>
              <a:t>PR-2  MAE(A2)−MAE(A3)  게이팅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0">
                <a:solidFill>
                  <a:srgbClr val="1F2A37"/>
                </a:solidFill>
                <a:latin typeface="Malgun Gothic"/>
                <a:ea typeface="Malgun Gothic"/>
              </a:rPr>
              <a:t>PR-3  MAE(R)−MAE(A3)   고유 가치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1">
                <a:solidFill>
                  <a:srgbClr val="B86A00"/>
                </a:solidFill>
                <a:latin typeface="Malgun Gothic"/>
                <a:ea typeface="Malgun Gothic"/>
              </a:rPr>
              <a:t>부호 + = 나쁜 방향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" y="6382512"/>
            <a:ext cx="112471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050" b="0">
                <a:solidFill>
                  <a:srgbClr val="5B6B80"/>
                </a:solidFill>
                <a:latin typeface="Malgun Gothic"/>
                <a:ea typeface="Malgun Gothic"/>
              </a:rPr>
              <a:t>정본: outputs/research-plan-v6.md (v6.3, 2026-09-28)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28016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365760"/>
            <a:ext cx="603504" cy="603504"/>
          </a:xfrm>
          <a:prstGeom prst="roundRect">
            <a:avLst>
              <a:gd name="adj" fmla="val 5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74320"/>
            <a:ext cx="7360920" cy="8869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2600" b="1">
                <a:solidFill>
                  <a:srgbClr val="142A4C"/>
                </a:solidFill>
                <a:latin typeface="Malgun Gothic"/>
                <a:ea typeface="Malgun Gothic"/>
              </a:rPr>
              <a:t>왜 필요한가 — 임상 평가 한계 + VLM 실패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350" b="0">
                <a:solidFill>
                  <a:srgbClr val="5B6B80"/>
                </a:solidFill>
                <a:latin typeface="Malgun Gothic"/>
                <a:ea typeface="Malgun Gothic"/>
              </a:rPr>
              <a:t>두 문제의 동시 존재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384048"/>
            <a:ext cx="306324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250" b="1">
                <a:solidFill>
                  <a:srgbClr val="0E838A"/>
                </a:solidFill>
                <a:latin typeface="Malgun Gothic"/>
                <a:ea typeface="Malgun Gothic"/>
              </a:rPr>
              <a:t>BACKGROUND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5532120" cy="5074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3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71016"/>
            <a:ext cx="50292" cy="4910328"/>
          </a:xfrm>
          <a:prstGeom prst="rect">
            <a:avLst/>
          </a:prstGeom>
          <a:solidFill>
            <a:srgbClr val="B8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43584"/>
            <a:ext cx="5212080" cy="49651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</a:pPr>
            <a:r>
              <a:rPr sz="1750" b="1">
                <a:solidFill>
                  <a:srgbClr val="142A4C"/>
                </a:solidFill>
                <a:latin typeface="Malgun Gothic"/>
                <a:ea typeface="Malgun Gothic"/>
              </a:rPr>
              <a:t>문제 ①  임상 평가 한계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0">
                <a:solidFill>
                  <a:srgbClr val="1F2A37"/>
                </a:solidFill>
                <a:latin typeface="Malgun Gothic"/>
                <a:ea typeface="Malgun Gothic"/>
              </a:rPr>
              <a:t>평가자 주관성 — 갈리는 항목 4/33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0">
                <a:solidFill>
                  <a:srgbClr val="1F2A37"/>
                </a:solidFill>
                <a:latin typeface="Malgun Gothic"/>
                <a:ea typeface="Malgun Gothic"/>
              </a:rPr>
              <a:t>천장·바닥 — 바닥 38% · 천장 21%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0">
                <a:solidFill>
                  <a:srgbClr val="1F2A37"/>
                </a:solidFill>
                <a:latin typeface="Malgun Gothic"/>
                <a:ea typeface="Malgun Gothic"/>
              </a:rPr>
              <a:t>긴 소요 시간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0">
                <a:solidFill>
                  <a:srgbClr val="1F2A37"/>
                </a:solidFill>
                <a:latin typeface="Malgun Gothic"/>
                <a:ea typeface="Malgun Gothic"/>
              </a:rPr>
              <a:t>점수는 정확 · 수치는 오류 (손목 96 mm)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1">
                <a:solidFill>
                  <a:srgbClr val="B86A00"/>
                </a:solidFill>
                <a:latin typeface="Malgun Gothic"/>
                <a:ea typeface="Malgun Gothic"/>
              </a:rPr>
              <a:t>→ 점수로 안 보이는 보상 전략 존재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0">
                <a:solidFill>
                  <a:srgbClr val="1F2A37"/>
                </a:solidFill>
                <a:latin typeface="Malgun Gothic"/>
                <a:ea typeface="Malgun Gothic"/>
              </a:rPr>
              <a:t/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0">
                <a:solidFill>
                  <a:srgbClr val="1F2A37"/>
                </a:solidFill>
                <a:latin typeface="Malgun Gothic"/>
                <a:ea typeface="Malgun Gothic"/>
              </a:rPr>
              <a:t>근거: Hernández 2019 · Kristersson 2019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0">
                <a:solidFill>
                  <a:srgbClr val="1F2A37"/>
                </a:solidFill>
                <a:latin typeface="Malgun Gothic"/>
                <a:ea typeface="Malgun Gothic"/>
              </a:rPr>
              <a:t>Li 2022 · Padilla-Magaña 2022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188720"/>
            <a:ext cx="5532120" cy="5074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3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9632" y="1271016"/>
            <a:ext cx="50292" cy="4910328"/>
          </a:xfrm>
          <a:prstGeom prst="rect">
            <a:avLst/>
          </a:prstGeom>
          <a:solidFill>
            <a:srgbClr val="B3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2512" y="1243584"/>
            <a:ext cx="5212080" cy="49651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</a:pPr>
            <a:r>
              <a:rPr sz="1750" b="1">
                <a:solidFill>
                  <a:srgbClr val="142A4C"/>
                </a:solidFill>
                <a:latin typeface="Malgun Gothic"/>
                <a:ea typeface="Malgun Gothic"/>
              </a:rPr>
              <a:t>문제 ②  VLM 단독 채점 실패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0">
                <a:solidFill>
                  <a:srgbClr val="1F2A37"/>
                </a:solidFill>
                <a:latin typeface="Malgun Gothic"/>
                <a:ea typeface="Malgun Gothic"/>
              </a:rPr>
              <a:t>Li 2026 — 비장애 20 + 뇌졸중 51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0">
                <a:solidFill>
                  <a:srgbClr val="1F2A37"/>
                </a:solidFill>
                <a:latin typeface="Malgun Gothic"/>
                <a:ea typeface="Malgun Gothic"/>
              </a:rPr>
              <a:t>Qwen2.5-VL-72B · 영상 + 지침만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1">
                <a:solidFill>
                  <a:srgbClr val="B32D2D"/>
                </a:solidFill>
                <a:latin typeface="Malgun Gothic"/>
                <a:ea typeface="Malgun Gothic"/>
              </a:rPr>
              <a:t>→ FMA 총점 = 중증도 무관 '평탄'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1">
                <a:solidFill>
                  <a:srgbClr val="B32D2D"/>
                </a:solidFill>
                <a:latin typeface="Malgun Gothic"/>
                <a:ea typeface="Malgun Gothic"/>
              </a:rPr>
              <a:t>→ '무조건 1점' 기준선과 유사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0">
                <a:solidFill>
                  <a:srgbClr val="1F2A37"/>
                </a:solidFill>
                <a:latin typeface="Malgun Gothic"/>
                <a:ea typeface="Malgun Gothic"/>
              </a:rPr>
              <a:t>정밀 운동 이해 부족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0">
                <a:solidFill>
                  <a:srgbClr val="1F2A37"/>
                </a:solidFill>
                <a:latin typeface="Malgun Gothic"/>
                <a:ea typeface="Malgun Gothic"/>
              </a:rPr>
              <a:t/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0">
                <a:solidFill>
                  <a:srgbClr val="1F2A37"/>
                </a:solidFill>
                <a:latin typeface="Malgun Gothic"/>
                <a:ea typeface="Malgun Gothic"/>
              </a:rPr>
              <a:t>우리 VLM = Li 2026과 동일 모델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0">
                <a:solidFill>
                  <a:srgbClr val="1F2A37"/>
                </a:solidFill>
                <a:latin typeface="Malgun Gothic"/>
                <a:ea typeface="Malgun Gothic"/>
              </a:rPr>
              <a:t>PMID 42406872 · PLOS Digit Health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6382512"/>
            <a:ext cx="112471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050" b="0">
                <a:solidFill>
                  <a:srgbClr val="5B6B80"/>
                </a:solidFill>
                <a:latin typeface="Malgun Gothic"/>
                <a:ea typeface="Malgun Gothic"/>
              </a:rPr>
              <a:t>핵심: 점수로는 안 보이고, 영상만으로는 못 잡는다 → '수치를 어떻게 넣을 것인가'가 남는다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28016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365760"/>
            <a:ext cx="603504" cy="603504"/>
          </a:xfrm>
          <a:prstGeom prst="roundRect">
            <a:avLst>
              <a:gd name="adj" fmla="val 5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74320"/>
            <a:ext cx="7360920" cy="8869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2800" b="1">
                <a:solidFill>
                  <a:srgbClr val="142A4C"/>
                </a:solidFill>
                <a:latin typeface="Malgun Gothic"/>
                <a:ea typeface="Malgun Gothic"/>
              </a:rPr>
              <a:t>연구 질문 — '다' 줄까, '골라서' 줄까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350" b="0">
                <a:solidFill>
                  <a:srgbClr val="5B6B80"/>
                </a:solidFill>
                <a:latin typeface="Malgun Gothic"/>
                <a:ea typeface="Malgun Gothic"/>
              </a:rPr>
              <a:t>정보를 더 주는 것이 항상 이롭지 않다는 근거에서 출발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384048"/>
            <a:ext cx="306324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250" b="1">
                <a:solidFill>
                  <a:srgbClr val="0E838A"/>
                </a:solidFill>
                <a:latin typeface="Malgun Gothic"/>
                <a:ea typeface="Malgun Gothic"/>
              </a:rPr>
              <a:t>QUESTION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11274552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3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71016"/>
            <a:ext cx="50292" cy="1252728"/>
          </a:xfrm>
          <a:prstGeom prst="rect">
            <a:avLst/>
          </a:prstGeom>
          <a:solidFill>
            <a:srgbClr val="0E8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43584"/>
            <a:ext cx="10954511" cy="1307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</a:pPr>
            <a:r>
              <a:rPr sz="1600" b="1">
                <a:solidFill>
                  <a:srgbClr val="142A4C"/>
                </a:solidFill>
                <a:latin typeface="Malgun Gothic"/>
                <a:ea typeface="Malgun Gothic"/>
              </a:rPr>
              <a:t>한 문장 질문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1">
                <a:solidFill>
                  <a:srgbClr val="1F2A37"/>
                </a:solidFill>
                <a:latin typeface="Malgun Gothic"/>
                <a:ea typeface="Malgun Gothic"/>
              </a:rPr>
              <a:t>수치를 주면 채점이 좋아지는가, 나빠지는가 —품질로 골라 주면 줄어드는가, 대가는 과잉 보류인가?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743200"/>
            <a:ext cx="3611880" cy="3520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3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825496"/>
            <a:ext cx="50292" cy="3355848"/>
          </a:xfrm>
          <a:prstGeom prst="rect">
            <a:avLst/>
          </a:prstGeom>
          <a:solidFill>
            <a:srgbClr val="B3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798064"/>
            <a:ext cx="3291840" cy="34107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</a:pPr>
            <a:r>
              <a:rPr sz="1600" b="1">
                <a:solidFill>
                  <a:srgbClr val="142A4C"/>
                </a:solidFill>
                <a:latin typeface="Malgun Gothic"/>
                <a:ea typeface="Malgun Gothic"/>
              </a:rPr>
              <a:t>① 수치 주입 위험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1F2A37"/>
                </a:solidFill>
                <a:latin typeface="Malgun Gothic"/>
                <a:ea typeface="Malgun Gothic"/>
              </a:rPr>
              <a:t>Tang 2025 — 예시 3개 최적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1F2A37"/>
                </a:solidFill>
                <a:latin typeface="Malgun Gothic"/>
                <a:ea typeface="Malgun Gothic"/>
              </a:rPr>
              <a:t>4개에서 붕괴 (0.42)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1F2A37"/>
                </a:solidFill>
                <a:latin typeface="Malgun Gothic"/>
                <a:ea typeface="Malgun Gothic"/>
              </a:rPr>
              <a:t>→ 정보 ↑ = 모델 악화 가능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1F2A37"/>
                </a:solidFill>
                <a:latin typeface="Malgun Gothic"/>
                <a:ea typeface="Malgun Gothic"/>
              </a:rPr>
              <a:t>Li 2026은 영상만 = 미측정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79392" y="2743200"/>
            <a:ext cx="3611880" cy="3520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3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79392" y="2825496"/>
            <a:ext cx="50292" cy="3355848"/>
          </a:xfrm>
          <a:prstGeom prst="rect">
            <a:avLst/>
          </a:prstGeom>
          <a:solidFill>
            <a:srgbClr val="0E8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62272" y="2798064"/>
            <a:ext cx="3291840" cy="34107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</a:pPr>
            <a:r>
              <a:rPr sz="1600" b="1">
                <a:solidFill>
                  <a:srgbClr val="142A4C"/>
                </a:solidFill>
                <a:latin typeface="Malgun Gothic"/>
                <a:ea typeface="Malgun Gothic"/>
              </a:rPr>
              <a:t>② 품질 선별 필요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1F2A37"/>
                </a:solidFill>
                <a:latin typeface="Malgun Gothic"/>
                <a:ea typeface="Malgun Gothic"/>
              </a:rPr>
              <a:t>RGB-D — 가림·깊이 오류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1F2A37"/>
                </a:solidFill>
                <a:latin typeface="Malgun Gothic"/>
                <a:ea typeface="Malgun Gothic"/>
              </a:rPr>
              <a:t>틀린 수치 → 조용히 전파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1F2A37"/>
                </a:solidFill>
                <a:latin typeface="Malgun Gothic"/>
                <a:ea typeface="Malgun Gothic"/>
              </a:rPr>
              <a:t>→ 관측 가능성 Q로 선별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1F2A37"/>
                </a:solidFill>
                <a:latin typeface="Malgun Gothic"/>
                <a:ea typeface="Malgun Gothic"/>
              </a:rPr>
              <a:t>보류한 수치는 null 처리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10727" y="2743200"/>
            <a:ext cx="3621024" cy="3520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3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10727" y="2825496"/>
            <a:ext cx="50292" cy="3355848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3608" y="2798064"/>
            <a:ext cx="3300984" cy="34107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</a:pPr>
            <a:r>
              <a:rPr sz="1600" b="1">
                <a:solidFill>
                  <a:srgbClr val="142A4C"/>
                </a:solidFill>
                <a:latin typeface="Malgun Gothic"/>
                <a:ea typeface="Malgun Gothic"/>
              </a:rPr>
              <a:t>③ 무작위 제외 비교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1F2A37"/>
                </a:solidFill>
                <a:latin typeface="Malgun Gothic"/>
                <a:ea typeface="Malgun Gothic"/>
              </a:rPr>
              <a:t>선별 이득 = '덜 봐서'?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1F2A37"/>
                </a:solidFill>
                <a:latin typeface="Malgun Gothic"/>
                <a:ea typeface="Malgun Gothic"/>
              </a:rPr>
              <a:t>같은 양 무작위 제거 R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1F2A37"/>
                </a:solidFill>
                <a:latin typeface="Malgun Gothic"/>
                <a:ea typeface="Malgun Gothic"/>
              </a:rPr>
              <a:t>→ 품질 규칙 고유 기여 분리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1F2A37"/>
                </a:solidFill>
                <a:latin typeface="Malgun Gothic"/>
                <a:ea typeface="Malgun Gothic"/>
              </a:rPr>
              <a:t>정보량 교란 통제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" y="6382512"/>
            <a:ext cx="112471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050" b="0">
                <a:solidFill>
                  <a:srgbClr val="5B6B80"/>
                </a:solidFill>
                <a:latin typeface="Malgun Gothic"/>
                <a:ea typeface="Malgun Gothic"/>
              </a:rPr>
              <a:t>탐색적(보정 없음): A0 · A0-time · A4 · 오류주입(bias/burst) 기전 — 주 비교 아님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28016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365760"/>
            <a:ext cx="603504" cy="603504"/>
          </a:xfrm>
          <a:prstGeom prst="roundRect">
            <a:avLst>
              <a:gd name="adj" fmla="val 5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74320"/>
            <a:ext cx="7360920" cy="8869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3000" b="1">
                <a:solidFill>
                  <a:srgbClr val="142A4C"/>
                </a:solidFill>
                <a:latin typeface="Malgun Gothic"/>
                <a:ea typeface="Malgun Gothic"/>
              </a:rPr>
              <a:t>실험 세팅 — 환경과 기록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350" b="0">
                <a:solidFill>
                  <a:srgbClr val="5B6B80"/>
                </a:solidFill>
                <a:latin typeface="Malgun Gothic"/>
                <a:ea typeface="Malgun Gothic"/>
              </a:rPr>
              <a:t>피드백 반영 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384048"/>
            <a:ext cx="306324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250" b="1">
                <a:solidFill>
                  <a:srgbClr val="0E838A"/>
                </a:solidFill>
                <a:latin typeface="Malgun Gothic"/>
                <a:ea typeface="Malgun Gothic"/>
              </a:rPr>
              <a:t>SETUP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5532120" cy="2514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3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71016"/>
            <a:ext cx="50292" cy="2350008"/>
          </a:xfrm>
          <a:prstGeom prst="rect">
            <a:avLst/>
          </a:prstGeom>
          <a:solidFill>
            <a:srgbClr val="0E8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43584"/>
            <a:ext cx="5212080" cy="24048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</a:pPr>
            <a:r>
              <a:rPr sz="1750" b="1">
                <a:solidFill>
                  <a:srgbClr val="142A4C"/>
                </a:solidFill>
                <a:latin typeface="Malgun Gothic"/>
                <a:ea typeface="Malgun Gothic"/>
              </a:rPr>
              <a:t>장비 · 저장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0">
                <a:solidFill>
                  <a:srgbClr val="1F2A37"/>
                </a:solidFill>
                <a:latin typeface="Malgun Gothic"/>
                <a:ea typeface="Malgun Gothic"/>
              </a:rPr>
              <a:t>D455 1대 (단일 RGB-D)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0">
                <a:solidFill>
                  <a:srgbClr val="1F2A37"/>
                </a:solidFill>
                <a:latin typeface="Malgun Gothic"/>
                <a:ea typeface="Malgun Gothic"/>
              </a:rPr>
              <a:t>RGB 1280×800 · depth 1280×720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0">
                <a:solidFill>
                  <a:srgbClr val="1F2A37"/>
                </a:solidFill>
                <a:latin typeface="Malgun Gothic"/>
                <a:ea typeface="Malgun Gothic"/>
              </a:rPr>
              <a:t>실측 16.9 · 24.6 fps (dt 불규칙)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0">
                <a:solidFill>
                  <a:srgbClr val="1F2A37"/>
                </a:solidFill>
                <a:latin typeface="Malgun Gothic"/>
                <a:ea typeface="Malgun Gothic"/>
              </a:rPr>
              <a:t>작업거리 0.65–0.85 m · 아래 30–45°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0">
                <a:solidFill>
                  <a:srgbClr val="1F2A37"/>
                </a:solidFill>
                <a:latin typeface="Malgun Gothic"/>
                <a:ea typeface="Malgun Gothic"/>
              </a:rPr>
              <a:t>저장 L0→L3 · 원시 depth 필수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188720"/>
            <a:ext cx="5532120" cy="2514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3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9632" y="1271016"/>
            <a:ext cx="50292" cy="2350008"/>
          </a:xfrm>
          <a:prstGeom prst="rect">
            <a:avLst/>
          </a:prstGeom>
          <a:solidFill>
            <a:srgbClr val="0E8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2512" y="1243584"/>
            <a:ext cx="5212080" cy="24048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</a:pPr>
            <a:r>
              <a:rPr sz="1750" b="1">
                <a:solidFill>
                  <a:srgbClr val="142A4C"/>
                </a:solidFill>
                <a:latin typeface="Malgun Gothic"/>
                <a:ea typeface="Malgun Gothic"/>
              </a:rPr>
              <a:t>환경 · 대상 · 절차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0">
                <a:solidFill>
                  <a:srgbClr val="1F2A37"/>
                </a:solidFill>
                <a:latin typeface="Malgun Gothic"/>
                <a:ea typeface="Malgun Gothic"/>
              </a:rPr>
              <a:t>테이블 75 · 의자 46(팔걸이 없음) · 선반 37 cm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0">
                <a:solidFill>
                  <a:srgbClr val="1F2A37"/>
                </a:solidFill>
                <a:latin typeface="Malgun Gothic"/>
                <a:ea typeface="Malgun Gothic"/>
              </a:rPr>
              <a:t>뇌졸중 23(3+20) · 비장애인 22(6+16)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0">
                <a:solidFill>
                  <a:srgbClr val="1F2A37"/>
                </a:solidFill>
                <a:latin typeface="Malgun Gothic"/>
                <a:ea typeface="Malgun Gothic"/>
              </a:rPr>
              <a:t>연습 2회 → 본 첫 3회 고정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0">
                <a:solidFill>
                  <a:srgbClr val="1F2A37"/>
                </a:solidFill>
                <a:latin typeface="Malgun Gothic"/>
                <a:ea typeface="Malgun Gothic"/>
              </a:rPr>
              <a:t>T1 → 휴식 → T2 · 시행 즉시 채점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840480"/>
            <a:ext cx="11274552" cy="2423160"/>
          </a:xfrm>
          <a:prstGeom prst="roundRect">
            <a:avLst>
              <a:gd name="adj" fmla="val 5000"/>
            </a:avLst>
          </a:prstGeom>
          <a:solidFill>
            <a:srgbClr val="F1F4F8"/>
          </a:solidFill>
          <a:ln w="12700">
            <a:solidFill>
              <a:srgbClr val="A9B6C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300"/>
              </a:spcAft>
            </a:pPr>
            <a:r>
              <a:rPr sz="1250" b="1">
                <a:solidFill>
                  <a:srgbClr val="475569"/>
                </a:solidFill>
                <a:latin typeface="Malgun Gothic"/>
                <a:ea typeface="Malgun Gothic"/>
              </a:rPr>
              <a:t>[ 사진 자리 ]  실험 세팅 전경</a:t>
            </a:r>
          </a:p>
          <a:p>
            <a:pPr algn="l">
              <a:lnSpc>
                <a:spcPct val="102000"/>
              </a:lnSpc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5B6B80"/>
                </a:solidFill>
                <a:latin typeface="Malgun Gothic"/>
                <a:ea typeface="Malgun Gothic"/>
              </a:rPr>
              <a:t>· 카메라(D455)+삼각대 위치 · 작업거리 0.65–0.85 m</a:t>
            </a:r>
          </a:p>
          <a:p>
            <a:pPr algn="l">
              <a:lnSpc>
                <a:spcPct val="102000"/>
              </a:lnSpc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5B6B80"/>
                </a:solidFill>
                <a:latin typeface="Malgun Gothic"/>
                <a:ea typeface="Malgun Gothic"/>
              </a:rPr>
              <a:t>· 테이블 75 cm + 선반 37 cm + 팔걸이 없는 의자</a:t>
            </a:r>
          </a:p>
          <a:p>
            <a:pPr algn="l">
              <a:lnSpc>
                <a:spcPct val="102000"/>
              </a:lnSpc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5B6B80"/>
                </a:solidFill>
                <a:latin typeface="Malgun Gothic"/>
                <a:ea typeface="Malgun Gothic"/>
              </a:rPr>
              <a:t>· 환측 손 + 블록/구슬/뚜껑이 함께 보이는 구도</a:t>
            </a:r>
          </a:p>
          <a:p>
            <a:pPr algn="l">
              <a:lnSpc>
                <a:spcPct val="102000"/>
              </a:lnSpc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5B6B80"/>
                </a:solidFill>
                <a:latin typeface="Malgun Gothic"/>
                <a:ea typeface="Malgun Gothic"/>
              </a:rPr>
              <a:t>· 측면 30–45° 시점 1장 + 위에서 본 배치 도면 1장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050" b="0">
                <a:solidFill>
                  <a:srgbClr val="A9B6C6"/>
                </a:solidFill>
                <a:latin typeface="Malgun Gothic"/>
                <a:ea typeface="Malgun Gothic"/>
              </a:rPr>
              <a:t>※ 이 칸에 사진/도면 넣기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6382512"/>
            <a:ext cx="112471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050" b="0">
                <a:solidFill>
                  <a:srgbClr val="5B6B80"/>
                </a:solidFill>
                <a:latin typeface="Malgun Gothic"/>
                <a:ea typeface="Malgun Gothic"/>
              </a:rPr>
              <a:t>ARAT 표준 물성·배치: Yozbatiran et al. 2008 (doi 10.1177/1545968307305353) · Lyle 1981 원형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28016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365760"/>
            <a:ext cx="603504" cy="603504"/>
          </a:xfrm>
          <a:prstGeom prst="roundRect">
            <a:avLst>
              <a:gd name="adj" fmla="val 5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74320"/>
            <a:ext cx="7360920" cy="8869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3000" b="1">
                <a:solidFill>
                  <a:srgbClr val="142A4C"/>
                </a:solidFill>
                <a:latin typeface="Malgun Gothic"/>
                <a:ea typeface="Malgun Gothic"/>
              </a:rPr>
              <a:t>왜 이 2개 동작인가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350" b="0">
                <a:solidFill>
                  <a:srgbClr val="5B6B80"/>
                </a:solidFill>
                <a:latin typeface="Malgun Gothic"/>
                <a:ea typeface="Malgun Gothic"/>
              </a:rPr>
              <a:t>피드백 반영 ② — '가장 어려운 것 하나면 되지 않나?'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384048"/>
            <a:ext cx="306324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250" b="1">
                <a:solidFill>
                  <a:srgbClr val="0E838A"/>
                </a:solidFill>
                <a:latin typeface="Malgun Gothic"/>
                <a:ea typeface="Malgun Gothic"/>
              </a:rPr>
              <a:t>RATIONALE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70432"/>
            <a:ext cx="11274552" cy="822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3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52728"/>
            <a:ext cx="50292" cy="658368"/>
          </a:xfrm>
          <a:prstGeom prst="rect">
            <a:avLst/>
          </a:prstGeom>
          <a:solidFill>
            <a:srgbClr val="B8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25296"/>
            <a:ext cx="10954511" cy="7132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</a:pPr>
            <a:r>
              <a:rPr sz="1500" b="1">
                <a:solidFill>
                  <a:srgbClr val="142A4C"/>
                </a:solidFill>
                <a:latin typeface="Malgun Gothic"/>
                <a:ea typeface="Malgun Gothic"/>
              </a:rPr>
              <a:t>전제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1">
                <a:solidFill>
                  <a:srgbClr val="1F2A37"/>
                </a:solidFill>
                <a:latin typeface="Malgun Gothic"/>
                <a:ea typeface="Malgun Gothic"/>
              </a:rPr>
              <a:t>ARAT 건너뛰기 규칙 = '가장 어려운 것 통과 → 아래 만점' —단, 하위검사(subtest) 내부 전용 (Lyle 1981)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103120"/>
            <a:ext cx="5532120" cy="2240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3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185415"/>
            <a:ext cx="50292" cy="2075688"/>
          </a:xfrm>
          <a:prstGeom prst="rect">
            <a:avLst/>
          </a:prstGeom>
          <a:solidFill>
            <a:srgbClr val="0E8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157984"/>
            <a:ext cx="5212080" cy="21305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</a:pPr>
            <a:r>
              <a:rPr sz="1650" b="1">
                <a:solidFill>
                  <a:srgbClr val="142A4C"/>
                </a:solidFill>
                <a:latin typeface="Malgun Gothic"/>
                <a:ea typeface="Malgun Gothic"/>
              </a:rPr>
              <a:t>① 규칙은 하위검사 내부 전용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1F2A37"/>
                </a:solidFill>
                <a:latin typeface="Malgun Gothic"/>
                <a:ea typeface="Malgun Gothic"/>
              </a:rPr>
              <a:t>Grasp·Grip·Pinch·Gross 각각 별도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1F2A37"/>
                </a:solidFill>
                <a:latin typeface="Malgun Gothic"/>
                <a:ea typeface="Malgun Gothic"/>
              </a:rPr>
              <a:t>"top marks for that subtest"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1F2A37"/>
                </a:solidFill>
                <a:latin typeface="Malgun Gothic"/>
                <a:ea typeface="Malgun Gothic"/>
              </a:rPr>
              <a:t>T1 = ARAT 3번 = Grasp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1F2A37"/>
                </a:solidFill>
                <a:latin typeface="Malgun Gothic"/>
                <a:ea typeface="Malgun Gothic"/>
              </a:rPr>
              <a:t>T2 = ARAT 12번 = Pinch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1">
                <a:solidFill>
                  <a:srgbClr val="1E7A46"/>
                </a:solidFill>
                <a:latin typeface="Malgun Gothic"/>
                <a:ea typeface="Malgun Gothic"/>
              </a:rPr>
              <a:t>→ 다른 하위검사 = 중복 아님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2103120"/>
            <a:ext cx="5532120" cy="2240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3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9632" y="2185415"/>
            <a:ext cx="50292" cy="2075688"/>
          </a:xfrm>
          <a:prstGeom prst="rect">
            <a:avLst/>
          </a:prstGeom>
          <a:solidFill>
            <a:srgbClr val="B3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2157984"/>
            <a:ext cx="5212080" cy="21305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</a:pPr>
            <a:r>
              <a:rPr sz="1650" b="1">
                <a:solidFill>
                  <a:srgbClr val="142A4C"/>
                </a:solidFill>
                <a:latin typeface="Malgun Gothic"/>
                <a:ea typeface="Malgun Gothic"/>
              </a:rPr>
              <a:t>② 위계 자체가 불완전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1F2A37"/>
                </a:solidFill>
                <a:latin typeface="Malgun Gothic"/>
                <a:ea typeface="Malgun Gothic"/>
              </a:rPr>
              <a:t>Koh 2006 (n=351) — 유일한 위계 위반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1">
                <a:solidFill>
                  <a:srgbClr val="B32D2D"/>
                </a:solidFill>
                <a:latin typeface="Malgun Gothic"/>
                <a:ea typeface="Malgun Gothic"/>
              </a:rPr>
              <a:t>   = pinch 항목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1F2A37"/>
                </a:solidFill>
                <a:latin typeface="Malgun Gothic"/>
                <a:ea typeface="Malgun Gothic"/>
              </a:rPr>
              <a:t>van der Lee 2002 — 15/19만 위계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1F2A37"/>
                </a:solidFill>
                <a:latin typeface="Malgun Gothic"/>
                <a:ea typeface="Malgun Gothic"/>
              </a:rPr>
              <a:t>소척도 구조 = 경험적 지지 없음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1">
                <a:solidFill>
                  <a:srgbClr val="B32D2D"/>
                </a:solidFill>
                <a:latin typeface="Malgun Gothic"/>
                <a:ea typeface="Malgun Gothic"/>
              </a:rPr>
              <a:t>→ '하나면 나머지 자동' 불성립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480560"/>
            <a:ext cx="11274552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3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562856"/>
            <a:ext cx="50292" cy="1618488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535424"/>
            <a:ext cx="10954511" cy="16733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</a:pPr>
            <a:r>
              <a:rPr sz="1650" b="1">
                <a:solidFill>
                  <a:srgbClr val="142A4C"/>
                </a:solidFill>
                <a:latin typeface="Malgun Gothic"/>
                <a:ea typeface="Malgun Gothic"/>
              </a:rPr>
              <a:t>③ 목적은 '총점 추정'이 아니다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450" b="0">
                <a:solidFill>
                  <a:srgbClr val="1F2A37"/>
                </a:solidFill>
                <a:latin typeface="Malgun Gothic"/>
                <a:ea typeface="Malgun Gothic"/>
              </a:rPr>
              <a:t>Koh 2006 — ARAT 원점수 = 순서 정보만 제공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450" b="0">
                <a:solidFill>
                  <a:srgbClr val="1F2A37"/>
                </a:solidFill>
                <a:latin typeface="Malgun Gothic"/>
                <a:ea typeface="Malgun Gothic"/>
              </a:rPr>
              <a:t>T2(구슬 · 엄지+검지 패드 강제) → K1 의미 성립 = 주 결과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450" b="0">
                <a:solidFill>
                  <a:srgbClr val="1F2A37"/>
                </a:solidFill>
                <a:latin typeface="Malgun Gothic"/>
                <a:ea typeface="Malgun Gothic"/>
              </a:rPr>
              <a:t>T1(블록 · 파지 자유) → K1 의미 애매 = 참고용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450" b="1">
                <a:solidFill>
                  <a:srgbClr val="1E7A46"/>
                </a:solidFill>
                <a:latin typeface="Malgun Gothic"/>
                <a:ea typeface="Malgun Gothic"/>
              </a:rPr>
              <a:t>→ 2개 = 난이도 커버리지가 아니라 '파지 구속(grasp constraint) 대비'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" y="6382512"/>
            <a:ext cx="112471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050" b="0">
                <a:solidFill>
                  <a:srgbClr val="5B6B80"/>
                </a:solidFill>
                <a:latin typeface="Malgun Gothic"/>
                <a:ea typeface="Malgun Gothic"/>
              </a:rPr>
              <a:t>Koh 2006: PMID 17067971 · van der Lee 2002: Clin Rehabil 16(6):646-653 (doi 10.1191/0269215502cr534oa)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28016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365760"/>
            <a:ext cx="603504" cy="603504"/>
          </a:xfrm>
          <a:prstGeom prst="roundRect">
            <a:avLst>
              <a:gd name="adj" fmla="val 5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74320"/>
            <a:ext cx="7360920" cy="8869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3000" b="1">
                <a:solidFill>
                  <a:srgbClr val="142A4C"/>
                </a:solidFill>
                <a:latin typeface="Malgun Gothic"/>
                <a:ea typeface="Malgun Gothic"/>
              </a:rPr>
              <a:t>두 과제의 물성과 배치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350" b="0">
                <a:solidFill>
                  <a:srgbClr val="5B6B80"/>
                </a:solidFill>
                <a:latin typeface="Malgun Gothic"/>
                <a:ea typeface="Malgun Gothic"/>
              </a:rPr>
              <a:t>ARAT 표준 (Yozbatiran 2008)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384048"/>
            <a:ext cx="306324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250" b="1">
                <a:solidFill>
                  <a:srgbClr val="0E838A"/>
                </a:solidFill>
                <a:latin typeface="Malgun Gothic"/>
                <a:ea typeface="Malgun Gothic"/>
              </a:rPr>
              <a:t>TASKS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5532120" cy="2514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3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71016"/>
            <a:ext cx="50292" cy="2350008"/>
          </a:xfrm>
          <a:prstGeom prst="rect">
            <a:avLst/>
          </a:prstGeom>
          <a:solidFill>
            <a:srgbClr val="1E7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43584"/>
            <a:ext cx="5212080" cy="24048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</a:pPr>
            <a:r>
              <a:rPr sz="1750" b="1">
                <a:solidFill>
                  <a:srgbClr val="142A4C"/>
                </a:solidFill>
                <a:latin typeface="Malgun Gothic"/>
                <a:ea typeface="Malgun Gothic"/>
              </a:rPr>
              <a:t>T2 · 주 결과  (ARAT 12번)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0">
                <a:solidFill>
                  <a:srgbClr val="1F2A37"/>
                </a:solidFill>
                <a:latin typeface="Malgun Gothic"/>
                <a:ea typeface="Malgun Gothic"/>
              </a:rPr>
              <a:t>소척도 = Pinch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0">
                <a:solidFill>
                  <a:srgbClr val="1F2A37"/>
                </a:solidFill>
                <a:latin typeface="Malgun Gothic"/>
                <a:ea typeface="Malgun Gothic"/>
              </a:rPr>
              <a:t>구슬 1.5 cm · 5.4 g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0">
                <a:solidFill>
                  <a:srgbClr val="1F2A37"/>
                </a:solidFill>
                <a:latin typeface="Malgun Gothic"/>
                <a:ea typeface="Malgun Gothic"/>
              </a:rPr>
              <a:t>엄지 + 검지 '패드' 강제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0">
                <a:solidFill>
                  <a:srgbClr val="1F2A37"/>
                </a:solidFill>
                <a:latin typeface="Malgun Gothic"/>
                <a:ea typeface="Malgun Gothic"/>
              </a:rPr>
              <a:t>하부 뚜껑 → 선반 상부 뚜껑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0">
                <a:solidFill>
                  <a:srgbClr val="1F2A37"/>
                </a:solidFill>
                <a:latin typeface="Malgun Gothic"/>
                <a:ea typeface="Malgun Gothic"/>
              </a:rPr>
              <a:t>3점 = 5초 이내 + 패드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188720"/>
            <a:ext cx="5532120" cy="2514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3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9632" y="1271016"/>
            <a:ext cx="50292" cy="2350008"/>
          </a:xfrm>
          <a:prstGeom prst="rect">
            <a:avLst/>
          </a:prstGeom>
          <a:solidFill>
            <a:srgbClr val="B8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2512" y="1243584"/>
            <a:ext cx="5212080" cy="24048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</a:pPr>
            <a:r>
              <a:rPr sz="1750" b="1">
                <a:solidFill>
                  <a:srgbClr val="142A4C"/>
                </a:solidFill>
                <a:latin typeface="Malgun Gothic"/>
                <a:ea typeface="Malgun Gothic"/>
              </a:rPr>
              <a:t>T1 · 참고  (ARAT 3번)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0">
                <a:solidFill>
                  <a:srgbClr val="1F2A37"/>
                </a:solidFill>
                <a:latin typeface="Malgun Gothic"/>
                <a:ea typeface="Malgun Gothic"/>
              </a:rPr>
              <a:t>소척도 = Grasp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0">
                <a:solidFill>
                  <a:srgbClr val="1F2A37"/>
                </a:solidFill>
                <a:latin typeface="Malgun Gothic"/>
                <a:ea typeface="Malgun Gothic"/>
              </a:rPr>
              <a:t>블록 5 cm · 55 g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0">
                <a:solidFill>
                  <a:srgbClr val="1F2A37"/>
                </a:solidFill>
                <a:latin typeface="Malgun Gothic"/>
                <a:ea typeface="Malgun Gothic"/>
              </a:rPr>
              <a:t>opposition이면 파지 자유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0">
                <a:solidFill>
                  <a:srgbClr val="1F2A37"/>
                </a:solidFill>
                <a:latin typeface="Malgun Gothic"/>
                <a:ea typeface="Malgun Gothic"/>
              </a:rPr>
              <a:t>테이블 → 선반 37 cm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0">
                <a:solidFill>
                  <a:srgbClr val="1F2A37"/>
                </a:solidFill>
                <a:latin typeface="Malgun Gothic"/>
                <a:ea typeface="Malgun Gothic"/>
              </a:rPr>
              <a:t>3점 = 5초 이내 정상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840480"/>
            <a:ext cx="5532120" cy="2423160"/>
          </a:xfrm>
          <a:prstGeom prst="roundRect">
            <a:avLst>
              <a:gd name="adj" fmla="val 5000"/>
            </a:avLst>
          </a:prstGeom>
          <a:solidFill>
            <a:srgbClr val="F1F4F8"/>
          </a:solidFill>
          <a:ln w="12700">
            <a:solidFill>
              <a:srgbClr val="A9B6C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300"/>
              </a:spcAft>
            </a:pPr>
            <a:r>
              <a:rPr sz="1250" b="1">
                <a:solidFill>
                  <a:srgbClr val="475569"/>
                </a:solidFill>
                <a:latin typeface="Malgun Gothic"/>
                <a:ea typeface="Malgun Gothic"/>
              </a:rPr>
              <a:t>[ 사진 자리 ]  T1 · T2 물체와 배치</a:t>
            </a:r>
          </a:p>
          <a:p>
            <a:pPr algn="l">
              <a:lnSpc>
                <a:spcPct val="102000"/>
              </a:lnSpc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5B6B80"/>
                </a:solidFill>
                <a:latin typeface="Malgun Gothic"/>
                <a:ea typeface="Malgun Gothic"/>
              </a:rPr>
              <a:t>· 5 cm 블록(55 g) vs 구슬(1.5 cm, 5.4 g) 실물 비교</a:t>
            </a:r>
          </a:p>
          <a:p>
            <a:pPr algn="l">
              <a:lnSpc>
                <a:spcPct val="102000"/>
              </a:lnSpc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5B6B80"/>
                </a:solidFill>
                <a:latin typeface="Malgun Gothic"/>
                <a:ea typeface="Malgun Gothic"/>
              </a:rPr>
              <a:t>· 선반 37 cm 위 뚜껑에 구슬 놓는 장면</a:t>
            </a:r>
          </a:p>
          <a:p>
            <a:pPr algn="l">
              <a:lnSpc>
                <a:spcPct val="102000"/>
              </a:lnSpc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5B6B80"/>
                </a:solidFill>
                <a:latin typeface="Malgun Gothic"/>
                <a:ea typeface="Malgun Gothic"/>
              </a:rPr>
              <a:t>· 배치 도면: 물체 위치 · 뚜껑 2개 · 선반 높이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050" b="0">
                <a:solidFill>
                  <a:srgbClr val="A9B6C6"/>
                </a:solidFill>
                <a:latin typeface="Malgun Gothic"/>
                <a:ea typeface="Malgun Gothic"/>
              </a:rPr>
              <a:t>※ 이 칸에 사진/도면 넣기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3840480"/>
            <a:ext cx="5532120" cy="2423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3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9632" y="3922776"/>
            <a:ext cx="50292" cy="2258568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2512" y="3895344"/>
            <a:ext cx="5212080" cy="23134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</a:pPr>
            <a:r>
              <a:rPr sz="1600" b="1">
                <a:solidFill>
                  <a:srgbClr val="142A4C"/>
                </a:solidFill>
                <a:latin typeface="Malgun Gothic"/>
                <a:ea typeface="Malgun Gothic"/>
              </a:rPr>
              <a:t>채점 · 차이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450" b="0">
                <a:solidFill>
                  <a:srgbClr val="1F2A37"/>
                </a:solidFill>
                <a:latin typeface="Malgun Gothic"/>
                <a:ea typeface="Malgun Gothic"/>
              </a:rPr>
              <a:t>0 못함 / 1 부분 / 2 완료 / 3 정상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450" b="0">
                <a:solidFill>
                  <a:srgbClr val="1F2A37"/>
                </a:solidFill>
                <a:latin typeface="Malgun Gothic"/>
                <a:ea typeface="Malgun Gothic"/>
              </a:rPr>
              <a:t>무게 10배 · 크기 3.3배 차이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450" b="0">
                <a:solidFill>
                  <a:srgbClr val="1F2A37"/>
                </a:solidFill>
                <a:latin typeface="Malgun Gothic"/>
                <a:ea typeface="Malgun Gothic"/>
              </a:rPr>
              <a:t>구슬(12번) = 두 번째 난이도군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450" b="1">
                <a:solidFill>
                  <a:srgbClr val="B86A00"/>
                </a:solidFill>
                <a:latin typeface="Malgun Gothic"/>
                <a:ea typeface="Malgun Gothic"/>
              </a:rPr>
              <a:t>핵심 = 37 cm 수직 들어올리기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450" b="1">
                <a:solidFill>
                  <a:srgbClr val="B86A00"/>
                </a:solidFill>
                <a:latin typeface="Malgun Gothic"/>
                <a:ea typeface="Malgun Gothic"/>
              </a:rPr>
              <a:t>→ 카메라 수직 시야 필요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450" b="1">
                <a:solidFill>
                  <a:srgbClr val="B32D2D"/>
                </a:solidFill>
                <a:latin typeface="Malgun Gothic"/>
                <a:ea typeface="Malgun Gothic"/>
              </a:rPr>
              <a:t>합계 0–6점 = 임상점수 아님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" y="6382512"/>
            <a:ext cx="112471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050" b="0">
                <a:solidFill>
                  <a:srgbClr val="5B6B80"/>
                </a:solidFill>
                <a:latin typeface="Malgun Gothic"/>
                <a:ea typeface="Malgun Gothic"/>
              </a:rPr>
              <a:t>출처: rgbd-grasp-vlm-protocol-analysis.md §0-1 (ARAT 19개 항목 물성표)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28016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365760"/>
            <a:ext cx="603504" cy="603504"/>
          </a:xfrm>
          <a:prstGeom prst="roundRect">
            <a:avLst>
              <a:gd name="adj" fmla="val 5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74320"/>
            <a:ext cx="7360920" cy="8869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3000" b="1">
                <a:solidFill>
                  <a:srgbClr val="142A4C"/>
                </a:solidFill>
                <a:latin typeface="Malgun Gothic"/>
                <a:ea typeface="Malgun Gothic"/>
              </a:rPr>
              <a:t>VLM에 넣는 두 수치 — K1 · K2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350" b="0">
                <a:solidFill>
                  <a:srgbClr val="5B6B80"/>
                </a:solidFill>
                <a:latin typeface="Malgun Gothic"/>
                <a:ea typeface="Malgun Gothic"/>
              </a:rPr>
              <a:t>계산은 원본 프레임(L1)에서만 · VLM 프레임에서 재계산 금지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384048"/>
            <a:ext cx="306324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250" b="1">
                <a:solidFill>
                  <a:srgbClr val="0E838A"/>
                </a:solidFill>
                <a:latin typeface="Malgun Gothic"/>
                <a:ea typeface="Malgun Gothic"/>
              </a:rPr>
              <a:t>FEATURES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5532120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3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71016"/>
            <a:ext cx="50292" cy="1984248"/>
          </a:xfrm>
          <a:prstGeom prst="rect">
            <a:avLst/>
          </a:prstGeom>
          <a:solidFill>
            <a:srgbClr val="0E8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43584"/>
            <a:ext cx="5212080" cy="20391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</a:pPr>
            <a:r>
              <a:rPr sz="1750" b="1">
                <a:solidFill>
                  <a:srgbClr val="142A4C"/>
                </a:solidFill>
                <a:latin typeface="Malgun Gothic"/>
                <a:ea typeface="Malgun Gothic"/>
              </a:rPr>
              <a:t>K1 — 엄지–검지 표면점 거리 (mm)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0">
                <a:solidFill>
                  <a:srgbClr val="1F2A37"/>
                </a:solidFill>
                <a:latin typeface="Malgun Gothic"/>
                <a:ea typeface="Malgun Gothic"/>
              </a:rPr>
              <a:t>MediaPipe 4번(엄지끝) · 8번(검지끝) 표면점 3D 거리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0">
                <a:solidFill>
                  <a:srgbClr val="1F2A37"/>
                </a:solidFill>
                <a:latin typeface="Malgun Gothic"/>
                <a:ea typeface="Malgun Gothic"/>
              </a:rPr>
              <a:t>관찰 구간 P95 (95백분위수)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1">
                <a:solidFill>
                  <a:srgbClr val="B32D2D"/>
                </a:solidFill>
                <a:latin typeface="Malgun Gothic"/>
                <a:ea typeface="Malgun Gothic"/>
              </a:rPr>
              <a:t>금지: PAp · 최대 벌림 · 관절 중심 거리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188720"/>
            <a:ext cx="5532120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3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9632" y="1271016"/>
            <a:ext cx="50292" cy="1984248"/>
          </a:xfrm>
          <a:prstGeom prst="rect">
            <a:avLst/>
          </a:prstGeom>
          <a:solidFill>
            <a:srgbClr val="0E8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2512" y="1243584"/>
            <a:ext cx="5212080" cy="20391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</a:pPr>
            <a:r>
              <a:rPr sz="1750" b="1">
                <a:solidFill>
                  <a:srgbClr val="142A4C"/>
                </a:solidFill>
                <a:latin typeface="Malgun Gothic"/>
                <a:ea typeface="Malgun Gothic"/>
              </a:rPr>
              <a:t>K2 — 손목 표면점 속도 (mm/s)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0">
                <a:solidFill>
                  <a:srgbClr val="1F2A37"/>
                </a:solidFill>
                <a:latin typeface="Malgun Gothic"/>
                <a:ea typeface="Malgun Gothic"/>
              </a:rPr>
              <a:t>MediaPipe 0번(손목) 표면점 3D 속도 P95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0">
                <a:solidFill>
                  <a:srgbClr val="1F2A37"/>
                </a:solidFill>
                <a:latin typeface="Malgun Gothic"/>
                <a:ea typeface="Malgun Gothic"/>
              </a:rPr>
              <a:t>dt = 장치/프레임 타임스탬프만 (벽시계 금지)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1">
                <a:solidFill>
                  <a:srgbClr val="B32D2D"/>
                </a:solidFill>
                <a:latin typeface="Malgun Gothic"/>
                <a:ea typeface="Malgun Gothic"/>
              </a:rPr>
              <a:t>금지: 손가락 민첩성 · 신경 회복량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474720"/>
            <a:ext cx="5532120" cy="2788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3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557015"/>
            <a:ext cx="50292" cy="2624327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529584"/>
            <a:ext cx="5212080" cy="2679191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</a:pPr>
            <a:r>
              <a:rPr sz="1750" b="1">
                <a:solidFill>
                  <a:srgbClr val="142A4C"/>
                </a:solidFill>
                <a:latin typeface="Malgun Gothic"/>
                <a:ea typeface="Malgun Gothic"/>
              </a:rPr>
              <a:t>계산 6단계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450" b="0">
                <a:solidFill>
                  <a:srgbClr val="1F2A37"/>
                </a:solidFill>
                <a:latin typeface="Malgun Gothic"/>
                <a:ea typeface="Malgun Gothic"/>
              </a:rPr>
              <a:t>① 5×5 depth 중앙값 · 유효 ≥50%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450" b="0">
                <a:solidFill>
                  <a:srgbClr val="1F2A37"/>
                </a:solidFill>
                <a:latin typeface="Malgun Gothic"/>
                <a:ea typeface="Malgun Gothic"/>
              </a:rPr>
              <a:t>② 역투영 → 3D 좌표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450" b="0">
                <a:solidFill>
                  <a:srgbClr val="1F2A37"/>
                </a:solidFill>
                <a:latin typeface="Malgun Gothic"/>
                <a:ea typeface="Malgun Gothic"/>
              </a:rPr>
              <a:t>③ 손-일관성 3D 거리 ∈ [60, 230] mm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450" b="0">
                <a:solidFill>
                  <a:srgbClr val="1F2A37"/>
                </a:solidFill>
                <a:latin typeface="Malgun Gothic"/>
                <a:ea typeface="Malgun Gothic"/>
              </a:rPr>
              <a:t>④ K1 = 4–8번 거리 P95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450" b="0">
                <a:solidFill>
                  <a:srgbClr val="1F2A37"/>
                </a:solidFill>
                <a:latin typeface="Malgun Gothic"/>
                <a:ea typeface="Malgun Gothic"/>
              </a:rPr>
              <a:t>⑤ K2 = 0번 속도 P95 · dt 하한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450" b="0">
                <a:solidFill>
                  <a:srgbClr val="1F2A37"/>
                </a:solidFill>
                <a:latin typeface="Malgun Gothic"/>
                <a:ea typeface="Malgun Gothic"/>
              </a:rPr>
              <a:t>⑥ 검출 실패 = 하드 결측 (보간 금지)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9632" y="3474720"/>
            <a:ext cx="5532120" cy="2788920"/>
          </a:xfrm>
          <a:prstGeom prst="roundRect">
            <a:avLst>
              <a:gd name="adj" fmla="val 5000"/>
            </a:avLst>
          </a:prstGeom>
          <a:solidFill>
            <a:srgbClr val="F1F4F8"/>
          </a:solidFill>
          <a:ln w="12700">
            <a:solidFill>
              <a:srgbClr val="A9B6C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300"/>
              </a:spcAft>
            </a:pPr>
            <a:r>
              <a:rPr sz="1250" b="1">
                <a:solidFill>
                  <a:srgbClr val="475569"/>
                </a:solidFill>
                <a:latin typeface="Malgun Gothic"/>
                <a:ea typeface="Malgun Gothic"/>
              </a:rPr>
              <a:t>[ 사진 자리 ]  K1·K2 개념도</a:t>
            </a:r>
          </a:p>
          <a:p>
            <a:pPr algn="l">
              <a:lnSpc>
                <a:spcPct val="102000"/>
              </a:lnSpc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5B6B80"/>
                </a:solidFill>
                <a:latin typeface="Malgun Gothic"/>
                <a:ea typeface="Malgun Gothic"/>
              </a:rPr>
              <a:t>· MediaPipe 21점에 4·8번(빨강) · 0번(파랑) 표시</a:t>
            </a:r>
          </a:p>
          <a:p>
            <a:pPr algn="l">
              <a:lnSpc>
                <a:spcPct val="102000"/>
              </a:lnSpc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5B6B80"/>
                </a:solidFill>
                <a:latin typeface="Malgun Gothic"/>
                <a:ea typeface="Malgun Gothic"/>
              </a:rPr>
              <a:t>· K1 = 엄지–검지 거리 화살표 · K2 = 손목 속도 벡터</a:t>
            </a:r>
          </a:p>
          <a:p>
            <a:pPr algn="l">
              <a:lnSpc>
                <a:spcPct val="102000"/>
              </a:lnSpc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5B6B80"/>
                </a:solidFill>
                <a:latin typeface="Malgun Gothic"/>
                <a:ea typeface="Malgun Gothic"/>
              </a:rPr>
              <a:t>· 가림 시 랜드마크가 배경에 찍힌 '오염' vs 정상 예시</a:t>
            </a:r>
          </a:p>
          <a:p>
            <a:pPr algn="l">
              <a:lnSpc>
                <a:spcPct val="102000"/>
              </a:lnSpc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5B6B80"/>
                </a:solidFill>
                <a:latin typeface="Malgun Gothic"/>
                <a:ea typeface="Malgun Gothic"/>
              </a:rPr>
              <a:t>· ③ 손-일관성 검사 OFF면 K1 오염 110배 — 대비 그림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050" b="0">
                <a:solidFill>
                  <a:srgbClr val="A9B6C6"/>
                </a:solidFill>
                <a:latin typeface="Malgun Gothic"/>
                <a:ea typeface="Malgun Gothic"/>
              </a:rPr>
              <a:t>※ 이 칸에 사진/도면 넣기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" y="6382512"/>
            <a:ext cx="112471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050" b="0">
                <a:solidFill>
                  <a:srgbClr val="5B6B80"/>
                </a:solidFill>
                <a:latin typeface="Malgun Gothic"/>
                <a:ea typeface="Malgun Gothic"/>
              </a:rPr>
              <a:t>P95는 '표면점 대리값' · 해부학적 관절 중심 거리 아님 (research-plan-v6.md §5)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28016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365760"/>
            <a:ext cx="603504" cy="603504"/>
          </a:xfrm>
          <a:prstGeom prst="roundRect">
            <a:avLst>
              <a:gd name="adj" fmla="val 5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74320"/>
            <a:ext cx="7360920" cy="8869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2600" b="1">
                <a:solidFill>
                  <a:srgbClr val="142A4C"/>
                </a:solidFill>
                <a:latin typeface="Malgun Gothic"/>
                <a:ea typeface="Malgun Gothic"/>
              </a:rPr>
              <a:t>품질 선별 규칙 Q — '믿을 만한 수치인가'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350" b="0">
                <a:solidFill>
                  <a:srgbClr val="5B6B80"/>
                </a:solidFill>
                <a:latin typeface="Malgun Gothic"/>
                <a:ea typeface="Malgun Gothic"/>
              </a:rPr>
              <a:t>카메라 1대로 정확도는 알 수 없다 → 관측 가능성을 잰다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384048"/>
            <a:ext cx="306324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250" b="1">
                <a:solidFill>
                  <a:srgbClr val="0E838A"/>
                </a:solidFill>
                <a:latin typeface="Malgun Gothic"/>
                <a:ea typeface="Malgun Gothic"/>
              </a:rPr>
              <a:t>QUALITY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6903720" cy="3017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3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71016"/>
            <a:ext cx="50292" cy="2852927"/>
          </a:xfrm>
          <a:prstGeom prst="rect">
            <a:avLst/>
          </a:prstGeom>
          <a:solidFill>
            <a:srgbClr val="0E8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43584"/>
            <a:ext cx="6583680" cy="2907791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</a:pPr>
            <a:r>
              <a:rPr sz="1750" b="1">
                <a:solidFill>
                  <a:srgbClr val="142A4C"/>
                </a:solidFill>
                <a:latin typeface="Malgun Gothic"/>
                <a:ea typeface="Malgun Gothic"/>
              </a:rPr>
              <a:t>규칙 5개 (본평가 전 동결)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450" b="0">
                <a:solidFill>
                  <a:srgbClr val="1F2A37"/>
                </a:solidFill>
                <a:latin typeface="Malgun Gothic"/>
                <a:ea typeface="Malgun Gothic"/>
              </a:rPr>
              <a:t>Q1  깊이 유효 비율        — 개발 자료에서 확정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450" b="0">
                <a:solidFill>
                  <a:srgbClr val="1F2A37"/>
                </a:solidFill>
                <a:latin typeface="Malgun Gothic"/>
                <a:ea typeface="Malgun Gothic"/>
              </a:rPr>
              <a:t>Q2  최장 연속 결측        — &gt; 0.3초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450" b="0">
                <a:solidFill>
                  <a:srgbClr val="1F2A37"/>
                </a:solidFill>
                <a:latin typeface="Malgun Gothic"/>
                <a:ea typeface="Malgun Gothic"/>
              </a:rPr>
              <a:t>Q3  유효 표본 수          — &lt; 50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450" b="0">
                <a:solidFill>
                  <a:srgbClr val="1F2A37"/>
                </a:solidFill>
                <a:latin typeface="Malgun Gothic"/>
                <a:ea typeface="Malgun Gothic"/>
              </a:rPr>
              <a:t>Q4  깊이 경계 혼합        — &gt; 50%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450" b="0">
                <a:solidFill>
                  <a:srgbClr val="1F2A37"/>
                </a:solidFill>
                <a:latin typeface="Malgun Gothic"/>
                <a:ea typeface="Malgun Gothic"/>
              </a:rPr>
              <a:t>Q5  손가락·손목 가림      — 2인 판정, &gt; 50%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450" b="1">
                <a:solidFill>
                  <a:srgbClr val="1E7A46"/>
                </a:solidFill>
                <a:latin typeface="Malgun Gothic"/>
                <a:ea typeface="Malgun Gothic"/>
              </a:rPr>
              <a:t>걸린 K1·K2 = null 보류 · 다른 유효 수치는 그대로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450" b="1">
                <a:solidFill>
                  <a:srgbClr val="B32D2D"/>
                </a:solidFill>
                <a:latin typeface="Malgun Gothic"/>
                <a:ea typeface="Malgun Gothic"/>
              </a:rPr>
              <a:t>임계값은 치료사 점수 보지 않고 고정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16952" y="1188720"/>
            <a:ext cx="4114800" cy="3017520"/>
          </a:xfrm>
          <a:prstGeom prst="roundRect">
            <a:avLst>
              <a:gd name="adj" fmla="val 5000"/>
            </a:avLst>
          </a:prstGeom>
          <a:solidFill>
            <a:srgbClr val="F1F4F8"/>
          </a:solidFill>
          <a:ln w="12700">
            <a:solidFill>
              <a:srgbClr val="A9B6C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300"/>
              </a:spcAft>
            </a:pPr>
            <a:r>
              <a:rPr sz="1250" b="1">
                <a:solidFill>
                  <a:srgbClr val="475569"/>
                </a:solidFill>
                <a:latin typeface="Malgun Gothic"/>
                <a:ea typeface="Malgun Gothic"/>
              </a:rPr>
              <a:t>[ 사진 자리 ]  Q 판정 예시</a:t>
            </a:r>
          </a:p>
          <a:p>
            <a:pPr algn="l">
              <a:lnSpc>
                <a:spcPct val="102000"/>
              </a:lnSpc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5B6B80"/>
                </a:solidFill>
                <a:latin typeface="Malgun Gothic"/>
                <a:ea typeface="Malgun Gothic"/>
              </a:rPr>
              <a:t>· 정상 프레임 vs 가림 프레임 (RGB)</a:t>
            </a:r>
          </a:p>
          <a:p>
            <a:pPr algn="l">
              <a:lnSpc>
                <a:spcPct val="102000"/>
              </a:lnSpc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5B6B80"/>
                </a:solidFill>
                <a:latin typeface="Malgun Gothic"/>
                <a:ea typeface="Malgun Gothic"/>
              </a:rPr>
              <a:t>· depth 유효 마스크가 뚫린(결측) 예시</a:t>
            </a:r>
          </a:p>
          <a:p>
            <a:pPr algn="l">
              <a:lnSpc>
                <a:spcPct val="102000"/>
              </a:lnSpc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5B6B80"/>
                </a:solidFill>
                <a:latin typeface="Malgun Gothic"/>
                <a:ea typeface="Malgun Gothic"/>
              </a:rPr>
              <a:t>· 랜드마크가 물체 경계에 걸린 '경계 혼합' 예시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050" b="0">
                <a:solidFill>
                  <a:srgbClr val="A9B6C6"/>
                </a:solidFill>
                <a:latin typeface="Malgun Gothic"/>
                <a:ea typeface="Malgun Gothic"/>
              </a:rPr>
              <a:t>※ 이 칸에 사진/도면 넣기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343400"/>
            <a:ext cx="11274552" cy="187451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3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4425696"/>
            <a:ext cx="50292" cy="1709928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398264"/>
            <a:ext cx="10954511" cy="1764791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</a:pPr>
            <a:r>
              <a:rPr sz="1750" b="1">
                <a:solidFill>
                  <a:srgbClr val="142A4C"/>
                </a:solidFill>
                <a:latin typeface="Malgun Gothic"/>
                <a:ea typeface="Malgun Gothic"/>
              </a:rPr>
              <a:t>R (무작위 제외) 조건 · 한계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0">
                <a:solidFill>
                  <a:srgbClr val="1F2A37"/>
                </a:solidFill>
                <a:latin typeface="Malgun Gothic"/>
                <a:ea typeface="Malgun Gothic"/>
              </a:rPr>
              <a:t>R = A3와 '같은 수'를 품질 무관하게 무작위 제거 (지표별 매칭 · 시드 3개)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0">
                <a:solidFill>
                  <a:srgbClr val="1F2A37"/>
                </a:solidFill>
                <a:latin typeface="Malgun Gothic"/>
                <a:ea typeface="Malgun Gothic"/>
              </a:rPr>
              <a:t>원래 불가능한 하드 결측 = 모든 조건 유지 (R에서도 복원 금지)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1">
                <a:solidFill>
                  <a:srgbClr val="B86A00"/>
                </a:solidFill>
                <a:latin typeface="Malgun Gothic"/>
                <a:ea typeface="Malgun Gothic"/>
              </a:rPr>
              <a:t>지표별 제외율 &gt; 50% → 그 지표의 R 비교 제한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6382512"/>
            <a:ext cx="112471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050" b="0">
                <a:solidFill>
                  <a:srgbClr val="5B6B80"/>
                </a:solidFill>
                <a:latin typeface="Malgun Gothic"/>
                <a:ea typeface="Malgun Gothic"/>
              </a:rPr>
              <a:t>Q는 '교정된 mm 오차 확률'도, 환자의 중증도도 아니다 (research-plan-v6.md §5.2 · §12)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28016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365760"/>
            <a:ext cx="603504" cy="603504"/>
          </a:xfrm>
          <a:prstGeom prst="roundRect">
            <a:avLst>
              <a:gd name="adj" fmla="val 5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74320"/>
            <a:ext cx="7360920" cy="8869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3000" b="1">
                <a:solidFill>
                  <a:srgbClr val="142A4C"/>
                </a:solidFill>
                <a:latin typeface="Malgun Gothic"/>
                <a:ea typeface="Malgun Gothic"/>
              </a:rPr>
              <a:t>실험 조건과 세 가지 비교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350" b="0">
                <a:solidFill>
                  <a:srgbClr val="5B6B80"/>
                </a:solidFill>
                <a:latin typeface="Malgun Gothic"/>
                <a:ea typeface="Malgun Gothic"/>
              </a:rPr>
              <a:t>같은 영상·사람·시행에서 수치의 양과 품질만 변경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384048"/>
            <a:ext cx="306324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250" b="1">
                <a:solidFill>
                  <a:srgbClr val="0E838A"/>
                </a:solidFill>
                <a:latin typeface="Malgun Gothic"/>
                <a:ea typeface="Malgun Gothic"/>
              </a:rPr>
              <a:t>DESIGN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207008"/>
          <a:ext cx="11274552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920240"/>
                <a:gridCol w="3685032"/>
                <a:gridCol w="4754880"/>
              </a:tblGrid>
              <a:tr h="46634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조건</a:t>
                      </a:r>
                    </a:p>
                  </a:txBody>
                  <a:tcPr anchor="ctr">
                    <a:solidFill>
                      <a:srgbClr val="142A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이름</a:t>
                      </a:r>
                    </a:p>
                  </a:txBody>
                  <a:tcPr anchor="ctr">
                    <a:solidFill>
                      <a:srgbClr val="142A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VLM에 넣는 수치</a:t>
                      </a:r>
                    </a:p>
                  </a:txBody>
                  <a:tcPr anchor="ctr">
                    <a:solidFill>
                      <a:srgbClr val="142A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비교 목적</a:t>
                      </a:r>
                    </a:p>
                  </a:txBody>
                  <a:tcPr anchor="ctr">
                    <a:solidFill>
                      <a:srgbClr val="142A4C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42A4C"/>
                          </a:solidFill>
                          <a:latin typeface="Malgun Gothic"/>
                          <a:ea typeface="Malgun Gothic"/>
                        </a:rPr>
                        <a:t>A1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A37"/>
                          </a:solidFill>
                          <a:latin typeface="Malgun Gothic"/>
                          <a:ea typeface="Malgun Gothic"/>
                        </a:rPr>
                        <a:t>영상 기준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A37"/>
                          </a:solidFill>
                          <a:latin typeface="Malgun Gothic"/>
                          <a:ea typeface="Malgun Gothic"/>
                        </a:rPr>
                        <a:t>K1·K2 미제공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A37"/>
                          </a:solidFill>
                          <a:latin typeface="Malgun Gothic"/>
                          <a:ea typeface="Malgun Gothic"/>
                        </a:rPr>
                        <a:t>영상만 기준선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42A4C"/>
                          </a:solidFill>
                          <a:latin typeface="Malgun Gothic"/>
                          <a:ea typeface="Malgun Gothic"/>
                        </a:rPr>
                        <a:t>A2</a:t>
                      </a:r>
                    </a:p>
                  </a:txBody>
                  <a:tcPr anchor="ctr"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A37"/>
                          </a:solidFill>
                          <a:latin typeface="Malgun Gothic"/>
                          <a:ea typeface="Malgun Gothic"/>
                        </a:rPr>
                        <a:t>전체 제공</a:t>
                      </a:r>
                    </a:p>
                  </a:txBody>
                  <a:tcPr anchor="ctr"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A37"/>
                          </a:solidFill>
                          <a:latin typeface="Malgun Gothic"/>
                          <a:ea typeface="Malgun Gothic"/>
                        </a:rPr>
                        <a:t>계산 가능 수치 전부</a:t>
                      </a:r>
                    </a:p>
                  </a:txBody>
                  <a:tcPr anchor="ctr"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A37"/>
                          </a:solidFill>
                          <a:latin typeface="Malgun Gothic"/>
                          <a:ea typeface="Malgun Gothic"/>
                        </a:rPr>
                        <a:t>A2 vs A1 → 수치 주입 (PR-1)</a:t>
                      </a:r>
                    </a:p>
                  </a:txBody>
                  <a:tcPr anchor="ctr">
                    <a:solidFill>
                      <a:srgbClr val="ECF2F7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42A4C"/>
                          </a:solidFill>
                          <a:latin typeface="Malgun Gothic"/>
                          <a:ea typeface="Malgun Gothic"/>
                        </a:rPr>
                        <a:t>A3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A37"/>
                          </a:solidFill>
                          <a:latin typeface="Malgun Gothic"/>
                          <a:ea typeface="Malgun Gothic"/>
                        </a:rPr>
                        <a:t>품질 선별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A37"/>
                          </a:solidFill>
                          <a:latin typeface="Malgun Gothic"/>
                          <a:ea typeface="Malgun Gothic"/>
                        </a:rPr>
                        <a:t>Q 통과 수치만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A37"/>
                          </a:solidFill>
                          <a:latin typeface="Malgun Gothic"/>
                          <a:ea typeface="Malgun Gothic"/>
                        </a:rPr>
                        <a:t>A2 vs A3 → 게이팅 (PR-2)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42A4C"/>
                          </a:solidFill>
                          <a:latin typeface="Malgun Gothic"/>
                          <a:ea typeface="Malgun Gothic"/>
                        </a:rPr>
                        <a:t>R</a:t>
                      </a:r>
                    </a:p>
                  </a:txBody>
                  <a:tcPr anchor="ctr"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A37"/>
                          </a:solidFill>
                          <a:latin typeface="Malgun Gothic"/>
                          <a:ea typeface="Malgun Gothic"/>
                        </a:rPr>
                        <a:t>무작위 제외</a:t>
                      </a:r>
                    </a:p>
                  </a:txBody>
                  <a:tcPr anchor="ctr"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A37"/>
                          </a:solidFill>
                          <a:latin typeface="Malgun Gothic"/>
                          <a:ea typeface="Malgun Gothic"/>
                        </a:rPr>
                        <a:t>A3와 같은 수 무작위</a:t>
                      </a:r>
                    </a:p>
                  </a:txBody>
                  <a:tcPr anchor="ctr"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A37"/>
                          </a:solidFill>
                          <a:latin typeface="Malgun Gothic"/>
                          <a:ea typeface="Malgun Gothic"/>
                        </a:rPr>
                        <a:t>R vs A3 → 고유 가치 (PR-3)</a:t>
                      </a:r>
                    </a:p>
                  </a:txBody>
                  <a:tcPr anchor="ctr">
                    <a:solidFill>
                      <a:srgbClr val="ECF2F7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3703320"/>
            <a:ext cx="5532120" cy="2514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3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3785615"/>
            <a:ext cx="50292" cy="2350008"/>
          </a:xfrm>
          <a:prstGeom prst="rect">
            <a:avLst/>
          </a:prstGeom>
          <a:solidFill>
            <a:srgbClr val="B8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758183"/>
            <a:ext cx="5212080" cy="24048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</a:pPr>
            <a:r>
              <a:rPr sz="1600" b="1">
                <a:solidFill>
                  <a:srgbClr val="142A4C"/>
                </a:solidFill>
                <a:latin typeface="Malgun Gothic"/>
                <a:ea typeface="Malgun Gothic"/>
              </a:rPr>
              <a:t>1급 기술 결과 (검정 아님 · 반드시 보고)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1F2A37"/>
                </a:solidFill>
                <a:latin typeface="Malgun Gothic"/>
                <a:ea typeface="Malgun Gothic"/>
              </a:rPr>
              <a:t>보류율(A3) = Q가 버린 시행 비율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1F2A37"/>
                </a:solidFill>
                <a:latin typeface="Malgun Gothic"/>
                <a:ea typeface="Malgun Gothic"/>
              </a:rPr>
              <a:t>(보류율, MAE) Pareto 곡선 (Q1 sweep)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1F2A37"/>
                </a:solidFill>
                <a:latin typeface="Malgun Gothic"/>
                <a:ea typeface="Malgun Gothic"/>
              </a:rPr>
              <a:t>보조 모델 부호 일치 여부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1">
                <a:solidFill>
                  <a:srgbClr val="B86A00"/>
                </a:solidFill>
                <a:latin typeface="Malgun Gothic"/>
                <a:ea typeface="Malgun Gothic"/>
              </a:rPr>
              <a:t>→ 이득이 '좁은 구간'일 수 있음을 숨기지 않음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3703320"/>
            <a:ext cx="5532120" cy="2514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3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9632" y="3785615"/>
            <a:ext cx="50292" cy="2350008"/>
          </a:xfrm>
          <a:prstGeom prst="rect">
            <a:avLst/>
          </a:prstGeom>
          <a:solidFill>
            <a:srgbClr val="5B6B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3758183"/>
            <a:ext cx="5212080" cy="24048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</a:pPr>
            <a:r>
              <a:rPr sz="1600" b="1">
                <a:solidFill>
                  <a:srgbClr val="142A4C"/>
                </a:solidFill>
                <a:latin typeface="Malgun Gothic"/>
                <a:ea typeface="Malgun Gothic"/>
              </a:rPr>
              <a:t>탐색적 (보정 없음 · CI·효과크기만)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1F2A37"/>
                </a:solidFill>
                <a:latin typeface="Malgun Gothic"/>
                <a:ea typeface="Malgun Gothic"/>
              </a:rPr>
              <a:t>A4 — 수치만 주고 RGB 제거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1F2A37"/>
                </a:solidFill>
                <a:latin typeface="Malgun Gothic"/>
                <a:ea typeface="Malgun Gothic"/>
              </a:rPr>
              <a:t>A0 · A0-time — 경량모형 · 시간 단서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1F2A37"/>
                </a:solidFill>
                <a:latin typeface="Malgun Gothic"/>
                <a:ea typeface="Malgun Gothic"/>
              </a:rPr>
              <a:t>오류 주입 bias 1u/3u · burst 3u (H5)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1F2A37"/>
                </a:solidFill>
                <a:latin typeface="Malgun Gothic"/>
                <a:ea typeface="Malgun Gothic"/>
              </a:rPr>
              <a:t>큰 오차(≥2점) 비율 · 설명 평가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6382512"/>
            <a:ext cx="112471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050" b="0">
                <a:solidFill>
                  <a:srgbClr val="5B6B80"/>
                </a:solidFill>
                <a:latin typeface="Malgun Gothic"/>
                <a:ea typeface="Malgun Gothic"/>
              </a:rPr>
              <a:t>동결: 모델 버전 · 프롬프트 · 프레임 추출 · Q 임계값 · R 배정 방식 — 본평가 전 고정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28016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365760"/>
            <a:ext cx="603504" cy="603504"/>
          </a:xfrm>
          <a:prstGeom prst="roundRect">
            <a:avLst>
              <a:gd name="adj" fmla="val 5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74320"/>
            <a:ext cx="7360920" cy="8869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3000" b="1">
                <a:solidFill>
                  <a:srgbClr val="142A4C"/>
                </a:solidFill>
                <a:latin typeface="Malgun Gothic"/>
                <a:ea typeface="Malgun Gothic"/>
              </a:rPr>
              <a:t>고정 VLM과 입력 프레임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350" b="0">
                <a:solidFill>
                  <a:srgbClr val="5B6B80"/>
                </a:solidFill>
                <a:latin typeface="Malgun Gothic"/>
                <a:ea typeface="Malgun Gothic"/>
              </a:rPr>
              <a:t>추가 학습 없이 동일 모델·동일 프롬프트 · 조건별 차이는 수치뿐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384048"/>
            <a:ext cx="306324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250" b="1">
                <a:solidFill>
                  <a:srgbClr val="0E838A"/>
                </a:solidFill>
                <a:latin typeface="Malgun Gothic"/>
                <a:ea typeface="Malgun Gothic"/>
              </a:rPr>
              <a:t>MODEL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5532120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3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71016"/>
            <a:ext cx="50292" cy="2167127"/>
          </a:xfrm>
          <a:prstGeom prst="rect">
            <a:avLst/>
          </a:prstGeom>
          <a:solidFill>
            <a:srgbClr val="0E8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43584"/>
            <a:ext cx="5212080" cy="2221991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</a:pPr>
            <a:r>
              <a:rPr sz="1750" b="1">
                <a:solidFill>
                  <a:srgbClr val="142A4C"/>
                </a:solidFill>
                <a:latin typeface="Malgun Gothic"/>
                <a:ea typeface="Malgun Gothic"/>
              </a:rPr>
              <a:t>주 모델 · 보조 모델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450" b="0">
                <a:solidFill>
                  <a:srgbClr val="1F2A37"/>
                </a:solidFill>
                <a:latin typeface="Malgun Gothic"/>
                <a:ea typeface="Malgun Gothic"/>
              </a:rPr>
              <a:t>주 = Qwen2.5-VL-72B-Instruct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450" b="0">
                <a:solidFill>
                  <a:srgbClr val="1F2A37"/>
                </a:solidFill>
                <a:latin typeface="Malgun Gothic"/>
                <a:ea typeface="Malgun Gothic"/>
              </a:rPr>
              <a:t>Li 2026과 동일 → 직접 비교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450" b="0">
                <a:solidFill>
                  <a:srgbClr val="1F2A37"/>
                </a:solidFill>
                <a:latin typeface="Malgun Gothic"/>
                <a:ea typeface="Malgun Gothic"/>
              </a:rPr>
              <a:t>보조 = 부호 일치 확인 (검정 아님)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450" b="1">
                <a:solidFill>
                  <a:srgbClr val="B86A00"/>
                </a:solidFill>
                <a:latin typeface="Malgun Gothic"/>
                <a:ea typeface="Malgun Gothic"/>
              </a:rPr>
              <a:t>보조 체크포인트 미확정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188720"/>
            <a:ext cx="5532120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3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9632" y="1271016"/>
            <a:ext cx="50292" cy="2167127"/>
          </a:xfrm>
          <a:prstGeom prst="rect">
            <a:avLst/>
          </a:prstGeom>
          <a:solidFill>
            <a:srgbClr val="B3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2512" y="1243584"/>
            <a:ext cx="5212080" cy="2221991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</a:pPr>
            <a:r>
              <a:rPr sz="1750" b="1">
                <a:solidFill>
                  <a:srgbClr val="142A4C"/>
                </a:solidFill>
                <a:latin typeface="Malgun Gothic"/>
                <a:ea typeface="Malgun Gothic"/>
              </a:rPr>
              <a:t>출력 · 실패 처리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450" b="0">
                <a:solidFill>
                  <a:srgbClr val="1F2A37"/>
                </a:solidFill>
                <a:latin typeface="Malgun Gothic"/>
                <a:ea typeface="Malgun Gothic"/>
              </a:rPr>
              <a:t>0-shot · greedy · 추가학습 없음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450" b="0">
                <a:solidFill>
                  <a:srgbClr val="1F2A37"/>
                </a:solidFill>
                <a:latin typeface="Malgun Gothic"/>
                <a:ea typeface="Malgun Gothic"/>
              </a:rPr>
              <a:t>출력 = 0–3점 한 줄 + 근거 ≤2문장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450" b="0">
                <a:solidFill>
                  <a:srgbClr val="1F2A37"/>
                </a:solidFill>
                <a:latin typeface="Malgun Gothic"/>
                <a:ea typeface="Malgun Gothic"/>
              </a:rPr>
              <a:t>실패 1회 재시도 · 실패 제거 안 함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450" b="0">
                <a:solidFill>
                  <a:srgbClr val="1F2A37"/>
                </a:solidFill>
                <a:latin typeface="Malgun Gothic"/>
                <a:ea typeface="Malgun Gothic"/>
              </a:rPr>
              <a:t>손실 = 3 대체 → 실패포함 손실 + 성공률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657600"/>
            <a:ext cx="5532120" cy="2606040"/>
          </a:xfrm>
          <a:prstGeom prst="roundRect">
            <a:avLst>
              <a:gd name="adj" fmla="val 5000"/>
            </a:avLst>
          </a:prstGeom>
          <a:solidFill>
            <a:srgbClr val="F1F4F8"/>
          </a:solidFill>
          <a:ln w="12700">
            <a:solidFill>
              <a:srgbClr val="A9B6C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300"/>
              </a:spcAft>
            </a:pPr>
            <a:r>
              <a:rPr sz="1250" b="1">
                <a:solidFill>
                  <a:srgbClr val="475569"/>
                </a:solidFill>
                <a:latin typeface="Malgun Gothic"/>
                <a:ea typeface="Malgun Gothic"/>
              </a:rPr>
              <a:t>[ 사진 자리 ]  프레임 샘플링 타임라인</a:t>
            </a:r>
          </a:p>
          <a:p>
            <a:pPr algn="l">
              <a:lnSpc>
                <a:spcPct val="102000"/>
              </a:lnSpc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5B6B80"/>
                </a:solidFill>
                <a:latin typeface="Malgun Gothic"/>
                <a:ea typeface="Malgun Gothic"/>
              </a:rPr>
              <a:t>· 타임라인: 0–5초 = 10 Hz (약 50프레임)</a:t>
            </a:r>
          </a:p>
          <a:p>
            <a:pPr algn="l">
              <a:lnSpc>
                <a:spcPct val="102000"/>
              </a:lnSpc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5B6B80"/>
                </a:solidFill>
                <a:latin typeface="Malgun Gothic"/>
                <a:ea typeface="Malgun Gothic"/>
              </a:rPr>
              <a:t>· 5초 이후 = 2 Hz · 전체 상한 64프레임</a:t>
            </a:r>
          </a:p>
          <a:p>
            <a:pPr algn="l">
              <a:lnSpc>
                <a:spcPct val="102000"/>
              </a:lnSpc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5B6B80"/>
                </a:solidFill>
                <a:latin typeface="Malgun Gothic"/>
                <a:ea typeface="Malgun Gothic"/>
              </a:rPr>
              <a:t>· 640×480 리사이즈 표시</a:t>
            </a:r>
          </a:p>
          <a:p>
            <a:pPr algn="l">
              <a:lnSpc>
                <a:spcPct val="102000"/>
              </a:lnSpc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5B6B80"/>
                </a:solidFill>
                <a:latin typeface="Malgun Gothic"/>
                <a:ea typeface="Malgun Gothic"/>
              </a:rPr>
              <a:t>· 실측 fps 16.9/24.6 → 10 Hz 목표가 ~8.5 Hz로 저하 (각주)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050" b="0">
                <a:solidFill>
                  <a:srgbClr val="A9B6C6"/>
                </a:solidFill>
                <a:latin typeface="Malgun Gothic"/>
                <a:ea typeface="Malgun Gothic"/>
              </a:rPr>
              <a:t>※ 이 칸에 사진/도면 넣기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3657600"/>
            <a:ext cx="5532120" cy="2606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3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9632" y="3739896"/>
            <a:ext cx="50292" cy="2441448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2512" y="3712463"/>
            <a:ext cx="5212080" cy="24963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</a:pPr>
            <a:r>
              <a:rPr sz="1600" b="1">
                <a:solidFill>
                  <a:srgbClr val="142A4C"/>
                </a:solidFill>
                <a:latin typeface="Malgun Gothic"/>
                <a:ea typeface="Malgun Gothic"/>
              </a:rPr>
              <a:t>프레임 규칙 (동결)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1F2A37"/>
                </a:solidFill>
                <a:latin typeface="Malgun Gothic"/>
                <a:ea typeface="Malgun Gothic"/>
              </a:rPr>
              <a:t>앞 5.0초 = 10 Hz 목표 (약 50프레임)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1F2A37"/>
                </a:solidFill>
                <a:latin typeface="Malgun Gothic"/>
                <a:ea typeface="Malgun Gothic"/>
              </a:rPr>
              <a:t>5초 초과분 = 2 Hz · 상한 64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1F2A37"/>
                </a:solidFill>
                <a:latin typeface="Malgun Gothic"/>
                <a:ea typeface="Malgun Gothic"/>
              </a:rPr>
              <a:t>해상도 640×480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1F2A37"/>
                </a:solidFill>
                <a:latin typeface="Malgun Gothic"/>
                <a:ea typeface="Malgun Gothic"/>
              </a:rPr>
              <a:t>사건 구간 사람이 고르지 않음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1">
                <a:solidFill>
                  <a:srgbClr val="B86A00"/>
                </a:solidFill>
                <a:latin typeface="Malgun Gothic"/>
                <a:ea typeface="Malgun Gothic"/>
              </a:rPr>
              <a:t>실제 fps로 인덱스 계산 (30 fps 가정 금지)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" y="6382512"/>
            <a:ext cx="112471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050" b="0">
                <a:solidFill>
                  <a:srgbClr val="5B6B80"/>
                </a:solidFill>
                <a:latin typeface="Malgun Gothic"/>
                <a:ea typeface="Malgun Gothic"/>
              </a:rPr>
              <a:t>프롬프트 = 모든 조건 동일 템플릿 · 조건명을 프롬프트에 쓰지 않음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28016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365760"/>
            <a:ext cx="603504" cy="603504"/>
          </a:xfrm>
          <a:prstGeom prst="roundRect">
            <a:avLst>
              <a:gd name="adj" fmla="val 5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74320"/>
            <a:ext cx="7360920" cy="8869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3000" b="1">
                <a:solidFill>
                  <a:srgbClr val="142A4C"/>
                </a:solidFill>
                <a:latin typeface="Malgun Gothic"/>
                <a:ea typeface="Malgun Gothic"/>
              </a:rPr>
              <a:t>분석 방법과 판정 기준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350" b="0">
                <a:solidFill>
                  <a:srgbClr val="5B6B80"/>
                </a:solidFill>
                <a:latin typeface="Malgun Gothic"/>
                <a:ea typeface="Malgun Gothic"/>
              </a:rPr>
              <a:t>사람 단위 짝지은 비교 · 사람 단위 bootstrap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384048"/>
            <a:ext cx="306324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250" b="1">
                <a:solidFill>
                  <a:srgbClr val="0E838A"/>
                </a:solidFill>
                <a:latin typeface="Malgun Gothic"/>
                <a:ea typeface="Malgun Gothic"/>
              </a:rPr>
              <a:t>ANALYSIS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5532120" cy="2240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3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71016"/>
            <a:ext cx="50292" cy="2075688"/>
          </a:xfrm>
          <a:prstGeom prst="rect">
            <a:avLst/>
          </a:prstGeom>
          <a:solidFill>
            <a:srgbClr val="0E8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43584"/>
            <a:ext cx="5212080" cy="21305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</a:pPr>
            <a:r>
              <a:rPr sz="1750" b="1">
                <a:solidFill>
                  <a:srgbClr val="142A4C"/>
                </a:solidFill>
                <a:latin typeface="Malgun Gothic"/>
                <a:ea typeface="Malgun Gothic"/>
              </a:rPr>
              <a:t>분석 설계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450" b="0">
                <a:solidFill>
                  <a:srgbClr val="1F2A37"/>
                </a:solidFill>
                <a:latin typeface="Malgun Gothic"/>
                <a:ea typeface="Malgun Gothic"/>
              </a:rPr>
              <a:t>분석 단위 = 사람 20명 (반복 관측)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450" b="0">
                <a:solidFill>
                  <a:srgbClr val="1F2A37"/>
                </a:solidFill>
                <a:latin typeface="Malgun Gothic"/>
                <a:ea typeface="Malgun Gothic"/>
              </a:rPr>
              <a:t>PR-1 = MAE(A2) − MAE(A1)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450" b="0">
                <a:solidFill>
                  <a:srgbClr val="1F2A37"/>
                </a:solidFill>
                <a:latin typeface="Malgun Gothic"/>
                <a:ea typeface="Malgun Gothic"/>
              </a:rPr>
              <a:t>PR-2 = MAE(A2) − MAE(A3)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450" b="0">
                <a:solidFill>
                  <a:srgbClr val="1F2A37"/>
                </a:solidFill>
                <a:latin typeface="Malgun Gothic"/>
                <a:ea typeface="Malgun Gothic"/>
              </a:rPr>
              <a:t>PR-3 = MAE(R) − MAE(A3)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450" b="0">
                <a:solidFill>
                  <a:srgbClr val="1F2A37"/>
                </a:solidFill>
                <a:latin typeface="Malgun Gothic"/>
                <a:ea typeface="Malgun Gothic"/>
              </a:rPr>
              <a:t>bootstrap 10,000 · 95% CI · Holm k=3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188720"/>
            <a:ext cx="5532120" cy="2240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3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9632" y="1271016"/>
            <a:ext cx="50292" cy="2075688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2512" y="1243584"/>
            <a:ext cx="5212080" cy="21305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</a:pPr>
            <a:r>
              <a:rPr sz="1750" b="1">
                <a:solidFill>
                  <a:srgbClr val="142A4C"/>
                </a:solidFill>
                <a:latin typeface="Malgun Gothic"/>
                <a:ea typeface="Malgun Gothic"/>
              </a:rPr>
              <a:t>부호 읽기 (양수 = )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450" b="0">
                <a:solidFill>
                  <a:srgbClr val="1F2A37"/>
                </a:solidFill>
                <a:latin typeface="Malgun Gothic"/>
                <a:ea typeface="Malgun Gothic"/>
              </a:rPr>
              <a:t>PR-1 + → 전체 제공 악화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450" b="0">
                <a:solidFill>
                  <a:srgbClr val="1F2A37"/>
                </a:solidFill>
                <a:latin typeface="Malgun Gothic"/>
                <a:ea typeface="Malgun Gothic"/>
              </a:rPr>
              <a:t>PR-2 + → 선별 제공 개선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450" b="0">
                <a:solidFill>
                  <a:srgbClr val="1F2A37"/>
                </a:solidFill>
                <a:latin typeface="Malgun Gothic"/>
                <a:ea typeface="Malgun Gothic"/>
              </a:rPr>
              <a:t>PR-3 + → Q가 무작위보다 우수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450" b="1">
                <a:solidFill>
                  <a:srgbClr val="B86A00"/>
                </a:solidFill>
                <a:latin typeface="Malgun Gothic"/>
                <a:ea typeface="Malgun Gothic"/>
              </a:rPr>
              <a:t>유의성 하나로 결론 금지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450" b="1">
                <a:solidFill>
                  <a:srgbClr val="B86A00"/>
                </a:solidFill>
                <a:latin typeface="Malgun Gothic"/>
                <a:ea typeface="Malgun Gothic"/>
              </a:rPr>
              <a:t>CI 0 포함 = 방향 미확인 (동등 아님)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584448"/>
            <a:ext cx="11274552" cy="2651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3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666744"/>
            <a:ext cx="50292" cy="2487168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639312"/>
            <a:ext cx="10954511" cy="2542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</a:pPr>
            <a:r>
              <a:rPr sz="1600" b="1">
                <a:solidFill>
                  <a:srgbClr val="142A4C"/>
                </a:solidFill>
                <a:latin typeface="Malgun Gothic"/>
                <a:ea typeface="Malgun Gothic"/>
              </a:rPr>
              <a:t>예상 패턴과 해석 (사전 등록)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1F2A37"/>
                </a:solidFill>
                <a:latin typeface="Malgun Gothic"/>
                <a:ea typeface="Malgun Gothic"/>
              </a:rPr>
              <a:t>A2 악화 · A3 개선            → 일부 수치 보류 가치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1F2A37"/>
                </a:solidFill>
                <a:latin typeface="Malgun Gothic"/>
                <a:ea typeface="Malgun Gothic"/>
              </a:rPr>
              <a:t>A3 &gt; R                        → 품질 규칙 자체가 기여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1F2A37"/>
                </a:solidFill>
                <a:latin typeface="Malgun Gothic"/>
                <a:ea typeface="Malgun Gothic"/>
              </a:rPr>
              <a:t>A2·A3 비슷하게 개선          → 수치 주입 효과 · 선별 이득 작음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1F2A37"/>
                </a:solidFill>
                <a:latin typeface="Malgun Gothic"/>
                <a:ea typeface="Malgun Gothic"/>
              </a:rPr>
              <a:t>차이 작거나 불명확            → 효과크기·CI로 판단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1">
                <a:solidFill>
                  <a:srgbClr val="B86A00"/>
                </a:solidFill>
                <a:latin typeface="Malgun Gothic"/>
                <a:ea typeface="Malgun Gothic"/>
              </a:rPr>
              <a:t>보류율 ↑ + PR-2 유의          → 이득이 좁은 구간 (보류–정확도 절충)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1">
                <a:solidFill>
                  <a:srgbClr val="B32D2D"/>
                </a:solidFill>
                <a:latin typeface="Malgun Gothic"/>
                <a:ea typeface="Malgun Gothic"/>
              </a:rPr>
              <a:t>보류율 ↑ + PR-2 비유의        → 과잉 보류가 대가만 남김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6382512"/>
            <a:ext cx="112471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050" b="0">
                <a:solidFill>
                  <a:srgbClr val="5B6B80"/>
                </a:solidFill>
                <a:latin typeface="Malgun Gothic"/>
                <a:ea typeface="Malgun Gothic"/>
              </a:rPr>
              <a:t>실패 출력 = 유효 MAE에서 제외 · '실패포함 손실(손실=3)' 별도 열 보고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28016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365760"/>
            <a:ext cx="603504" cy="603504"/>
          </a:xfrm>
          <a:prstGeom prst="roundRect">
            <a:avLst>
              <a:gd name="adj" fmla="val 5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74320"/>
            <a:ext cx="7360920" cy="8869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2600" b="1">
                <a:solidFill>
                  <a:srgbClr val="142A4C"/>
                </a:solidFill>
                <a:latin typeface="Malgun Gothic"/>
                <a:ea typeface="Malgun Gothic"/>
              </a:rPr>
              <a:t>선행연구가 밝힌 것 vs 우리가 처음 재는 것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350" b="0">
                <a:solidFill>
                  <a:srgbClr val="5B6B80"/>
                </a:solidFill>
                <a:latin typeface="Malgun Gothic"/>
                <a:ea typeface="Malgun Gothic"/>
              </a:rPr>
              <a:t>주장 = '처음 제안'이 아니라 '처음 측정'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384048"/>
            <a:ext cx="306324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250" b="1">
                <a:solidFill>
                  <a:srgbClr val="0E838A"/>
                </a:solidFill>
                <a:latin typeface="Malgun Gothic"/>
                <a:ea typeface="Malgun Gothic"/>
              </a:rPr>
              <a:t>EVIDENCE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5532120" cy="2423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3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71016"/>
            <a:ext cx="50292" cy="2258568"/>
          </a:xfrm>
          <a:prstGeom prst="rect">
            <a:avLst/>
          </a:prstGeom>
          <a:solidFill>
            <a:srgbClr val="0E8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43584"/>
            <a:ext cx="5212080" cy="23134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</a:pPr>
            <a:r>
              <a:rPr sz="1600" b="1">
                <a:solidFill>
                  <a:srgbClr val="142A4C"/>
                </a:solidFill>
                <a:latin typeface="Malgun Gothic"/>
                <a:ea typeface="Malgun Gothic"/>
              </a:rPr>
              <a:t>VLM · 센서 채점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1F2A37"/>
                </a:solidFill>
                <a:latin typeface="Malgun Gothic"/>
                <a:ea typeface="Malgun Gothic"/>
              </a:rPr>
              <a:t>Li 2022 — 20명 · r=.981 · 손목 96 mm 오차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1F2A37"/>
                </a:solidFill>
                <a:latin typeface="Malgun Gothic"/>
                <a:ea typeface="Malgun Gothic"/>
              </a:rPr>
              <a:t>Li 2026 — 51명 · 영상만 → 총점 평탄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1F2A37"/>
                </a:solidFill>
                <a:latin typeface="Malgun Gothic"/>
                <a:ea typeface="Malgun Gothic"/>
              </a:rPr>
              <a:t>Tang 2025 — 특징 주입 · 3개 최적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188720"/>
            <a:ext cx="5532120" cy="2423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3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9632" y="1271016"/>
            <a:ext cx="50292" cy="2258568"/>
          </a:xfrm>
          <a:prstGeom prst="rect">
            <a:avLst/>
          </a:prstGeom>
          <a:solidFill>
            <a:srgbClr val="B8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2512" y="1243584"/>
            <a:ext cx="5212080" cy="23134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</a:pPr>
            <a:r>
              <a:rPr sz="1600" b="1">
                <a:solidFill>
                  <a:srgbClr val="142A4C"/>
                </a:solidFill>
                <a:latin typeface="Malgun Gothic"/>
                <a:ea typeface="Malgun Gothic"/>
              </a:rPr>
              <a:t>ARAT 척도 구조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1F2A37"/>
                </a:solidFill>
                <a:latin typeface="Malgun Gothic"/>
                <a:ea typeface="Malgun Gothic"/>
              </a:rPr>
              <a:t>Koh 2006 — 유일 위계 위반 = pinch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1F2A37"/>
                </a:solidFill>
                <a:latin typeface="Malgun Gothic"/>
                <a:ea typeface="Malgun Gothic"/>
              </a:rPr>
              <a:t>van der Lee 2002 — 15/19만 위계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1F2A37"/>
                </a:solidFill>
                <a:latin typeface="Malgun Gothic"/>
                <a:ea typeface="Malgun Gothic"/>
              </a:rPr>
              <a:t>Rodgers 2022 — N=1425 · 단축 시도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749039"/>
            <a:ext cx="5532120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3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831335"/>
            <a:ext cx="50292" cy="2304288"/>
          </a:xfrm>
          <a:prstGeom prst="rect">
            <a:avLst/>
          </a:prstGeom>
          <a:solidFill>
            <a:srgbClr val="B3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803903"/>
            <a:ext cx="5212080" cy="23591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</a:pPr>
            <a:r>
              <a:rPr sz="1600" b="1">
                <a:solidFill>
                  <a:srgbClr val="142A4C"/>
                </a:solidFill>
                <a:latin typeface="Malgun Gothic"/>
                <a:ea typeface="Malgun Gothic"/>
              </a:rPr>
              <a:t>이미 선행 (재주장 금지)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1F2A37"/>
                </a:solidFill>
                <a:latin typeface="Malgun Gothic"/>
                <a:ea typeface="Malgun Gothic"/>
              </a:rPr>
              <a:t>ARAT 손 운동학 측정 (Padilla-Magaña 2022)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1F2A37"/>
                </a:solidFill>
                <a:latin typeface="Malgun Gothic"/>
                <a:ea typeface="Malgun Gothic"/>
              </a:rPr>
              <a:t>RGB-D 자동채점 — 임상검증까지 완료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1F2A37"/>
                </a:solidFill>
                <a:latin typeface="Malgun Gothic"/>
                <a:ea typeface="Malgun Gothic"/>
              </a:rPr>
              <a:t>JSON·특징 주입 · 품질 게이트 → 라우팅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1">
                <a:solidFill>
                  <a:srgbClr val="B32D2D"/>
                </a:solidFill>
                <a:latin typeface="Malgun Gothic"/>
                <a:ea typeface="Malgun Gothic"/>
              </a:rPr>
              <a:t>→ '새롭다'고 주장하지 않음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9632" y="3749039"/>
            <a:ext cx="5532120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3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99632" y="3831335"/>
            <a:ext cx="50292" cy="2304288"/>
          </a:xfrm>
          <a:prstGeom prst="rect">
            <a:avLst/>
          </a:prstGeom>
          <a:solidFill>
            <a:srgbClr val="1E7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82512" y="3803903"/>
            <a:ext cx="5212080" cy="23591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</a:pPr>
            <a:r>
              <a:rPr sz="1600" b="1">
                <a:solidFill>
                  <a:srgbClr val="142A4C"/>
                </a:solidFill>
                <a:latin typeface="Malgun Gothic"/>
                <a:ea typeface="Malgun Gothic"/>
              </a:rPr>
              <a:t>우리 자리 (빈칸)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1F2A37"/>
                </a:solidFill>
                <a:latin typeface="Malgun Gothic"/>
                <a:ea typeface="Malgun Gothic"/>
              </a:rPr>
              <a:t>Li 2026 = 영상만 → 수치 주입 미측정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1F2A37"/>
                </a:solidFill>
                <a:latin typeface="Malgun Gothic"/>
                <a:ea typeface="Malgun Gothic"/>
              </a:rPr>
              <a:t>게이팅 인과효과 · 대가 미측정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1">
                <a:solidFill>
                  <a:srgbClr val="1E7A46"/>
                </a:solidFill>
                <a:latin typeface="Malgun Gothic"/>
                <a:ea typeface="Malgun Gothic"/>
              </a:rPr>
              <a:t>→ 기여 = 같은 영상·라벨에서 수치 집합만 바꾼 인과 비교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" y="6382512"/>
            <a:ext cx="112471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050" b="0">
                <a:solidFill>
                  <a:srgbClr val="5B6B80"/>
                </a:solidFill>
                <a:latin typeface="Malgun Gothic"/>
                <a:ea typeface="Malgun Gothic"/>
              </a:rPr>
              <a:t>게이트→VLM 라우팅 · selective prediction은 이미 선행 → 재주장하지 않음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28016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365760"/>
            <a:ext cx="603504" cy="603504"/>
          </a:xfrm>
          <a:prstGeom prst="roundRect">
            <a:avLst>
              <a:gd name="adj" fmla="val 5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74320"/>
            <a:ext cx="7360920" cy="8869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3000" b="1">
                <a:solidFill>
                  <a:srgbClr val="142A4C"/>
                </a:solidFill>
                <a:latin typeface="Malgun Gothic"/>
                <a:ea typeface="Malgun Gothic"/>
              </a:rPr>
              <a:t>한계와 다음 단계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350" b="0">
                <a:solidFill>
                  <a:srgbClr val="5B6B80"/>
                </a:solidFill>
                <a:latin typeface="Malgun Gothic"/>
                <a:ea typeface="Malgun Gothic"/>
              </a:rPr>
              <a:t>정직하게 — 아직 실증 0건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384048"/>
            <a:ext cx="306324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250" b="1">
                <a:solidFill>
                  <a:srgbClr val="0E838A"/>
                </a:solidFill>
                <a:latin typeface="Malgun Gothic"/>
                <a:ea typeface="Malgun Gothic"/>
              </a:rPr>
              <a:t>LIMITS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5532120" cy="2606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3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71016"/>
            <a:ext cx="50292" cy="2441448"/>
          </a:xfrm>
          <a:prstGeom prst="rect">
            <a:avLst/>
          </a:prstGeom>
          <a:solidFill>
            <a:srgbClr val="B3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43584"/>
            <a:ext cx="5212080" cy="24963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</a:pPr>
            <a:r>
              <a:rPr sz="1600" b="1">
                <a:solidFill>
                  <a:srgbClr val="142A4C"/>
                </a:solidFill>
                <a:latin typeface="Malgun Gothic"/>
                <a:ea typeface="Malgun Gothic"/>
              </a:rPr>
              <a:t>한계 (현재)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1F2A37"/>
                </a:solidFill>
                <a:latin typeface="Malgun Gothic"/>
                <a:ea typeface="Malgun Gothic"/>
              </a:rPr>
              <a:t>실증 데이터 0건 (장애인 0명 · 프레임 0장)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1F2A37"/>
                </a:solidFill>
                <a:latin typeface="Malgun Gothic"/>
                <a:ea typeface="Malgun Gothic"/>
              </a:rPr>
              <a:t>u(수치 실제 오차) 미측정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1F2A37"/>
                </a:solidFill>
                <a:latin typeface="Malgun Gothic"/>
                <a:ea typeface="Malgun Gothic"/>
              </a:rPr>
              <a:t>n=20 → 큰 효과 방향만 (dz 0.66)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1F2A37"/>
                </a:solidFill>
                <a:latin typeface="Malgun Gothic"/>
                <a:ea typeface="Malgun Gothic"/>
              </a:rPr>
              <a:t>접촉 순간 랜드마크-물체 오류 = 기하 검출 불가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188720"/>
            <a:ext cx="5532120" cy="2606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3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9632" y="1271016"/>
            <a:ext cx="50292" cy="2441448"/>
          </a:xfrm>
          <a:prstGeom prst="rect">
            <a:avLst/>
          </a:prstGeom>
          <a:solidFill>
            <a:srgbClr val="B8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2512" y="1243584"/>
            <a:ext cx="5212080" cy="24963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</a:pPr>
            <a:r>
              <a:rPr sz="1600" b="1">
                <a:solidFill>
                  <a:srgbClr val="142A4C"/>
                </a:solidFill>
                <a:latin typeface="Malgun Gothic"/>
                <a:ea typeface="Malgun Gothic"/>
              </a:rPr>
              <a:t>본평가 전 처리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1F2A37"/>
                </a:solidFill>
                <a:latin typeface="Malgun Gothic"/>
                <a:ea typeface="Malgun Gothic"/>
              </a:rPr>
              <a:t>파이프라인 D-15 정렬 (K1/K2 vs MGA·PV)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1F2A37"/>
                </a:solidFill>
                <a:latin typeface="Malgun Gothic"/>
                <a:ea typeface="Malgun Gothic"/>
              </a:rPr>
              <a:t>보조 모델 체크포인트 확정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1F2A37"/>
                </a:solidFill>
                <a:latin typeface="Malgun Gothic"/>
                <a:ea typeface="Malgun Gothic"/>
              </a:rPr>
              <a:t>컴퓨트 3,216회 출력 · 서빙 미설정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1F2A37"/>
                </a:solidFill>
                <a:latin typeface="Malgun Gothic"/>
                <a:ea typeface="Malgun Gothic"/>
              </a:rPr>
              <a:t>치구 135기록 · IRB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931920"/>
            <a:ext cx="11274552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3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4014215"/>
            <a:ext cx="50292" cy="2121408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986783"/>
            <a:ext cx="10954511" cy="21762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</a:pPr>
            <a:r>
              <a:rPr sz="1600" b="1">
                <a:solidFill>
                  <a:srgbClr val="142A4C"/>
                </a:solidFill>
                <a:latin typeface="Malgun Gothic"/>
                <a:ea typeface="Malgun Gothic"/>
              </a:rPr>
              <a:t>요약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550" b="0">
                <a:solidFill>
                  <a:srgbClr val="1F2A37"/>
                </a:solidFill>
                <a:latin typeface="Malgun Gothic"/>
                <a:ea typeface="Malgun Gothic"/>
              </a:rPr>
              <a:t>질문 = 수치 주입 효과 + 품질 선별의 대가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550" b="0">
                <a:solidFill>
                  <a:srgbClr val="1F2A37"/>
                </a:solidFill>
                <a:latin typeface="Malgun Gothic"/>
                <a:ea typeface="Malgun Gothic"/>
              </a:rPr>
              <a:t>두 항목 = 난이도가 아니라 '파지 구속 대비'</a:t>
            </a:r>
          </a:p>
          <a:p>
            <a:pPr algn="l">
              <a:lnSpc>
                <a:spcPct val="98000"/>
              </a:lnSpc>
              <a:spcBef>
                <a:spcPts val="200"/>
              </a:spcBef>
              <a:spcAft>
                <a:spcPts val="200"/>
              </a:spcAft>
            </a:pPr>
            <a:r>
              <a:rPr sz="1550" b="1">
                <a:solidFill>
                  <a:srgbClr val="142A4C"/>
                </a:solidFill>
                <a:latin typeface="Malgun Gothic"/>
                <a:ea typeface="Malgun Gothic"/>
              </a:rPr>
              <a:t>결론 없음 — 이 발표는 설계 제안이며 결과가 아니다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