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5240000" cy="8572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22AEAF-49A9-430F-9B04-20E00B4D9B4E}" v="1" dt="2026-09-14T01:41:53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811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yong lee" userId="0e8205fbd6162578" providerId="LiveId" clId="{AE34F6A3-7111-4D1D-9D41-1048805A1372}"/>
    <pc:docChg chg="custSel modSld">
      <pc:chgData name="jeayong lee" userId="0e8205fbd6162578" providerId="LiveId" clId="{AE34F6A3-7111-4D1D-9D41-1048805A1372}" dt="2026-09-14T01:41:57.477" v="1" actId="478"/>
      <pc:docMkLst>
        <pc:docMk/>
      </pc:docMkLst>
      <pc:sldChg chg="addSp delSp modSp mod">
        <pc:chgData name="jeayong lee" userId="0e8205fbd6162578" providerId="LiveId" clId="{AE34F6A3-7111-4D1D-9D41-1048805A1372}" dt="2026-09-14T01:41:57.477" v="1" actId="478"/>
        <pc:sldMkLst>
          <pc:docMk/>
          <pc:sldMk cId="1926713068" sldId="257"/>
        </pc:sldMkLst>
        <pc:spChg chg="add del mod">
          <ac:chgData name="jeayong lee" userId="0e8205fbd6162578" providerId="LiveId" clId="{AE34F6A3-7111-4D1D-9D41-1048805A1372}" dt="2026-09-14T01:41:57.477" v="1" actId="478"/>
          <ac:spMkLst>
            <pc:docMk/>
            <pc:sldMk cId="1926713068" sldId="257"/>
            <ac:spMk id="31" creationId="{058243BD-8D68-9820-2E19-B00859C38BC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설명용 속도</c:v>
          </c:tx>
          <c:spPr>
            <a:ln w="28575">
              <a:solidFill>
                <a:srgbClr val="07396B"/>
              </a:solidFill>
            </a:ln>
          </c:spPr>
          <c:marker>
            <c:symbol val="circle"/>
            <c:size val="5"/>
            <c:spPr>
              <a:solidFill>
                <a:srgbClr val="07396B"/>
              </a:solidFill>
            </c:spPr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cat>
          <c:val>
            <c:numRef>
              <c:f>'Chart Data'!$B$2:$B$12</c:f>
              <c:numCache>
                <c:formatCode>General</c:formatCode>
                <c:ptCount val="11"/>
                <c:pt idx="0">
                  <c:v>0</c:v>
                </c:pt>
                <c:pt idx="1">
                  <c:v>15</c:v>
                </c:pt>
                <c:pt idx="2">
                  <c:v>25</c:v>
                </c:pt>
                <c:pt idx="3">
                  <c:v>10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12</c:v>
                </c:pt>
                <c:pt idx="8">
                  <c:v>20</c:v>
                </c:pt>
                <c:pt idx="9">
                  <c:v>8</c:v>
                </c:pt>
                <c:pt idx="1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9EF-4588-9741-3A7C983D11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>
                    <a:latin typeface="Noto Sans CJK KR"/>
                    <a:ea typeface="Noto Sans CJK KR"/>
                    <a:cs typeface="Noto Sans CJK KR"/>
                  </a:rPr>
                  <a:t>시행 내 상대 시점 </a:t>
                </a:r>
                <a:r>
                  <a:rPr lang="en-US" altLang="ko-KR">
                    <a:latin typeface="Noto Sans CJK KR"/>
                    <a:ea typeface="Noto Sans CJK KR"/>
                    <a:cs typeface="Noto Sans CJK KR"/>
                  </a:rPr>
                  <a:t>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1E6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>
                    <a:latin typeface="Noto Sans CJK KR"/>
                    <a:ea typeface="Noto Sans CJK KR"/>
                    <a:cs typeface="Noto Sans CJK KR"/>
                  </a:rPr>
                  <a:t>속도 </a:t>
                </a:r>
                <a:r>
                  <a:rPr lang="en-US" altLang="ko-KR">
                    <a:latin typeface="Noto Sans CJK KR"/>
                    <a:ea typeface="Noto Sans CJK KR"/>
                    <a:cs typeface="Noto Sans CJK KR"/>
                  </a:rPr>
                  <a:t>(</a:t>
                </a:r>
                <a:r>
                  <a:rPr lang="en-US">
                    <a:latin typeface="Noto Sans CJK KR"/>
                    <a:ea typeface="Noto Sans CJK KR"/>
                    <a:cs typeface="Noto Sans CJK KR"/>
                  </a:rPr>
                  <a:t>mm/s)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endParaRPr lang="ko-KR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절대오차</c:v>
          </c:tx>
          <c:spPr>
            <a:solidFill>
              <a:srgbClr val="07396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>
                    <a:latin typeface="Noto Sans CJK KR"/>
                    <a:ea typeface="Noto Sans CJK KR"/>
                    <a:cs typeface="Noto Sans CJK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시행 1</c:v>
                </c:pt>
                <c:pt idx="1">
                  <c:v>시행 2</c:v>
                </c:pt>
                <c:pt idx="2">
                  <c:v>시행 3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F62-4A46-A4F8-E88B028195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majorGridlines>
          <c:spPr>
            <a:ln w="9525">
              <a:solidFill>
                <a:srgbClr val="E1E6EB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endParaRPr lang="ko-KR"/>
          </a:p>
        </c:txPr>
        <c:crossAx val="48650112"/>
        <c:crosses val="autoZero"/>
        <c:crossBetween val="between"/>
        <c:majorUnit val="1"/>
      </c:valAx>
    </c:plotArea>
    <c:plotVisOnly val="1"/>
    <c:dispBlanksAs val="zero"/>
    <c:showDLblsOverMax val="1"/>
  </c:chart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0.19811</cdr:x>
      <cdr:y>0.16548</cdr:y>
    </cdr:from>
    <cdr:to>
      <cdr:x>0.34943</cdr:x>
      <cdr:y>0.75685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DE99C67A-4863-69B2-2A11-7F93E37327F2}"/>
            </a:ext>
          </a:extLst>
        </cdr:cNvPr>
        <cdr:cNvSpPr/>
      </cdr:nvSpPr>
      <cdr:spPr>
        <a:xfrm xmlns:a="http://schemas.openxmlformats.org/drawingml/2006/main">
          <a:off x="1151059" y="646236"/>
          <a:ext cx="879231" cy="230944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ko-KR" altLang="en-US" kern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발표는 기존 평가 부담, VLM 활용 이유, 추가 정보, 연구 설계, 평가 순서로 진행한다. 아직 결과가 없는 연구계획 발표이다.</a:t>
            </a:r>
          </a:p>
          <a:p>
            <a:r>
              <a:t>핵심 가설은 입력 정보의 보완 효과이며, 학습 모델 개발이나 임상 점수 검증 연구와 구별한다.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PrimSeq의 513.6시간 대 1.4시간은 세부 동작 주석 작업의 비교이며 FMA 검사 시간이 아니다. 수치를 본문에 옮겨 일반화하지 않는다. 전용 모델도 전이학습 등으로 부담을 줄일 수 있으므로 모든 과제에서 재학습이 필수라고 주장하지 않는다. Parnandi et al. (2022), https://journals.plos.org/digitalhealth/article?id=10.1371/journal.pdig.0000044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Li et al. (2026): 건강인20명과 환자51명. 활동 인식, 횟수 추정, FMA 추정은 별개 과제. 활동 인식77.5%를 손 기능 평가 정확도로 인용하지 않는다. https://journals.plos.org/digitalhealth/article?id=10.1371/journal.pdig.0001506</a:t>
            </a:r>
          </a:p>
          <a:p>
            <a:r>
              <a:t>출처: Li et al. (2026), https://journals.plos.org/digitalhealth/article?id=10.1371/journal.pdig.0001506</a:t>
            </a:r>
          </a:p>
          <a:p>
            <a:r>
              <a:t>Qiu et al. (2022), https://pmc.ncbi.nlm.nih.gov/articles/PMC9716480/</a:t>
            </a:r>
          </a:p>
          <a:p>
            <a:r>
              <a:t>Amprimo et al. (2024), https://doi.org/10.1016/j.bspc.2024.106508</a:t>
            </a:r>
          </a:p>
          <a:p>
            <a:r>
              <a:t>Tang et al. (2025), https://arxiv.org/abs/2505.18412</a:t>
            </a:r>
          </a:p>
          <a:p>
            <a:r>
              <a:t>Wang et al. (2024), https://doi.org/10.1007/978-3-031-72086-4_24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VLM은 vision-language model. 본 연구는 정답 예시 없이 과제 지침을 제공한다. 재학습 부담 감소 가능성과 실제 판독 시간 절감은 구별한다.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RGB-D: 색상 영상과 깊이. D455와 MediaPipe를 결합해 좌표를 계산한다. 건강인 참조는 작은 표본의 분포이며 정상 범위나 임상 판정 기준이 아니다. Amprimo et al. (2024), https://doi.org/10.1016/j.bspc.2024.106508. 장비와 과제가 달라 D455 동적 정확도의 직접 검증 근거는 아니다.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A0는 L2 규제 다항 로지스틱 회귀. 한 환자를 제외하여 학습하고 제외한 환자에게 평가하는 교차검증. 전처리도 학습 폴드 안에서 수행하며 같은 환자의 양손과 반복 시행을 묶는다.</a:t>
            </a:r>
          </a:p>
          <a:p>
            <a:r>
              <a:t>조건 기호는 설명 이후의 식별용 이름이며 수행점수 또는 모델 이름이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A1은 센서 기반으로 선택한 14프레임을 받으므로 완전한 센서 없는 비교군은 아니다. 수치와 건강인 참조를 모델 입력으로 주지 않는 조건이다.</a:t>
            </a:r>
          </a:p>
          <a:p>
            <a:r>
              <a:t>조건 기호는 설명 이후의 식별용 이름이며 수행점수 또는 모델 이름이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운동학 피처는 F1 크기 F2 시간 F3 변동 F4 개방. 임상적 정상/비정상 임계값이 아니며 지표별 세부 정의는 뒤에서 설명한다.</a:t>
            </a:r>
          </a:p>
          <a:p>
            <a:r>
              <a:t>조건 기호는 설명 이후의 식별용 이름이며 수행점수 또는 모델 이름이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건강인 참조는 정상 판정선이 아니며 건강인 15명의 표본 분포이다. A3는 수치·품질·참조의 전체 묶음이며 개별 요소의 독립 효과나 상호작용을 주 비교로 추정하지 않는다.</a:t>
            </a:r>
          </a:p>
          <a:p>
            <a:r>
              <a:t>조건 기호는 설명 이후의 식별용 이름이며 수행점수 또는 모델 이름이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A4는 A0와 다르다. A4는 동결 VLM에 수치를 텍스트로 입력하며 A0는 환자 학습자료로 적합한 로지스틱 회귀이다.</a:t>
            </a:r>
          </a:p>
          <a:p>
            <a:r>
              <a:t>조건 기호는 설명 이후의 식별용 이름이며 수행점수 또는 모델 이름이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A0 행의 대시는 건강인 참조를 포함하는 VLM 입력 패키지와 구분한 표시. A0는 원 계획서에 명시한 수치 학습 기준선 구성과 교차검증을 따른다. A1도 센서로 선택한 동일 프레임을 받는다. 영상 조건끼리는 동일 프레임과 지침을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개발4명은20–80세. 건강인참조15명과 환자15명은40–80세. 환자는 뇌졸중3개월 이상 일측 편마비, Brunnstrom 손 III–V. 각4과제8회 양손 동시 수행. 15명은 자원 기반 파일럿이며 충분한 검정력을 보장하지 않는다. IRB 승인과 동의 후 모집.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전문가2인은 모델 결과·수치·건강인참조를 보지 않고 원본 영상을 독립 판독한다. 불일치는 합의, 미해결 시 제3전문가. 형성 미완료는 후속 not_applicable. 형성 완료 후 유지나 해제 하나라도 확실히 미완료이면1점. 상태 불충분하면NA. 고정된 초 기준은 사용하지 않는다.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구간 검출: 손목 전역 이동과5손끝 상대속도의 RMS. 5연속 저속프레임은 시작 설정. F1물체:획득 최대a(t), 맨손:기준r−획득최소r. F2극값 최초도달시간. F3유지후보구간 표본SD. F4해제마지막20%중앙값−첫20%. 실제 접촉력이나 관절각도를 직접 측정한 것이 아니다. Qiu et al.2022 https://pmc.ncbi.nlm.nih.gov/articles/PMC9716480/</a:t>
            </a:r>
          </a:p>
          <a:p>
            <a:r>
              <a:t>그래프는 구간 설명용으로 만든 가상 속도값이다. 환자 데이터나 검출 성능을 나타내지 않는다. 가로축은 시행 내 상대 시점이며 고정된 수행 초가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14프레임 시작 배분6·2·6. 분할 실패 시 전체 구간 균등14프레임을 모든 영상조건에 적용. 건강인참조 Q1은25백분위수 Q3는75백분위수. 아래 수치는 입력 형식의 가상 예시이며 측정 결과가 아니다. 3D 피처를2D 픽셀거리로 대체하지 않는다.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F1–F4는 피처 이름이다. 원 계획서의 D1–D4는 각각 F1–F4를 제거한 조건 이름이다. 이 슬라이드에서는 새 기호를 추가하지 않고 제거하는 피처 이름으로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공식 모델 후보: Qwen/Qwen3-VL-8B-Instruct, Qwen/Qwen3-VL-30B-A3B-Instruct, Qwen/Qwen2.5-VL-32B-Instruct, llava-hf/LLaVA-NeXT-Video-7B-hf, llava-hf/llava-onevision-qwen2-7b-ov-hf. 각 https://huggingface.co/ 뒤에 ID. 주 모델이 실행되지 않으면 환자 평가 전에 계획 수정. 보조는 환자성능확인전 기술실패에 따라제외. 30/32B는16bit전체가중치32GB실행을전제하지않는다.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분석단위는환자. 같은시행A1A3유효쌍, 과제별평균후4과제동일가중. 조건부MAE, 누락환자수공개. 환자bootstrap10000회95%CI. 보조A2−A1수치품질묶음,A3−A2참조묶음. 보조CI는다중보정하지않은탐색적구간이며p값별표없음. 실제 결과 없음.</a:t>
            </a:r>
          </a:p>
          <a:p>
            <a:r>
              <a:t>막대그래프는 설명용3시행의 절대오차0·1·2이며 실제연구결과가아니다. 평균절대오차=1. 전문가점수2,1,0과예측2,0,2의예시.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연구계획서_최종보완본.docx.</a:t>
            </a:r>
          </a:p>
          <a:p>
            <a:r>
              <a:t>본연구는탐색적파일럿. 환자15명일반화한계, 단일촬영환경, 건강인개발군대표성, 센서오차및14프레임한계. 재활효과, 임상평가대체, 치료사시간절감 또는 무인화완성을이연구만으로주장하지않는다.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FFFFFF"/>
            </a:gs>
            <a:gs pos="100000">
              <a:srgbClr val="D6EDF1"/>
            </a:gs>
          </a:gsLst>
          <a:lin ang="10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39C33E9-47C4-4554-83B9-FCBABC2FD64A}"/>
              </a:ext>
            </a:extLst>
          </p:cNvPr>
          <p:cNvSpPr>
            <a:spLocks noGrp="1"/>
          </p:cNvSpPr>
          <p:nvPr/>
        </p:nvSpPr>
        <p:spPr>
          <a:xfrm>
            <a:off x="2286000" y="2381250"/>
            <a:ext cx="11430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75" b="1">
                <a:solidFill>
                  <a:srgbClr val="0098B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275" b="1">
                <a:solidFill>
                  <a:srgbClr val="0098B5"/>
                </a:solidFill>
                <a:latin typeface="Noto Sans CJK KR"/>
                <a:ea typeface="Noto Sans CJK KR"/>
                <a:cs typeface="Noto Sans CJK KR"/>
              </a:rPr>
              <a:t>RGB-D 운동학 정보를 활용한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74A15A-28BE-46B6-A955-EE55B986D8F2}"/>
              </a:ext>
            </a:extLst>
          </p:cNvPr>
          <p:cNvSpPr>
            <a:spLocks noGrp="1"/>
          </p:cNvSpPr>
          <p:nvPr/>
        </p:nvSpPr>
        <p:spPr>
          <a:xfrm>
            <a:off x="4000500" y="3333750"/>
            <a:ext cx="9048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75" b="1">
                <a:solidFill>
                  <a:srgbClr val="0098B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875" b="1">
                <a:solidFill>
                  <a:srgbClr val="0098B5"/>
                </a:solidFill>
                <a:latin typeface="Noto Sans CJK KR"/>
                <a:ea typeface="Noto Sans CJK KR"/>
                <a:cs typeface="Noto Sans CJK KR"/>
              </a:rPr>
              <a:t>손 과제 VLM 평가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1C4A5E-6338-46D4-B225-1A55130DB7D1}"/>
              </a:ext>
            </a:extLst>
          </p:cNvPr>
          <p:cNvSpPr>
            <a:spLocks noGrp="1"/>
          </p:cNvSpPr>
          <p:nvPr/>
        </p:nvSpPr>
        <p:spPr>
          <a:xfrm>
            <a:off x="5715000" y="4667250"/>
            <a:ext cx="3810000" cy="19050"/>
          </a:xfrm>
          <a:prstGeom prst="rect">
            <a:avLst/>
          </a:prstGeom>
          <a:solidFill>
            <a:srgbClr val="0098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782DFA-DC11-4176-925E-3FFDD8251E16}"/>
              </a:ext>
            </a:extLst>
          </p:cNvPr>
          <p:cNvSpPr>
            <a:spLocks noGrp="1"/>
          </p:cNvSpPr>
          <p:nvPr/>
        </p:nvSpPr>
        <p:spPr>
          <a:xfrm>
            <a:off x="3333750" y="504825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rPr>
              <a:t>운동학 수치와 건강인 참조의 추가 효과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1661BA-76D1-4F64-A382-20C84EF4E5F2}"/>
              </a:ext>
            </a:extLst>
          </p:cNvPr>
          <p:cNvSpPr>
            <a:spLocks noGrp="1"/>
          </p:cNvSpPr>
          <p:nvPr/>
        </p:nvSpPr>
        <p:spPr>
          <a:xfrm>
            <a:off x="5810250" y="6534150"/>
            <a:ext cx="57150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rPr>
              <a:t>이재용 22000561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C33A8B-7E31-4D63-84E5-E390E32E0D41}"/>
              </a:ext>
            </a:extLst>
          </p:cNvPr>
          <p:cNvSpPr>
            <a:spLocks noGrp="1"/>
          </p:cNvSpPr>
          <p:nvPr/>
        </p:nvSpPr>
        <p:spPr>
          <a:xfrm>
            <a:off x="4667250" y="7172325"/>
            <a:ext cx="7810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</p:spTree>
    <p:extLst>
      <p:ext uri="{BB962C8B-B14F-4D97-AF65-F5344CB8AC3E}">
        <p14:creationId xmlns:p14="http://schemas.microsoft.com/office/powerpoint/2010/main" val="397936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E7F200AD-419A-4D47-A7CC-B797ED61979D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357176-FBC3-45F0-9000-B9DB06C2B7EC}"/>
              </a:ext>
            </a:extLst>
          </p:cNvPr>
          <p:cNvSpPr>
            <a:spLocks noGrp="1"/>
          </p:cNvSpPr>
          <p:nvPr/>
        </p:nvSpPr>
        <p:spPr>
          <a:xfrm>
            <a:off x="409575" y="0"/>
            <a:ext cx="1238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3B14DDD-1884-410F-A7D5-1C8B2BCF7E6A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연구 배경과 기존 접근의 부담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DFCA47-388A-44FC-9D6D-51802CD4FE73}"/>
              </a:ext>
            </a:extLst>
          </p:cNvPr>
          <p:cNvSpPr>
            <a:spLocks noGrp="1"/>
          </p:cNvSpPr>
          <p:nvPr/>
        </p:nvSpPr>
        <p:spPr>
          <a:xfrm>
            <a:off x="11049000" y="3714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AED37EF-01FB-4496-9A29-EA95B45DAE99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1524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B59291-9FB3-4042-B4F5-7F482E434F6D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14001750" cy="5810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F2DB41-FC63-45E8-BBCA-DCCB489F8E8A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57150" cy="581025"/>
          </a:xfrm>
          <a:prstGeom prst="rect">
            <a:avLst/>
          </a:prstGeom>
          <a:solidFill>
            <a:srgbClr val="073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4E2047-3FA7-45E0-8D95-B1A0C1E37E55}"/>
              </a:ext>
            </a:extLst>
          </p:cNvPr>
          <p:cNvSpPr>
            <a:spLocks noGrp="1"/>
          </p:cNvSpPr>
          <p:nvPr/>
        </p:nvSpPr>
        <p:spPr>
          <a:xfrm>
            <a:off x="819150" y="7724775"/>
            <a:ext cx="13668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이번 연구는 모델의 과제별 재학습 없이 평가를 보완할 가능성을 검토한다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6ABCCA-9070-4FD8-8727-B8D6B4B74A38}"/>
              </a:ext>
            </a:extLst>
          </p:cNvPr>
          <p:cNvSpPr>
            <a:spLocks noGrp="1"/>
          </p:cNvSpPr>
          <p:nvPr/>
        </p:nvSpPr>
        <p:spPr>
          <a:xfrm>
            <a:off x="14430375" y="82962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1F74B9-5E7C-421C-A454-48FC019524DB}"/>
              </a:ext>
            </a:extLst>
          </p:cNvPr>
          <p:cNvSpPr>
            <a:spLocks noGrp="1"/>
          </p:cNvSpPr>
          <p:nvPr/>
        </p:nvSpPr>
        <p:spPr>
          <a:xfrm>
            <a:off x="619125" y="1571625"/>
            <a:ext cx="4445000" cy="666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B9F640-DD13-4A0E-A2AA-7DE276F526A8}"/>
              </a:ext>
            </a:extLst>
          </p:cNvPr>
          <p:cNvSpPr>
            <a:spLocks noGrp="1"/>
          </p:cNvSpPr>
          <p:nvPr/>
        </p:nvSpPr>
        <p:spPr>
          <a:xfrm>
            <a:off x="771525" y="1666875"/>
            <a:ext cx="41402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전문가 영상 판독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45C1A89-42F8-454D-BEB0-C4240DED9305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4445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필요한 작업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612F6B-1CF3-4F4B-9D3A-92FCB6322C9A}"/>
              </a:ext>
            </a:extLst>
          </p:cNvPr>
          <p:cNvSpPr>
            <a:spLocks noGrp="1"/>
          </p:cNvSpPr>
          <p:nvPr/>
        </p:nvSpPr>
        <p:spPr>
          <a:xfrm>
            <a:off x="619125" y="3152775"/>
            <a:ext cx="44450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동작을 반복 관찰하고</a:t>
            </a:r>
          </a:p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수행 상태와 근거를 기록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E73618-3250-424B-AF24-612A275010D8}"/>
              </a:ext>
            </a:extLst>
          </p:cNvPr>
          <p:cNvSpPr>
            <a:spLocks noGrp="1"/>
          </p:cNvSpPr>
          <p:nvPr/>
        </p:nvSpPr>
        <p:spPr>
          <a:xfrm>
            <a:off x="619125" y="4648200"/>
            <a:ext cx="44450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모델을 평가할 참조 기준</a:t>
            </a:r>
          </a:p>
          <a:p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전문가 시간과 인력 필요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87E8911-5F48-42FE-B8F8-C72B79795BBC}"/>
              </a:ext>
            </a:extLst>
          </p:cNvPr>
          <p:cNvSpPr>
            <a:spLocks noGrp="1"/>
          </p:cNvSpPr>
          <p:nvPr/>
        </p:nvSpPr>
        <p:spPr>
          <a:xfrm>
            <a:off x="5397500" y="1571625"/>
            <a:ext cx="4445000" cy="666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6A7A21-E49D-4EE2-9010-84D62456C6E1}"/>
              </a:ext>
            </a:extLst>
          </p:cNvPr>
          <p:cNvSpPr>
            <a:spLocks noGrp="1"/>
          </p:cNvSpPr>
          <p:nvPr/>
        </p:nvSpPr>
        <p:spPr>
          <a:xfrm>
            <a:off x="5549900" y="1666875"/>
            <a:ext cx="41402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과제 전용 학습 모델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B1026A-A52F-4538-A706-E49B827CBAC2}"/>
              </a:ext>
            </a:extLst>
          </p:cNvPr>
          <p:cNvSpPr>
            <a:spLocks noGrp="1"/>
          </p:cNvSpPr>
          <p:nvPr/>
        </p:nvSpPr>
        <p:spPr>
          <a:xfrm>
            <a:off x="5397500" y="2571750"/>
            <a:ext cx="4445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필요한 작업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96AA90-CE1A-4012-856F-41BF367467D7}"/>
              </a:ext>
            </a:extLst>
          </p:cNvPr>
          <p:cNvSpPr>
            <a:spLocks noGrp="1"/>
          </p:cNvSpPr>
          <p:nvPr/>
        </p:nvSpPr>
        <p:spPr>
          <a:xfrm>
            <a:off x="5397500" y="3152775"/>
            <a:ext cx="44450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학습 영상 수집과 라벨링</a:t>
            </a:r>
          </a:p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새 과제·환경에서 조정 가능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BC354D8-EB44-4332-9BE3-37D2355B78BD}"/>
              </a:ext>
            </a:extLst>
          </p:cNvPr>
          <p:cNvSpPr>
            <a:spLocks noGrp="1"/>
          </p:cNvSpPr>
          <p:nvPr/>
        </p:nvSpPr>
        <p:spPr>
          <a:xfrm>
            <a:off x="5397500" y="4648200"/>
            <a:ext cx="44450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자동화 가능성이 있지만</a:t>
            </a:r>
          </a:p>
          <a:p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학습자료 확보 부담 존재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EA360B-2FD2-4904-AE2D-42003C0F0C4D}"/>
              </a:ext>
            </a:extLst>
          </p:cNvPr>
          <p:cNvSpPr>
            <a:spLocks noGrp="1"/>
          </p:cNvSpPr>
          <p:nvPr/>
        </p:nvSpPr>
        <p:spPr>
          <a:xfrm>
            <a:off x="10175875" y="1571625"/>
            <a:ext cx="4445000" cy="666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69D73B-0687-4A17-B864-898E427FE33B}"/>
              </a:ext>
            </a:extLst>
          </p:cNvPr>
          <p:cNvSpPr>
            <a:spLocks noGrp="1"/>
          </p:cNvSpPr>
          <p:nvPr/>
        </p:nvSpPr>
        <p:spPr>
          <a:xfrm>
            <a:off x="10328275" y="1666875"/>
            <a:ext cx="41402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사전학습 VLM 활용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7B987A-2920-4B25-A374-C77FE8AB0008}"/>
              </a:ext>
            </a:extLst>
          </p:cNvPr>
          <p:cNvSpPr>
            <a:spLocks noGrp="1"/>
          </p:cNvSpPr>
          <p:nvPr/>
        </p:nvSpPr>
        <p:spPr>
          <a:xfrm>
            <a:off x="10175875" y="2571750"/>
            <a:ext cx="4445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필요한 작업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A1DBC87-D4AD-472A-A48C-FBBA2E93EF4A}"/>
              </a:ext>
            </a:extLst>
          </p:cNvPr>
          <p:cNvSpPr>
            <a:spLocks noGrp="1"/>
          </p:cNvSpPr>
          <p:nvPr/>
        </p:nvSpPr>
        <p:spPr>
          <a:xfrm>
            <a:off x="10175875" y="3152775"/>
            <a:ext cx="44450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과제 지침과 관찰 정보를 입력</a:t>
            </a:r>
          </a:p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모델 가중치는 고정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0AA760-A4C3-4CC4-A41D-DA42D7C1403A}"/>
              </a:ext>
            </a:extLst>
          </p:cNvPr>
          <p:cNvSpPr>
            <a:spLocks noGrp="1"/>
          </p:cNvSpPr>
          <p:nvPr/>
        </p:nvSpPr>
        <p:spPr>
          <a:xfrm>
            <a:off x="10175875" y="4648200"/>
            <a:ext cx="44450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추가 운동학 정보로</a:t>
            </a:r>
          </a:p>
          <a:p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판단의 부족한 근거를 보완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23472C-16C6-467A-8FD5-0E9529739EA0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6545580" cy="523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59B5A89-A190-4B73-975B-942BD2D85A56}"/>
              </a:ext>
            </a:extLst>
          </p:cNvPr>
          <p:cNvSpPr>
            <a:spLocks noGrp="1"/>
          </p:cNvSpPr>
          <p:nvPr/>
        </p:nvSpPr>
        <p:spPr>
          <a:xfrm>
            <a:off x="781050" y="6000750"/>
            <a:ext cx="136779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선행 사례  PrimSeq의 재활 동작 주석</a:t>
            </a:r>
            <a:endParaRPr sz="2550" b="1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E1DC7C9-B5AF-4BD4-BD95-9F72BE102497}"/>
              </a:ext>
            </a:extLst>
          </p:cNvPr>
          <p:cNvSpPr>
            <a:spLocks noGrp="1"/>
          </p:cNvSpPr>
          <p:nvPr/>
        </p:nvSpPr>
        <p:spPr>
          <a:xfrm>
            <a:off x="666750" y="6581775"/>
            <a:ext cx="13906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6.4시간의 기록에 수작업 주석 513.6시간, 자동 처리 1.4시간</a:t>
            </a:r>
          </a:p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세부 동작 주석 작업의 비교이며 FMA 검사시간과 구분한다.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D1CFFF6-A5E7-4B25-9BDD-CFD78C9EA457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E393206-BFEC-40B2-A40B-9AE21D8F50BF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6713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EFECF9-3C1A-4A7B-A026-D20F397D4F22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1E23F9-500B-496F-8B8A-A98FBFEDE500}"/>
              </a:ext>
            </a:extLst>
          </p:cNvPr>
          <p:cNvSpPr>
            <a:spLocks noGrp="1"/>
          </p:cNvSpPr>
          <p:nvPr/>
        </p:nvSpPr>
        <p:spPr>
          <a:xfrm>
            <a:off x="409575" y="0"/>
            <a:ext cx="1238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AF12BF-F562-40B9-A8C6-E8A0FAD1C8EC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선행연구가 제공하는 근거와 남은 질문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8BFC34-6463-41A4-94D3-136276C363B6}"/>
              </a:ext>
            </a:extLst>
          </p:cNvPr>
          <p:cNvSpPr>
            <a:spLocks noGrp="1"/>
          </p:cNvSpPr>
          <p:nvPr/>
        </p:nvSpPr>
        <p:spPr>
          <a:xfrm>
            <a:off x="11049000" y="3714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AD1277-E18E-4FA5-9D6A-4F548529F555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1524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7A5110-0C13-4D04-BBD5-6C38181D0B16}"/>
              </a:ext>
            </a:extLst>
          </p:cNvPr>
          <p:cNvSpPr>
            <a:spLocks noGrp="1"/>
          </p:cNvSpPr>
          <p:nvPr/>
        </p:nvSpPr>
        <p:spPr>
          <a:xfrm>
            <a:off x="619125" y="7000875"/>
            <a:ext cx="14001750" cy="5810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444BE8-C237-4CD2-8F6B-4CF8EF77885C}"/>
              </a:ext>
            </a:extLst>
          </p:cNvPr>
          <p:cNvSpPr>
            <a:spLocks noGrp="1"/>
          </p:cNvSpPr>
          <p:nvPr/>
        </p:nvSpPr>
        <p:spPr>
          <a:xfrm>
            <a:off x="619125" y="7000875"/>
            <a:ext cx="57150" cy="581025"/>
          </a:xfrm>
          <a:prstGeom prst="rect">
            <a:avLst/>
          </a:prstGeom>
          <a:solidFill>
            <a:srgbClr val="073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2FEA14-5D2D-4A12-84C5-070123C86302}"/>
              </a:ext>
            </a:extLst>
          </p:cNvPr>
          <p:cNvSpPr>
            <a:spLocks noGrp="1"/>
          </p:cNvSpPr>
          <p:nvPr/>
        </p:nvSpPr>
        <p:spPr>
          <a:xfrm>
            <a:off x="819150" y="7077075"/>
            <a:ext cx="13668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선행연구의 가능성을 바탕으로, 이번 손 과제와 입력 조합의 효과를 별도로 평가한다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74CBC2-87E7-421F-92F4-FE78B8E41175}"/>
              </a:ext>
            </a:extLst>
          </p:cNvPr>
          <p:cNvSpPr>
            <a:spLocks noGrp="1"/>
          </p:cNvSpPr>
          <p:nvPr/>
        </p:nvSpPr>
        <p:spPr>
          <a:xfrm>
            <a:off x="14430375" y="82962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 sz="1350" b="0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graphicFrame>
        <p:nvGraphicFramePr>
          <p:cNvPr id="25" name="표 20"/>
          <p:cNvGraphicFramePr/>
          <p:nvPr/>
        </p:nvGraphicFramePr>
        <p:xfrm>
          <a:off x="619125" y="1571625"/>
          <a:ext cx="14001750" cy="514350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선행연구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확인한 내용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이번 설계에 적용하는 범위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Li 등, 2026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VLM 동작 이해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20명과 환자 51명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활동 인식·횟수·FMA 추정 평가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미세 동작과 접촉 판단의 한계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 외 정보의 보완 가능성 검토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Qiu 등, 2022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파지 운동학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환자 8명에서 파지 간격과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시간 변수, FMA 관계 탐색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운동학 수치 선정의 개념적 근거</a:t>
                      </a:r>
                      <a:endParaRPr sz="2325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Amprimo 등, 2024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깊이 결합 손 추적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손 좌표와 깊이를 결합한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추적을 광학 기준과 비교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3차원 측정 방법의 근거</a:t>
                      </a:r>
                      <a:endParaRPr sz="2325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Tang 2025 / Wang 2024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LLM에 추가정보 입력 시 피드백의 가능성 확인</a:t>
                      </a:r>
                      <a:endParaRPr sz="2325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추가 정보 활용의 근거</a:t>
                      </a:r>
                      <a:endParaRPr sz="2325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8EBF9C92-CE45-4CF0-8724-8D0D4C644D3A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9B9DD4-6DDC-4C09-BD31-711AAB1FBE76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9018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7D52064F-D1B3-4833-8936-3D8447FCCE04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99F11C6-B2CF-4BAB-B9F4-6AD611B9789B}"/>
              </a:ext>
            </a:extLst>
          </p:cNvPr>
          <p:cNvSpPr>
            <a:spLocks noGrp="1"/>
          </p:cNvSpPr>
          <p:nvPr/>
        </p:nvSpPr>
        <p:spPr>
          <a:xfrm>
            <a:off x="409575" y="0"/>
            <a:ext cx="1238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F55B1F-E7DC-4FA9-A702-772D32C2A33E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시각 언어모델의 역할과 연구 범위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45647F-22CE-4E13-987C-2C66905F0DB8}"/>
              </a:ext>
            </a:extLst>
          </p:cNvPr>
          <p:cNvSpPr>
            <a:spLocks noGrp="1"/>
          </p:cNvSpPr>
          <p:nvPr/>
        </p:nvSpPr>
        <p:spPr>
          <a:xfrm>
            <a:off x="11049000" y="3714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0436C5-9DC5-47B1-8138-6A87E91FDA78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1524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0F91B3-EC9B-4175-8E67-D71B221EB9C3}"/>
              </a:ext>
            </a:extLst>
          </p:cNvPr>
          <p:cNvSpPr>
            <a:spLocks noGrp="1"/>
          </p:cNvSpPr>
          <p:nvPr/>
        </p:nvSpPr>
        <p:spPr>
          <a:xfrm>
            <a:off x="619125" y="6657975"/>
            <a:ext cx="14001750" cy="5810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0130D9-6F86-4BFB-A6E5-66CDE1CBC042}"/>
              </a:ext>
            </a:extLst>
          </p:cNvPr>
          <p:cNvSpPr>
            <a:spLocks noGrp="1"/>
          </p:cNvSpPr>
          <p:nvPr/>
        </p:nvSpPr>
        <p:spPr>
          <a:xfrm>
            <a:off x="619125" y="6657975"/>
            <a:ext cx="57150" cy="581025"/>
          </a:xfrm>
          <a:prstGeom prst="rect">
            <a:avLst/>
          </a:prstGeom>
          <a:solidFill>
            <a:srgbClr val="073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9F37B5-425A-49C1-8D55-8C3AD1682BB8}"/>
              </a:ext>
            </a:extLst>
          </p:cNvPr>
          <p:cNvSpPr>
            <a:spLocks noGrp="1"/>
          </p:cNvSpPr>
          <p:nvPr/>
        </p:nvSpPr>
        <p:spPr>
          <a:xfrm>
            <a:off x="819150" y="6734175"/>
            <a:ext cx="13668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성능 평가에는 전문가 라벨이 필요하며, 이번 비교에서는 모델 가중치를 갱신하지 않는다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DBD2E05-6351-42F1-9EA3-33EACD12EF5E}"/>
              </a:ext>
            </a:extLst>
          </p:cNvPr>
          <p:cNvSpPr>
            <a:spLocks noGrp="1"/>
          </p:cNvSpPr>
          <p:nvPr/>
        </p:nvSpPr>
        <p:spPr>
          <a:xfrm>
            <a:off x="14430375" y="82962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 sz="1350" b="0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5536A6-31FF-41BC-A432-3A1860D1AC76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시각 언어모델(VLM)은 이미지와 텍스트를 함께 처리하는 사전학습 모델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C345B9-82A4-4ED1-BBD2-69280723C75C}"/>
              </a:ext>
            </a:extLst>
          </p:cNvPr>
          <p:cNvSpPr>
            <a:spLocks noGrp="1"/>
          </p:cNvSpPr>
          <p:nvPr/>
        </p:nvSpPr>
        <p:spPr>
          <a:xfrm>
            <a:off x="619125" y="2476500"/>
            <a:ext cx="2619375" cy="619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037713-5E36-40A7-9A09-794E13072169}"/>
              </a:ext>
            </a:extLst>
          </p:cNvPr>
          <p:cNvSpPr>
            <a:spLocks noGrp="1"/>
          </p:cNvSpPr>
          <p:nvPr/>
        </p:nvSpPr>
        <p:spPr>
          <a:xfrm>
            <a:off x="762000" y="25527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01  입력 구성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912AEB-3E0A-41D4-9AAD-51D81A0425C2}"/>
              </a:ext>
            </a:extLst>
          </p:cNvPr>
          <p:cNvSpPr>
            <a:spLocks noGrp="1"/>
          </p:cNvSpPr>
          <p:nvPr/>
        </p:nvSpPr>
        <p:spPr>
          <a:xfrm>
            <a:off x="3619500" y="2505075"/>
            <a:ext cx="10953750" cy="1114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동일한 손 과제 영상과 과제 지침</a:t>
            </a:r>
          </a:p>
          <a:p>
            <a:pPr>
              <a:buNone/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조건에 따라 운동학 수치·품질·건강인 참조 추가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C1E71B-24B4-470E-B358-06B68B8C22B5}"/>
              </a:ext>
            </a:extLst>
          </p:cNvPr>
          <p:cNvSpPr>
            <a:spLocks noGrp="1"/>
          </p:cNvSpPr>
          <p:nvPr/>
        </p:nvSpPr>
        <p:spPr>
          <a:xfrm>
            <a:off x="3619500" y="3657600"/>
            <a:ext cx="10953750" cy="9525"/>
          </a:xfrm>
          <a:prstGeom prst="rect">
            <a:avLst/>
          </a:prstGeom>
          <a:solidFill>
            <a:srgbClr val="CDD5D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3A6EBC-6F81-494C-AD91-AC376EA34686}"/>
              </a:ext>
            </a:extLst>
          </p:cNvPr>
          <p:cNvSpPr>
            <a:spLocks noGrp="1"/>
          </p:cNvSpPr>
          <p:nvPr/>
        </p:nvSpPr>
        <p:spPr>
          <a:xfrm>
            <a:off x="619125" y="3829050"/>
            <a:ext cx="2619375" cy="619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42CB27-9A30-4706-8996-9D02148C4EC4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02  수행 여부 판정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B59E76-47C0-4203-9F18-6D90331D191C}"/>
              </a:ext>
            </a:extLst>
          </p:cNvPr>
          <p:cNvSpPr>
            <a:spLocks noGrp="1"/>
          </p:cNvSpPr>
          <p:nvPr/>
        </p:nvSpPr>
        <p:spPr>
          <a:xfrm>
            <a:off x="3619500" y="3857625"/>
            <a:ext cx="10953750" cy="1114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지시한 손 모양을 만들었는지, 유지했는지, 다시 폈는지를 평가</a:t>
            </a:r>
          </a:p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각 단계의 완료 / 미완료 / 관찰 근거 부족과 이유를 출력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376101-672F-41A1-A608-E57844D3EC16}"/>
              </a:ext>
            </a:extLst>
          </p:cNvPr>
          <p:cNvSpPr>
            <a:spLocks noGrp="1"/>
          </p:cNvSpPr>
          <p:nvPr/>
        </p:nvSpPr>
        <p:spPr>
          <a:xfrm>
            <a:off x="3619500" y="5010150"/>
            <a:ext cx="10953750" cy="9525"/>
          </a:xfrm>
          <a:prstGeom prst="rect">
            <a:avLst/>
          </a:prstGeom>
          <a:solidFill>
            <a:srgbClr val="CDD5D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6A0979-9A5A-41F0-957B-ABA2716DCA43}"/>
              </a:ext>
            </a:extLst>
          </p:cNvPr>
          <p:cNvSpPr>
            <a:spLocks noGrp="1"/>
          </p:cNvSpPr>
          <p:nvPr/>
        </p:nvSpPr>
        <p:spPr>
          <a:xfrm>
            <a:off x="619125" y="5181600"/>
            <a:ext cx="2619375" cy="619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4DD455-A0F7-4CE1-BEA7-6DC8665B84C5}"/>
              </a:ext>
            </a:extLst>
          </p:cNvPr>
          <p:cNvSpPr>
            <a:spLocks noGrp="1"/>
          </p:cNvSpPr>
          <p:nvPr/>
        </p:nvSpPr>
        <p:spPr>
          <a:xfrm>
            <a:off x="762000" y="52578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03  점수 변환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90968CE-BCC8-45CF-9B05-C0D204CE37EF}"/>
              </a:ext>
            </a:extLst>
          </p:cNvPr>
          <p:cNvSpPr>
            <a:spLocks noGrp="1"/>
          </p:cNvSpPr>
          <p:nvPr/>
        </p:nvSpPr>
        <p:spPr>
          <a:xfrm>
            <a:off x="3619500" y="5210175"/>
            <a:ext cx="10953750" cy="1114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단계별 판정 결과를 사전에 정한 규칙으로 0·1·2점으로 변환</a:t>
            </a:r>
            <a:endParaRPr sz="255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전문가 점수와 비교하여 추가 정보의 효과를 평가</a:t>
            </a:r>
            <a:endParaRPr sz="255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411160-B4C5-449D-A800-F0E8D3C2DAA4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8723C5-497F-405E-8474-4784C645A03B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0228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6945A4-0CD4-42B9-902A-2A253E086EB6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5C1436-D045-4B2B-A433-D67DCB2FD86E}"/>
              </a:ext>
            </a:extLst>
          </p:cNvPr>
          <p:cNvSpPr>
            <a:spLocks noGrp="1"/>
          </p:cNvSpPr>
          <p:nvPr/>
        </p:nvSpPr>
        <p:spPr>
          <a:xfrm>
            <a:off x="409575" y="0"/>
            <a:ext cx="1238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705D92-5A9B-4BA2-89B6-4AE84E3080B1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RGB-D 측정과 건강인 참조의 구성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976A4F-8B06-400D-8B3C-DE1C91ED6DF2}"/>
              </a:ext>
            </a:extLst>
          </p:cNvPr>
          <p:cNvSpPr>
            <a:spLocks noGrp="1"/>
          </p:cNvSpPr>
          <p:nvPr/>
        </p:nvSpPr>
        <p:spPr>
          <a:xfrm>
            <a:off x="11049000" y="3714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66678D-41EC-492F-BA41-1241120CEA36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1524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365925-850D-4410-9217-813F1FF917C6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14001750" cy="5810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3D1581-7702-4512-8CC7-BE87C13115B3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57150" cy="581025"/>
          </a:xfrm>
          <a:prstGeom prst="rect">
            <a:avLst/>
          </a:prstGeom>
          <a:solidFill>
            <a:srgbClr val="073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24B72E-01B6-4822-B333-0D65F5C46C19}"/>
              </a:ext>
            </a:extLst>
          </p:cNvPr>
          <p:cNvSpPr>
            <a:spLocks noGrp="1"/>
          </p:cNvSpPr>
          <p:nvPr/>
        </p:nvSpPr>
        <p:spPr>
          <a:xfrm>
            <a:off x="819150" y="7724775"/>
            <a:ext cx="13668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센서의 거리값은 움직임 정보이며 실제 접촉력이나 정상 기능을 직접 뜻하지 않는다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4B7DA2-D706-42CC-8018-6813E08CF89B}"/>
              </a:ext>
            </a:extLst>
          </p:cNvPr>
          <p:cNvSpPr>
            <a:spLocks noGrp="1"/>
          </p:cNvSpPr>
          <p:nvPr/>
        </p:nvSpPr>
        <p:spPr>
          <a:xfrm>
            <a:off x="14430375" y="82962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 sz="1350" b="0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14C972-2AA8-49BE-89EC-FC5FD87A5B5C}"/>
              </a:ext>
            </a:extLst>
          </p:cNvPr>
          <p:cNvSpPr>
            <a:spLocks noGrp="1"/>
          </p:cNvSpPr>
          <p:nvPr/>
        </p:nvSpPr>
        <p:spPr>
          <a:xfrm>
            <a:off x="619125" y="1666875"/>
            <a:ext cx="5905500" cy="3429000"/>
          </a:xfrm>
          <a:prstGeom prst="rect">
            <a:avLst/>
          </a:prstGeom>
          <a:solidFill>
            <a:srgbClr val="FFFFFF"/>
          </a:solidFill>
          <a:ln w="12383">
            <a:solidFill>
              <a:srgbClr val="8795A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A94B23-DEB2-4BB2-B934-B8C459183545}"/>
              </a:ext>
            </a:extLst>
          </p:cNvPr>
          <p:cNvSpPr>
            <a:spLocks noGrp="1"/>
          </p:cNvSpPr>
          <p:nvPr/>
        </p:nvSpPr>
        <p:spPr>
          <a:xfrm>
            <a:off x="809625" y="2981325"/>
            <a:ext cx="5524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94D6C3-4949-4483-80D4-25DA49DFB5E5}"/>
              </a:ext>
            </a:extLst>
          </p:cNvPr>
          <p:cNvSpPr>
            <a:spLocks noGrp="1"/>
          </p:cNvSpPr>
          <p:nvPr/>
        </p:nvSpPr>
        <p:spPr>
          <a:xfrm>
            <a:off x="809625" y="3438525"/>
            <a:ext cx="5524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D455와 양손 작업대 배치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22879C-72EC-4DDA-9057-AA451D758CFE}"/>
              </a:ext>
            </a:extLst>
          </p:cNvPr>
          <p:cNvSpPr>
            <a:spLocks noGrp="1"/>
          </p:cNvSpPr>
          <p:nvPr/>
        </p:nvSpPr>
        <p:spPr>
          <a:xfrm>
            <a:off x="7096125" y="1476375"/>
            <a:ext cx="3890010" cy="552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DD7964-852C-4AFE-962E-6C17DDF91E94}"/>
              </a:ext>
            </a:extLst>
          </p:cNvPr>
          <p:cNvSpPr>
            <a:spLocks noGrp="1"/>
          </p:cNvSpPr>
          <p:nvPr/>
        </p:nvSpPr>
        <p:spPr>
          <a:xfrm>
            <a:off x="7210425" y="1476375"/>
            <a:ext cx="72961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색상(RGB) + 깊이(D)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93225E-0CA3-485B-A1DC-44E2F8E4B49A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7524750" cy="1666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D455 약 70 cm, 30 fps</a:t>
            </a:r>
          </a:p>
          <a:p>
            <a:pPr>
              <a:buNone/>
              <a:def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MediaPipe 손 위치에 깊이를 결합</a:t>
            </a:r>
            <a:endParaRPr sz="262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손가락 사이의 3차원 거리 계산</a:t>
            </a:r>
            <a:endParaRPr sz="262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4DC92C2-3E69-41AC-BFF9-5467282DECA0}"/>
              </a:ext>
            </a:extLst>
          </p:cNvPr>
          <p:cNvSpPr>
            <a:spLocks noGrp="1"/>
          </p:cNvSpPr>
          <p:nvPr/>
        </p:nvSpPr>
        <p:spPr>
          <a:xfrm>
            <a:off x="7096125" y="4000500"/>
            <a:ext cx="3436620" cy="571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4CBF52-6852-46D0-B610-631815A5F729}"/>
              </a:ext>
            </a:extLst>
          </p:cNvPr>
          <p:cNvSpPr>
            <a:spLocks noGrp="1"/>
          </p:cNvSpPr>
          <p:nvPr/>
        </p:nvSpPr>
        <p:spPr>
          <a:xfrm>
            <a:off x="7210425" y="4000500"/>
            <a:ext cx="72961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건강인 참조의 구성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5850C1-2536-4356-BCB9-FE2F42B8C267}"/>
              </a:ext>
            </a:extLst>
          </p:cNvPr>
          <p:cNvSpPr>
            <a:spLocks noGrp="1"/>
          </p:cNvSpPr>
          <p:nvPr/>
        </p:nvSpPr>
        <p:spPr>
          <a:xfrm>
            <a:off x="7096125" y="4667250"/>
            <a:ext cx="7524750" cy="1571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과제별 반복값을 개인 중앙값으로 요약</a:t>
            </a:r>
            <a:endParaRPr sz="247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15명의 분포에서 중앙값과 사분위수 계산</a:t>
            </a:r>
            <a:endParaRPr sz="247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손 크기·연령·우세손 차이는 한계로 기록</a:t>
            </a:r>
            <a:endParaRPr sz="247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E5AE3D1-7EFD-4580-8E67-F3AA02385E99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13906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사분위수 Q1·Q3: 표본의 25·75백분위수</a:t>
            </a:r>
          </a:p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그 사이 중앙 50% 범위는 정상·실패 판정선과 구분한다.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E8C807-0EB4-415E-AC86-F15ACB65D78E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197F66-23F5-4042-8A3B-4EDFD0A3F481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2265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8A6746-7519-4C8F-8C55-738FE1058783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수치로 학습하는 기준 모델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8F96FD-966F-4142-9545-F40F34AC0E86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441D27-D07F-4B01-8204-EFDCAB7C5CA6}"/>
              </a:ext>
            </a:extLst>
          </p:cNvPr>
          <p:cNvSpPr>
            <a:spLocks noGrp="1"/>
          </p:cNvSpPr>
          <p:nvPr/>
        </p:nvSpPr>
        <p:spPr>
          <a:xfrm>
            <a:off x="523875" y="7467600"/>
            <a:ext cx="14192250" cy="9525"/>
          </a:xfrm>
          <a:prstGeom prst="rect">
            <a:avLst/>
          </a:prstGeom>
          <a:solidFill>
            <a:srgbClr val="D6DC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675308-2C2F-421B-BD07-0345EB7E5445}"/>
              </a:ext>
            </a:extLst>
          </p:cNvPr>
          <p:cNvSpPr>
            <a:spLocks noGrp="1"/>
          </p:cNvSpPr>
          <p:nvPr/>
        </p:nvSpPr>
        <p:spPr>
          <a:xfrm>
            <a:off x="571500" y="7610475"/>
            <a:ext cx="1400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 이름: 수치 학습 기준 모델 (A0)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293AF1-A3C6-4483-9210-F9A95E91FC9F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13811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제공 정보와 처리 방식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619125" y="2085975"/>
          <a:ext cx="14001750" cy="32385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95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손 움직임을 측정한 수치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처리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다항 로지스틱 회귀: 수치와 전문가 점수의 관계를 학습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출력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학습한 관계로 연구용 0·1·2점 분류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3AB5D7A-C6C0-4421-9630-113C063D7572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13335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조건을 두는 이유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2D9B7E-7059-401C-AFD3-D8780469F108}"/>
              </a:ext>
            </a:extLst>
          </p:cNvPr>
          <p:cNvSpPr>
            <a:spLocks noGrp="1"/>
          </p:cNvSpPr>
          <p:nvPr/>
        </p:nvSpPr>
        <p:spPr>
          <a:xfrm>
            <a:off x="857250" y="6334125"/>
            <a:ext cx="13525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간단한 수치 학습 모델로도 평가할 수 있는지 확인한다.</a:t>
            </a:r>
          </a:p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이후 제안 방식과 비교하되, 학습 조건이 다르다는 점을 함께 해석한다.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04363A-A964-4E4C-B65B-55B54AD3E8C3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7DF360-CFA8-4E36-B7E0-94020FC0020E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7724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791623-3126-45A4-BD9B-A92E10CFAE95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영상만 제공하는 시각 언어모델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143E4C-3777-40C1-A4E4-3C2934B75F83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640CEA-8357-4B5A-9EDC-9389FA5A4B77}"/>
              </a:ext>
            </a:extLst>
          </p:cNvPr>
          <p:cNvSpPr>
            <a:spLocks noGrp="1"/>
          </p:cNvSpPr>
          <p:nvPr/>
        </p:nvSpPr>
        <p:spPr>
          <a:xfrm>
            <a:off x="523875" y="7467600"/>
            <a:ext cx="14192250" cy="9525"/>
          </a:xfrm>
          <a:prstGeom prst="rect">
            <a:avLst/>
          </a:prstGeom>
          <a:solidFill>
            <a:srgbClr val="D6DC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76BBBB-AF3F-42D9-888F-C97B4ECEF140}"/>
              </a:ext>
            </a:extLst>
          </p:cNvPr>
          <p:cNvSpPr>
            <a:spLocks noGrp="1"/>
          </p:cNvSpPr>
          <p:nvPr/>
        </p:nvSpPr>
        <p:spPr>
          <a:xfrm>
            <a:off x="571500" y="7610475"/>
            <a:ext cx="1400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 이름: 영상만 (A1)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2C09EC-AD92-4AEF-BBB6-43DCD463399B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13811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제공 정보와 처리 방식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619125" y="2085975"/>
          <a:ext cx="14001750" cy="32385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95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손 과제의 영상 프레임과 공통 과제 지침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처리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VLM이 과제 단계별 수행 여부와 관찰 근거를 출력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점수화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동일한 외부 규칙으로 판정을 0·1·2점으로 변환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91D0F77-7EF9-40BA-B66B-28C723665FE0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13335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조건을 두는 이유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BAB8F1-A1D6-422C-B3E3-637CCA870EE4}"/>
              </a:ext>
            </a:extLst>
          </p:cNvPr>
          <p:cNvSpPr>
            <a:spLocks noGrp="1"/>
          </p:cNvSpPr>
          <p:nvPr/>
        </p:nvSpPr>
        <p:spPr>
          <a:xfrm>
            <a:off x="857250" y="6334125"/>
            <a:ext cx="13525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추가 수치를 주기 전, 영상 정보로 평가하는 기준 조건을 만든다.</a:t>
            </a:r>
          </a:p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이후 조건에서도 같은 모델·과제 지침·영상 프레임을 사용한다.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55FFAB-A408-4152-97B1-F27C6994487D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7F78D1A-D162-4062-8177-1D7C15574972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6297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3B58AE-CCA4-4A97-93CA-C177D28294F1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영상에 운동학 수치를 추가하는 조건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2EB4EED-7D6A-44FC-9169-3FC12BF1153B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036149-F83E-46BE-B560-AD3410531D44}"/>
              </a:ext>
            </a:extLst>
          </p:cNvPr>
          <p:cNvSpPr>
            <a:spLocks noGrp="1"/>
          </p:cNvSpPr>
          <p:nvPr/>
        </p:nvSpPr>
        <p:spPr>
          <a:xfrm>
            <a:off x="523875" y="7467600"/>
            <a:ext cx="14192250" cy="9525"/>
          </a:xfrm>
          <a:prstGeom prst="rect">
            <a:avLst/>
          </a:prstGeom>
          <a:solidFill>
            <a:srgbClr val="D6DC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E5F704-DE3F-4F83-9B47-E772E9E65F4B}"/>
              </a:ext>
            </a:extLst>
          </p:cNvPr>
          <p:cNvSpPr>
            <a:spLocks noGrp="1"/>
          </p:cNvSpPr>
          <p:nvPr/>
        </p:nvSpPr>
        <p:spPr>
          <a:xfrm>
            <a:off x="571500" y="7610475"/>
            <a:ext cx="1400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 이름: 영상 + 수치 (A2)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28E232-C3C8-4124-AD84-981BB4160353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13811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제공 정보와 처리 방식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619125" y="2085975"/>
          <a:ext cx="14001750" cy="32385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95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기본 입력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영상만 조건과 동일한 프레임 및 과제 지침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추가 정보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움직임 크기·도달 시간·유지 중 변동·해제 시 개방량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품질 정보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측정값의 유효율과 결측 이유를 함께 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F0334EE-E196-4B87-8157-0A0A111008F5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13335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조건을 두는 이유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418B47-950E-461E-9697-FA5465821BFB}"/>
              </a:ext>
            </a:extLst>
          </p:cNvPr>
          <p:cNvSpPr>
            <a:spLocks noGrp="1"/>
          </p:cNvSpPr>
          <p:nvPr/>
        </p:nvSpPr>
        <p:spPr>
          <a:xfrm>
            <a:off x="857250" y="6334125"/>
            <a:ext cx="13525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영상만으로 파악하기 어려운 움직임을 측정값으로 보완한다.</a:t>
            </a:r>
          </a:p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앞의 영상만 조건과 비교하여 수치와 품질 정보의 추가 효과를 본다.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9D8C0E-C7C8-44B5-9C97-78A2DA3FDE5F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F83269-C37F-404F-A3C7-0842E2020DDD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338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9C63F9-8F9D-49B4-B43D-AC615CE0CF2F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영상과 수치에 건강인 참조를 추가하는 조건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E4D96D-3730-4AFF-9F1E-21EBAD2A8BB7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E23F34-C9E5-43E0-B122-432960DE18DA}"/>
              </a:ext>
            </a:extLst>
          </p:cNvPr>
          <p:cNvSpPr>
            <a:spLocks noGrp="1"/>
          </p:cNvSpPr>
          <p:nvPr/>
        </p:nvSpPr>
        <p:spPr>
          <a:xfrm>
            <a:off x="523875" y="7467600"/>
            <a:ext cx="14192250" cy="9525"/>
          </a:xfrm>
          <a:prstGeom prst="rect">
            <a:avLst/>
          </a:prstGeom>
          <a:solidFill>
            <a:srgbClr val="D6DC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8D5A5E-3976-4C5A-93CD-A4665BA195E2}"/>
              </a:ext>
            </a:extLst>
          </p:cNvPr>
          <p:cNvSpPr>
            <a:spLocks noGrp="1"/>
          </p:cNvSpPr>
          <p:nvPr/>
        </p:nvSpPr>
        <p:spPr>
          <a:xfrm>
            <a:off x="571500" y="7610475"/>
            <a:ext cx="1400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 이름: 영상 + 수치 + 건강인 참조 (A3)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9B3EB2-8A34-4C76-8E91-31CD6B3C3E63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13811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제공 정보와 처리 방식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619125" y="2085975"/>
          <a:ext cx="14001750" cy="32385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95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기본 입력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영상과 운동학 수치, 측정 품질 정보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추가 정보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표본의 중앙값·사분위수와 상대 위치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의미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같은 과제의 측정값을 해석할 비교 정보를 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A2B00D0-D68A-4C56-B411-1D07EE26E1F1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13335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조건을 두는 이유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1A9DC4-E22A-4E9F-8859-ABC02A059EA5}"/>
              </a:ext>
            </a:extLst>
          </p:cNvPr>
          <p:cNvSpPr>
            <a:spLocks noGrp="1"/>
          </p:cNvSpPr>
          <p:nvPr/>
        </p:nvSpPr>
        <p:spPr>
          <a:xfrm>
            <a:off x="857250" y="6334125"/>
            <a:ext cx="13525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이번 연구의 최종 제안 방식이다.</a:t>
            </a:r>
          </a:p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영상만 조건 대비 전체 효과와, 수치 조건 대비 참조의 추가 효과를 본다.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14DE51-EFE2-429C-A91B-AA7ED5548824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362FC7-0290-46E9-BF25-3B4C4BAA12EE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046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3F2614-3163-4875-B186-9872C12FD9B9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 없이 수치와 참조만 제공하는 조건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1DAFDD-3DA1-45FF-890C-C064885EC833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E3FD8C-55B9-4CF2-9648-83225565926B}"/>
              </a:ext>
            </a:extLst>
          </p:cNvPr>
          <p:cNvSpPr>
            <a:spLocks noGrp="1"/>
          </p:cNvSpPr>
          <p:nvPr/>
        </p:nvSpPr>
        <p:spPr>
          <a:xfrm>
            <a:off x="523875" y="7467600"/>
            <a:ext cx="14192250" cy="9525"/>
          </a:xfrm>
          <a:prstGeom prst="rect">
            <a:avLst/>
          </a:prstGeom>
          <a:solidFill>
            <a:srgbClr val="D6DC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F6621E-398F-43E4-98D0-1AD78F6A6124}"/>
              </a:ext>
            </a:extLst>
          </p:cNvPr>
          <p:cNvSpPr>
            <a:spLocks noGrp="1"/>
          </p:cNvSpPr>
          <p:nvPr/>
        </p:nvSpPr>
        <p:spPr>
          <a:xfrm>
            <a:off x="571500" y="7610475"/>
            <a:ext cx="1400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 이름: 수치만 제공하는 VLM (A4)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41AFC9-520E-42ED-9075-D0DCC26DC5E5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13811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제공 정보와 처리 방식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619125" y="2085975"/>
          <a:ext cx="14001750" cy="32385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95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운동학 수치·측정 품질·건강인 참조와 과제 지침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처리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앞의 조건과 동일한 VLM을 사용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제외 정보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 프레임과 프레임 시각 정보는 제공하지 않음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D8E753E-0910-4815-B157-CAA44B7C1969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13335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조건을 두는 이유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EDB1A3-A18F-4580-9C27-16679E56AA32}"/>
              </a:ext>
            </a:extLst>
          </p:cNvPr>
          <p:cNvSpPr>
            <a:spLocks noGrp="1"/>
          </p:cNvSpPr>
          <p:nvPr/>
        </p:nvSpPr>
        <p:spPr>
          <a:xfrm>
            <a:off x="857250" y="6334125"/>
            <a:ext cx="13525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수치만 주어도 충분한지 확인하기 위한 보조 조건이다.</a:t>
            </a:r>
          </a:p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최종 제안 방식과 비교하여 영상 정보의 추가 기여를 탐색한다.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EBBFF5-97D5-4357-92EF-3055E80D04BF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594D6C-BA0D-4585-816E-9A971E18ABA8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7252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7BF49F7-4236-4406-B38E-6EE508DDFAD3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전체 조건과 비교 목적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FEB396-20C6-4586-BEDC-C480DB33CFB5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F43056-DAAB-4DA6-83D6-9A41EEE20EBF}"/>
              </a:ext>
            </a:extLst>
          </p:cNvPr>
          <p:cNvSpPr>
            <a:spLocks noGrp="1"/>
          </p:cNvSpPr>
          <p:nvPr/>
        </p:nvSpPr>
        <p:spPr>
          <a:xfrm>
            <a:off x="523875" y="7467600"/>
            <a:ext cx="14192250" cy="9525"/>
          </a:xfrm>
          <a:prstGeom prst="rect">
            <a:avLst/>
          </a:prstGeom>
          <a:solidFill>
            <a:srgbClr val="D6DC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84954F-907D-4C2A-AF62-EB4EDC399CAB}"/>
              </a:ext>
            </a:extLst>
          </p:cNvPr>
          <p:cNvSpPr>
            <a:spLocks noGrp="1"/>
          </p:cNvSpPr>
          <p:nvPr/>
        </p:nvSpPr>
        <p:spPr>
          <a:xfrm>
            <a:off x="571500" y="7610475"/>
            <a:ext cx="1400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주 비교: 최종 제안 방식(A3)과 영상만(A1). 나머지 비교는 탐색적으로 해석한다.</a:t>
            </a:r>
          </a:p>
        </p:txBody>
      </p:sp>
      <p:graphicFrame>
        <p:nvGraphicFramePr>
          <p:cNvPr id="14" name="표 13"/>
          <p:cNvGraphicFramePr/>
          <p:nvPr/>
        </p:nvGraphicFramePr>
        <p:xfrm>
          <a:off x="523875" y="1333500"/>
          <a:ext cx="14192250" cy="3790950"/>
        </p:xfrm>
        <a:graphic>
          <a:graphicData uri="http://schemas.openxmlformats.org/drawingml/2006/table">
            <a:tbl>
              <a:tblPr/>
              <a:tblGrid>
                <a:gridCol w="461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5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18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설명으로 읽는 조건 이름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수치·품질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참조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평가 방법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 학습 기준 모델 (A0)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 사용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로지스틱 회귀 학습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영상만 (A1)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동일한 동결 VLM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 + 수치 (A2)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동일한 동결 VLM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최종 제안 방식 (A3)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동일한 동결 VLM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수치만 제공하는 VLM (A4)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동일한 동결 VLM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61B876D9-E50D-4BF7-9670-E4632BCB635A}"/>
              </a:ext>
            </a:extLst>
          </p:cNvPr>
          <p:cNvSpPr>
            <a:spLocks noGrp="1"/>
          </p:cNvSpPr>
          <p:nvPr/>
        </p:nvSpPr>
        <p:spPr>
          <a:xfrm>
            <a:off x="619125" y="5467350"/>
            <a:ext cx="13811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 비교와 보조 비교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39A117-E251-419E-8D4E-6D28190CBF89}"/>
              </a:ext>
            </a:extLst>
          </p:cNvPr>
          <p:cNvSpPr>
            <a:spLocks noGrp="1"/>
          </p:cNvSpPr>
          <p:nvPr/>
        </p:nvSpPr>
        <p:spPr>
          <a:xfrm>
            <a:off x="666750" y="6048375"/>
            <a:ext cx="13906500" cy="1304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전체 효과: 최종 제안(A3) 대 영상만(A1)</a:t>
            </a:r>
          </a:p>
          <a:p>
            <a:pPr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수치 추가: 영상+수치(A2) 대 영상만(A1)    참조 추가: 최종 제안(A3) 대 영상+수치(A2)</a:t>
            </a:r>
          </a:p>
          <a:p>
            <a:pPr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 기여: 최종 제안(A3) 대 수치만 VLM(A4)    학습 기준선: 최종 제안(A3) 대 수치 학습(A0)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8C4E0E-E989-480D-947E-28796659BBD7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4D740-D09F-49A7-8B8C-171C1C1A567C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0316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AA5DBB9D-D82A-437A-92C5-05D4C6BF3825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5E0178-8DE7-4A8B-9FCF-BD19D3D977EB}"/>
              </a:ext>
            </a:extLst>
          </p:cNvPr>
          <p:cNvSpPr>
            <a:spLocks noGrp="1"/>
          </p:cNvSpPr>
          <p:nvPr/>
        </p:nvSpPr>
        <p:spPr>
          <a:xfrm>
            <a:off x="409575" y="0"/>
            <a:ext cx="1238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82936BA-405A-41F9-89A2-0888234E9B62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대상자와 네 가지 손 과제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C79657-4F98-4558-8052-7D7F59046A8D}"/>
              </a:ext>
            </a:extLst>
          </p:cNvPr>
          <p:cNvSpPr>
            <a:spLocks noGrp="1"/>
          </p:cNvSpPr>
          <p:nvPr/>
        </p:nvSpPr>
        <p:spPr>
          <a:xfrm>
            <a:off x="11049000" y="3714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5342F7-B4D8-4512-979B-C6DF312E2B0F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1524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5265A5-A4CF-49D3-9EF6-1D4ABBE6D057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14001750" cy="5810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4489C3-B546-454C-8F0A-6C22FA8C5C63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57150" cy="581025"/>
          </a:xfrm>
          <a:prstGeom prst="rect">
            <a:avLst/>
          </a:prstGeom>
          <a:solidFill>
            <a:srgbClr val="073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716BDD-931F-4765-B22F-54E8BDB2FEB5}"/>
              </a:ext>
            </a:extLst>
          </p:cNvPr>
          <p:cNvSpPr>
            <a:spLocks noGrp="1"/>
          </p:cNvSpPr>
          <p:nvPr/>
        </p:nvSpPr>
        <p:spPr>
          <a:xfrm>
            <a:off x="819150" y="7724775"/>
            <a:ext cx="13668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각 과제 8회 양손 동시 수행. 환자 15명을 독립 분석 단위로 사용한다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348DAC-2186-4A23-B523-229A28477421}"/>
              </a:ext>
            </a:extLst>
          </p:cNvPr>
          <p:cNvSpPr>
            <a:spLocks noGrp="1"/>
          </p:cNvSpPr>
          <p:nvPr/>
        </p:nvSpPr>
        <p:spPr>
          <a:xfrm>
            <a:off x="14430375" y="82962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graphicFrame>
        <p:nvGraphicFramePr>
          <p:cNvPr id="43" name="표 38"/>
          <p:cNvGraphicFramePr/>
          <p:nvPr/>
        </p:nvGraphicFramePr>
        <p:xfrm>
          <a:off x="619125" y="1476375"/>
          <a:ext cx="5810250" cy="3429000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집단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인원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역할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개발 건강인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4명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측정·지침 점검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참조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15명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비교 분포 구성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뇌졸중 환자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15명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효과 평가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D9BBB2-17E8-4C24-BCA5-A02A4ACC063E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2524125" cy="5048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49E374-8A06-4F7D-BDF1-2F5516A4E09D}"/>
              </a:ext>
            </a:extLst>
          </p:cNvPr>
          <p:cNvSpPr>
            <a:spLocks noGrp="1"/>
          </p:cNvSpPr>
          <p:nvPr/>
        </p:nvSpPr>
        <p:spPr>
          <a:xfrm>
            <a:off x="781050" y="5219700"/>
            <a:ext cx="55816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환자 기준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C0A226-0730-46C8-AFBC-86A963A35202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5810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40–80세, 뇌졸중 후 3개월 이상</a:t>
            </a:r>
          </a:p>
          <a:p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일측 편마비, 손 회복 III–V 단계</a:t>
            </a:r>
          </a:p>
          <a:p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지시 이해와 착석 수행 가능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3385E7-2EA5-4CAA-99E6-B06DF958C294}"/>
              </a:ext>
            </a:extLst>
          </p:cNvPr>
          <p:cNvSpPr>
            <a:spLocks noGrp="1"/>
          </p:cNvSpPr>
          <p:nvPr/>
        </p:nvSpPr>
        <p:spPr>
          <a:xfrm>
            <a:off x="7096125" y="1476375"/>
            <a:ext cx="3524250" cy="1809750"/>
          </a:xfrm>
          <a:prstGeom prst="rect">
            <a:avLst/>
          </a:prstGeom>
          <a:solidFill>
            <a:srgbClr val="FFFFFF"/>
          </a:solidFill>
          <a:ln w="12383">
            <a:solidFill>
              <a:srgbClr val="8795A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58FA15-4BEB-4A3F-87A3-3A24A449BFBC}"/>
              </a:ext>
            </a:extLst>
          </p:cNvPr>
          <p:cNvSpPr>
            <a:spLocks noGrp="1"/>
          </p:cNvSpPr>
          <p:nvPr/>
        </p:nvSpPr>
        <p:spPr>
          <a:xfrm>
            <a:off x="7286625" y="19812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B681CA-11BC-4481-927D-2F1BC2F99B55}"/>
              </a:ext>
            </a:extLst>
          </p:cNvPr>
          <p:cNvSpPr>
            <a:spLocks noGrp="1"/>
          </p:cNvSpPr>
          <p:nvPr/>
        </p:nvSpPr>
        <p:spPr>
          <a:xfrm>
            <a:off x="7286625" y="2438400"/>
            <a:ext cx="314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맨손 쥐기와 펴기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4A19F7-EAA6-4938-871F-9B133F4997F4}"/>
              </a:ext>
            </a:extLst>
          </p:cNvPr>
          <p:cNvSpPr>
            <a:spLocks noGrp="1"/>
          </p:cNvSpPr>
          <p:nvPr/>
        </p:nvSpPr>
        <p:spPr>
          <a:xfrm>
            <a:off x="7096125" y="3400425"/>
            <a:ext cx="3524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손끝을 손바닥에 대고 다시 펴기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9FBE9D7-C839-4D76-88C7-F77063CB37FB}"/>
              </a:ext>
            </a:extLst>
          </p:cNvPr>
          <p:cNvSpPr>
            <a:spLocks noGrp="1"/>
          </p:cNvSpPr>
          <p:nvPr/>
        </p:nvSpPr>
        <p:spPr>
          <a:xfrm>
            <a:off x="11049000" y="1476375"/>
            <a:ext cx="3524250" cy="1809750"/>
          </a:xfrm>
          <a:prstGeom prst="rect">
            <a:avLst/>
          </a:prstGeom>
          <a:solidFill>
            <a:srgbClr val="FFFFFF"/>
          </a:solidFill>
          <a:ln w="12383">
            <a:solidFill>
              <a:srgbClr val="8795A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0DC2AD-EDCC-461A-9BF3-83C7D8F2AA44}"/>
              </a:ext>
            </a:extLst>
          </p:cNvPr>
          <p:cNvSpPr>
            <a:spLocks noGrp="1"/>
          </p:cNvSpPr>
          <p:nvPr/>
        </p:nvSpPr>
        <p:spPr>
          <a:xfrm>
            <a:off x="11239500" y="19812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0E4E56-7103-4F06-B0BC-D09A18381C58}"/>
              </a:ext>
            </a:extLst>
          </p:cNvPr>
          <p:cNvSpPr>
            <a:spLocks noGrp="1"/>
          </p:cNvSpPr>
          <p:nvPr/>
        </p:nvSpPr>
        <p:spPr>
          <a:xfrm>
            <a:off x="11239500" y="2438400"/>
            <a:ext cx="314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원통 파지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3A35DDA-4F60-4630-8CA4-F9C4D1940D1A}"/>
              </a:ext>
            </a:extLst>
          </p:cNvPr>
          <p:cNvSpPr>
            <a:spLocks noGrp="1"/>
          </p:cNvSpPr>
          <p:nvPr/>
        </p:nvSpPr>
        <p:spPr>
          <a:xfrm>
            <a:off x="11049000" y="3400425"/>
            <a:ext cx="3524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엄지와 손가락으로 원통 감싸기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B51070-4B6F-4627-A029-F0DC8218E322}"/>
              </a:ext>
            </a:extLst>
          </p:cNvPr>
          <p:cNvSpPr>
            <a:spLocks noGrp="1"/>
          </p:cNvSpPr>
          <p:nvPr/>
        </p:nvSpPr>
        <p:spPr>
          <a:xfrm>
            <a:off x="7096125" y="4476750"/>
            <a:ext cx="3524250" cy="1809750"/>
          </a:xfrm>
          <a:prstGeom prst="rect">
            <a:avLst/>
          </a:prstGeom>
          <a:solidFill>
            <a:srgbClr val="FFFFFF"/>
          </a:solidFill>
          <a:ln w="12383">
            <a:solidFill>
              <a:srgbClr val="8795A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0625B8-F2A3-486D-AD90-24C010F5B714}"/>
              </a:ext>
            </a:extLst>
          </p:cNvPr>
          <p:cNvSpPr>
            <a:spLocks noGrp="1"/>
          </p:cNvSpPr>
          <p:nvPr/>
        </p:nvSpPr>
        <p:spPr>
          <a:xfrm>
            <a:off x="7286625" y="49815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D746463-4E4B-465A-9E91-A78E8989A3E4}"/>
              </a:ext>
            </a:extLst>
          </p:cNvPr>
          <p:cNvSpPr>
            <a:spLocks noGrp="1"/>
          </p:cNvSpPr>
          <p:nvPr/>
        </p:nvSpPr>
        <p:spPr>
          <a:xfrm>
            <a:off x="7286625" y="5438775"/>
            <a:ext cx="314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구형 파지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84C8BD4-8042-4E34-B9D4-60C58226F0F0}"/>
              </a:ext>
            </a:extLst>
          </p:cNvPr>
          <p:cNvSpPr>
            <a:spLocks noGrp="1"/>
          </p:cNvSpPr>
          <p:nvPr/>
        </p:nvSpPr>
        <p:spPr>
          <a:xfrm>
            <a:off x="7096125" y="6400800"/>
            <a:ext cx="3524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엄지와 손가락으로 구 감싸기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990F1F7-B39D-41AE-A640-855325B48CE8}"/>
              </a:ext>
            </a:extLst>
          </p:cNvPr>
          <p:cNvSpPr>
            <a:spLocks noGrp="1"/>
          </p:cNvSpPr>
          <p:nvPr/>
        </p:nvSpPr>
        <p:spPr>
          <a:xfrm>
            <a:off x="11049000" y="4476750"/>
            <a:ext cx="3524250" cy="1809750"/>
          </a:xfrm>
          <a:prstGeom prst="rect">
            <a:avLst/>
          </a:prstGeom>
          <a:solidFill>
            <a:srgbClr val="FFFFFF"/>
          </a:solidFill>
          <a:ln w="12383">
            <a:solidFill>
              <a:srgbClr val="8795A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2BC265-7518-4C71-8747-A02017BB8A54}"/>
              </a:ext>
            </a:extLst>
          </p:cNvPr>
          <p:cNvSpPr>
            <a:spLocks noGrp="1"/>
          </p:cNvSpPr>
          <p:nvPr/>
        </p:nvSpPr>
        <p:spPr>
          <a:xfrm>
            <a:off x="11239500" y="49815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F18BFCB-200A-408F-BE2F-8FEED109E4D3}"/>
              </a:ext>
            </a:extLst>
          </p:cNvPr>
          <p:cNvSpPr>
            <a:spLocks noGrp="1"/>
          </p:cNvSpPr>
          <p:nvPr/>
        </p:nvSpPr>
        <p:spPr>
          <a:xfrm>
            <a:off x="11239500" y="5438775"/>
            <a:ext cx="314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측면 집기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30BEA7-161C-408D-BFD4-816B4A3046B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3524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엄지 끝과 검지 측면으로 접촉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BB66DFC-3FE2-4004-90EC-83133D5E71A0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A9B4672-EC14-4985-B2F1-074CEBCB1AF1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06938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6BF325-B839-488D-845C-7ADA4C8C5FC3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1D6CCD-AE6B-45B7-B7E9-A687F6DB418F}"/>
              </a:ext>
            </a:extLst>
          </p:cNvPr>
          <p:cNvSpPr>
            <a:spLocks noGrp="1"/>
          </p:cNvSpPr>
          <p:nvPr/>
        </p:nvSpPr>
        <p:spPr>
          <a:xfrm>
            <a:off x="409575" y="0"/>
            <a:ext cx="1238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6191B3-9B4C-449A-B944-46FB6D6039C1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전문가 참조와 연구용 수행점수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B96459-15DB-4F1E-AD13-B0BAB0380789}"/>
              </a:ext>
            </a:extLst>
          </p:cNvPr>
          <p:cNvSpPr>
            <a:spLocks noGrp="1"/>
          </p:cNvSpPr>
          <p:nvPr/>
        </p:nvSpPr>
        <p:spPr>
          <a:xfrm>
            <a:off x="11049000" y="3714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A7F9E40-E795-4062-BE96-A88CCCAD9FE0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1524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50DBD0-AE0A-4E13-BAEF-8336DC17D661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14001750" cy="5810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3289542-4137-453C-A387-AF3C967292C2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57150" cy="581025"/>
          </a:xfrm>
          <a:prstGeom prst="rect">
            <a:avLst/>
          </a:prstGeom>
          <a:solidFill>
            <a:srgbClr val="073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561A43-E0DC-46D1-AB3A-700B4800C911}"/>
              </a:ext>
            </a:extLst>
          </p:cNvPr>
          <p:cNvSpPr>
            <a:spLocks noGrp="1"/>
          </p:cNvSpPr>
          <p:nvPr/>
        </p:nvSpPr>
        <p:spPr>
          <a:xfrm>
            <a:off x="819150" y="7724775"/>
            <a:ext cx="13668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0·1·2점은 이번 과제의 완료 정도이며, 표준 Fugl-Meyer 임상점수와 구분한다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8EA10B-E89E-4BC7-A163-2294566B8DF0}"/>
              </a:ext>
            </a:extLst>
          </p:cNvPr>
          <p:cNvSpPr>
            <a:spLocks noGrp="1"/>
          </p:cNvSpPr>
          <p:nvPr/>
        </p:nvSpPr>
        <p:spPr>
          <a:xfrm>
            <a:off x="14430375" y="82962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graphicFrame>
        <p:nvGraphicFramePr>
          <p:cNvPr id="28" name="표 22"/>
          <p:cNvGraphicFramePr/>
          <p:nvPr/>
        </p:nvGraphicFramePr>
        <p:xfrm>
          <a:off x="619125" y="1476375"/>
          <a:ext cx="14001750" cy="2762252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관찰 단계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완료 판단의 의미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목표 형성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지정된 손 모양과 필요한 물체 접촉을 확인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형태 유지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해제 전에 관찰 가능한 휴지 단계에서 형태 유지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능동 해제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손가락을 펴서 접촉을 끝내거나 시작 자세로 복귀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" name="표 23"/>
          <p:cNvGraphicFramePr/>
          <p:nvPr/>
        </p:nvGraphicFramePr>
        <p:xfrm>
          <a:off x="619125" y="4524375"/>
          <a:ext cx="14001750" cy="1678305"/>
        </p:xfrm>
        <a:graphic>
          <a:graphicData uri="http://schemas.openxmlformats.org/drawingml/2006/table">
            <a:tbl>
              <a:tblPr/>
              <a:tblGrid>
                <a:gridCol w="466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0점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1점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2점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형성 미완료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형성 완료 후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유지 또는 해제 미완료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세 단계 모두 완료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D0722E-B3A8-41E4-AA8B-97F7C0D77347}"/>
              </a:ext>
            </a:extLst>
          </p:cNvPr>
          <p:cNvSpPr>
            <a:spLocks noGrp="1"/>
          </p:cNvSpPr>
          <p:nvPr/>
        </p:nvSpPr>
        <p:spPr>
          <a:xfrm>
            <a:off x="666750" y="6219825"/>
            <a:ext cx="13906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전문가 2인이 수치·모델 출력을 보지 않고 원본 영상을 독립 판독</a:t>
            </a:r>
          </a:p>
          <a:p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불일치는 합의 후 필요 시 제3전문가가 판독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6F24E66-641B-4DFF-B2C7-93B65A58445C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68D6BD-315F-4F75-A025-E91CD715BFC0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21662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B05935-46B3-4A4E-B38E-B842E4781FA8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1EB236-AFF8-41F6-BB84-ACB864B2E284}"/>
              </a:ext>
            </a:extLst>
          </p:cNvPr>
          <p:cNvSpPr>
            <a:spLocks noGrp="1"/>
          </p:cNvSpPr>
          <p:nvPr/>
        </p:nvSpPr>
        <p:spPr>
          <a:xfrm>
            <a:off x="409575" y="0"/>
            <a:ext cx="1238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58CD3F-BEF4-4D18-B63F-F124723B8B68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운동학 수치</a:t>
            </a:r>
            <a:endParaRPr sz="3075" b="1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D14625-D6F9-4067-B338-B16D3A328584}"/>
              </a:ext>
            </a:extLst>
          </p:cNvPr>
          <p:cNvSpPr>
            <a:spLocks noGrp="1"/>
          </p:cNvSpPr>
          <p:nvPr/>
        </p:nvSpPr>
        <p:spPr>
          <a:xfrm>
            <a:off x="11049000" y="3714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5F8B2A-E29B-4313-AA1F-696B096E7672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1524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5C3F86-7DE3-419B-9BD3-86445712C1FF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14001750" cy="5810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D8744F-354D-4836-B17D-4550BE3F51A6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57150" cy="581025"/>
          </a:xfrm>
          <a:prstGeom prst="rect">
            <a:avLst/>
          </a:prstGeom>
          <a:solidFill>
            <a:srgbClr val="073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F129B7-4D83-4728-BEE4-EA593F3EA6E9}"/>
              </a:ext>
            </a:extLst>
          </p:cNvPr>
          <p:cNvSpPr>
            <a:spLocks noGrp="1"/>
          </p:cNvSpPr>
          <p:nvPr/>
        </p:nvSpPr>
        <p:spPr>
          <a:xfrm>
            <a:off x="819150" y="7724775"/>
            <a:ext cx="13668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속도 구간 검출과 전문가의 수행 성공 판정을 분리한다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979AAF-4DE8-4EB0-BF75-DA3BA6759547}"/>
              </a:ext>
            </a:extLst>
          </p:cNvPr>
          <p:cNvSpPr>
            <a:spLocks noGrp="1"/>
          </p:cNvSpPr>
          <p:nvPr/>
        </p:nvSpPr>
        <p:spPr>
          <a:xfrm>
            <a:off x="14430375" y="82962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0BA92F-FF1E-475A-BF0D-15D499E60E05}"/>
              </a:ext>
            </a:extLst>
          </p:cNvPr>
          <p:cNvSpPr>
            <a:spLocks noGrp="1"/>
          </p:cNvSpPr>
          <p:nvPr/>
        </p:nvSpPr>
        <p:spPr>
          <a:xfrm>
            <a:off x="619125" y="1409700"/>
            <a:ext cx="2788920" cy="4762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1DA2B5-F1DF-4DE9-9F37-4D3860F69F0B}"/>
              </a:ext>
            </a:extLst>
          </p:cNvPr>
          <p:cNvSpPr>
            <a:spLocks noGrp="1"/>
          </p:cNvSpPr>
          <p:nvPr/>
        </p:nvSpPr>
        <p:spPr>
          <a:xfrm>
            <a:off x="733425" y="1409700"/>
            <a:ext cx="55816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구간 분리 예시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="619125" y="2190750"/>
          <a:ext cx="58102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13C82C-85C7-4CA7-AF99-3B2E65CAC1C4}"/>
              </a:ext>
            </a:extLst>
          </p:cNvPr>
          <p:cNvSpPr>
            <a:spLocks noGrp="1"/>
          </p:cNvSpPr>
          <p:nvPr/>
        </p:nvSpPr>
        <p:spPr>
          <a:xfrm>
            <a:off x="619125" y="6286500"/>
            <a:ext cx="6048375" cy="809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C8015D-FBB4-412C-9E4B-A991CAEB2C72}"/>
              </a:ext>
            </a:extLst>
          </p:cNvPr>
          <p:cNvSpPr>
            <a:spLocks noGrp="1"/>
          </p:cNvSpPr>
          <p:nvPr/>
        </p:nvSpPr>
        <p:spPr>
          <a:xfrm>
            <a:off x="733425" y="6286500"/>
            <a:ext cx="581977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획득 움직임 / 저속 유지 후보 / 해제 움직임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E6FB17-F729-4AA3-BD3F-0A2C5E2F2412}"/>
              </a:ext>
            </a:extLst>
          </p:cNvPr>
          <p:cNvSpPr>
            <a:spLocks noGrp="1"/>
          </p:cNvSpPr>
          <p:nvPr/>
        </p:nvSpPr>
        <p:spPr>
          <a:xfrm>
            <a:off x="619125" y="7153275"/>
            <a:ext cx="60483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가상 파형이며 실제 측정 결과가 아님</a:t>
            </a:r>
          </a:p>
        </p:txBody>
      </p:sp>
      <p:graphicFrame>
        <p:nvGraphicFramePr>
          <p:cNvPr id="38" name="표 32"/>
          <p:cNvGraphicFramePr/>
          <p:nvPr/>
        </p:nvGraphicFramePr>
        <p:xfrm>
          <a:off x="7096125" y="1524000"/>
          <a:ext cx="7524750" cy="50482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965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피처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조작 정의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F1 크기 (mm)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물체: 획득 중 최대 간격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맨손: 기준 거리 − 최소 거리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F2 시간 (s)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획득 시작부터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F1 극값 최초 도달까지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F3 변동 (mm)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유지 후보 구간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거리의 표본 표준편차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F4 개방 (mm)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해제 마지막 20% 중앙값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− 첫 20% 중앙값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E0D2EE-4B9D-450F-959D-465A9CBD9285}"/>
              </a:ext>
            </a:extLst>
          </p:cNvPr>
          <p:cNvSpPr>
            <a:spLocks noGrp="1"/>
          </p:cNvSpPr>
          <p:nvPr/>
        </p:nvSpPr>
        <p:spPr>
          <a:xfrm>
            <a:off x="7143750" y="6772275"/>
            <a:ext cx="7477125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5프레임 저속 기준은 개발 시작 설정</a:t>
            </a:r>
          </a:p>
          <a:p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느린 동작과 결측을 점검한 뒤 고정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A93C0D-7E07-81D5-BB5D-EFEB6C672C42}"/>
              </a:ext>
            </a:extLst>
          </p:cNvPr>
          <p:cNvSpPr>
            <a:spLocks noGrp="1"/>
          </p:cNvSpPr>
          <p:nvPr/>
        </p:nvSpPr>
        <p:spPr>
          <a:xfrm>
            <a:off x="3552092" y="2391508"/>
            <a:ext cx="879231" cy="2754923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04F5E38-3CE1-49D0-A498-F7CA4616C593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6DC808-90EF-4BCA-94B6-73CD02AC286E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88863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29A29E89-3F72-48A4-A955-2949A777999C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F752EA-1619-4726-A1CC-7F6806576BC4}"/>
              </a:ext>
            </a:extLst>
          </p:cNvPr>
          <p:cNvSpPr>
            <a:spLocks noGrp="1"/>
          </p:cNvSpPr>
          <p:nvPr/>
        </p:nvSpPr>
        <p:spPr>
          <a:xfrm>
            <a:off x="409575" y="0"/>
            <a:ext cx="1238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C1C5853-0531-409A-A361-C1A233344035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프레임 선택과 수치 입력 예시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1390AE-C599-4E5F-A24D-9BE431FBEA4C}"/>
              </a:ext>
            </a:extLst>
          </p:cNvPr>
          <p:cNvSpPr>
            <a:spLocks noGrp="1"/>
          </p:cNvSpPr>
          <p:nvPr/>
        </p:nvSpPr>
        <p:spPr>
          <a:xfrm>
            <a:off x="11049000" y="3714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7CC6DF-265A-4849-B9F2-6BA4DB1DD800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1524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98CFD0-422F-40DF-8CA3-5BFFD9AA5B33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14001750" cy="5810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DD7A63-4B37-4352-B664-CFC12B823495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57150" cy="581025"/>
          </a:xfrm>
          <a:prstGeom prst="rect">
            <a:avLst/>
          </a:prstGeom>
          <a:solidFill>
            <a:srgbClr val="073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BC8A6D-7F7B-48FA-BB54-72586274B2C1}"/>
              </a:ext>
            </a:extLst>
          </p:cNvPr>
          <p:cNvSpPr>
            <a:spLocks noGrp="1"/>
          </p:cNvSpPr>
          <p:nvPr/>
        </p:nvSpPr>
        <p:spPr>
          <a:xfrm>
            <a:off x="819150" y="7724775"/>
            <a:ext cx="13668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조건별로 동일한 영상 입력을 유지하고, 결측 피처는 2D 값으로 대체하지 않는다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3657DE-2643-4931-BA02-0C920206A30F}"/>
              </a:ext>
            </a:extLst>
          </p:cNvPr>
          <p:cNvSpPr>
            <a:spLocks noGrp="1"/>
          </p:cNvSpPr>
          <p:nvPr/>
        </p:nvSpPr>
        <p:spPr>
          <a:xfrm>
            <a:off x="14430375" y="82962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F63FE9-880F-4B07-B025-EAB0CEE9C511}"/>
              </a:ext>
            </a:extLst>
          </p:cNvPr>
          <p:cNvSpPr>
            <a:spLocks noGrp="1"/>
          </p:cNvSpPr>
          <p:nvPr/>
        </p:nvSpPr>
        <p:spPr>
          <a:xfrm>
            <a:off x="619125" y="1571625"/>
            <a:ext cx="4333875" cy="1905000"/>
          </a:xfrm>
          <a:prstGeom prst="rect">
            <a:avLst/>
          </a:prstGeom>
          <a:solidFill>
            <a:srgbClr val="FFFFFF"/>
          </a:solidFill>
          <a:ln w="12383">
            <a:solidFill>
              <a:srgbClr val="8795A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0D65D0-2A51-41C4-A9F8-F39F736A9444}"/>
              </a:ext>
            </a:extLst>
          </p:cNvPr>
          <p:cNvSpPr>
            <a:spLocks noGrp="1"/>
          </p:cNvSpPr>
          <p:nvPr/>
        </p:nvSpPr>
        <p:spPr>
          <a:xfrm>
            <a:off x="809625" y="2124075"/>
            <a:ext cx="3952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F33BAF-B1CE-4453-9535-689002C992A2}"/>
              </a:ext>
            </a:extLst>
          </p:cNvPr>
          <p:cNvSpPr>
            <a:spLocks noGrp="1"/>
          </p:cNvSpPr>
          <p:nvPr/>
        </p:nvSpPr>
        <p:spPr>
          <a:xfrm>
            <a:off x="809625" y="2581275"/>
            <a:ext cx="39528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획득 구간 대표 프레임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BAB15E1-7F7C-4583-AD2E-4CB45CBFF392}"/>
              </a:ext>
            </a:extLst>
          </p:cNvPr>
          <p:cNvSpPr>
            <a:spLocks noGrp="1"/>
          </p:cNvSpPr>
          <p:nvPr/>
        </p:nvSpPr>
        <p:spPr>
          <a:xfrm>
            <a:off x="619125" y="3590925"/>
            <a:ext cx="433387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시작 배분: 6장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B4D69B-2C67-4EE2-A5B6-125E6BB4174C}"/>
              </a:ext>
            </a:extLst>
          </p:cNvPr>
          <p:cNvSpPr>
            <a:spLocks noGrp="1"/>
          </p:cNvSpPr>
          <p:nvPr/>
        </p:nvSpPr>
        <p:spPr>
          <a:xfrm>
            <a:off x="5381625" y="1571625"/>
            <a:ext cx="4333875" cy="1905000"/>
          </a:xfrm>
          <a:prstGeom prst="rect">
            <a:avLst/>
          </a:prstGeom>
          <a:solidFill>
            <a:srgbClr val="FFFFFF"/>
          </a:solidFill>
          <a:ln w="12383">
            <a:solidFill>
              <a:srgbClr val="8795A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55DDFE-BC4D-46CB-BF8A-B9017368DD3E}"/>
              </a:ext>
            </a:extLst>
          </p:cNvPr>
          <p:cNvSpPr>
            <a:spLocks noGrp="1"/>
          </p:cNvSpPr>
          <p:nvPr/>
        </p:nvSpPr>
        <p:spPr>
          <a:xfrm>
            <a:off x="5572125" y="2124075"/>
            <a:ext cx="3952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8CEDA0-FAEC-4F09-A612-E3CF9B4F8D12}"/>
              </a:ext>
            </a:extLst>
          </p:cNvPr>
          <p:cNvSpPr>
            <a:spLocks noGrp="1"/>
          </p:cNvSpPr>
          <p:nvPr/>
        </p:nvSpPr>
        <p:spPr>
          <a:xfrm>
            <a:off x="5572125" y="2581275"/>
            <a:ext cx="39528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유지 후보 대표 프레임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B0D76D-EB29-4E07-9530-1F520F7AE50C}"/>
              </a:ext>
            </a:extLst>
          </p:cNvPr>
          <p:cNvSpPr>
            <a:spLocks noGrp="1"/>
          </p:cNvSpPr>
          <p:nvPr/>
        </p:nvSpPr>
        <p:spPr>
          <a:xfrm>
            <a:off x="5381625" y="3590925"/>
            <a:ext cx="433387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시작 배분: 2장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E11C410-E4C3-432D-A902-9E93D0894FA4}"/>
              </a:ext>
            </a:extLst>
          </p:cNvPr>
          <p:cNvSpPr>
            <a:spLocks noGrp="1"/>
          </p:cNvSpPr>
          <p:nvPr/>
        </p:nvSpPr>
        <p:spPr>
          <a:xfrm>
            <a:off x="10144125" y="1571625"/>
            <a:ext cx="4476750" cy="1905000"/>
          </a:xfrm>
          <a:prstGeom prst="rect">
            <a:avLst/>
          </a:prstGeom>
          <a:solidFill>
            <a:srgbClr val="FFFFFF"/>
          </a:solidFill>
          <a:ln w="12383">
            <a:solidFill>
              <a:srgbClr val="8795A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13EEB6C-4E1D-4070-8FD8-15908280EE66}"/>
              </a:ext>
            </a:extLst>
          </p:cNvPr>
          <p:cNvSpPr>
            <a:spLocks noGrp="1"/>
          </p:cNvSpPr>
          <p:nvPr/>
        </p:nvSpPr>
        <p:spPr>
          <a:xfrm>
            <a:off x="10334625" y="212407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F9BE7B-3628-4400-8207-F13D3C4EE9B0}"/>
              </a:ext>
            </a:extLst>
          </p:cNvPr>
          <p:cNvSpPr>
            <a:spLocks noGrp="1"/>
          </p:cNvSpPr>
          <p:nvPr/>
        </p:nvSpPr>
        <p:spPr>
          <a:xfrm>
            <a:off x="10334625" y="2581275"/>
            <a:ext cx="4095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해제 구간 대표 프레임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D911E0-3B8F-4DE4-B5B9-17640DE0275B}"/>
              </a:ext>
            </a:extLst>
          </p:cNvPr>
          <p:cNvSpPr>
            <a:spLocks noGrp="1"/>
          </p:cNvSpPr>
          <p:nvPr/>
        </p:nvSpPr>
        <p:spPr>
          <a:xfrm>
            <a:off x="10144125" y="3590925"/>
            <a:ext cx="4476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시작 배분: 6장</a:t>
            </a:r>
          </a:p>
        </p:txBody>
      </p:sp>
      <p:graphicFrame>
        <p:nvGraphicFramePr>
          <p:cNvPr id="49" name="표 44"/>
          <p:cNvGraphicFramePr/>
          <p:nvPr/>
        </p:nvGraphicFramePr>
        <p:xfrm>
          <a:off x="619125" y="4381500"/>
          <a:ext cx="14001750" cy="24765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항목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가상 예시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해석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피처와 품질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최대 간격 52 mm / 유효율 94%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움직임과 관측 품질 제공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참조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중앙값 50 / Q1 45 / Q3 58 mm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표본 분포 내 상대 위치 제공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계산 불가 피처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null + 결측 이유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유효한 다른 정보는 유지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775AFC2F-18E1-488E-8AB7-02691BB031EE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4B5DEB2-02C8-4277-B7F3-14159119D503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2903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D8217A-6071-40D4-9ED2-2E3E9941F099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운동학 수치를 하나씩 제외하는 보조 분석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2A9F7F-8B28-4611-82E4-473AC8D0810D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398842E-2BA1-4F0E-8720-AF3DBBF92FBA}"/>
              </a:ext>
            </a:extLst>
          </p:cNvPr>
          <p:cNvSpPr>
            <a:spLocks noGrp="1"/>
          </p:cNvSpPr>
          <p:nvPr/>
        </p:nvSpPr>
        <p:spPr>
          <a:xfrm>
            <a:off x="523875" y="7467600"/>
            <a:ext cx="14192250" cy="9525"/>
          </a:xfrm>
          <a:prstGeom prst="rect">
            <a:avLst/>
          </a:prstGeom>
          <a:solidFill>
            <a:srgbClr val="D6DC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354242-D5D1-4A51-BF4B-A6F7DD2B1223}"/>
              </a:ext>
            </a:extLst>
          </p:cNvPr>
          <p:cNvSpPr>
            <a:spLocks noGrp="1"/>
          </p:cNvSpPr>
          <p:nvPr/>
        </p:nvSpPr>
        <p:spPr>
          <a:xfrm>
            <a:off x="571500" y="7610475"/>
            <a:ext cx="1400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네 가지 소거 조건은 각 수치의 조건부 기여를 탐색하며, 최적 조합을 확증하지 않는다.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D22BF4-51B2-4AE6-B431-8D9174A2A609}"/>
              </a:ext>
            </a:extLst>
          </p:cNvPr>
          <p:cNvSpPr>
            <a:spLocks noGrp="1"/>
          </p:cNvSpPr>
          <p:nvPr/>
        </p:nvSpPr>
        <p:spPr>
          <a:xfrm>
            <a:off x="619125" y="1323975"/>
            <a:ext cx="140017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수치 소거: 나머지 정보는 유지하고 한 종류만 제외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4BA2C0-9DEE-4C15-8F81-E03545721EDA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139065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기준은 영상과 네 가지 수치를 함께 주는 조건(영상 + 수치, A2)이다.</a:t>
            </a:r>
          </a:p>
          <a:p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제외한 수치에 딸린 품질 정보도 함께 제거한다.</a:t>
            </a:r>
          </a:p>
        </p:txBody>
      </p:sp>
      <p:graphicFrame>
        <p:nvGraphicFramePr>
          <p:cNvPr id="17" name="표 16"/>
          <p:cNvGraphicFramePr/>
          <p:nvPr/>
        </p:nvGraphicFramePr>
        <p:xfrm>
          <a:off x="619125" y="3429000"/>
          <a:ext cx="14001750" cy="3286125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제외하는 수치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소거 조건의 의미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크기 (F1)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움직임 크기를 알려주지 않았을 때의 변화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시간 (F2)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도달 시간을 알려주지 않았을 때의 변화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변동 (F3)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유지 중 흔들림 수치를 알려주지 않았을 때의 변화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개방 (F4)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해제 시 개방량을 알려주지 않았을 때의 변화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F0A2D18A-2F24-4525-BC67-82C5FB5732AE}"/>
              </a:ext>
            </a:extLst>
          </p:cNvPr>
          <p:cNvSpPr>
            <a:spLocks noGrp="1"/>
          </p:cNvSpPr>
          <p:nvPr/>
        </p:nvSpPr>
        <p:spPr>
          <a:xfrm>
            <a:off x="666750" y="6905625"/>
            <a:ext cx="13906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각 소거 조건의 오차를 기준 조건(영상 + 수치, A2)의 오차와 비교한다.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630E26-A83D-4AF3-B330-EBED7BD24917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976E4C-5D75-4F73-82F6-008DAB72F9AD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44123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F6C703-6793-43FF-B22C-9DAB2C765F40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85874B-ED2D-46AA-8FC3-8186FE91EA5D}"/>
              </a:ext>
            </a:extLst>
          </p:cNvPr>
          <p:cNvSpPr>
            <a:spLocks noGrp="1"/>
          </p:cNvSpPr>
          <p:nvPr/>
        </p:nvSpPr>
        <p:spPr>
          <a:xfrm>
            <a:off x="409575" y="0"/>
            <a:ext cx="1238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B6CD38-7670-44B4-B24A-B00D5D5443F4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모델 후보와 선정 근거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D3AC06-A0EE-4168-912B-FAE31CC64AE0}"/>
              </a:ext>
            </a:extLst>
          </p:cNvPr>
          <p:cNvSpPr>
            <a:spLocks noGrp="1"/>
          </p:cNvSpPr>
          <p:nvPr/>
        </p:nvSpPr>
        <p:spPr>
          <a:xfrm>
            <a:off x="11049000" y="3714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6531A3-0D96-495E-B72D-0E4CCF0DA47D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1524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5667A7-FCAA-4D64-AA38-B844CCCF09D7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14001750" cy="5810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032E7B8-F996-4F52-9BCE-66ED4E5DA5B9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57150" cy="581025"/>
          </a:xfrm>
          <a:prstGeom prst="rect">
            <a:avLst/>
          </a:prstGeom>
          <a:solidFill>
            <a:srgbClr val="073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E0A789-3694-4C81-8005-E84C872DFDA6}"/>
              </a:ext>
            </a:extLst>
          </p:cNvPr>
          <p:cNvSpPr>
            <a:spLocks noGrp="1"/>
          </p:cNvSpPr>
          <p:nvPr/>
        </p:nvSpPr>
        <p:spPr>
          <a:xfrm>
            <a:off x="819150" y="7724775"/>
            <a:ext cx="13668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환자 결과를 보기 전에 주 모델과 실행 가능한 보조 모델을 확정한다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4E1374-2202-4D84-825F-584971ABD574}"/>
              </a:ext>
            </a:extLst>
          </p:cNvPr>
          <p:cNvSpPr>
            <a:spLocks noGrp="1"/>
          </p:cNvSpPr>
          <p:nvPr/>
        </p:nvSpPr>
        <p:spPr>
          <a:xfrm>
            <a:off x="14430375" y="82962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F1F04F-272C-44AF-AF8F-D73A96538951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5897880" cy="590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54AC87-3806-401D-BCD7-8C73AA8A2705}"/>
              </a:ext>
            </a:extLst>
          </p:cNvPr>
          <p:cNvSpPr>
            <a:spLocks noGrp="1"/>
          </p:cNvSpPr>
          <p:nvPr/>
        </p:nvSpPr>
        <p:spPr>
          <a:xfrm>
            <a:off x="733425" y="1381125"/>
            <a:ext cx="137731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 모델  Qwen2.5-VL-32B-Instruct</a:t>
            </a:r>
          </a:p>
          <a:p>
            <a:pPr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endParaRPr sz="2550" b="1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05A1F1-855E-4275-8A41-F96575C54A78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139065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기존 연구의 주 모델</a:t>
            </a:r>
            <a:endParaRPr sz="240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graphicFrame>
        <p:nvGraphicFramePr>
          <p:cNvPr id="31" name="표 26"/>
          <p:cNvGraphicFramePr/>
          <p:nvPr/>
        </p:nvGraphicFramePr>
        <p:xfrm>
          <a:off x="619125" y="2952750"/>
          <a:ext cx="14001750" cy="3476625"/>
        </p:xfrm>
        <a:graphic>
          <a:graphicData uri="http://schemas.openxmlformats.org/drawingml/2006/table">
            <a:tbl>
              <a:tblPr/>
              <a:tblGrid>
                <a:gridCol w="747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보조 모델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선정 목적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Qwen2.5-VL-72B-Instruct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같은 계열에서 모델 규모가 다른 조건 비교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Qwen3-VL-8B-Instruct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기존 연구의 주 모델 패밀리의 최신모델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LLaVA-NeXT-Video-7B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기존 연구의 비교 모델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LLaVA-OneVision-7B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기존 연구의 비교 모델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EE91FF-8D85-462D-ACC9-8917F4D9AA1D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BF8B05-A856-4190-8E68-E66B88E42FBA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35284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CB143E-5874-477F-9668-14167B406FF0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769D60-0D75-4A73-91AC-DB3160FEC550}"/>
              </a:ext>
            </a:extLst>
          </p:cNvPr>
          <p:cNvSpPr>
            <a:spLocks noGrp="1"/>
          </p:cNvSpPr>
          <p:nvPr/>
        </p:nvSpPr>
        <p:spPr>
          <a:xfrm>
            <a:off x="409575" y="0"/>
            <a:ext cx="1238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A3E901-AFAD-41B5-8CBE-7C79641EAAB3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 분석과 결과 해석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0A4EF2-D765-496D-B7B8-2DE4B0FFCE3A}"/>
              </a:ext>
            </a:extLst>
          </p:cNvPr>
          <p:cNvSpPr>
            <a:spLocks noGrp="1"/>
          </p:cNvSpPr>
          <p:nvPr/>
        </p:nvSpPr>
        <p:spPr>
          <a:xfrm>
            <a:off x="11049000" y="3714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CB99DC-C3AC-483A-AEEE-933BC8414785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1524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450B6A-620E-4A63-918D-A06C23C69FAD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14001750" cy="5810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43D9B4-86FE-42E7-8E5E-25DA699C5518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57150" cy="581025"/>
          </a:xfrm>
          <a:prstGeom prst="rect">
            <a:avLst/>
          </a:prstGeom>
          <a:solidFill>
            <a:srgbClr val="073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AB5047-3B6F-45CE-A525-B245E9F9564A}"/>
              </a:ext>
            </a:extLst>
          </p:cNvPr>
          <p:cNvSpPr>
            <a:spLocks noGrp="1"/>
          </p:cNvSpPr>
          <p:nvPr/>
        </p:nvSpPr>
        <p:spPr>
          <a:xfrm>
            <a:off x="819150" y="7724775"/>
            <a:ext cx="13668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오차의 크기와 불확실성, 판독률과 실패 양상을 함께 보고한다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FE0184-708E-4E71-BC55-514A2D570D0C}"/>
              </a:ext>
            </a:extLst>
          </p:cNvPr>
          <p:cNvSpPr>
            <a:spLocks noGrp="1"/>
          </p:cNvSpPr>
          <p:nvPr/>
        </p:nvSpPr>
        <p:spPr>
          <a:xfrm>
            <a:off x="14430375" y="82962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FB6ED5-5B42-4266-9B74-B047FE6316A1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5574030" cy="619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84EB00-C072-45B5-B6C4-8830DAE004CE}"/>
              </a:ext>
            </a:extLst>
          </p:cNvPr>
          <p:cNvSpPr>
            <a:spLocks noGrp="1"/>
          </p:cNvSpPr>
          <p:nvPr/>
        </p:nvSpPr>
        <p:spPr>
          <a:xfrm>
            <a:off x="733425" y="1428750"/>
            <a:ext cx="66294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평균 절대오차(MAE)의 계산 예시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619125" y="2381250"/>
          <a:ext cx="6000750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E7B314-BA1C-4972-9B58-93ECF9898B07}"/>
              </a:ext>
            </a:extLst>
          </p:cNvPr>
          <p:cNvSpPr>
            <a:spLocks noGrp="1"/>
          </p:cNvSpPr>
          <p:nvPr/>
        </p:nvSpPr>
        <p:spPr>
          <a:xfrm>
            <a:off x="666750" y="6238875"/>
            <a:ext cx="6238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6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MAE = (0 + 1 + 2) / 3 = 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76EB23-961B-41E6-A341-CDF3D6ADEEE9}"/>
              </a:ext>
            </a:extLst>
          </p:cNvPr>
          <p:cNvSpPr>
            <a:spLocks noGrp="1"/>
          </p:cNvSpPr>
          <p:nvPr/>
        </p:nvSpPr>
        <p:spPr>
          <a:xfrm>
            <a:off x="7381875" y="1476375"/>
            <a:ext cx="2788920" cy="571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A22382-ACB8-434A-AC9C-BEFEE59FC34C}"/>
              </a:ext>
            </a:extLst>
          </p:cNvPr>
          <p:cNvSpPr>
            <a:spLocks noGrp="1"/>
          </p:cNvSpPr>
          <p:nvPr/>
        </p:nvSpPr>
        <p:spPr>
          <a:xfrm>
            <a:off x="7496175" y="1476375"/>
            <a:ext cx="69627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환자별 주 비교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618EBC-A07C-4AD6-8776-C2C475FF234E}"/>
              </a:ext>
            </a:extLst>
          </p:cNvPr>
          <p:cNvSpPr>
            <a:spLocks noGrp="1"/>
          </p:cNvSpPr>
          <p:nvPr/>
        </p:nvSpPr>
        <p:spPr>
          <a:xfrm>
            <a:off x="7381875" y="2238375"/>
            <a:ext cx="7191375" cy="1666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영상만(A1)과 최종 제안 방식(A3)의 같은 시행을 비교</a:t>
            </a:r>
          </a:p>
          <a:p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과제별 오차를 평균하고 네 과제에 동일 가중</a:t>
            </a:r>
          </a:p>
          <a:p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환자별 차이 = MAE(최종 제안 A3) − MAE(영상만 A1)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0F842F0-4C73-4233-A781-41BFBB4AEAA4}"/>
              </a:ext>
            </a:extLst>
          </p:cNvPr>
          <p:cNvSpPr>
            <a:spLocks noGrp="1"/>
          </p:cNvSpPr>
          <p:nvPr/>
        </p:nvSpPr>
        <p:spPr>
          <a:xfrm>
            <a:off x="7381875" y="3967163"/>
            <a:ext cx="7191375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차이의 평균과 95% 신뢰구간 보고</a:t>
            </a:r>
            <a:endParaRPr sz="240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환자를 재추출하는 부트스트랩 사용</a:t>
            </a:r>
            <a:endParaRPr sz="240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음수일수록 최종 제안 방식(A3)의 오차가 작음</a:t>
            </a:r>
            <a:endParaRPr sz="240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6B1A6B3-926D-4456-BB6A-B1AB42BDAB9E}"/>
              </a:ext>
            </a:extLst>
          </p:cNvPr>
          <p:cNvSpPr>
            <a:spLocks noGrp="1"/>
          </p:cNvSpPr>
          <p:nvPr/>
        </p:nvSpPr>
        <p:spPr>
          <a:xfrm>
            <a:off x="7381875" y="5759694"/>
            <a:ext cx="7191375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판독불가와 센서 실패를 별도 보고</a:t>
            </a:r>
            <a:endParaRPr sz="2175" b="0">
              <a:solidFill>
                <a:srgbClr val="526171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보조 비교는 다중보정 없는 탐색적 구간</a:t>
            </a:r>
            <a:endParaRPr sz="2175" b="0">
              <a:solidFill>
                <a:srgbClr val="526171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유의성 별표로 확증적 결과를 강조하지 않음</a:t>
            </a:r>
            <a:endParaRPr sz="2175" b="0">
              <a:solidFill>
                <a:srgbClr val="52617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33CE36F-763A-4EE9-BB6F-2D3B80FB6CB2}"/>
              </a:ext>
            </a:extLst>
          </p:cNvPr>
          <p:cNvSpPr>
            <a:spLocks noGrp="1"/>
          </p:cNvSpPr>
          <p:nvPr/>
        </p:nvSpPr>
        <p:spPr>
          <a:xfrm>
            <a:off x="666750" y="6924675"/>
            <a:ext cx="62865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설명용 수치이며 실제 연구 결과가 아님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81DA45A-1AC8-4361-8BE1-6D6DBD7BB144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E97D6FF-69B3-4A68-848D-9E83BF75E6BB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60928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835D49-CA32-4718-ABC1-222D566C1B79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5240000" cy="47625"/>
          </a:xfrm>
          <a:prstGeom prst="rect">
            <a:avLst/>
          </a:prstGeom>
          <a:solidFill>
            <a:srgbClr val="00285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CF9899-D8E3-4468-B45E-B3B654672C5D}"/>
              </a:ext>
            </a:extLst>
          </p:cNvPr>
          <p:cNvSpPr>
            <a:spLocks noGrp="1"/>
          </p:cNvSpPr>
          <p:nvPr/>
        </p:nvSpPr>
        <p:spPr>
          <a:xfrm>
            <a:off x="409575" y="0"/>
            <a:ext cx="1238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62F72B-5481-4F1C-9181-835CFBA50F60}"/>
              </a:ext>
            </a:extLst>
          </p:cNvPr>
          <p:cNvSpPr>
            <a:spLocks noGrp="1"/>
          </p:cNvSpPr>
          <p:nvPr/>
        </p:nvSpPr>
        <p:spPr>
          <a:xfrm>
            <a:off x="333375" y="180975"/>
            <a:ext cx="14573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연구 기여와 해석의 한계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C05AEC-916B-4E01-AF61-127F67BB397E}"/>
              </a:ext>
            </a:extLst>
          </p:cNvPr>
          <p:cNvSpPr>
            <a:spLocks noGrp="1"/>
          </p:cNvSpPr>
          <p:nvPr/>
        </p:nvSpPr>
        <p:spPr>
          <a:xfrm>
            <a:off x="11049000" y="3714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B0350E-2C84-4122-ABBD-E55CD9535E9E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1524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3634A4-8133-4D2B-8B25-CBAA48FFC9A4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14001750" cy="5810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797CC8-16FA-4047-A894-9806AD1F4E33}"/>
              </a:ext>
            </a:extLst>
          </p:cNvPr>
          <p:cNvSpPr>
            <a:spLocks noGrp="1"/>
          </p:cNvSpPr>
          <p:nvPr/>
        </p:nvSpPr>
        <p:spPr>
          <a:xfrm>
            <a:off x="619125" y="7648575"/>
            <a:ext cx="57150" cy="581025"/>
          </a:xfrm>
          <a:prstGeom prst="rect">
            <a:avLst/>
          </a:prstGeom>
          <a:solidFill>
            <a:srgbClr val="07396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E56422-EF24-4367-BC08-999E26FE9FC6}"/>
              </a:ext>
            </a:extLst>
          </p:cNvPr>
          <p:cNvSpPr>
            <a:spLocks noGrp="1"/>
          </p:cNvSpPr>
          <p:nvPr/>
        </p:nvSpPr>
        <p:spPr>
          <a:xfrm>
            <a:off x="819150" y="7724775"/>
            <a:ext cx="13668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입력 정보의 효과를 추정하고 후속 임상 평가 연구의 설계 근거를 마련한다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7A09BE-54F3-4A70-90FA-8942D57993B7}"/>
              </a:ext>
            </a:extLst>
          </p:cNvPr>
          <p:cNvSpPr>
            <a:spLocks noGrp="1"/>
          </p:cNvSpPr>
          <p:nvPr/>
        </p:nvSpPr>
        <p:spPr>
          <a:xfrm>
            <a:off x="14430375" y="82962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endParaRPr/>
          </a:p>
        </p:txBody>
      </p:sp>
      <p:graphicFrame>
        <p:nvGraphicFramePr>
          <p:cNvPr id="27" name="표 22"/>
          <p:cNvGraphicFramePr/>
          <p:nvPr/>
        </p:nvGraphicFramePr>
        <p:xfrm>
          <a:off x="619125" y="1714500"/>
          <a:ext cx="14001750" cy="4191000"/>
        </p:xfrm>
        <a:graphic>
          <a:graphicData uri="http://schemas.openxmlformats.org/drawingml/2006/table">
            <a:tbl>
              <a:tblPr/>
              <a:tblGrid>
                <a:gridCol w="700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이번 연구에서 확인할 것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해석할 때 유지할 한계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전체 정보 묶음의 추가 효과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최종 제안(A3)과 영상만(A1)의 오차 차이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환자 15명의 탐색적 파일럿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효과 크기와 불확실성을 함께 해석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 추가와 건강인 참조의 단계적 기여</a:t>
                      </a:r>
                    </a:p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 추가(A2) 대 영상만(A1), 최종 제안(A3) 대 수치 추가(A2)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한정된 촬영 조건과 건강인 참조 표본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구성 요소의 상호작용은 별도 추정하지 않음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센서 결측과 판독 실패의 양상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어떤 상황에서 근거가 부족한지 기록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14프레임의 시간적 관찰 한계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개발 결과가 환자를 대표하지 않음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E5348D-CAD9-43C3-953B-8FD56D23E819}"/>
              </a:ext>
            </a:extLst>
          </p:cNvPr>
          <p:cNvSpPr>
            <a:spLocks noGrp="1"/>
          </p:cNvSpPr>
          <p:nvPr/>
        </p:nvSpPr>
        <p:spPr>
          <a:xfrm>
            <a:off x="666750" y="6238875"/>
            <a:ext cx="2524125" cy="571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2F5931-054E-44A3-A8A4-2B56CEBF2C2D}"/>
              </a:ext>
            </a:extLst>
          </p:cNvPr>
          <p:cNvSpPr>
            <a:spLocks noGrp="1"/>
          </p:cNvSpPr>
          <p:nvPr/>
        </p:nvSpPr>
        <p:spPr>
          <a:xfrm>
            <a:off x="781050" y="6238875"/>
            <a:ext cx="2628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후속 가능성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EC9E07-F46B-4CF8-9353-4CECDDD50E33}"/>
              </a:ext>
            </a:extLst>
          </p:cNvPr>
          <p:cNvSpPr>
            <a:spLocks noGrp="1"/>
          </p:cNvSpPr>
          <p:nvPr/>
        </p:nvSpPr>
        <p:spPr>
          <a:xfrm>
            <a:off x="3810000" y="6238875"/>
            <a:ext cx="1081087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다양한 환자와 촬영 환경에서 재평가</a:t>
            </a:r>
            <a:endParaRPr sz="262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실제 판독시간 절감과 자동화 가능성을 별도 검증</a:t>
            </a:r>
            <a:endParaRPr sz="262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599C464-3656-4C14-B408-9C0B59C1EF71}"/>
              </a:ext>
            </a:extLst>
          </p:cNvPr>
          <p:cNvSpPr>
            <a:spLocks noGrp="1"/>
          </p:cNvSpPr>
          <p:nvPr/>
        </p:nvSpPr>
        <p:spPr>
          <a:xfrm>
            <a:off x="11334750" y="822007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40ACE08-B23F-4BB5-B194-92CB76F1A705}"/>
              </a:ext>
            </a:extLst>
          </p:cNvPr>
          <p:cNvSpPr>
            <a:spLocks noGrp="1"/>
          </p:cNvSpPr>
          <p:nvPr/>
        </p:nvSpPr>
        <p:spPr>
          <a:xfrm>
            <a:off x="14573250" y="8191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573249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2917</Words>
  <Application>Microsoft Office PowerPoint</Application>
  <DocSecurity>0</DocSecurity>
  <PresentationFormat>사용자 지정</PresentationFormat>
  <Paragraphs>413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Noto Sans CJK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jeayong lee</cp:lastModifiedBy>
  <cp:revision>1</cp:revision>
  <dcterms:created xsi:type="dcterms:W3CDTF">2026-09-13T23:35:22Z</dcterms:created>
  <dcterms:modified xsi:type="dcterms:W3CDTF">2026-09-14T01:42:03Z</dcterms:modified>
</cp:coreProperties>
</file>