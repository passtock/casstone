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13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연구계획 발표 ]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1965960" y="1975104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운동학 정보를 활용한</a:t>
            </a:r>
            <a:endParaRPr lang="en-US" sz="2600" dirty="0"/>
          </a:p>
          <a:p>
            <a:pPr algn="ctr" indent="0" marL="0">
              <a:buNone/>
            </a:pPr>
            <a:r>
              <a:rPr lang="en-US" sz="29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기반 손 기능 평가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103120" y="309067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Kinematics-Augmented Vision-Language</a:t>
            </a:r>
            <a:endParaRPr lang="en-US" sz="1440" dirty="0"/>
          </a:p>
          <a:p>
            <a:pPr algn="ctr" indent="0" marL="0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Assessment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2395728" y="4251960"/>
            <a:ext cx="2606040" cy="438912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450592" y="4379976"/>
            <a:ext cx="2496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22000561  이재용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 rot="1080000">
            <a:off x="7726680" y="530352"/>
            <a:ext cx="3108960" cy="118872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 rot="-420000">
            <a:off x="7388352" y="1664208"/>
            <a:ext cx="3657600" cy="1554480"/>
          </a:xfrm>
          <a:prstGeom prst="chevron">
            <a:avLst/>
          </a:prstGeom>
          <a:solidFill>
            <a:srgbClr val="ECECF1"/>
          </a:solidFill>
          <a:ln w="12700">
            <a:solidFill>
              <a:srgbClr val="ECECF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rot="780000">
            <a:off x="7498080" y="4005072"/>
            <a:ext cx="3520440" cy="128016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rot="720000">
            <a:off x="7360920" y="3776472"/>
            <a:ext cx="2286000" cy="45720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82930" y="5212080"/>
            <a:ext cx="2686050" cy="121158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720000">
            <a:off x="468630" y="5029200"/>
            <a:ext cx="1885950" cy="48006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-1080000">
            <a:off x="1760220" y="4389120"/>
            <a:ext cx="1348740" cy="62865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rot="-1080000">
            <a:off x="2320290" y="4000500"/>
            <a:ext cx="868680" cy="400050"/>
          </a:xfrm>
          <a:prstGeom prst="chevron">
            <a:avLst/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53212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1500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연구 배경 및 기존 한계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15000" y="3355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제안 개념 및 연구 질문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1" name="Text 9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연구의 배경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358488" y="804672"/>
            <a:ext cx="347472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31640" y="87782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연구의 배경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영상만 보는 범용 VLM은 미세 손 기능 판단에 한계가 있고, 외부에서 검증한 RGB-D 운동학이 이를 보완할 가능성이 있음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31520" y="1883664"/>
            <a:ext cx="5166360" cy="3337560"/>
          </a:xfrm>
          <a:prstGeom prst="rect">
            <a:avLst/>
          </a:prstGeom>
          <a:solidFill>
            <a:srgbClr val="F1F7F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1883664"/>
            <a:ext cx="516636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6384" y="1933956"/>
            <a:ext cx="5056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접근의 한계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9536" y="2359152"/>
            <a:ext cx="491032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고수준 활동은 인식하지만 fine-motion 정량화에는 한계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손가락 접촉·근접·해제 시점을 영상만으로 안정적으로 구분하기 어려움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환자의 불규칙한 동작일수록 오류 가능성이 커짐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6236208" y="1883664"/>
            <a:ext cx="5166360" cy="333756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36208" y="1883664"/>
            <a:ext cx="516636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91072" y="1933956"/>
            <a:ext cx="5056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연구의 필요성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64224" y="2359152"/>
            <a:ext cx="4910328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D455 + MediaPipe로 실제 3D 엄지–검지 거리와 시간정보를 별도로 계산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검증된 MGA·TMGA 등 소수의 운동학 정보를 VLM에 구조화된 context로 제공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6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최종 목표는 전문가 참조평가와의 일치도 향상 여부를 검증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4114800" y="55961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한 문장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212080" y="55595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“영상-only VLM보다 검증된 RGB-D 손 운동학을 함께 받은 VLM이 전문가 판단에 더 가까워지는가?”</a:t>
            </a:r>
            <a:endParaRPr lang="en-US" sz="14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I. 연구 배경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제안 개념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541368" y="804672"/>
            <a:ext cx="310896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14520" y="87782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제안 개념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연구는 각각 한 조각씩 보여주지만, “영상 + 검증된 손 운동학 + 건강인 참조”를 범용 VLM에서 검증한 질문은 별도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822960" y="1874520"/>
            <a:ext cx="3154680" cy="233172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22960" y="1874520"/>
            <a:ext cx="31546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7824" y="1924812"/>
            <a:ext cx="3044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 2024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50976" y="2350008"/>
            <a:ext cx="2898648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 smartphone video + task-specific supervised DL</a:t>
            </a:r>
            <a:endParaRPr lang="en-US" sz="128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실제 stroke RPS 자동평가 약 86%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영상-only도 강한 baseline이 될 수 있음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4526280" y="1874520"/>
            <a:ext cx="3154680" cy="233172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526280" y="1874520"/>
            <a:ext cx="31546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81144" y="1924812"/>
            <a:ext cx="3044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 2026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654296" y="2350008"/>
            <a:ext cx="2898648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VLM의 stroke motion understanding</a:t>
            </a:r>
            <a:endParaRPr lang="en-US" sz="128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고수준 활동은 가능</a:t>
            </a:r>
            <a:endParaRPr lang="en-US" sz="128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fine-motion·impairment 판단에는 한계</a:t>
            </a:r>
            <a:endParaRPr lang="en-US" sz="1280" dirty="0"/>
          </a:p>
        </p:txBody>
      </p:sp>
      <p:sp>
        <p:nvSpPr>
          <p:cNvPr id="20" name="Shape 18"/>
          <p:cNvSpPr/>
          <p:nvPr/>
        </p:nvSpPr>
        <p:spPr>
          <a:xfrm>
            <a:off x="8229600" y="1874520"/>
            <a:ext cx="3154680" cy="233172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229600" y="1874520"/>
            <a:ext cx="31546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284464" y="1924812"/>
            <a:ext cx="30449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Tang 2025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57616" y="2350008"/>
            <a:ext cx="2898648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Engineered kinematics → GPT-4o</a:t>
            </a:r>
            <a:endParaRPr lang="en-US" sz="128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숫자 feature를 LLM이 활용 가능</a:t>
            </a:r>
            <a:endParaRPr lang="en-US" sz="128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하지만 영상과 함께 쓰지는 않음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1417320" y="4681728"/>
            <a:ext cx="9372600" cy="868680"/>
          </a:xfrm>
          <a:prstGeom prst="rect">
            <a:avLst/>
          </a:prstGeom>
          <a:solidFill>
            <a:srgbClr val="FBF7E9"/>
          </a:solidFill>
          <a:ln w="12700">
            <a:solidFill>
              <a:srgbClr val="DFC98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828800" y="48920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9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질문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4818888"/>
            <a:ext cx="7406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stroke 손 기능 과제에서 RGB + 검증된 3D 손 운동학 + task-specific healthy reference가 범용 VLM의 전문가 일치도를 높이는가?</a:t>
            </a:r>
            <a:endParaRPr lang="en-US" sz="1420" dirty="0"/>
          </a:p>
        </p:txBody>
      </p:sp>
      <p:sp>
        <p:nvSpPr>
          <p:cNvPr id="27" name="Text 25"/>
          <p:cNvSpPr/>
          <p:nvPr/>
        </p:nvSpPr>
        <p:spPr>
          <a:xfrm>
            <a:off x="2834640" y="5852160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 et al., 2024 · Li et al., 2026 · Tang et al., 2025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82930" y="5212080"/>
            <a:ext cx="2686050" cy="121158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720000">
            <a:off x="468630" y="5029200"/>
            <a:ext cx="1885950" cy="48006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-1080000">
            <a:off x="1760220" y="4389120"/>
            <a:ext cx="1348740" cy="62865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rot="-1080000">
            <a:off x="2320290" y="4000500"/>
            <a:ext cx="868680" cy="400050"/>
          </a:xfrm>
          <a:prstGeom prst="chevron">
            <a:avLst/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53212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1500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연구 질문 및 비교 조건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15000" y="3355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VLM 역할·모델 정의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715000" y="3922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전문가 참조평가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5715000" y="4489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전체 연구 설계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연구 질문 및 비교 조건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312768" y="804672"/>
            <a:ext cx="356616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5920" y="877824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핵심 연구 질문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환자의 같은 시행에서 어떤 입력이 전문가 참조평가에 가장 가까운가?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31520" y="2057400"/>
            <a:ext cx="1828800" cy="1234440"/>
          </a:xfrm>
          <a:prstGeom prst="rect">
            <a:avLst/>
          </a:prstGeom>
          <a:solidFill>
            <a:srgbClr val="EAF3F8"/>
          </a:solidFill>
          <a:ln w="12700">
            <a:solidFill>
              <a:srgbClr val="B8CBD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7724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04672" y="2633472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2971800" y="2057400"/>
            <a:ext cx="1828800" cy="1234440"/>
          </a:xfrm>
          <a:prstGeom prst="rect">
            <a:avLst/>
          </a:prstGeom>
          <a:solidFill>
            <a:srgbClr val="EAF3F8"/>
          </a:solidFill>
          <a:ln w="12700">
            <a:solidFill>
              <a:srgbClr val="B8CBD8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01752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044952" y="2633472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+ 수치</a:t>
            </a:r>
            <a:endParaRPr lang="en-US" sz="1280" dirty="0"/>
          </a:p>
        </p:txBody>
      </p:sp>
      <p:sp>
        <p:nvSpPr>
          <p:cNvPr id="18" name="Shape 16"/>
          <p:cNvSpPr/>
          <p:nvPr/>
        </p:nvSpPr>
        <p:spPr>
          <a:xfrm>
            <a:off x="5212080" y="2057400"/>
            <a:ext cx="1828800" cy="1234440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5780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285232" y="2633472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+ 수치 + 참조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7452360" y="2057400"/>
            <a:ext cx="1828800" cy="1234440"/>
          </a:xfrm>
          <a:prstGeom prst="rect">
            <a:avLst/>
          </a:prstGeom>
          <a:solidFill>
            <a:srgbClr val="EAF3F8"/>
          </a:solidFill>
          <a:ln w="12700">
            <a:solidFill>
              <a:srgbClr val="B8CBD8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9808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25512" y="2633472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+ 참조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9692640" y="2057400"/>
            <a:ext cx="1828800" cy="1234440"/>
          </a:xfrm>
          <a:prstGeom prst="rect">
            <a:avLst/>
          </a:prstGeom>
          <a:solidFill>
            <a:srgbClr val="5B6570"/>
          </a:solidFill>
          <a:ln w="12700">
            <a:solidFill>
              <a:srgbClr val="B8CBD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738360" y="2240280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A0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765792" y="2633472"/>
            <a:ext cx="16824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모델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1691640" y="3822192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331720" y="40507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비교   A3 − A1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901952" y="43708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 + 건강인 참조의 전체 추가효과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6537960" y="3822192"/>
            <a:ext cx="3886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059168" y="405079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비교   A2/A4/A0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812280" y="437083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수치 자체 · 영상 가치 · VLM 필요성 분해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1143000" y="5440680"/>
            <a:ext cx="9921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Primary는 A3−A1 하나로 단순화하고, 나머지 조건은 “왜 좋아졌는가/좋아지지 않았는가”를 해석하기 위한 ablation이다.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VLM 역할과 모델 정의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541368" y="804672"/>
            <a:ext cx="310896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14520" y="877824"/>
            <a:ext cx="2962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VLM의 역할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VLM을 신뢰한다고 가정하지 않는다. 제공된 정보를 통합해 사전 정의된 component를 판정하는 evaluator로만 사용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77240" y="1874520"/>
            <a:ext cx="5257800" cy="1965960"/>
          </a:xfrm>
          <a:prstGeom prst="rect">
            <a:avLst/>
          </a:prstGeom>
          <a:solidFill>
            <a:srgbClr val="F2F7F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1874520"/>
            <a:ext cx="525780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32104" y="1924812"/>
            <a:ext cx="5148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VLM이 하는 일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05256" y="2350008"/>
            <a:ext cx="500176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RGB 이미지와 구조화된 numerical context를 함께 읽음</a:t>
            </a:r>
            <a:endParaRPr lang="en-US" sz="1340" dirty="0"/>
          </a:p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사전에 정의된 grasp / hold / release component를 판정</a:t>
            </a:r>
            <a:endParaRPr lang="en-US" sz="1340" dirty="0"/>
          </a:p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같은 모델·prompt·schema로 A1–A4를 비교</a:t>
            </a:r>
            <a:endParaRPr lang="en-US" sz="1340" dirty="0"/>
          </a:p>
        </p:txBody>
      </p:sp>
      <p:sp>
        <p:nvSpPr>
          <p:cNvPr id="16" name="Shape 14"/>
          <p:cNvSpPr/>
          <p:nvPr/>
        </p:nvSpPr>
        <p:spPr>
          <a:xfrm>
            <a:off x="6172200" y="1874520"/>
            <a:ext cx="5257800" cy="1965960"/>
          </a:xfrm>
          <a:prstGeom prst="rect">
            <a:avLst/>
          </a:prstGeom>
          <a:solidFill>
            <a:srgbClr val="FBF1F0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172200" y="1874520"/>
            <a:ext cx="5257800" cy="329184"/>
          </a:xfrm>
          <a:prstGeom prst="rect">
            <a:avLst/>
          </a:prstGeom>
          <a:solidFill>
            <a:srgbClr val="E1473F"/>
          </a:solidFill>
          <a:ln w="12700">
            <a:solidFill>
              <a:srgbClr val="E1473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227064" y="1924812"/>
            <a:ext cx="5148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VLM이 하지 않는 일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00216" y="2350008"/>
            <a:ext cx="5001768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운동학을 직접 측정하지 않음</a:t>
            </a:r>
            <a:endParaRPr lang="en-US" sz="1340" dirty="0"/>
          </a:p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전문가 reference를 만들지 않음</a:t>
            </a:r>
            <a:endParaRPr lang="en-US" sz="1340" dirty="0"/>
          </a:p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✕ FMA를 자동추정하거나 치료결정을 하지 않음</a:t>
            </a:r>
            <a:endParaRPr lang="en-US" sz="1340" dirty="0"/>
          </a:p>
        </p:txBody>
      </p:sp>
      <p:sp>
        <p:nvSpPr>
          <p:cNvPr id="20" name="Shape 18"/>
          <p:cNvSpPr/>
          <p:nvPr/>
        </p:nvSpPr>
        <p:spPr>
          <a:xfrm>
            <a:off x="1051560" y="4187952"/>
            <a:ext cx="4206240" cy="1143000"/>
          </a:xfrm>
          <a:prstGeom prst="rect">
            <a:avLst/>
          </a:prstGeom>
          <a:solidFill>
            <a:srgbClr val="F2F8F7"/>
          </a:solidFill>
          <a:ln w="12700">
            <a:solidFill>
              <a:srgbClr val="BFD9D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80160" y="4425696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E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 model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06040" y="4297680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Qwen2.5-VL-32B-Instruct</a:t>
            </a:r>
            <a:endParaRPr lang="en-US" sz="12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revision·prompt·inference 조건 고정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903720" y="4187952"/>
            <a:ext cx="4206240" cy="1143000"/>
          </a:xfrm>
          <a:prstGeom prst="rect">
            <a:avLst/>
          </a:prstGeom>
          <a:solidFill>
            <a:srgbClr val="F6F2FA"/>
          </a:solidFill>
          <a:ln w="12700">
            <a:solidFill>
              <a:srgbClr val="D4C9E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132320" y="4425696"/>
            <a:ext cx="1554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5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Sensitivity 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41080" y="429768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InternVL3.5-8B</a:t>
            </a:r>
            <a:endParaRPr lang="en-US" sz="122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model family에만 나타나는 결과인지 확인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1051560" y="565099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질문: “VLM을 믿어도 되는가?”  →  아직 모른다. 그래서 전문가 참조평가와의 일치도를 직접 측정한다.</a:t>
            </a:r>
            <a:endParaRPr lang="en-US" sz="13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전문가 참조평가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3901288" y="804672"/>
            <a:ext cx="438912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974440" y="877824"/>
            <a:ext cx="424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Expert Reference Standard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전문가의 판단도 주관적일 수 있으므로 “절대적 Ground Truth”로 두지 않고 독립판독·일치도·합의과정을 명시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731520" y="1874520"/>
            <a:ext cx="2971800" cy="210312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31520" y="1874520"/>
            <a:ext cx="297180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6384" y="1924812"/>
            <a:ext cx="2862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1·2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9536" y="2350008"/>
            <a:ext cx="271576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독립적으로 판독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Blind to:</a:t>
            </a:r>
            <a:endParaRPr lang="en-US" sz="125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VLM 결과</a:t>
            </a:r>
            <a:endParaRPr lang="en-US" sz="125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운동학 수치</a:t>
            </a:r>
            <a:endParaRPr lang="en-US" sz="125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건강인 참조</a:t>
            </a:r>
            <a:endParaRPr lang="en-US" sz="125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FMA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931920" y="1874520"/>
            <a:ext cx="3063240" cy="210312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931920" y="1874520"/>
            <a:ext cx="306324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986784" y="1924812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rubric 사용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059936" y="2350008"/>
            <a:ext cx="280720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가능한 component만 판정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Grasp: Complete / Incomplete / Unreadable</a:t>
            </a:r>
            <a:endParaRPr lang="en-US" sz="122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Hold: Complete / Incomplete / NA</a:t>
            </a:r>
            <a:endParaRPr lang="en-US" sz="122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Release: Complete / Incomplete / NA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7223760" y="1874520"/>
            <a:ext cx="1874520" cy="2103120"/>
          </a:xfrm>
          <a:prstGeom prst="rect">
            <a:avLst/>
          </a:prstGeom>
          <a:solidFill>
            <a:srgbClr val="F3F8FB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223760" y="1874520"/>
            <a:ext cx="187452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278624" y="1924812"/>
            <a:ext cx="1764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일치도 확인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51776" y="2350008"/>
            <a:ext cx="161848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component agreement 먼저 보고</a:t>
            </a:r>
            <a:endParaRPr lang="en-US" sz="1240" dirty="0"/>
          </a:p>
          <a:p>
            <a:pPr indent="0" marL="0">
              <a:buNone/>
            </a:pPr>
            <a:endParaRPr lang="en-US" sz="124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 시 합의 또는 제3판독</a:t>
            </a:r>
            <a:endParaRPr lang="en-US" sz="1240" dirty="0"/>
          </a:p>
        </p:txBody>
      </p:sp>
      <p:sp>
        <p:nvSpPr>
          <p:cNvPr id="24" name="Shape 22"/>
          <p:cNvSpPr/>
          <p:nvPr/>
        </p:nvSpPr>
        <p:spPr>
          <a:xfrm>
            <a:off x="9326880" y="1874520"/>
            <a:ext cx="2103120" cy="2103120"/>
          </a:xfrm>
          <a:prstGeom prst="rect">
            <a:avLst/>
          </a:prstGeom>
          <a:solidFill>
            <a:srgbClr val="FBF7E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326880" y="1874520"/>
            <a:ext cx="2103120" cy="329184"/>
          </a:xfrm>
          <a:prstGeom prst="rect">
            <a:avLst/>
          </a:prstGeom>
          <a:solidFill>
            <a:srgbClr val="E5912B"/>
          </a:solidFill>
          <a:ln w="12700">
            <a:solidFill>
              <a:srgbClr val="E5912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81744" y="1924812"/>
            <a:ext cx="1993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 label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454896" y="2350008"/>
            <a:ext cx="184708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합의된 component를</a:t>
            </a:r>
            <a:endParaRPr lang="en-US" sz="121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규칙으로 0/1/2 요약</a:t>
            </a:r>
            <a:endParaRPr lang="en-US" sz="1210" dirty="0"/>
          </a:p>
          <a:p>
            <a:pPr indent="0" marL="0">
              <a:buNone/>
            </a:pPr>
            <a:endParaRPr lang="en-US" sz="121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전문가가 최종 점수를 임의로 정하지 않음</a:t>
            </a:r>
            <a:endParaRPr lang="en-US" sz="1210" dirty="0"/>
          </a:p>
        </p:txBody>
      </p:sp>
      <p:sp>
        <p:nvSpPr>
          <p:cNvPr id="28" name="Shape 26"/>
          <p:cNvSpPr/>
          <p:nvPr/>
        </p:nvSpPr>
        <p:spPr>
          <a:xfrm>
            <a:off x="3703320" y="2852928"/>
            <a:ext cx="210312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004304" y="2852928"/>
            <a:ext cx="20116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116568" y="2852928"/>
            <a:ext cx="192024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143000" y="4572000"/>
            <a:ext cx="9921240" cy="987552"/>
          </a:xfrm>
          <a:prstGeom prst="rect">
            <a:avLst/>
          </a:prstGeom>
          <a:solidFill>
            <a:srgbClr val="F7F9FB"/>
          </a:solidFill>
          <a:ln w="12700">
            <a:solidFill>
              <a:srgbClr val="CCD6E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417320" y="48006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/ 1 / 2의 의미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880360" y="4754880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= grasp incomplete   ·   1 = grasp complete but hold/release incomplete   ·   2 = grasp + hold + release complete</a:t>
            </a:r>
            <a:endParaRPr lang="en-US" sz="1290" dirty="0"/>
          </a:p>
        </p:txBody>
      </p:sp>
      <p:sp>
        <p:nvSpPr>
          <p:cNvPr id="34" name="Text 32"/>
          <p:cNvSpPr/>
          <p:nvPr/>
        </p:nvSpPr>
        <p:spPr>
          <a:xfrm>
            <a:off x="3063240" y="5193792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이 점수는 새로운 임상척도가 아니라 본 연구의 task-performance summary score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II. 연구 목적 및 설계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전체 연구 설계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358488" y="804672"/>
            <a:ext cx="347472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431640" y="87782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전체 연구 설계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측정값을 먼저 검증하고 → 건강인 참조 구축 → prompt·model freeze → 환자에서 독립 검증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594360" y="1965960"/>
            <a:ext cx="2286000" cy="2423160"/>
          </a:xfrm>
          <a:prstGeom prst="roundRect">
            <a:avLst>
              <a:gd name="adj" fmla="val 4800"/>
            </a:avLst>
          </a:prstGeom>
          <a:solidFill>
            <a:srgbClr val="EFF5F8"/>
          </a:solidFill>
          <a:ln w="1524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04088" y="22677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측정 검증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4088" y="276148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4명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5528" y="321868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 정확도·거리 오차·유효률</a:t>
            </a:r>
            <a:endParaRPr lang="en-US" sz="118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MGA/TMGA 반복 안정성 확인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2898648" y="3127248"/>
            <a:ext cx="393192" cy="0"/>
          </a:xfrm>
          <a:prstGeom prst="line">
            <a:avLst/>
          </a:prstGeom>
          <a:noFill/>
          <a:ln w="3048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337560" y="1965960"/>
            <a:ext cx="2286000" cy="2423160"/>
          </a:xfrm>
          <a:prstGeom prst="roundRect">
            <a:avLst>
              <a:gd name="adj" fmla="val 4800"/>
            </a:avLst>
          </a:prstGeom>
          <a:solidFill>
            <a:srgbClr val="EFF5F8"/>
          </a:solidFill>
          <a:ln w="1524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47288" y="22677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건강인 참조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447288" y="276148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건강인 15명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38728" y="321868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· 4과제 × 8회</a:t>
            </a:r>
            <a:endParaRPr lang="en-US" sz="118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8회 median → participant reference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5641848" y="3127248"/>
            <a:ext cx="393192" cy="0"/>
          </a:xfrm>
          <a:prstGeom prst="line">
            <a:avLst/>
          </a:prstGeom>
          <a:noFill/>
          <a:ln w="3048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080760" y="1965960"/>
            <a:ext cx="2286000" cy="2423160"/>
          </a:xfrm>
          <a:prstGeom prst="roundRect">
            <a:avLst>
              <a:gd name="adj" fmla="val 4800"/>
            </a:avLst>
          </a:prstGeom>
          <a:solidFill>
            <a:srgbClr val="EAF9FC"/>
          </a:solidFill>
          <a:ln w="1524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190488" y="22677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Freeze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190488" y="276148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#1 이전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81928" y="321868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변수·frame rule·prompt·model revision</a:t>
            </a:r>
            <a:endParaRPr lang="en-US" sz="118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processing pipeline 고정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8385048" y="3127248"/>
            <a:ext cx="393192" cy="0"/>
          </a:xfrm>
          <a:prstGeom prst="line">
            <a:avLst/>
          </a:prstGeom>
          <a:noFill/>
          <a:ln w="3048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823960" y="1965960"/>
            <a:ext cx="2286000" cy="2423160"/>
          </a:xfrm>
          <a:prstGeom prst="roundRect">
            <a:avLst>
              <a:gd name="adj" fmla="val 4800"/>
            </a:avLst>
          </a:prstGeom>
          <a:solidFill>
            <a:srgbClr val="EFF5F8"/>
          </a:solidFill>
          <a:ln w="1524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933688" y="226771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환자 검증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8933688" y="2761488"/>
            <a:ext cx="20665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편마비 15명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25128" y="3218688"/>
            <a:ext cx="1883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4과제 × 8회</a:t>
            </a:r>
            <a:endParaRPr lang="en-US" sz="118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Expert reference + A1–A4 평가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1051560" y="4882896"/>
            <a:ext cx="10104120" cy="777240"/>
          </a:xfrm>
          <a:prstGeom prst="rect">
            <a:avLst/>
          </a:prstGeom>
          <a:solidFill>
            <a:srgbClr val="FBF7E9"/>
          </a:solidFill>
          <a:ln w="12700">
            <a:solidFill>
              <a:srgbClr val="E1CD89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298448" y="5129784"/>
            <a:ext cx="9601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 |  개발 4명은 최종 성능분석에서 제외하고, 건강인 15명의 반복 8회는 120명의 독립표본처럼 세지 않는다.</a:t>
            </a:r>
            <a:endParaRPr lang="en-US" sz="13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82930" y="5212080"/>
            <a:ext cx="2686050" cy="121158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720000">
            <a:off x="468630" y="5029200"/>
            <a:ext cx="1885950" cy="48006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-1080000">
            <a:off x="1760220" y="4389120"/>
            <a:ext cx="1348740" cy="62865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rot="-1080000">
            <a:off x="2320290" y="4000500"/>
            <a:ext cx="868680" cy="400050"/>
          </a:xfrm>
          <a:prstGeom prst="chevron">
            <a:avLst/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53212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1500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평가 과제 및 시행 흐름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15000" y="3355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RGB-D 측정 및 운동학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715000" y="3922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14-frame 입력 및 추론 절차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평가 과제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678528" y="804672"/>
            <a:ext cx="283464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1680" y="877824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평가 과제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 1과제 + object-specific grasp 3과제  |  각 과제 8회  |  short reach로 proximal demand 최소화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40080" y="1874520"/>
            <a:ext cx="2331720" cy="3200400"/>
          </a:xfrm>
          <a:prstGeom prst="rect">
            <a:avLst/>
          </a:prstGeom>
          <a:solidFill>
            <a:srgbClr val="F5F8FA"/>
          </a:solidFill>
          <a:ln w="12700">
            <a:solidFill>
              <a:srgbClr val="C6D2D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645920" y="2777490"/>
            <a:ext cx="640080" cy="708660"/>
          </a:xfrm>
          <a:prstGeom prst="roundRect">
            <a:avLst>
              <a:gd name="adj" fmla="val 8571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645920" y="2286000"/>
            <a:ext cx="120015" cy="605790"/>
          </a:xfrm>
          <a:prstGeom prst="roundRect">
            <a:avLst>
              <a:gd name="adj" fmla="val 2285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805940" y="2171700"/>
            <a:ext cx="120015" cy="651510"/>
          </a:xfrm>
          <a:prstGeom prst="roundRect">
            <a:avLst>
              <a:gd name="adj" fmla="val 2285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965960" y="2148840"/>
            <a:ext cx="120015" cy="651510"/>
          </a:xfrm>
          <a:prstGeom prst="roundRect">
            <a:avLst>
              <a:gd name="adj" fmla="val 2285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125980" y="2240280"/>
            <a:ext cx="120015" cy="651510"/>
          </a:xfrm>
          <a:prstGeom prst="roundRect">
            <a:avLst>
              <a:gd name="adj" fmla="val 2285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rot="19800000">
            <a:off x="1394460" y="2868930"/>
            <a:ext cx="377190" cy="160020"/>
          </a:xfrm>
          <a:prstGeom prst="roundRect">
            <a:avLst>
              <a:gd name="adj" fmla="val 17143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2960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04672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→ Close → Hold → Re-open</a:t>
            </a:r>
            <a:endParaRPr lang="en-US" sz="1190" dirty="0"/>
          </a:p>
        </p:txBody>
      </p:sp>
      <p:sp>
        <p:nvSpPr>
          <p:cNvPr id="21" name="Shape 19"/>
          <p:cNvSpPr/>
          <p:nvPr/>
        </p:nvSpPr>
        <p:spPr>
          <a:xfrm>
            <a:off x="3429000" y="1874520"/>
            <a:ext cx="2331720" cy="3200400"/>
          </a:xfrm>
          <a:prstGeom prst="rect">
            <a:avLst/>
          </a:prstGeom>
          <a:solidFill>
            <a:srgbClr val="F5F8FA"/>
          </a:solidFill>
          <a:ln w="12700">
            <a:solidFill>
              <a:srgbClr val="C6D2DC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178808" y="2212848"/>
            <a:ext cx="822960" cy="228600"/>
          </a:xfrm>
          <a:prstGeom prst="ellipse">
            <a:avLst/>
          </a:prstGeom>
          <a:solidFill>
            <a:srgbClr val="E7EEF3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178808" y="2331720"/>
            <a:ext cx="822960" cy="960120"/>
          </a:xfrm>
          <a:prstGeom prst="rect">
            <a:avLst/>
          </a:prstGeom>
          <a:solidFill>
            <a:srgbClr val="EEF4F7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178808" y="3154680"/>
            <a:ext cx="822960" cy="228600"/>
          </a:xfrm>
          <a:prstGeom prst="ellipse">
            <a:avLst/>
          </a:prstGeom>
          <a:solidFill>
            <a:srgbClr val="DDE8EF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11880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원통 파지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3593592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Cylinder · Ø 5 cm</a:t>
            </a:r>
            <a:endParaRPr lang="en-US" sz="1190" dirty="0"/>
          </a:p>
        </p:txBody>
      </p:sp>
      <p:sp>
        <p:nvSpPr>
          <p:cNvPr id="27" name="Shape 25"/>
          <p:cNvSpPr/>
          <p:nvPr/>
        </p:nvSpPr>
        <p:spPr>
          <a:xfrm>
            <a:off x="6217920" y="1874520"/>
            <a:ext cx="2331720" cy="3200400"/>
          </a:xfrm>
          <a:prstGeom prst="rect">
            <a:avLst/>
          </a:prstGeom>
          <a:solidFill>
            <a:srgbClr val="F5F8FA"/>
          </a:solidFill>
          <a:ln w="12700">
            <a:solidFill>
              <a:srgbClr val="C6D2DC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931152" y="2148840"/>
            <a:ext cx="914400" cy="914400"/>
          </a:xfrm>
          <a:prstGeom prst="ellipse">
            <a:avLst/>
          </a:prstGeom>
          <a:solidFill>
            <a:srgbClr val="EDF6F7"/>
          </a:solidFill>
          <a:ln w="1524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0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 파지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382512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Sphere · Ø 7 cm</a:t>
            </a:r>
            <a:endParaRPr lang="en-US" sz="1190" dirty="0"/>
          </a:p>
        </p:txBody>
      </p:sp>
      <p:sp>
        <p:nvSpPr>
          <p:cNvPr id="31" name="Shape 29"/>
          <p:cNvSpPr/>
          <p:nvPr/>
        </p:nvSpPr>
        <p:spPr>
          <a:xfrm>
            <a:off x="9006840" y="1874520"/>
            <a:ext cx="2331720" cy="3200400"/>
          </a:xfrm>
          <a:prstGeom prst="rect">
            <a:avLst/>
          </a:prstGeom>
          <a:solidFill>
            <a:srgbClr val="F5F8FA"/>
          </a:solidFill>
          <a:ln w="12700">
            <a:solidFill>
              <a:srgbClr val="C6D2DC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948672" y="2176272"/>
            <a:ext cx="384048" cy="1042416"/>
          </a:xfrm>
          <a:prstGeom prst="roundRect">
            <a:avLst>
              <a:gd name="adj" fmla="val 9524"/>
            </a:avLst>
          </a:prstGeom>
          <a:solidFill>
            <a:srgbClr val="F7EEDF"/>
          </a:solidFill>
          <a:ln w="12700">
            <a:solidFill>
              <a:srgbClr val="E5912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509760" y="2697480"/>
            <a:ext cx="429768" cy="0"/>
          </a:xfrm>
          <a:prstGeom prst="line">
            <a:avLst/>
          </a:prstGeom>
          <a:noFill/>
          <a:ln w="508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332720" y="2697480"/>
            <a:ext cx="429768" cy="0"/>
          </a:xfrm>
          <a:prstGeom prst="line">
            <a:avLst/>
          </a:prstGeom>
          <a:noFill/>
          <a:ln w="508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9189720" y="36576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측면집기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9171432" y="41605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Lateral pinch · 1.5 cm</a:t>
            </a:r>
            <a:endParaRPr lang="en-US" sz="1190" dirty="0"/>
          </a:p>
        </p:txBody>
      </p:sp>
      <p:sp>
        <p:nvSpPr>
          <p:cNvPr id="37" name="Text 35"/>
          <p:cNvSpPr/>
          <p:nvPr/>
        </p:nvSpPr>
        <p:spPr>
          <a:xfrm>
            <a:off x="1097280" y="5486400"/>
            <a:ext cx="10012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Task-specific reference가 필요한 이유: 같은 사람도 grip type과 object geometry에 따라 정상 MGA와 파지전략이 달라질 수 있음.</a:t>
            </a:r>
            <a:endParaRPr lang="en-US" sz="13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평가 과제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221328" y="804672"/>
            <a:ext cx="374904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4480" y="877824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시행 흐름과 rubric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Hold와 Release는 “운동학 수치”가 아니라 task phase이며, 물체 과제와 맨손 과제는 서로 다른 component를 사용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777240" y="1828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물체 과제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13232" y="2194560"/>
            <a:ext cx="1901952" cy="960120"/>
          </a:xfrm>
          <a:prstGeom prst="rect">
            <a:avLst/>
          </a:prstGeom>
          <a:solidFill>
            <a:srgbClr val="E8EEF3"/>
          </a:solidFill>
          <a:ln w="12700">
            <a:solidFill>
              <a:srgbClr val="B9C6D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86384" y="24963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이동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615184" y="2679192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953512" y="2194560"/>
            <a:ext cx="1901952" cy="960120"/>
          </a:xfrm>
          <a:prstGeom prst="rect">
            <a:avLst/>
          </a:prstGeom>
          <a:solidFill>
            <a:srgbClr val="EAF3F8"/>
          </a:solidFill>
          <a:ln w="12700">
            <a:solidFill>
              <a:srgbClr val="B9C6D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026664" y="24963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Grasp acquisition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4855464" y="2679192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5193792" y="2194560"/>
            <a:ext cx="1901952" cy="960120"/>
          </a:xfrm>
          <a:prstGeom prst="rect">
            <a:avLst/>
          </a:prstGeom>
          <a:solidFill>
            <a:srgbClr val="ECF8F5"/>
          </a:solidFill>
          <a:ln w="12700">
            <a:solidFill>
              <a:srgbClr val="B9C6D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266944" y="24963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C9E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s Hold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7095744" y="2679192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434072" y="2194560"/>
            <a:ext cx="1901952" cy="960120"/>
          </a:xfrm>
          <a:prstGeom prst="rect">
            <a:avLst/>
          </a:prstGeom>
          <a:solidFill>
            <a:srgbClr val="F3EFF8"/>
          </a:solidFill>
          <a:ln w="12700">
            <a:solidFill>
              <a:srgbClr val="B9C6D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507224" y="24963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C5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 release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9336024" y="2679192"/>
            <a:ext cx="246888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674352" y="2194560"/>
            <a:ext cx="1901952" cy="960120"/>
          </a:xfrm>
          <a:prstGeom prst="rect">
            <a:avLst/>
          </a:prstGeom>
          <a:solidFill>
            <a:srgbClr val="FBF5E8"/>
          </a:solidFill>
          <a:ln w="12700">
            <a:solidFill>
              <a:srgbClr val="B9C6D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747504" y="249631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 s 관찰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77240" y="37307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맨손 과제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1051560" y="4114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CF8F5"/>
          </a:solidFill>
          <a:ln w="12700">
            <a:solidFill>
              <a:srgbClr val="AEDDD6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4300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9E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Opening</a:t>
            </a:r>
            <a:endParaRPr lang="en-US" sz="1420" dirty="0"/>
          </a:p>
        </p:txBody>
      </p:sp>
      <p:sp>
        <p:nvSpPr>
          <p:cNvPr id="30" name="Shape 28"/>
          <p:cNvSpPr/>
          <p:nvPr/>
        </p:nvSpPr>
        <p:spPr>
          <a:xfrm>
            <a:off x="3035808" y="4572000"/>
            <a:ext cx="466344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657600" y="4114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AFC8DA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4904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Closing</a:t>
            </a:r>
            <a:endParaRPr lang="en-US" sz="1420" dirty="0"/>
          </a:p>
        </p:txBody>
      </p:sp>
      <p:sp>
        <p:nvSpPr>
          <p:cNvPr id="33" name="Shape 31"/>
          <p:cNvSpPr/>
          <p:nvPr/>
        </p:nvSpPr>
        <p:spPr>
          <a:xfrm>
            <a:off x="5641848" y="4572000"/>
            <a:ext cx="466344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263640" y="4114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CF8F5"/>
          </a:solidFill>
          <a:ln w="12700">
            <a:solidFill>
              <a:srgbClr val="AEDDD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35508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C9E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</a:t>
            </a:r>
            <a:endParaRPr lang="en-US" sz="1420" dirty="0"/>
          </a:p>
        </p:txBody>
      </p:sp>
      <p:sp>
        <p:nvSpPr>
          <p:cNvPr id="36" name="Shape 34"/>
          <p:cNvSpPr/>
          <p:nvPr/>
        </p:nvSpPr>
        <p:spPr>
          <a:xfrm>
            <a:off x="8247888" y="4572000"/>
            <a:ext cx="466344" cy="0"/>
          </a:xfrm>
          <a:prstGeom prst="line">
            <a:avLst/>
          </a:prstGeom>
          <a:noFill/>
          <a:ln w="2540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869680" y="411480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AF3F8"/>
          </a:solidFill>
          <a:ln w="12700">
            <a:solidFill>
              <a:srgbClr val="AFC8DA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961120" y="440740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Re-opening</a:t>
            </a:r>
            <a:endParaRPr lang="en-US" sz="1420" dirty="0"/>
          </a:p>
        </p:txBody>
      </p:sp>
      <p:sp>
        <p:nvSpPr>
          <p:cNvPr id="39" name="Text 37"/>
          <p:cNvSpPr/>
          <p:nvPr/>
        </p:nvSpPr>
        <p:spPr>
          <a:xfrm>
            <a:off x="1005840" y="5532120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voluntary finger extension은 object grasp capacity와 밀접하지만, 맨손 opening feature의 최종 정의는 pilot에서 측정 안정성을 확인한 뒤 고정.</a:t>
            </a:r>
            <a:endParaRPr lang="en-US" sz="12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RGB-D 측정 및 운동학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495648" y="804672"/>
            <a:ext cx="32004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68800" y="87782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자료 및 변수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입력은 “검증된 소수의 kinematic descriptor”로 제한하고, Hold/Release 자체와 측정품질은 서로 다른 범주로 구분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594360" y="1828800"/>
            <a:ext cx="3017520" cy="361188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94360" y="1828800"/>
            <a:ext cx="301752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9224" y="1879092"/>
            <a:ext cx="2907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RGB-D 측정 개념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22376" y="2304288"/>
            <a:ext cx="2761488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D455 + MediaPipe 21 landmarks</a:t>
            </a:r>
            <a:endParaRPr lang="en-US" sz="127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aligned depth에서 landmark 주변 depth 취득</a:t>
            </a:r>
            <a:endParaRPr lang="en-US" sz="127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intrinsics로 3D deprojection</a:t>
            </a:r>
            <a:endParaRPr lang="en-US" sz="127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thumb–index 3D aperture curve 계산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1508760" y="3931920"/>
            <a:ext cx="1143000" cy="662940"/>
          </a:xfrm>
          <a:prstGeom prst="roundRect">
            <a:avLst>
              <a:gd name="adj" fmla="val 6897"/>
            </a:avLst>
          </a:prstGeom>
          <a:solidFill>
            <a:srgbClr val="E3E8ED"/>
          </a:solidFill>
          <a:ln w="12700">
            <a:solidFill>
              <a:srgbClr val="98A7B5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737360" y="4137660"/>
            <a:ext cx="251460" cy="251460"/>
          </a:xfrm>
          <a:prstGeom prst="ellipse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160270" y="4160520"/>
            <a:ext cx="205740" cy="205740"/>
          </a:xfrm>
          <a:prstGeom prst="ellipse">
            <a:avLst/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011680" y="4594860"/>
            <a:ext cx="137160" cy="285750"/>
          </a:xfrm>
          <a:prstGeom prst="rect">
            <a:avLst/>
          </a:prstGeom>
          <a:solidFill>
            <a:srgbClr val="A2ADB8"/>
          </a:solidFill>
          <a:ln w="12700">
            <a:solidFill>
              <a:srgbClr val="A2ADB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760220" y="4880610"/>
            <a:ext cx="662940" cy="0"/>
          </a:xfrm>
          <a:prstGeom prst="line">
            <a:avLst/>
          </a:prstGeom>
          <a:noFill/>
          <a:ln w="19050">
            <a:solidFill>
              <a:srgbClr val="A2ADB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638958" y="4352544"/>
            <a:ext cx="614477" cy="680314"/>
          </a:xfrm>
          <a:prstGeom prst="roundRect">
            <a:avLst>
              <a:gd name="adj" fmla="val 8929"/>
            </a:avLst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638958" y="3880714"/>
            <a:ext cx="115214" cy="581558"/>
          </a:xfrm>
          <a:prstGeom prst="roundRect">
            <a:avLst>
              <a:gd name="adj" fmla="val 23810"/>
            </a:avLst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92578" y="3770986"/>
            <a:ext cx="115214" cy="625450"/>
          </a:xfrm>
          <a:prstGeom prst="roundRect">
            <a:avLst>
              <a:gd name="adj" fmla="val 23810"/>
            </a:avLst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946197" y="3749040"/>
            <a:ext cx="115214" cy="625450"/>
          </a:xfrm>
          <a:prstGeom prst="roundRect">
            <a:avLst>
              <a:gd name="adj" fmla="val 23810"/>
            </a:avLst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099816" y="3836822"/>
            <a:ext cx="115214" cy="625450"/>
          </a:xfrm>
          <a:prstGeom prst="roundRect">
            <a:avLst>
              <a:gd name="adj" fmla="val 23810"/>
            </a:avLst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19800000">
            <a:off x="2397557" y="4440326"/>
            <a:ext cx="362102" cy="153619"/>
          </a:xfrm>
          <a:prstGeom prst="roundRect">
            <a:avLst>
              <a:gd name="adj" fmla="val 17857"/>
            </a:avLst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840480" y="1828800"/>
            <a:ext cx="3383280" cy="361188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840480" y="1828800"/>
            <a:ext cx="33832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895344" y="1879092"/>
            <a:ext cx="32735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운동학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968496" y="2304288"/>
            <a:ext cx="3127248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</a:t>
            </a:r>
            <a:endParaRPr lang="en-US" sz="1330" dirty="0"/>
          </a:p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접촉 전 최대 thumb–index 3D aperture</a:t>
            </a:r>
            <a:endParaRPr lang="en-US" sz="1330" dirty="0"/>
          </a:p>
          <a:p>
            <a:pPr indent="0" marL="0">
              <a:buNone/>
            </a:pPr>
            <a:endParaRPr lang="en-US" sz="1330" dirty="0"/>
          </a:p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TMGA</a:t>
            </a:r>
            <a:endParaRPr lang="en-US" sz="1330" dirty="0"/>
          </a:p>
          <a:p>
            <a:pPr indent="0" marL="0">
              <a:buNone/>
            </a:pPr>
            <a:r>
              <a:rPr lang="en-US" sz="15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acquisition 구간 내 MGA의 정규화된 발생시점</a:t>
            </a:r>
            <a:endParaRPr lang="en-US" sz="1330" dirty="0"/>
          </a:p>
        </p:txBody>
      </p:sp>
      <p:sp>
        <p:nvSpPr>
          <p:cNvPr id="31" name="Shape 29"/>
          <p:cNvSpPr/>
          <p:nvPr/>
        </p:nvSpPr>
        <p:spPr>
          <a:xfrm>
            <a:off x="7452360" y="1828800"/>
            <a:ext cx="4160520" cy="182880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452360" y="1828800"/>
            <a:ext cx="416052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507224" y="1879092"/>
            <a:ext cx="4050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Phase-specific support features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580376" y="2304288"/>
            <a:ext cx="3904488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Hold-phase aperture variability</a:t>
            </a:r>
            <a:endParaRPr lang="en-US" sz="128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Release-phase aperture change / trajectory</a:t>
            </a:r>
            <a:endParaRPr lang="en-US" sz="1280" dirty="0"/>
          </a:p>
          <a:p>
            <a:pPr indent="0" marL="0">
              <a:buNone/>
            </a:pPr>
            <a:r>
              <a:rPr lang="en-US" sz="15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Preparation / acquisition time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7452360" y="3977640"/>
            <a:ext cx="4160520" cy="146304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7452360" y="3977640"/>
            <a:ext cx="4160520" cy="329184"/>
          </a:xfrm>
          <a:prstGeom prst="rect">
            <a:avLst/>
          </a:prstGeom>
          <a:solidFill>
            <a:srgbClr val="5F6771"/>
          </a:solidFill>
          <a:ln w="12700">
            <a:solidFill>
              <a:srgbClr val="5F6771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507224" y="4027932"/>
            <a:ext cx="40507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Measurement quality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580376" y="4453128"/>
            <a:ext cx="39044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valid frame ratio · longest gap · window validity</a:t>
            </a:r>
            <a:endParaRPr lang="en-US" sz="1240" dirty="0"/>
          </a:p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운동학 수치가 아니라 “수치 신뢰도” 정보</a:t>
            </a:r>
            <a:endParaRPr lang="en-US" sz="1240" dirty="0"/>
          </a:p>
        </p:txBody>
      </p:sp>
      <p:sp>
        <p:nvSpPr>
          <p:cNvPr id="39" name="Text 37"/>
          <p:cNvSpPr/>
          <p:nvPr/>
        </p:nvSpPr>
        <p:spPr>
          <a:xfrm>
            <a:off x="3749040" y="5650992"/>
            <a:ext cx="7498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Hold / Release 자체는 운동학 수치가 아님.  “그 구간에서 계산한 descriptor”가 운동학 정보.</a:t>
            </a:r>
            <a:endParaRPr lang="en-US" sz="12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III. 실험 방법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14-frame 입력 및 추론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175608" y="804672"/>
            <a:ext cx="384048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48760" y="8778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모델 입력과 정답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비교조건은 같은 시행을 사용하고, A1–A3는 동일한 14개 이미지를 공유하여 “추가 정보”만 다르게 만든다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Acquisition 6 frames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3232" y="2240280"/>
            <a:ext cx="475488" cy="713232"/>
          </a:xfrm>
          <a:prstGeom prst="rect">
            <a:avLst/>
          </a:prstGeom>
          <a:solidFill>
            <a:srgbClr val="ECF3F7"/>
          </a:solidFill>
          <a:ln w="12700">
            <a:solidFill>
              <a:srgbClr val="B6C7D4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74532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74532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23178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71824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20470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rot="19800000">
            <a:off x="798088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5800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0%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1335024" y="2240280"/>
            <a:ext cx="475488" cy="713232"/>
          </a:xfrm>
          <a:prstGeom prst="rect">
            <a:avLst/>
          </a:prstGeom>
          <a:solidFill>
            <a:srgbClr val="ECF3F7"/>
          </a:solidFill>
          <a:ln w="12700">
            <a:solidFill>
              <a:srgbClr val="B6C7D4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496324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496324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544970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593616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642262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rot="19800000">
            <a:off x="1419880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307592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20%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956816" y="2240280"/>
            <a:ext cx="475488" cy="713232"/>
          </a:xfrm>
          <a:prstGeom prst="rect">
            <a:avLst/>
          </a:prstGeom>
          <a:solidFill>
            <a:srgbClr val="ECF3F7"/>
          </a:solidFill>
          <a:ln w="12700">
            <a:solidFill>
              <a:srgbClr val="B6C7D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118116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2118116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166762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215408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264054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rot="19800000">
            <a:off x="2041672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929384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40%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2578608" y="2240280"/>
            <a:ext cx="475488" cy="713232"/>
          </a:xfrm>
          <a:prstGeom prst="rect">
            <a:avLst/>
          </a:prstGeom>
          <a:solidFill>
            <a:srgbClr val="ECF3F7"/>
          </a:solidFill>
          <a:ln w="12700">
            <a:solidFill>
              <a:srgbClr val="B6C7D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739908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739908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2788554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2837200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2885846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 rot="19800000">
            <a:off x="2663464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2551176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60%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3200400" y="2240280"/>
            <a:ext cx="475488" cy="713232"/>
          </a:xfrm>
          <a:prstGeom prst="rect">
            <a:avLst/>
          </a:prstGeom>
          <a:solidFill>
            <a:srgbClr val="ECF3F7"/>
          </a:solidFill>
          <a:ln w="12700">
            <a:solidFill>
              <a:srgbClr val="B6C7D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3361700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3361700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3410346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458992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3507638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 rot="19800000">
            <a:off x="3285256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172968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80%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3822192" y="2240280"/>
            <a:ext cx="475488" cy="713232"/>
          </a:xfrm>
          <a:prstGeom prst="rect">
            <a:avLst/>
          </a:prstGeom>
          <a:solidFill>
            <a:srgbClr val="ECF3F7"/>
          </a:solidFill>
          <a:ln w="12700">
            <a:solidFill>
              <a:srgbClr val="B6C7D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3983492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3983492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032138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4080784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4129430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 rot="19800000">
            <a:off x="3907048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794760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780" dirty="0"/>
          </a:p>
        </p:txBody>
      </p:sp>
      <p:sp>
        <p:nvSpPr>
          <p:cNvPr id="61" name="Text 59"/>
          <p:cNvSpPr/>
          <p:nvPr/>
        </p:nvSpPr>
        <p:spPr>
          <a:xfrm>
            <a:off x="4663440" y="1828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9E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 2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4709160" y="2240280"/>
            <a:ext cx="493776" cy="713232"/>
          </a:xfrm>
          <a:prstGeom prst="rect">
            <a:avLst/>
          </a:prstGeom>
          <a:solidFill>
            <a:srgbClr val="ECF8F5"/>
          </a:solidFill>
          <a:ln w="12700">
            <a:solidFill>
              <a:srgbClr val="B0D9D3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4879604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879604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4928250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4976896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5025542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 rot="19800000">
            <a:off x="4803160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690872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+0.5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5367528" y="2240280"/>
            <a:ext cx="493776" cy="713232"/>
          </a:xfrm>
          <a:prstGeom prst="rect">
            <a:avLst/>
          </a:prstGeom>
          <a:solidFill>
            <a:srgbClr val="ECF8F5"/>
          </a:solidFill>
          <a:ln w="12700">
            <a:solidFill>
              <a:srgbClr val="B0D9D3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5537972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5537972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5586618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5635264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5683910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 rot="19800000">
            <a:off x="5461528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349240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+1.5</a:t>
            </a:r>
            <a:endParaRPr lang="en-US" sz="780" dirty="0"/>
          </a:p>
        </p:txBody>
      </p:sp>
      <p:sp>
        <p:nvSpPr>
          <p:cNvPr id="78" name="Text 76"/>
          <p:cNvSpPr/>
          <p:nvPr/>
        </p:nvSpPr>
        <p:spPr>
          <a:xfrm>
            <a:off x="65379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6C58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Release 6 frames</a:t>
            </a:r>
            <a:endParaRPr lang="en-US" sz="1350" dirty="0"/>
          </a:p>
        </p:txBody>
      </p:sp>
      <p:sp>
        <p:nvSpPr>
          <p:cNvPr id="79" name="Shape 77"/>
          <p:cNvSpPr/>
          <p:nvPr/>
        </p:nvSpPr>
        <p:spPr>
          <a:xfrm>
            <a:off x="6583680" y="2240280"/>
            <a:ext cx="475488" cy="713232"/>
          </a:xfrm>
          <a:prstGeom prst="rect">
            <a:avLst/>
          </a:prstGeom>
          <a:solidFill>
            <a:srgbClr val="F3EFF8"/>
          </a:solidFill>
          <a:ln w="12700">
            <a:solidFill>
              <a:srgbClr val="D3C7E3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6744980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6744980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6793626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6842272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6890918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 rot="19800000">
            <a:off x="6668536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6556248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</a:t>
            </a:r>
            <a:endParaRPr lang="en-US" sz="760" dirty="0"/>
          </a:p>
        </p:txBody>
      </p:sp>
      <p:sp>
        <p:nvSpPr>
          <p:cNvPr id="87" name="Shape 85"/>
          <p:cNvSpPr/>
          <p:nvPr/>
        </p:nvSpPr>
        <p:spPr>
          <a:xfrm>
            <a:off x="7205472" y="2240280"/>
            <a:ext cx="475488" cy="713232"/>
          </a:xfrm>
          <a:prstGeom prst="rect">
            <a:avLst/>
          </a:prstGeom>
          <a:solidFill>
            <a:srgbClr val="F3EFF8"/>
          </a:solidFill>
          <a:ln w="12700">
            <a:solidFill>
              <a:srgbClr val="D3C7E3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7366772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7366772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7415418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7464064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7512710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 rot="19800000">
            <a:off x="7290328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94" name="Text 92"/>
          <p:cNvSpPr/>
          <p:nvPr/>
        </p:nvSpPr>
        <p:spPr>
          <a:xfrm>
            <a:off x="7178040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+0.4</a:t>
            </a:r>
            <a:endParaRPr lang="en-US" sz="760" dirty="0"/>
          </a:p>
        </p:txBody>
      </p:sp>
      <p:sp>
        <p:nvSpPr>
          <p:cNvPr id="95" name="Shape 93"/>
          <p:cNvSpPr/>
          <p:nvPr/>
        </p:nvSpPr>
        <p:spPr>
          <a:xfrm>
            <a:off x="7827264" y="2240280"/>
            <a:ext cx="475488" cy="713232"/>
          </a:xfrm>
          <a:prstGeom prst="rect">
            <a:avLst/>
          </a:prstGeom>
          <a:solidFill>
            <a:srgbClr val="F3EFF8"/>
          </a:solidFill>
          <a:ln w="12700">
            <a:solidFill>
              <a:srgbClr val="D3C7E3"/>
            </a:solidFill>
            <a:prstDash val="solid"/>
          </a:ln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7988564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97" name="Shape 95"/>
          <p:cNvSpPr/>
          <p:nvPr/>
        </p:nvSpPr>
        <p:spPr>
          <a:xfrm>
            <a:off x="7988564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8037210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8085856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8134502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 rot="19800000">
            <a:off x="7912120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7799832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+0.8</a:t>
            </a:r>
            <a:endParaRPr lang="en-US" sz="760" dirty="0"/>
          </a:p>
        </p:txBody>
      </p:sp>
      <p:sp>
        <p:nvSpPr>
          <p:cNvPr id="103" name="Shape 101"/>
          <p:cNvSpPr/>
          <p:nvPr/>
        </p:nvSpPr>
        <p:spPr>
          <a:xfrm>
            <a:off x="8449056" y="2240280"/>
            <a:ext cx="475488" cy="713232"/>
          </a:xfrm>
          <a:prstGeom prst="rect">
            <a:avLst/>
          </a:prstGeom>
          <a:solidFill>
            <a:srgbClr val="F3EFF8"/>
          </a:solidFill>
          <a:ln w="12700">
            <a:solidFill>
              <a:srgbClr val="D3C7E3"/>
            </a:solidFill>
            <a:prstDash val="solid"/>
          </a:ln>
        </p:spPr>
        <p:txBody>
          <a:bodyPr/>
          <a:p/>
        </p:txBody>
      </p:sp>
      <p:sp>
        <p:nvSpPr>
          <p:cNvPr id="104" name="Shape 102"/>
          <p:cNvSpPr/>
          <p:nvPr/>
        </p:nvSpPr>
        <p:spPr>
          <a:xfrm>
            <a:off x="8610356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05" name="Shape 103"/>
          <p:cNvSpPr/>
          <p:nvPr/>
        </p:nvSpPr>
        <p:spPr>
          <a:xfrm>
            <a:off x="8610356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06" name="Shape 104"/>
          <p:cNvSpPr/>
          <p:nvPr/>
        </p:nvSpPr>
        <p:spPr>
          <a:xfrm>
            <a:off x="8659002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07" name="Shape 105"/>
          <p:cNvSpPr/>
          <p:nvPr/>
        </p:nvSpPr>
        <p:spPr>
          <a:xfrm>
            <a:off x="8707648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8756294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09" name="Shape 107"/>
          <p:cNvSpPr/>
          <p:nvPr/>
        </p:nvSpPr>
        <p:spPr>
          <a:xfrm rot="19800000">
            <a:off x="8533912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8421624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+1.2</a:t>
            </a:r>
            <a:endParaRPr lang="en-US" sz="760" dirty="0"/>
          </a:p>
        </p:txBody>
      </p:sp>
      <p:sp>
        <p:nvSpPr>
          <p:cNvPr id="111" name="Shape 109"/>
          <p:cNvSpPr/>
          <p:nvPr/>
        </p:nvSpPr>
        <p:spPr>
          <a:xfrm>
            <a:off x="9070848" y="2240280"/>
            <a:ext cx="475488" cy="713232"/>
          </a:xfrm>
          <a:prstGeom prst="rect">
            <a:avLst/>
          </a:prstGeom>
          <a:solidFill>
            <a:srgbClr val="F3EFF8"/>
          </a:solidFill>
          <a:ln w="12700">
            <a:solidFill>
              <a:srgbClr val="D3C7E3"/>
            </a:solidFill>
            <a:prstDash val="solid"/>
          </a:ln>
        </p:spPr>
        <p:txBody>
          <a:bodyPr/>
          <a:p/>
        </p:txBody>
      </p:sp>
      <p:sp>
        <p:nvSpPr>
          <p:cNvPr id="112" name="Shape 110"/>
          <p:cNvSpPr/>
          <p:nvPr/>
        </p:nvSpPr>
        <p:spPr>
          <a:xfrm>
            <a:off x="9232148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9232148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9280794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15" name="Shape 113"/>
          <p:cNvSpPr/>
          <p:nvPr/>
        </p:nvSpPr>
        <p:spPr>
          <a:xfrm>
            <a:off x="9329440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16" name="Shape 114"/>
          <p:cNvSpPr/>
          <p:nvPr/>
        </p:nvSpPr>
        <p:spPr>
          <a:xfrm>
            <a:off x="9378086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17" name="Shape 115"/>
          <p:cNvSpPr/>
          <p:nvPr/>
        </p:nvSpPr>
        <p:spPr>
          <a:xfrm rot="19800000">
            <a:off x="9155704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18" name="Text 116"/>
          <p:cNvSpPr/>
          <p:nvPr/>
        </p:nvSpPr>
        <p:spPr>
          <a:xfrm>
            <a:off x="9043416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+1.6</a:t>
            </a:r>
            <a:endParaRPr lang="en-US" sz="760" dirty="0"/>
          </a:p>
        </p:txBody>
      </p:sp>
      <p:sp>
        <p:nvSpPr>
          <p:cNvPr id="119" name="Shape 117"/>
          <p:cNvSpPr/>
          <p:nvPr/>
        </p:nvSpPr>
        <p:spPr>
          <a:xfrm>
            <a:off x="9692640" y="2240280"/>
            <a:ext cx="475488" cy="713232"/>
          </a:xfrm>
          <a:prstGeom prst="rect">
            <a:avLst/>
          </a:prstGeom>
          <a:solidFill>
            <a:srgbClr val="F3EFF8"/>
          </a:solidFill>
          <a:ln w="12700">
            <a:solidFill>
              <a:srgbClr val="D3C7E3"/>
            </a:solidFill>
            <a:prstDash val="solid"/>
          </a:ln>
        </p:spPr>
        <p:txBody>
          <a:bodyPr/>
          <a:p/>
        </p:txBody>
      </p:sp>
      <p:sp>
        <p:nvSpPr>
          <p:cNvPr id="120" name="Shape 118"/>
          <p:cNvSpPr/>
          <p:nvPr/>
        </p:nvSpPr>
        <p:spPr>
          <a:xfrm>
            <a:off x="9853940" y="2531974"/>
            <a:ext cx="194584" cy="215433"/>
          </a:xfrm>
          <a:prstGeom prst="roundRect">
            <a:avLst>
              <a:gd name="adj" fmla="val 28196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21" name="Shape 119"/>
          <p:cNvSpPr/>
          <p:nvPr/>
        </p:nvSpPr>
        <p:spPr>
          <a:xfrm>
            <a:off x="9853940" y="2382561"/>
            <a:ext cx="36485" cy="184160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22" name="Shape 120"/>
          <p:cNvSpPr/>
          <p:nvPr/>
        </p:nvSpPr>
        <p:spPr>
          <a:xfrm>
            <a:off x="9902586" y="2347813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23" name="Shape 121"/>
          <p:cNvSpPr/>
          <p:nvPr/>
        </p:nvSpPr>
        <p:spPr>
          <a:xfrm>
            <a:off x="9951232" y="2340864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24" name="Shape 122"/>
          <p:cNvSpPr/>
          <p:nvPr/>
        </p:nvSpPr>
        <p:spPr>
          <a:xfrm>
            <a:off x="9999878" y="2368662"/>
            <a:ext cx="36485" cy="198059"/>
          </a:xfrm>
          <a:prstGeom prst="roundRect">
            <a:avLst>
              <a:gd name="adj" fmla="val 75187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25" name="Shape 123"/>
          <p:cNvSpPr/>
          <p:nvPr/>
        </p:nvSpPr>
        <p:spPr>
          <a:xfrm rot="19800000">
            <a:off x="9777496" y="2559771"/>
            <a:ext cx="114666" cy="48646"/>
          </a:xfrm>
          <a:prstGeom prst="roundRect">
            <a:avLst>
              <a:gd name="adj" fmla="val 56391"/>
            </a:avLst>
          </a:prstGeom>
          <a:solidFill>
            <a:srgbClr val="6C58B8"/>
          </a:solidFill>
          <a:ln w="12700">
            <a:solidFill>
              <a:srgbClr val="6C58B8"/>
            </a:solidFill>
            <a:prstDash val="solid"/>
          </a:ln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9665208" y="3008376"/>
            <a:ext cx="530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</a:t>
            </a:r>
            <a:endParaRPr lang="en-US" sz="760" dirty="0"/>
          </a:p>
        </p:txBody>
      </p:sp>
      <p:sp>
        <p:nvSpPr>
          <p:cNvPr id="127" name="Shape 125"/>
          <p:cNvSpPr/>
          <p:nvPr/>
        </p:nvSpPr>
        <p:spPr>
          <a:xfrm>
            <a:off x="777240" y="3657600"/>
            <a:ext cx="2971800" cy="160020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28" name="Shape 126"/>
          <p:cNvSpPr/>
          <p:nvPr/>
        </p:nvSpPr>
        <p:spPr>
          <a:xfrm>
            <a:off x="777240" y="3657600"/>
            <a:ext cx="297180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832104" y="3707892"/>
            <a:ext cx="2862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입력</a:t>
            </a:r>
            <a:endParaRPr lang="en-US" sz="1450" dirty="0"/>
          </a:p>
        </p:txBody>
      </p:sp>
      <p:sp>
        <p:nvSpPr>
          <p:cNvPr id="130" name="Text 128"/>
          <p:cNvSpPr/>
          <p:nvPr/>
        </p:nvSpPr>
        <p:spPr>
          <a:xfrm>
            <a:off x="905256" y="4133088"/>
            <a:ext cx="271576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A1: RGB 14장</a:t>
            </a:r>
            <a:endParaRPr lang="en-US" sz="118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A2: RGB + kinematics</a:t>
            </a:r>
            <a:endParaRPr lang="en-US" sz="118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A3: RGB + kinematics + healthy reference</a:t>
            </a:r>
            <a:endParaRPr lang="en-US" sz="118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A4: same model, image-ablated</a:t>
            </a:r>
            <a:endParaRPr lang="en-US" sz="1180" dirty="0"/>
          </a:p>
        </p:txBody>
      </p:sp>
      <p:sp>
        <p:nvSpPr>
          <p:cNvPr id="131" name="Shape 129"/>
          <p:cNvSpPr/>
          <p:nvPr/>
        </p:nvSpPr>
        <p:spPr>
          <a:xfrm>
            <a:off x="4069080" y="3657600"/>
            <a:ext cx="3337560" cy="160020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32" name="Shape 130"/>
          <p:cNvSpPr/>
          <p:nvPr/>
        </p:nvSpPr>
        <p:spPr>
          <a:xfrm>
            <a:off x="4069080" y="3657600"/>
            <a:ext cx="333756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33" name="Text 131"/>
          <p:cNvSpPr/>
          <p:nvPr/>
        </p:nvSpPr>
        <p:spPr>
          <a:xfrm>
            <a:off x="4123944" y="3707892"/>
            <a:ext cx="3227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50" dirty="0"/>
          </a:p>
        </p:txBody>
      </p:sp>
      <p:sp>
        <p:nvSpPr>
          <p:cNvPr id="134" name="Text 132"/>
          <p:cNvSpPr/>
          <p:nvPr/>
        </p:nvSpPr>
        <p:spPr>
          <a:xfrm>
            <a:off x="4197096" y="4133088"/>
            <a:ext cx="30815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JSON schema</a:t>
            </a:r>
            <a:endParaRPr lang="en-US" sz="118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Grasp / Hold / Release component</a:t>
            </a:r>
            <a:endParaRPr lang="en-US" sz="118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frame/feature 포함</a:t>
            </a:r>
            <a:endParaRPr lang="en-US" sz="118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0/1/2는 코드로 산출</a:t>
            </a:r>
            <a:endParaRPr lang="en-US" sz="1180" dirty="0"/>
          </a:p>
        </p:txBody>
      </p:sp>
      <p:sp>
        <p:nvSpPr>
          <p:cNvPr id="135" name="Shape 133"/>
          <p:cNvSpPr/>
          <p:nvPr/>
        </p:nvSpPr>
        <p:spPr>
          <a:xfrm>
            <a:off x="7726680" y="3657600"/>
            <a:ext cx="3611880" cy="1600200"/>
          </a:xfrm>
          <a:prstGeom prst="rect">
            <a:avLst/>
          </a:prstGeom>
          <a:solidFill>
            <a:srgbClr val="F5F8FA"/>
          </a:solidFill>
          <a:ln w="12700">
            <a:solidFill>
              <a:srgbClr val="BFCBD6"/>
            </a:solidFill>
            <a:prstDash val="solid"/>
          </a:ln>
        </p:spPr>
        <p:txBody>
          <a:bodyPr/>
          <a:p/>
        </p:txBody>
      </p:sp>
      <p:sp>
        <p:nvSpPr>
          <p:cNvPr id="136" name="Shape 134"/>
          <p:cNvSpPr/>
          <p:nvPr/>
        </p:nvSpPr>
        <p:spPr>
          <a:xfrm>
            <a:off x="7726680" y="3657600"/>
            <a:ext cx="3611880" cy="329184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37" name="Text 135"/>
          <p:cNvSpPr/>
          <p:nvPr/>
        </p:nvSpPr>
        <p:spPr>
          <a:xfrm>
            <a:off x="7781544" y="3707892"/>
            <a:ext cx="3502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실험 규모</a:t>
            </a:r>
            <a:endParaRPr lang="en-US" sz="1450" dirty="0"/>
          </a:p>
        </p:txBody>
      </p:sp>
      <p:sp>
        <p:nvSpPr>
          <p:cNvPr id="138" name="Text 136"/>
          <p:cNvSpPr/>
          <p:nvPr/>
        </p:nvSpPr>
        <p:spPr>
          <a:xfrm>
            <a:off x="7854696" y="4133088"/>
            <a:ext cx="335584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Healthy: 15명 · 양손 · 4과제 × 8회</a:t>
            </a:r>
            <a:endParaRPr lang="en-US" sz="118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Stroke: 15명 · 4과제 × 8회 = 480 trials</a:t>
            </a:r>
            <a:endParaRPr lang="en-US" sz="1180" dirty="0"/>
          </a:p>
          <a:p>
            <a:pPr indent="0" marL="0">
              <a:buNone/>
            </a:pPr>
            <a:r>
              <a:rPr lang="en-US" sz="140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입력 3회 추론 → 1회차 primary</a:t>
            </a:r>
            <a:endParaRPr lang="en-US" sz="1180" dirty="0"/>
          </a:p>
        </p:txBody>
      </p:sp>
      <p:sp>
        <p:nvSpPr>
          <p:cNvPr id="139" name="Text 137"/>
          <p:cNvSpPr/>
          <p:nvPr/>
        </p:nvSpPr>
        <p:spPr>
          <a:xfrm>
            <a:off x="1051560" y="56235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 첫 본시험 이전에 D455 설정 · MediaPipe version · event rule · feature definition · 14-frame rule · prompt · model revision을 freeze.</a:t>
            </a:r>
            <a:endParaRPr lang="en-US" sz="12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82930" y="5212080"/>
            <a:ext cx="2686050" cy="121158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rot="720000">
            <a:off x="468630" y="5029200"/>
            <a:ext cx="1885950" cy="480060"/>
          </a:xfrm>
          <a:prstGeom prst="parallelogram">
            <a:avLst/>
          </a:prstGeom>
          <a:solidFill>
            <a:srgbClr val="71D1E4"/>
          </a:solidFill>
          <a:ln w="12700">
            <a:solidFill>
              <a:srgbClr val="71D1E4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rot="-1080000">
            <a:off x="1760220" y="4389120"/>
            <a:ext cx="1348740" cy="628650"/>
          </a:xfrm>
          <a:prstGeom prst="chevron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rot="-1080000">
            <a:off x="2320290" y="4000500"/>
            <a:ext cx="868680" cy="400050"/>
          </a:xfrm>
          <a:prstGeom prst="chevron">
            <a:avLst/>
          </a:prstGeom>
          <a:solidFill>
            <a:srgbClr val="2DB4D5"/>
          </a:solidFill>
          <a:ln w="12700">
            <a:solidFill>
              <a:srgbClr val="2DB4D5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532120" y="19659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15000" y="2788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주 분석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715000" y="33558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보조 분석 및 해석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715000" y="3922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7A82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예상 해석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주 분석 및 보조 분석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495648" y="804672"/>
            <a:ext cx="32004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68800" y="877824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분석 방법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환자 단위 paired comparison으로 A3와 A1을 비교  |  480 trial을 480명의 독립표본처럼 세지 않음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1920240" cy="1143000"/>
          </a:xfrm>
          <a:prstGeom prst="ellipse">
            <a:avLst/>
          </a:prstGeom>
          <a:solidFill>
            <a:srgbClr val="F1F6F9"/>
          </a:solidFill>
          <a:ln w="12700">
            <a:solidFill>
              <a:srgbClr val="B9C8D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25786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참조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288950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0/1/2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2606040" y="2898648"/>
            <a:ext cx="475488" cy="0"/>
          </a:xfrm>
          <a:prstGeom prst="line">
            <a:avLst/>
          </a:prstGeom>
          <a:noFill/>
          <a:ln w="2794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154680" y="2331720"/>
            <a:ext cx="1920240" cy="1143000"/>
          </a:xfrm>
          <a:prstGeom prst="ellipse">
            <a:avLst/>
          </a:prstGeom>
          <a:solidFill>
            <a:srgbClr val="F1F6F9"/>
          </a:solidFill>
          <a:ln w="12700">
            <a:solidFill>
              <a:srgbClr val="B9C8D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37560" y="25786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조건별 예측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37560" y="288950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A1·A2·A3·A4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5074920" y="2898648"/>
            <a:ext cx="658368" cy="0"/>
          </a:xfrm>
          <a:prstGeom prst="line">
            <a:avLst/>
          </a:prstGeom>
          <a:noFill/>
          <a:ln w="2794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806440" y="2331720"/>
            <a:ext cx="1920240" cy="1143000"/>
          </a:xfrm>
          <a:prstGeom prst="ellipse">
            <a:avLst/>
          </a:prstGeom>
          <a:solidFill>
            <a:srgbClr val="F1F6F9"/>
          </a:solidFill>
          <a:ln w="12700">
            <a:solidFill>
              <a:srgbClr val="B9C8D5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989320" y="25786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MAE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989320" y="288950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F7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4과제 동일가중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7726680" y="2898648"/>
            <a:ext cx="749808" cy="0"/>
          </a:xfrm>
          <a:prstGeom prst="line">
            <a:avLst/>
          </a:prstGeom>
          <a:noFill/>
          <a:ln w="27940">
            <a:solidFill>
              <a:srgbClr val="2DB4D5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549640" y="2331720"/>
            <a:ext cx="1920240" cy="1143000"/>
          </a:xfrm>
          <a:prstGeom prst="ellipse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732520" y="257860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A3 − A1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732520" y="2889504"/>
            <a:ext cx="1554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ΔMAE &lt; 0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822960" y="4114800"/>
            <a:ext cx="5212080" cy="1234440"/>
          </a:xfrm>
          <a:prstGeom prst="rect">
            <a:avLst/>
          </a:prstGeom>
          <a:solidFill>
            <a:srgbClr val="F5F8FA"/>
          </a:solidFill>
          <a:ln w="12700">
            <a:solidFill>
              <a:srgbClr val="C8D3D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97280" y="437083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2057400" y="42976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환자별 A3−A1 MAE 차이  ·  participant-level paired bootstrap 95% CI</a:t>
            </a:r>
            <a:endParaRPr lang="en-US" sz="1240" dirty="0"/>
          </a:p>
        </p:txBody>
      </p:sp>
      <p:sp>
        <p:nvSpPr>
          <p:cNvPr id="30" name="Shape 28"/>
          <p:cNvSpPr/>
          <p:nvPr/>
        </p:nvSpPr>
        <p:spPr>
          <a:xfrm>
            <a:off x="6263640" y="4114800"/>
            <a:ext cx="5074920" cy="1234440"/>
          </a:xfrm>
          <a:prstGeom prst="rect">
            <a:avLst/>
          </a:prstGeom>
          <a:solidFill>
            <a:srgbClr val="F5F8FA"/>
          </a:solidFill>
          <a:ln w="12700">
            <a:solidFill>
              <a:srgbClr val="C8D3D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92240" y="4370832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46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Secondary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680960" y="4206240"/>
            <a:ext cx="3337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Exact agreement · weighted κ · gradable/NA rate · component accuracy · 3-run consistency</a:t>
            </a:r>
            <a:endParaRPr lang="en-US" sz="116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A2−A1 · A3−A2 · A3−A4 · A3−A0</a:t>
            </a:r>
            <a:endParaRPr lang="en-US" sz="1160" dirty="0"/>
          </a:p>
        </p:txBody>
      </p:sp>
      <p:sp>
        <p:nvSpPr>
          <p:cNvPr id="33" name="Text 31"/>
          <p:cNvSpPr/>
          <p:nvPr/>
        </p:nvSpPr>
        <p:spPr>
          <a:xfrm>
            <a:off x="1508760" y="5614416"/>
            <a:ext cx="9098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ΔMAEᵢ = MAEᵢ(A3) − MAEᵢ(A1)   →   음수이면 A3가 전문가 reference에 더 가까움</a:t>
            </a:r>
            <a:endParaRPr lang="en-US" sz="13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결과 해석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175608" y="804672"/>
            <a:ext cx="384048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48760" y="8778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예상 결과 해석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13232" y="1344168"/>
            <a:ext cx="10716768" cy="3566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1408176"/>
            <a:ext cx="10387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결과만 찾는 것이 아니라, VLM이 실제로 필요했는지까지 검증</a:t>
            </a:r>
            <a:endParaRPr lang="en-US" sz="1380" dirty="0"/>
          </a:p>
        </p:txBody>
      </p:sp>
      <p:sp>
        <p:nvSpPr>
          <p:cNvPr id="12" name="Shape 10"/>
          <p:cNvSpPr/>
          <p:nvPr/>
        </p:nvSpPr>
        <p:spPr>
          <a:xfrm>
            <a:off x="822960" y="1828800"/>
            <a:ext cx="10561320" cy="749808"/>
          </a:xfrm>
          <a:prstGeom prst="rect">
            <a:avLst/>
          </a:prstGeom>
          <a:solidFill>
            <a:srgbClr val="EFF8F3"/>
          </a:solidFill>
          <a:ln w="12700">
            <a:solidFill>
              <a:srgbClr val="D3DBE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051560" y="2011680"/>
            <a:ext cx="1325880" cy="384048"/>
          </a:xfrm>
          <a:prstGeom prst="rect">
            <a:avLst/>
          </a:prstGeom>
          <a:solidFill>
            <a:srgbClr val="2C8A5E"/>
          </a:solidFill>
          <a:ln w="12700">
            <a:solidFill>
              <a:srgbClr val="2C8A5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211226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&lt; A1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97480" y="202996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8A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운동학·참조 context가 도움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5303520" y="200253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영상-only VLM보다 전문가 판단에 가까워짐</a:t>
            </a:r>
            <a:endParaRPr lang="en-US" sz="1240" dirty="0"/>
          </a:p>
        </p:txBody>
      </p:sp>
      <p:sp>
        <p:nvSpPr>
          <p:cNvPr id="17" name="Shape 15"/>
          <p:cNvSpPr/>
          <p:nvPr/>
        </p:nvSpPr>
        <p:spPr>
          <a:xfrm>
            <a:off x="822960" y="2788920"/>
            <a:ext cx="10561320" cy="749808"/>
          </a:xfrm>
          <a:prstGeom prst="rect">
            <a:avLst/>
          </a:prstGeom>
          <a:solidFill>
            <a:srgbClr val="F5F7F9"/>
          </a:solidFill>
          <a:ln w="12700">
            <a:solidFill>
              <a:srgbClr val="D3DBE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51560" y="2971800"/>
            <a:ext cx="1325880" cy="384048"/>
          </a:xfrm>
          <a:prstGeom prst="rect">
            <a:avLst/>
          </a:prstGeom>
          <a:solidFill>
            <a:srgbClr val="5F6771"/>
          </a:solidFill>
          <a:ln w="12700">
            <a:solidFill>
              <a:srgbClr val="5F677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15568" y="307238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≈ A1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697480" y="299008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context 이득 제한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5303520" y="296265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숫자를 더 주는 것 자체가 성능을 보장하지 않음</a:t>
            </a:r>
            <a:endParaRPr lang="en-US" sz="1240" dirty="0"/>
          </a:p>
        </p:txBody>
      </p:sp>
      <p:sp>
        <p:nvSpPr>
          <p:cNvPr id="22" name="Shape 20"/>
          <p:cNvSpPr/>
          <p:nvPr/>
        </p:nvSpPr>
        <p:spPr>
          <a:xfrm>
            <a:off x="822960" y="3749040"/>
            <a:ext cx="10561320" cy="749808"/>
          </a:xfrm>
          <a:prstGeom prst="rect">
            <a:avLst/>
          </a:prstGeom>
          <a:solidFill>
            <a:srgbClr val="FBF7E9"/>
          </a:solidFill>
          <a:ln w="12700">
            <a:solidFill>
              <a:srgbClr val="D3DBE2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051560" y="3931920"/>
            <a:ext cx="1325880" cy="384048"/>
          </a:xfrm>
          <a:prstGeom prst="rect">
            <a:avLst/>
          </a:prstGeom>
          <a:solidFill>
            <a:srgbClr val="E5912B"/>
          </a:solidFill>
          <a:ln w="12700">
            <a:solidFill>
              <a:srgbClr val="E5912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115568" y="403250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≈ A0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697480" y="39502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9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 scoring 추가가치 제한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5303520" y="392277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수치 모델만으로 비슷한 성능 가능</a:t>
            </a:r>
            <a:endParaRPr lang="en-US" sz="1240" dirty="0"/>
          </a:p>
        </p:txBody>
      </p:sp>
      <p:sp>
        <p:nvSpPr>
          <p:cNvPr id="27" name="Shape 25"/>
          <p:cNvSpPr/>
          <p:nvPr/>
        </p:nvSpPr>
        <p:spPr>
          <a:xfrm>
            <a:off x="822960" y="4709160"/>
            <a:ext cx="10561320" cy="749808"/>
          </a:xfrm>
          <a:prstGeom prst="rect">
            <a:avLst/>
          </a:prstGeom>
          <a:solidFill>
            <a:srgbClr val="FBF0EF"/>
          </a:solidFill>
          <a:ln w="12700">
            <a:solidFill>
              <a:srgbClr val="D3DBE2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51560" y="4892040"/>
            <a:ext cx="1325880" cy="384048"/>
          </a:xfrm>
          <a:prstGeom prst="rect">
            <a:avLst/>
          </a:prstGeom>
          <a:solidFill>
            <a:srgbClr val="E1473F"/>
          </a:solidFill>
          <a:ln w="12700">
            <a:solidFill>
              <a:srgbClr val="E1473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15568" y="4992624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&gt; A1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697480" y="491032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추가가 오히려 방해</a:t>
            </a:r>
            <a:endParaRPr lang="en-US" sz="1380" dirty="0"/>
          </a:p>
        </p:txBody>
      </p:sp>
      <p:sp>
        <p:nvSpPr>
          <p:cNvPr id="31" name="Text 29"/>
          <p:cNvSpPr/>
          <p:nvPr/>
        </p:nvSpPr>
        <p:spPr>
          <a:xfrm>
            <a:off x="5303520" y="4882896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VLM이 threshold를 임의 생성하거나 수치를 잘못 해석했을 가능성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1965960" y="5715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기여: “영상 + 수치 + 건강정보”의 적절성 자체를 동일 시행의 ablation으로 검증한다.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IV. 분석 방법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최종 연구 정의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267048" y="804672"/>
            <a:ext cx="36576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40200" y="87782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최종 연구 정의 ]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1463040"/>
            <a:ext cx="10652760" cy="804672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1700784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범용 VLM의 fine hand-motion 판단을 외부에서 검증한 RGB-D 운동학 정보가 실제로 보완하는지를, 독립 전문가 참조평가와의 일치도로 검증한다.</a:t>
            </a:r>
            <a:endParaRPr lang="en-US" sz="162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2011680" cy="2011680"/>
          </a:xfrm>
          <a:prstGeom prst="rect">
            <a:avLst/>
          </a:prstGeom>
          <a:solidFill>
            <a:srgbClr val="EFF5F8"/>
          </a:solidFill>
          <a:ln w="12700">
            <a:solidFill>
              <a:srgbClr val="C4D1D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40080" y="2788920"/>
            <a:ext cx="2011680" cy="347472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13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평가대상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" y="3456432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표준화된 손 기능 과제 수행</a:t>
            </a:r>
            <a:endParaRPr lang="en-US" sz="116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(FMA 자동채점 아님)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2926080" y="2788920"/>
            <a:ext cx="2011680" cy="2011680"/>
          </a:xfrm>
          <a:prstGeom prst="rect">
            <a:avLst/>
          </a:prstGeom>
          <a:solidFill>
            <a:srgbClr val="EFF7F7"/>
          </a:solidFill>
          <a:ln w="12700">
            <a:solidFill>
              <a:srgbClr val="C4D1D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926080" y="2788920"/>
            <a:ext cx="2011680" cy="347472"/>
          </a:xfrm>
          <a:prstGeom prst="rect">
            <a:avLst/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999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Task phase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054096" y="3456432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Object: Grasp → Hold → Release</a:t>
            </a:r>
            <a:endParaRPr lang="en-US" sz="116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Bare-hand: 별도 rubric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5212080" y="2788920"/>
            <a:ext cx="2011680" cy="2011680"/>
          </a:xfrm>
          <a:prstGeom prst="rect">
            <a:avLst/>
          </a:prstGeom>
          <a:solidFill>
            <a:srgbClr val="EFF5F8"/>
          </a:solidFill>
          <a:ln w="12700">
            <a:solidFill>
              <a:srgbClr val="C4D1D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212080" y="2788920"/>
            <a:ext cx="2011680" cy="347472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285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수치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0096" y="3456432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MGA · TMGA</a:t>
            </a:r>
            <a:endParaRPr lang="en-US" sz="116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phase-specific descriptors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7498080" y="2788920"/>
            <a:ext cx="2011680" cy="2011680"/>
          </a:xfrm>
          <a:prstGeom prst="rect">
            <a:avLst/>
          </a:prstGeom>
          <a:solidFill>
            <a:srgbClr val="EFF7F7"/>
          </a:solidFill>
          <a:ln w="12700">
            <a:solidFill>
              <a:srgbClr val="C4D1D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498080" y="2788920"/>
            <a:ext cx="2011680" cy="347472"/>
          </a:xfrm>
          <a:prstGeom prst="rect">
            <a:avLst/>
          </a:prstGeom>
          <a:solidFill>
            <a:srgbClr val="1C9E95"/>
          </a:solidFill>
          <a:ln w="12700">
            <a:solidFill>
              <a:srgbClr val="1C9E9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571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26096" y="3456432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2인 독립·블라인드 전문가</a:t>
            </a:r>
            <a:endParaRPr lang="en-US" sz="116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Expert reference standard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9784080" y="2788920"/>
            <a:ext cx="2011680" cy="2011680"/>
          </a:xfrm>
          <a:prstGeom prst="rect">
            <a:avLst/>
          </a:prstGeom>
          <a:solidFill>
            <a:srgbClr val="EFF5F8"/>
          </a:solidFill>
          <a:ln w="12700">
            <a:solidFill>
              <a:srgbClr val="C4D1D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784080" y="2788920"/>
            <a:ext cx="2011680" cy="347472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9857232" y="286207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Primary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912096" y="3456432"/>
            <a:ext cx="17556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A3 − A1</a:t>
            </a:r>
            <a:endParaRPr lang="en-US" sz="116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참가자 수준 ΔMAE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1051560" y="5413248"/>
            <a:ext cx="10104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147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 pilot에서 조정 가능한 것은 measurement window·filter·opening feature 같은 기술 세부사항이며, 연구질문과 비교구조는 유지.</a:t>
            </a:r>
            <a:endParaRPr lang="en-US" sz="12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 참고문헌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핵심 참고문헌 (1/2)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267048" y="804672"/>
            <a:ext cx="36576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40200" y="87782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핵심 참고문헌 ]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Li et al. (2026). Vision-language models for human motion understanding: Lessons from stroke rehabilitation. PLOS Digital Health. https://doi.org/10.1371/journal.pdig.0001506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Amprimo et al. (2024). Hand tracking for clinical applications: Validation of the Google MediaPipe Hand (GMH) and depth-enhanced GMH-D frameworks. Biomedical Signal Processing and Control, 96, 106508. https://doi.org/10.1016/j.bspc.2024.106508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77240" y="3008376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Qiu et al. (2022). Evaluation of Changes in Kinematic Measures of Three Dimensional Reach to Grasp Movements in the Early Subacute Period of Recovery from Stroke. IEEE EMBC. https://doi.org/10.1109/EMBC48229.2022.9871891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777240" y="3758184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Collins et al. (2018). Getting a kinematic handle on reach-to-grasp: A meta-analysis. Physiotherapy, 104(2), 153–166. https://doi.org/10.1016/j.physio.2017.10.002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777240" y="4507992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Lang et al. (2005). Deficits in grasp versus reach during acute hemiparesis. Experimental Brain Research, 166(1), 126–136. https://doi.org/10.1007/s00221-005-2350-6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Schaefer et al. (2012). Grip type and task goal modify reach-to-grasp performance in post-stroke hemiparesis. Motor Control, 16(2), 245–264. https://doi.org/10.1123/mcj.16.2.245</a:t>
            </a:r>
            <a:endParaRPr lang="en-US" sz="10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6519672"/>
            <a:ext cx="11292840" cy="0"/>
          </a:xfrm>
          <a:prstGeom prst="line">
            <a:avLst/>
          </a:prstGeom>
          <a:noFill/>
          <a:ln w="12700">
            <a:solidFill>
              <a:srgbClr val="D9DEE5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9372600" y="6565392"/>
            <a:ext cx="2240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2026.09 | RGB-D·VLM 손 기능 평가 연구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0469880" y="20116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939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Human Robotics Lab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237744"/>
            <a:ext cx="2103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7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V. 참고문헌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897880" y="656539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02920" y="50292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B4D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핵심 참고문헌 (2/2)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4267048" y="804672"/>
            <a:ext cx="3657600" cy="384048"/>
          </a:xfrm>
          <a:prstGeom prst="rect">
            <a:avLst/>
          </a:prstGeom>
          <a:solidFill>
            <a:srgbClr val="23467B"/>
          </a:solidFill>
          <a:ln w="12700">
            <a:solidFill>
              <a:srgbClr val="23467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40200" y="877824"/>
            <a:ext cx="3511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핵심 참고문헌 ]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1508760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Seo et al. (2009). Delays in Grip Initiation and Termination in Persons With Stroke: Effects of Arm Support and Active Muscle Stretch Exercise. Journal of Neurophysiology, 101(6), 3108–3115. https://doi.org/10.1152/jn.91108.2008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777240" y="2258568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Lang, DeJong, &amp; Beebe (2009). Recovery of Thumb and Finger Extension and Its Relation to Grasp Performance After Stroke. Journal of Neurophysiology, 102(1), 451–459. https://doi.org/10.1152/jn.91310.2008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777240" y="3008376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Zhu et al. (2018). Characterization of the Stroke-Induced Changes in the Variability and Complexity of Handgrip Force. Entropy, 20(5), 377. https://doi.org/10.3390/e20050377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777240" y="3758184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Tang et al. (2025). Rehabilitation Exercise Quality Assessment and Feedback Generation Using Large Language Models with Prompt Engineering. ARIAL 2025 / IJCAI 2025 Workshop. https://doi.org/10.1007/978-981-95-0568-5_5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777240" y="4507992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Kim et al. (2024). Automatic Assessment of Upper Extremity Function and Mobile Application for Self-Administered Stroke Rehabilitation. IEEE TNSRE, 32, 652–661. https://doi.org/10.1109/TNSRE.2024.3358497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10652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83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Patterson et al. (2011). Reliability of Upper Extremity Kinematics While Performing Different Tasks in Individuals With Stroke. Journal of Motor Behavior, 43(2), 121–130. https://doi.org/10.1080/00222895.2010.548422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Human Robotics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RGB-D 운동학 정보를 활용한 VLM 기반 손 기능 평가</dc:title>
  <dc:subject>RGB-D + VLM stroke hand function research proposal</dc:subject>
  <dc:creator>OpenAI</dc:creator>
  <cp:lastModifiedBy>OpenAI</cp:lastModifiedBy>
  <cp:revision>1</cp:revision>
  <dcterms:created xsi:type="dcterms:W3CDTF">2026-09-09T12:34:17Z</dcterms:created>
  <dcterms:modified xsi:type="dcterms:W3CDTF">2026-09-09T12:34:17Z</dcterms:modified>
</cp:coreProperties>
</file>