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1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555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85800" y="12344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[연구계획 발표]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08760" y="2057400"/>
            <a:ext cx="50292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기반 손 운동학 정보와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VLM을 활용한 손 파지 자동평가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3429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Kinematics-Augmented Vision-Language Assessment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28800" y="4678532"/>
            <a:ext cx="4389120" cy="871876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한동대학교</a:t>
            </a: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기계제어공학</a:t>
            </a:r>
            <a:endParaRPr lang="en-US" sz="16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22000561 이재용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137160" y="5166360"/>
            <a:ext cx="2011680" cy="1325880"/>
          </a:xfrm>
          <a:prstGeom prst="triangle">
            <a:avLst/>
          </a:prstGeom>
          <a:solidFill>
            <a:srgbClr val="263A63"/>
          </a:solidFill>
          <a:ln w="12700">
            <a:solidFill>
              <a:srgbClr val="263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 rot="-1500000">
            <a:off x="2834640" y="3383280"/>
            <a:ext cx="749808" cy="566928"/>
          </a:xfrm>
          <a:prstGeom prst="triangle">
            <a:avLst/>
          </a:prstGeom>
          <a:solidFill>
            <a:srgbClr val="263A63"/>
          </a:solidFill>
          <a:ln w="12700">
            <a:solidFill>
              <a:srgbClr val="263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974976" y="2317427"/>
            <a:ext cx="616332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</a:t>
            </a:r>
            <a:r>
              <a:rPr lang="en-US" sz="4800" b="1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r>
              <a:rPr lang="en-US" sz="480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4800" b="1" dirty="0" err="1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206378" y="2971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VLM의 한계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제안 개념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63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97880" y="6492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9224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235440" y="6565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2026.09.08 | Human Robotics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 및 필요성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7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영상 VLM의 한계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18320" y="118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63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530352"/>
            <a:ext cx="4023360" cy="57607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[연구의 배경]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114300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영상만으로는 </a:t>
            </a:r>
            <a:r>
              <a:rPr lang="en-US" sz="188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 미세운동</a:t>
            </a: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en-US" sz="188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정보</a:t>
            </a: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판단이 불안정함</a:t>
            </a:r>
            <a:endParaRPr lang="en-US" sz="188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5394960" cy="114300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57784" y="2057400"/>
            <a:ext cx="2011680" cy="438912"/>
          </a:xfrm>
          <a:prstGeom prst="rect">
            <a:avLst/>
          </a:prstGeom>
          <a:solidFill>
            <a:srgbClr val="071D3D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VLM의 한계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12648" y="2660904"/>
            <a:ext cx="498348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고수준 동작은 인식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손가락 접촉·해제는 불안정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장애 정도 정량화 한계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172200" y="2514600"/>
            <a:ext cx="5577840" cy="114300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318504" y="2057400"/>
            <a:ext cx="2377440" cy="43891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운동학 필요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373368" y="2660904"/>
            <a:ext cx="51663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MGA · TMGA · 해제 궤적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2D 좌표는 실제 거리 아님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RGB-D 검증값을 함께 제공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5216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FC4766D-3549-2CC6-C1B2-DA5EBF6B9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25" y="3675888"/>
            <a:ext cx="5546235" cy="265176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6536C7C-A1B9-99EA-596C-92D27D3B9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8504" y="3784896"/>
            <a:ext cx="5399930" cy="2438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9224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235440" y="6565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2026.09.08 | Human Robotics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 및 필요성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7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제안 개념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18320" y="118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63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530352"/>
            <a:ext cx="4023360" cy="57607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[제안 개념]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1179575"/>
            <a:ext cx="114300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VLM의 약한 fine-motion perception을 </a:t>
            </a:r>
            <a:r>
              <a:rPr lang="en-US" sz="188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RGB-D 운동학</a:t>
            </a: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보완</a:t>
            </a:r>
            <a:endParaRPr lang="en-US" sz="188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2B3F2E8-80B7-AE2D-2A61-747494362A10}"/>
              </a:ext>
            </a:extLst>
          </p:cNvPr>
          <p:cNvGrpSpPr/>
          <p:nvPr/>
        </p:nvGrpSpPr>
        <p:grpSpPr>
          <a:xfrm>
            <a:off x="786561" y="5541265"/>
            <a:ext cx="10332720" cy="914400"/>
            <a:chOff x="914400" y="4160520"/>
            <a:chExt cx="10332720" cy="914400"/>
          </a:xfrm>
        </p:grpSpPr>
        <p:sp>
          <p:nvSpPr>
            <p:cNvPr id="17" name="Text 15"/>
            <p:cNvSpPr/>
            <p:nvPr/>
          </p:nvSpPr>
          <p:spPr>
            <a:xfrm>
              <a:off x="914400" y="4160520"/>
              <a:ext cx="1920240" cy="384048"/>
            </a:xfrm>
            <a:prstGeom prst="rect">
              <a:avLst/>
            </a:prstGeom>
            <a:solidFill>
              <a:srgbClr val="071D3D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핵심 연구 질문</a:t>
              </a:r>
              <a:endParaRPr lang="en-US" sz="15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2834640" y="4160520"/>
              <a:ext cx="8412480" cy="9144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B2551"/>
              </a:solidFill>
            </a:ln>
          </p:spPr>
          <p:txBody>
            <a:bodyPr wrap="square" lIns="762" tIns="762" rIns="762" bIns="762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11111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수치와 건강인 참조를 함께 제공하면</a:t>
              </a:r>
              <a:endParaRPr lang="en-US" sz="2100" dirty="0"/>
            </a:p>
            <a:p>
              <a:pPr marL="0" indent="0" algn="ctr">
                <a:buNone/>
              </a:pPr>
              <a:r>
                <a:rPr lang="en-US" sz="2100" b="1" dirty="0">
                  <a:solidFill>
                    <a:srgbClr val="11111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VLM 판단은 전문가 평가에 더 </a:t>
              </a:r>
              <a:r>
                <a:rPr lang="en-US" sz="2100" b="1" dirty="0" err="1">
                  <a:solidFill>
                    <a:srgbClr val="11111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가까</a:t>
              </a:r>
              <a:r>
                <a:rPr lang="ko-KR" altLang="en-US" sz="2100" b="1" dirty="0">
                  <a:solidFill>
                    <a:srgbClr val="11111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워</a:t>
              </a:r>
              <a:r>
                <a:rPr lang="en-US" sz="2100" b="1" dirty="0" err="1">
                  <a:solidFill>
                    <a:srgbClr val="11111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지는가</a:t>
              </a:r>
              <a:r>
                <a:rPr lang="en-US" sz="2100" b="1" dirty="0">
                  <a:solidFill>
                    <a:srgbClr val="111111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?</a:t>
              </a:r>
              <a:endParaRPr lang="en-US" sz="210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585216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40E32AA8-B817-06A0-ADAC-85E0284F0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4272" y="1755646"/>
            <a:ext cx="7661615" cy="344729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CD27B51-52CB-8E66-DA63-3F56F4BEEAD4}"/>
              </a:ext>
            </a:extLst>
          </p:cNvPr>
          <p:cNvSpPr txBox="1"/>
          <p:nvPr/>
        </p:nvSpPr>
        <p:spPr>
          <a:xfrm>
            <a:off x="3686452" y="514706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i="1" dirty="0" err="1"/>
              <a:t>Adapted</a:t>
            </a:r>
            <a:r>
              <a:rPr lang="ko-KR" altLang="ko-KR" i="1" dirty="0"/>
              <a:t> </a:t>
            </a:r>
            <a:r>
              <a:rPr lang="ko-KR" altLang="ko-KR" i="1" dirty="0" err="1"/>
              <a:t>from</a:t>
            </a:r>
            <a:r>
              <a:rPr lang="ko-KR" altLang="ko-KR" i="1" dirty="0"/>
              <a:t> </a:t>
            </a:r>
            <a:r>
              <a:rPr lang="ko-KR" altLang="ko-KR" i="1" dirty="0" err="1"/>
              <a:t>Li</a:t>
            </a:r>
            <a:r>
              <a:rPr lang="ko-KR" altLang="ko-KR" i="1" dirty="0"/>
              <a:t> </a:t>
            </a:r>
            <a:r>
              <a:rPr lang="ko-KR" altLang="ko-KR" i="1" dirty="0" err="1"/>
              <a:t>et</a:t>
            </a:r>
            <a:r>
              <a:rPr lang="ko-KR" altLang="ko-KR" i="1" dirty="0"/>
              <a:t> </a:t>
            </a:r>
            <a:r>
              <a:rPr lang="ko-KR" altLang="ko-KR" i="1" dirty="0" err="1"/>
              <a:t>al</a:t>
            </a:r>
            <a:r>
              <a:rPr lang="ko-KR" altLang="ko-KR" i="1" dirty="0"/>
              <a:t>. (2026), PLOS Digital Health.</a:t>
            </a:r>
            <a:endParaRPr lang="ko-KR" altLang="ko-K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137160" y="5166360"/>
            <a:ext cx="2011680" cy="1325880"/>
          </a:xfrm>
          <a:prstGeom prst="triangle">
            <a:avLst/>
          </a:prstGeom>
          <a:solidFill>
            <a:srgbClr val="263A63"/>
          </a:solidFill>
          <a:ln w="12700">
            <a:solidFill>
              <a:srgbClr val="263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 rot="-1500000">
            <a:off x="2834640" y="3383280"/>
            <a:ext cx="749808" cy="566928"/>
          </a:xfrm>
          <a:prstGeom prst="triangle">
            <a:avLst/>
          </a:prstGeom>
          <a:solidFill>
            <a:srgbClr val="263A63"/>
          </a:solidFill>
          <a:ln w="12700">
            <a:solidFill>
              <a:srgbClr val="263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072630" y="2442069"/>
            <a:ext cx="577270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510112" y="309005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모델 비교 조건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3단계 연구 절차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63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97880" y="6492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9224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235440" y="6565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2026.09.08 | Human Robotics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7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모델 비교 조건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18320" y="118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63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530352"/>
            <a:ext cx="4023360" cy="57607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[연구 가설]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114300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A1~A4 ablation과 A0 baseline으로 </a:t>
            </a:r>
            <a:r>
              <a:rPr lang="en-US" sz="188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정보의 기여도</a:t>
            </a: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분리 검증</a:t>
            </a:r>
            <a:endParaRPr lang="en-US" sz="1880" dirty="0"/>
          </a:p>
        </p:txBody>
      </p:sp>
      <p:sp>
        <p:nvSpPr>
          <p:cNvPr id="9" name="Text 7"/>
          <p:cNvSpPr/>
          <p:nvPr/>
        </p:nvSpPr>
        <p:spPr>
          <a:xfrm>
            <a:off x="411480" y="2148840"/>
            <a:ext cx="2148840" cy="438912"/>
          </a:xfrm>
          <a:prstGeom prst="rect">
            <a:avLst/>
          </a:prstGeom>
          <a:solidFill>
            <a:srgbClr val="071D3D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11480" y="2606040"/>
            <a:ext cx="2148840" cy="777240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단독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14장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61488" y="2148840"/>
            <a:ext cx="2148840" cy="438912"/>
          </a:xfrm>
          <a:prstGeom prst="rect">
            <a:avLst/>
          </a:prstGeom>
          <a:solidFill>
            <a:srgbClr val="006BA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2761488" y="2606040"/>
            <a:ext cx="2148840" cy="777240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+ 수치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MGA/TMGA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11496" y="2148840"/>
            <a:ext cx="2148840" cy="438912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111496" y="2606040"/>
            <a:ext cx="2148840" cy="777240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+ 수치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</a:t>
            </a:r>
            <a:r>
              <a:rPr lang="ko-KR" altLang="en-US" sz="1600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비환자</a:t>
            </a: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참조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61504" y="2148840"/>
            <a:ext cx="2148840" cy="43891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461504" y="2606040"/>
            <a:ext cx="2148840" cy="777240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+ 참조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제외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11512" y="2148840"/>
            <a:ext cx="2148840" cy="438912"/>
          </a:xfrm>
          <a:prstGeom prst="rect">
            <a:avLst/>
          </a:prstGeom>
          <a:solidFill>
            <a:srgbClr val="66666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811512" y="2606040"/>
            <a:ext cx="2148840" cy="777240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모델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Ordinal LR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5257800" cy="96012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86384" y="3931920"/>
            <a:ext cx="1463040" cy="438912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비교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41248" y="4535424"/>
            <a:ext cx="48463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A3 − A1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전문가 평가 MAE 감소 여부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309360" y="4389120"/>
            <a:ext cx="5257800" cy="96012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55664" y="3931920"/>
            <a:ext cx="1645920" cy="438912"/>
          </a:xfrm>
          <a:prstGeom prst="rect">
            <a:avLst/>
          </a:prstGeom>
          <a:solidFill>
            <a:srgbClr val="071D3D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비교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510528" y="4535424"/>
            <a:ext cx="484632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A3−A4: 영상의 가치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A3−A0: VLM 필요성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85216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9224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235440" y="6565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2026.09.08 | Human Robotics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7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전체 연구 절차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18320" y="118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63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530352"/>
            <a:ext cx="4023360" cy="57607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[연구 설계]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114300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검증 → </a:t>
            </a:r>
            <a:r>
              <a:rPr lang="ko-KR" altLang="en-US" sz="1880" b="1" dirty="0" err="1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비환자</a:t>
            </a: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참조 → 환자 독립 검증을 </a:t>
            </a:r>
            <a:r>
              <a:rPr lang="en-US" sz="188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</a:t>
            </a: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</a:t>
            </a:r>
            <a:endParaRPr lang="en-US" sz="188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3200400" cy="438912"/>
          </a:xfrm>
          <a:prstGeom prst="rect">
            <a:avLst/>
          </a:prstGeom>
          <a:solidFill>
            <a:srgbClr val="071D3D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 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94360" y="5559552"/>
            <a:ext cx="3200400" cy="859536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600" b="1" dirty="0"/>
              <a:t>개발</a:t>
            </a:r>
            <a:r>
              <a:rPr lang="en-US" altLang="ko-KR" sz="1600" b="1" dirty="0"/>
              <a:t>·</a:t>
            </a:r>
            <a:r>
              <a:rPr lang="ko-KR" altLang="en-US" sz="1600" b="1" dirty="0"/>
              <a:t>벤치</a:t>
            </a:r>
          </a:p>
          <a:p>
            <a:pPr marL="0" indent="0" algn="ctr">
              <a:buNone/>
            </a:pPr>
            <a:r>
              <a:rPr lang="ko-KR" altLang="en-US" sz="1600" b="1" dirty="0" err="1"/>
              <a:t>비환자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4</a:t>
            </a:r>
            <a:r>
              <a:rPr lang="ko-KR" altLang="en-US" sz="1600" b="1" dirty="0"/>
              <a:t>명</a:t>
            </a:r>
          </a:p>
          <a:p>
            <a:pPr marL="0" indent="0" algn="ctr">
              <a:buNone/>
            </a:pPr>
            <a:r>
              <a:rPr lang="ko-KR" altLang="en-US" sz="1600" b="1" dirty="0"/>
              <a:t>최종 분석 제외</a:t>
            </a:r>
          </a:p>
          <a:p>
            <a:pPr marL="0" indent="0" algn="ctr">
              <a:buNone/>
            </a:pPr>
            <a:endParaRPr lang="en-US" sz="600" b="1" dirty="0"/>
          </a:p>
        </p:txBody>
      </p:sp>
      <p:sp>
        <p:nvSpPr>
          <p:cNvPr id="11" name="Text 9"/>
          <p:cNvSpPr/>
          <p:nvPr/>
        </p:nvSpPr>
        <p:spPr>
          <a:xfrm>
            <a:off x="4480560" y="2148840"/>
            <a:ext cx="3200400" cy="438912"/>
          </a:xfrm>
          <a:prstGeom prst="rect">
            <a:avLst/>
          </a:prstGeom>
          <a:solidFill>
            <a:srgbClr val="006BA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 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480560" y="5559552"/>
            <a:ext cx="3200400" cy="859536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altLang="ko-KR" b="1" dirty="0" err="1"/>
              <a:t>환자</a:t>
            </a:r>
            <a:r>
              <a:rPr lang="en-US" altLang="ko-KR" b="1" dirty="0"/>
              <a:t> </a:t>
            </a:r>
            <a:r>
              <a:rPr lang="en-US" altLang="ko-KR" b="1" dirty="0" err="1"/>
              <a:t>검증</a:t>
            </a:r>
            <a:endParaRPr lang="ko-KR" altLang="ko-KR" sz="1600" b="1" dirty="0"/>
          </a:p>
          <a:p>
            <a:pPr algn="ctr"/>
            <a:r>
              <a:rPr lang="en-US" altLang="ko-KR" b="1" dirty="0" err="1"/>
              <a:t>편마비</a:t>
            </a:r>
            <a:r>
              <a:rPr lang="en-US" altLang="ko-KR" b="1" dirty="0"/>
              <a:t> 15명</a:t>
            </a:r>
            <a:endParaRPr lang="ko-KR" altLang="ko-KR" sz="1600" b="1" dirty="0"/>
          </a:p>
          <a:p>
            <a:pPr marL="0" indent="0" algn="ctr">
              <a:buNone/>
            </a:pPr>
            <a:endParaRPr lang="en-US" sz="16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66760" y="2148840"/>
            <a:ext cx="3200400" cy="438912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 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366760" y="5559552"/>
            <a:ext cx="3200400" cy="859536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/>
            <a:r>
              <a:rPr lang="en-US" altLang="ko-KR" b="1" dirty="0" err="1"/>
              <a:t>환자</a:t>
            </a:r>
            <a:r>
              <a:rPr lang="en-US" altLang="ko-KR" b="1" dirty="0"/>
              <a:t> </a:t>
            </a:r>
            <a:r>
              <a:rPr lang="en-US" altLang="ko-KR" b="1" dirty="0" err="1"/>
              <a:t>검증</a:t>
            </a:r>
            <a:endParaRPr lang="ko-KR" altLang="ko-KR" sz="1600" b="1" dirty="0"/>
          </a:p>
          <a:p>
            <a:pPr algn="ctr"/>
            <a:r>
              <a:rPr lang="en-US" altLang="ko-KR" b="1" dirty="0" err="1"/>
              <a:t>편마비</a:t>
            </a:r>
            <a:r>
              <a:rPr lang="en-US" altLang="ko-KR" b="1" dirty="0"/>
              <a:t> 15명</a:t>
            </a:r>
            <a:endParaRPr lang="ko-KR" altLang="ko-KR" sz="1600" b="1" dirty="0"/>
          </a:p>
          <a:p>
            <a:pPr marL="0" indent="0" algn="ctr">
              <a:buNone/>
            </a:pPr>
            <a:endParaRPr lang="en-US" sz="1600" b="1" dirty="0">
              <a:solidFill>
                <a:srgbClr val="111111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886200" y="4329683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818120" y="4329683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85216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0E902713-7405-E33E-84A4-E5CC0F738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06624"/>
            <a:ext cx="3200400" cy="2678281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F4EBE7A7-2CDB-58F3-E706-CBC6E39B4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660904"/>
            <a:ext cx="3200400" cy="2724001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2EDC5CFA-0A9E-1E48-3657-58819455D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2710238"/>
            <a:ext cx="3200400" cy="26746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137160" y="5166360"/>
            <a:ext cx="2011680" cy="1325880"/>
          </a:xfrm>
          <a:prstGeom prst="triangle">
            <a:avLst/>
          </a:prstGeom>
          <a:solidFill>
            <a:srgbClr val="263A63"/>
          </a:solidFill>
          <a:ln w="12700">
            <a:solidFill>
              <a:srgbClr val="263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 rot="-1500000">
            <a:off x="2834640" y="3383280"/>
            <a:ext cx="749808" cy="566928"/>
          </a:xfrm>
          <a:prstGeom prst="triangle">
            <a:avLst/>
          </a:prstGeom>
          <a:solidFill>
            <a:srgbClr val="263A63"/>
          </a:solidFill>
          <a:ln w="12700">
            <a:solidFill>
              <a:srgbClr val="263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251960" y="2450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906244" y="3251397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파지 평가 과제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RGB-D 측정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VLM 입력/정답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63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97880" y="6492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9224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235440" y="6565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2026.09.08 | Human Robotics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7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파지 평가 과제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18320" y="118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63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530352"/>
            <a:ext cx="4023360" cy="57607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[실험 프로토콜]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114300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들기 없이 </a:t>
            </a:r>
            <a:r>
              <a:rPr lang="en-US" sz="188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파지 형성–유지–능동 해제</a:t>
            </a: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평가</a:t>
            </a:r>
            <a:endParaRPr lang="en-US" sz="188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2286000" cy="43891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원통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02920" y="2542032"/>
            <a:ext cx="2286000" cy="594360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5cm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높이 10cm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337560"/>
            <a:ext cx="2286000" cy="438912"/>
          </a:xfrm>
          <a:prstGeom prst="rect">
            <a:avLst/>
          </a:prstGeom>
          <a:solidFill>
            <a:srgbClr val="006BA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구형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02920" y="3794760"/>
            <a:ext cx="2286000" cy="594360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 7cm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4590288"/>
            <a:ext cx="2286000" cy="438912"/>
          </a:xfrm>
          <a:prstGeom prst="rect">
            <a:avLst/>
          </a:prstGeom>
          <a:solidFill>
            <a:srgbClr val="071D3D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측면집기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02920" y="5047488"/>
            <a:ext cx="2286000" cy="594360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두께 1.5cm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4cm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6120" y="2377440"/>
            <a:ext cx="1325880" cy="71323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572000" y="2560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377440"/>
            <a:ext cx="1325880" cy="71323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062472" y="2560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27064" y="2377440"/>
            <a:ext cx="1325880" cy="71323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52944" y="2560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17536" y="2377440"/>
            <a:ext cx="1325880" cy="71323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2초 유지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043416" y="2560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08008" y="2377440"/>
            <a:ext cx="1325880" cy="713232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533888" y="256032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698480" y="2377440"/>
            <a:ext cx="1325880" cy="71323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3246120" y="4160520"/>
            <a:ext cx="3931920" cy="105156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392424" y="3703320"/>
            <a:ext cx="1920240" cy="438912"/>
          </a:xfrm>
          <a:prstGeom prst="rect">
            <a:avLst/>
          </a:prstGeom>
          <a:solidFill>
            <a:srgbClr val="071D3D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3447288" y="4306824"/>
            <a:ext cx="352044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물체는 탁자 위 유지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짧은 표준 도달거리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성공할 때까지 반복 금지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85216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9224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235440" y="6565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2026.09.08 | Human Robotics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7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RGB-D 운동학 변수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18320" y="118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63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530352"/>
            <a:ext cx="4023360" cy="57607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[측정 시스템]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114300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소수 특징과 </a:t>
            </a:r>
            <a:r>
              <a:rPr lang="en-US" sz="188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지표</a:t>
            </a: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모델에 제공</a:t>
            </a:r>
            <a:endParaRPr lang="en-US" sz="1880" dirty="0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2103120" cy="438912"/>
          </a:xfrm>
          <a:prstGeom prst="rect">
            <a:avLst/>
          </a:prstGeom>
          <a:solidFill>
            <a:srgbClr val="071D3D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D455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40080" y="2697480"/>
            <a:ext cx="2103120" cy="502920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+ Depth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80360" y="2514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37560" y="2240280"/>
            <a:ext cx="2103120" cy="43891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337560" y="2697480"/>
            <a:ext cx="2103120" cy="502920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21점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77840" y="251460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35040" y="2240280"/>
            <a:ext cx="2103120" cy="438912"/>
          </a:xfrm>
          <a:prstGeom prst="rect">
            <a:avLst/>
          </a:prstGeom>
          <a:solidFill>
            <a:srgbClr val="006BA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거리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035040" y="2697480"/>
            <a:ext cx="2103120" cy="502920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엄지–검지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4160520"/>
            <a:ext cx="4709160" cy="109728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32104" y="3703320"/>
            <a:ext cx="1828800" cy="438912"/>
          </a:xfrm>
          <a:prstGeom prst="rect">
            <a:avLst/>
          </a:prstGeom>
          <a:solidFill>
            <a:srgbClr val="071D3D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변수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86968" y="4306824"/>
            <a:ext cx="429768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MGA · TMGA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준비시간 · 2초 유지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해제 궤적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806440" y="4160520"/>
            <a:ext cx="4709160" cy="109728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52744" y="3703320"/>
            <a:ext cx="1920240" cy="438912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관리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007608" y="4306824"/>
            <a:ext cx="429768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Valid frame ratio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Longest missing gap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결측은 0 대체 금지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85216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9224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235440" y="6565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2026.09.08 | Human Robotics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7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VLM 입력과 정답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18320" y="118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63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530352"/>
            <a:ext cx="4023360" cy="57607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[모델 입력]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114300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14프레임 입력과 전문가 라벨을 </a:t>
            </a:r>
            <a:r>
              <a:rPr lang="en-US" sz="188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고정</a:t>
            </a:r>
            <a:endParaRPr lang="en-US" sz="188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704088" cy="53035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240280"/>
            <a:ext cx="704088" cy="53035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57400" y="2240280"/>
            <a:ext cx="704088" cy="53035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240280"/>
            <a:ext cx="704088" cy="53035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2240280"/>
            <a:ext cx="704088" cy="53035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2240280"/>
            <a:ext cx="704088" cy="53035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2240280"/>
            <a:ext cx="704088" cy="530352"/>
          </a:xfrm>
          <a:prstGeom prst="rect">
            <a:avLst/>
          </a:prstGeom>
          <a:solidFill>
            <a:srgbClr val="006B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0" y="2240280"/>
            <a:ext cx="704088" cy="530352"/>
          </a:xfrm>
          <a:prstGeom prst="rect">
            <a:avLst/>
          </a:prstGeom>
          <a:solidFill>
            <a:srgbClr val="006BA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240280"/>
            <a:ext cx="704088" cy="530352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498080" y="2240280"/>
            <a:ext cx="704088" cy="530352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2240280"/>
            <a:ext cx="704088" cy="530352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052560" y="2240280"/>
            <a:ext cx="704088" cy="530352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29800" y="2240280"/>
            <a:ext cx="704088" cy="530352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607040" y="2240280"/>
            <a:ext cx="704088" cy="530352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28803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도달/획득 6장        유지 2장        해제 6장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" y="4160520"/>
            <a:ext cx="5074920" cy="109728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32104" y="3703320"/>
            <a:ext cx="2194560" cy="438912"/>
          </a:xfrm>
          <a:prstGeom prst="rect">
            <a:avLst/>
          </a:prstGeom>
          <a:solidFill>
            <a:srgbClr val="071D3D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정답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86968" y="4306824"/>
            <a:ext cx="4663440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2명 독립 판독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VLM·수치·FMA 블라인드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불일치 합의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172200" y="3703320"/>
            <a:ext cx="4663440" cy="438912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1 / 2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172200" y="4160520"/>
            <a:ext cx="4663440" cy="1097280"/>
          </a:xfrm>
          <a:prstGeom prst="rect">
            <a:avLst/>
          </a:prstGeom>
          <a:solidFill>
            <a:srgbClr val="EAF3F8"/>
          </a:solidFill>
          <a:ln w="10160">
            <a:solidFill>
              <a:srgbClr val="0B255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파지 실패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유지/해제 실패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모두 완료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5216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137160" y="5166360"/>
            <a:ext cx="2011680" cy="1325880"/>
          </a:xfrm>
          <a:prstGeom prst="triangle">
            <a:avLst/>
          </a:prstGeom>
          <a:solidFill>
            <a:srgbClr val="263A63"/>
          </a:solidFill>
          <a:ln w="12700">
            <a:solidFill>
              <a:srgbClr val="263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 rot="-1500000">
            <a:off x="2834640" y="3383280"/>
            <a:ext cx="749808" cy="566928"/>
          </a:xfrm>
          <a:prstGeom prst="triangle">
            <a:avLst/>
          </a:prstGeom>
          <a:solidFill>
            <a:srgbClr val="263A63"/>
          </a:solidFill>
          <a:ln w="12700">
            <a:solidFill>
              <a:srgbClr val="263A6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69120" y="2450592"/>
            <a:ext cx="6598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데이터 분석 및 해석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510112" y="309440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환자 단위 MAE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예상 결과 해석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509760" y="1463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63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97880" y="64922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BB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9224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235440" y="6565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2026.09.08 | Human Robotics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데이터 분석 및 해석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7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통계 분석 설계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18320" y="118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63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530352"/>
            <a:ext cx="4023360" cy="57607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[분석 방법]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114300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수가 아니라 </a:t>
            </a:r>
            <a:r>
              <a:rPr lang="en-US" sz="188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단위 paired 비교</a:t>
            </a: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분석</a:t>
            </a:r>
            <a:endParaRPr lang="en-US" sz="188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1920240" cy="384048"/>
          </a:xfrm>
          <a:prstGeom prst="rect">
            <a:avLst/>
          </a:prstGeom>
          <a:solidFill>
            <a:srgbClr val="071D3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14600" y="2057400"/>
            <a:ext cx="905256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0B255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ΔMAE = MAE(A3) − MAE(A1)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음수이면 A3가 더 정확함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252728" y="3840480"/>
            <a:ext cx="4389120" cy="114300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399032" y="3383280"/>
            <a:ext cx="2103120" cy="43891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환자별 집계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53896" y="3986784"/>
            <a:ext cx="397764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3과제 동일 가중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225시행 ≠ 225명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N = 환자 수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07608" y="3840480"/>
            <a:ext cx="4389120" cy="114300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153912" y="3383280"/>
            <a:ext cx="1828800" cy="438912"/>
          </a:xfrm>
          <a:prstGeom prst="rect">
            <a:avLst/>
          </a:prstGeom>
          <a:solidFill>
            <a:srgbClr val="071D3D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방식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208776" y="3986784"/>
            <a:ext cx="397764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Paired bootstrap 95% CI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Exact agreement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Weighted κ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5216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9224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235440" y="6565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2026.09.08 | Human Robotics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데이터 분석 및 해석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7D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결과 시나리오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418320" y="118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63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0" y="530352"/>
            <a:ext cx="4023360" cy="57607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[결과 해석]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114300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성공/실패가 아니라 </a:t>
            </a:r>
            <a:r>
              <a:rPr lang="en-US" sz="188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정보의 가치</a:t>
            </a: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해석</a:t>
            </a:r>
            <a:endParaRPr lang="en-US" sz="188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3566160" cy="68580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9224" y="2148840"/>
            <a:ext cx="1463040" cy="438912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&lt; A1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04088" y="2752344"/>
            <a:ext cx="31546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수치+참조가 영상 단독보다 유용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4343400" y="2606040"/>
            <a:ext cx="3566160" cy="68580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489704" y="2148840"/>
            <a:ext cx="1463040" cy="438912"/>
          </a:xfrm>
          <a:prstGeom prst="rect">
            <a:avLst/>
          </a:prstGeom>
          <a:solidFill>
            <a:srgbClr val="071D3D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&lt; A4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44568" y="2752344"/>
            <a:ext cx="31546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영상이 숫자에 없는 정보를 추가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8183880" y="2606040"/>
            <a:ext cx="3566160" cy="68580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330184" y="2148840"/>
            <a:ext cx="1463040" cy="438912"/>
          </a:xfrm>
          <a:prstGeom prst="rect">
            <a:avLst/>
          </a:prstGeom>
          <a:solidFill>
            <a:srgbClr val="666666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≈ A0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385048" y="2752344"/>
            <a:ext cx="31546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VLM 채점 이익은 제한적일 수 있음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585216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92240"/>
            <a:ext cx="107899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235440" y="65653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2026.09.08 | Human Robotics Lab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" y="91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V. 참고문헌 및 결론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418320" y="118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63A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530352"/>
            <a:ext cx="4023360" cy="576072"/>
          </a:xfrm>
          <a:prstGeom prst="rect">
            <a:avLst/>
          </a:prstGeom>
          <a:solidFill>
            <a:srgbClr val="263A63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[결론]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84048" y="1298448"/>
            <a:ext cx="1143000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B2551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측정 오차와 AI 판단 오차를 </a:t>
            </a:r>
            <a:r>
              <a:rPr lang="en-US" sz="1880" b="1" dirty="0">
                <a:solidFill>
                  <a:srgbClr val="E600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 검증</a:t>
            </a:r>
            <a:r>
              <a:rPr lang="en-US" sz="18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평가 타당성 연구</a:t>
            </a:r>
            <a:endParaRPr lang="en-US" sz="1880" dirty="0"/>
          </a:p>
        </p:txBody>
      </p:sp>
      <p:sp>
        <p:nvSpPr>
          <p:cNvPr id="8" name="Shape 6"/>
          <p:cNvSpPr/>
          <p:nvPr/>
        </p:nvSpPr>
        <p:spPr>
          <a:xfrm>
            <a:off x="594360" y="2560320"/>
            <a:ext cx="5120640" cy="118872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40664" y="2103120"/>
            <a:ext cx="2011680" cy="438912"/>
          </a:xfrm>
          <a:prstGeom prst="rect">
            <a:avLst/>
          </a:prstGeom>
          <a:solidFill>
            <a:srgbClr val="E60012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의의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95528" y="2706624"/>
            <a:ext cx="470916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VLM의 fine-motion 한계 보완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RGB-D 수치와 건강인 참조 결합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공압장갑 치료효과와 분리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080760" y="2560320"/>
            <a:ext cx="5440680" cy="1188720"/>
          </a:xfrm>
          <a:prstGeom prst="rect">
            <a:avLst/>
          </a:prstGeom>
          <a:solidFill>
            <a:srgbClr val="EAF3F8"/>
          </a:solidFill>
          <a:ln w="12700">
            <a:solidFill>
              <a:srgbClr val="0B255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27064" y="2103120"/>
            <a:ext cx="2011680" cy="438912"/>
          </a:xfrm>
          <a:prstGeom prst="rect">
            <a:avLst/>
          </a:prstGeom>
          <a:solidFill>
            <a:srgbClr val="071D3D"/>
          </a:soli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문헌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281928" y="2669250"/>
            <a:ext cx="5029200" cy="10157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Li et al. 2026: VLM 재활 한계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Amprimo et al. 2024: RGB-D 손 추적 검증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Qiu et al. 2022: 3D reach-to-grasp</a:t>
            </a:r>
            <a:endParaRPr lang="en-US" sz="1650" dirty="0"/>
          </a:p>
          <a:p>
            <a:pPr marL="0" indent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Tang et al. 2025: 운동학+LLM 평가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852160" y="65105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880</Words>
  <Application>Microsoft Office PowerPoint</Application>
  <PresentationFormat>와이드스크린</PresentationFormat>
  <Paragraphs>251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Handong Global University / Human Robotics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RGB-D 기반 손 운동학 정보와 VLM 자동평가 타당성 연구</dc:title>
  <dc:subject>RGB-D VLM hand function assessment research proposal</dc:subject>
  <dc:creator>OpenAI</dc:creator>
  <cp:lastModifiedBy>이재용/22000561</cp:lastModifiedBy>
  <cp:revision>13</cp:revision>
  <dcterms:created xsi:type="dcterms:W3CDTF">2026-09-08T13:30:04Z</dcterms:created>
  <dcterms:modified xsi:type="dcterms:W3CDTF">2026-09-08T14:29:36Z</dcterms:modified>
</cp:coreProperties>
</file>