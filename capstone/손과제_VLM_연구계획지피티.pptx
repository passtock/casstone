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75996af3044dc3" /><Relationship Type="http://schemas.openxmlformats.org/officeDocument/2006/relationships/extended-properties" Target="/docProps/app.xml" Id="R75a07d07fc334b63" /><Relationship Type="http://schemas.openxmlformats.org/officeDocument/2006/relationships/officeDocument" Target="/ppt/presentation.xml" Id="R80f0548e18844d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a8e91ddb54b9e"/>
  </p:sldMasterIdLst>
  <p:notesMasterIdLst>
    <p:notesMasterId xmlns:r="http://schemas.openxmlformats.org/officeDocument/2006/relationships" r:id="R265342133c16432b"/>
  </p:notesMasterIdLst>
  <p:sldIdLst>
    <p:sldId xmlns:r="http://schemas.openxmlformats.org/officeDocument/2006/relationships" id="256" r:id="R979eb4d1493b4fa4"/>
    <p:sldId xmlns:r="http://schemas.openxmlformats.org/officeDocument/2006/relationships" id="257" r:id="Rba75bb2f1be1478a"/>
    <p:sldId xmlns:r="http://schemas.openxmlformats.org/officeDocument/2006/relationships" id="258" r:id="R20d12a25ff9d41a0"/>
    <p:sldId xmlns:r="http://schemas.openxmlformats.org/officeDocument/2006/relationships" id="259" r:id="Ra2e93524485b4df1"/>
    <p:sldId xmlns:r="http://schemas.openxmlformats.org/officeDocument/2006/relationships" id="260" r:id="Rd8defeed417f4ec5"/>
    <p:sldId xmlns:r="http://schemas.openxmlformats.org/officeDocument/2006/relationships" id="261" r:id="R2d2d4cb1ec69474b"/>
    <p:sldId xmlns:r="http://schemas.openxmlformats.org/officeDocument/2006/relationships" id="262" r:id="Reb01be4177684829"/>
    <p:sldId xmlns:r="http://schemas.openxmlformats.org/officeDocument/2006/relationships" id="263" r:id="Rde417362f748478e"/>
    <p:sldId xmlns:r="http://schemas.openxmlformats.org/officeDocument/2006/relationships" id="264" r:id="R1e01b40ce01e4abc"/>
    <p:sldId xmlns:r="http://schemas.openxmlformats.org/officeDocument/2006/relationships" id="265" r:id="R946f26dc0b3b43f8"/>
    <p:sldId xmlns:r="http://schemas.openxmlformats.org/officeDocument/2006/relationships" id="266" r:id="Rc335b59d096649bf"/>
    <p:sldId xmlns:r="http://schemas.openxmlformats.org/officeDocument/2006/relationships" id="267" r:id="R0eef62e7145b4650"/>
    <p:sldId xmlns:r="http://schemas.openxmlformats.org/officeDocument/2006/relationships" id="268" r:id="Rf5c20f106bd74049"/>
    <p:sldId xmlns:r="http://schemas.openxmlformats.org/officeDocument/2006/relationships" id="269" r:id="R514a56095cfb447a"/>
    <p:sldId xmlns:r="http://schemas.openxmlformats.org/officeDocument/2006/relationships" id="270" r:id="Rfded9f7c0a844408"/>
    <p:sldId xmlns:r="http://schemas.openxmlformats.org/officeDocument/2006/relationships" id="271" r:id="R2a598d29b5994b5a"/>
    <p:sldId xmlns:r="http://schemas.openxmlformats.org/officeDocument/2006/relationships" id="272" r:id="R847f18a54c8a4884"/>
    <p:sldId xmlns:r="http://schemas.openxmlformats.org/officeDocument/2006/relationships" id="273" r:id="R36a251531a104b81"/>
    <p:sldId xmlns:r="http://schemas.openxmlformats.org/officeDocument/2006/relationships" id="274" r:id="R1e2328b66d7646f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9aaec166d41a6" /><Relationship Type="http://schemas.openxmlformats.org/officeDocument/2006/relationships/slideMaster" Target="/ppt/slideMasters/slideMaster1.xml" Id="R489a8e91ddb54b9e" /><Relationship Type="http://schemas.openxmlformats.org/officeDocument/2006/relationships/notesMaster" Target="/ppt/notesMasters/notesMaster1.xml" Id="R265342133c16432b" /><Relationship Type="http://schemas.openxmlformats.org/officeDocument/2006/relationships/presProps" Target="/ppt/presProps.xml" Id="Rf6406c21d6284f02" /><Relationship Type="http://schemas.openxmlformats.org/officeDocument/2006/relationships/viewProps" Target="/ppt/viewProps.xml" Id="Rc043008e82764704" /><Relationship Type="http://schemas.openxmlformats.org/officeDocument/2006/relationships/tableStyles" Target="/ppt/tableStyles.xml" Id="Rad03e1512fd24681" /><Relationship Type="http://schemas.openxmlformats.org/officeDocument/2006/relationships/slide" Target="/ppt/slides/slide1.xml" Id="R979eb4d1493b4fa4" /><Relationship Type="http://schemas.openxmlformats.org/officeDocument/2006/relationships/slide" Target="/ppt/slides/slide2.xml" Id="Rba75bb2f1be1478a" /><Relationship Type="http://schemas.openxmlformats.org/officeDocument/2006/relationships/slide" Target="/ppt/slides/slide3.xml" Id="R20d12a25ff9d41a0" /><Relationship Type="http://schemas.openxmlformats.org/officeDocument/2006/relationships/slide" Target="/ppt/slides/slide4.xml" Id="Ra2e93524485b4df1" /><Relationship Type="http://schemas.openxmlformats.org/officeDocument/2006/relationships/slide" Target="/ppt/slides/slide5.xml" Id="Rd8defeed417f4ec5" /><Relationship Type="http://schemas.openxmlformats.org/officeDocument/2006/relationships/slide" Target="/ppt/slides/slide6.xml" Id="R2d2d4cb1ec69474b" /><Relationship Type="http://schemas.openxmlformats.org/officeDocument/2006/relationships/slide" Target="/ppt/slides/slide7.xml" Id="Reb01be4177684829" /><Relationship Type="http://schemas.openxmlformats.org/officeDocument/2006/relationships/slide" Target="/ppt/slides/slide8.xml" Id="Rde417362f748478e" /><Relationship Type="http://schemas.openxmlformats.org/officeDocument/2006/relationships/slide" Target="/ppt/slides/slide9.xml" Id="R1e01b40ce01e4abc" /><Relationship Type="http://schemas.openxmlformats.org/officeDocument/2006/relationships/slide" Target="/ppt/slides/slide10.xml" Id="R946f26dc0b3b43f8" /><Relationship Type="http://schemas.openxmlformats.org/officeDocument/2006/relationships/slide" Target="/ppt/slides/slide11.xml" Id="Rc335b59d096649bf" /><Relationship Type="http://schemas.openxmlformats.org/officeDocument/2006/relationships/slide" Target="/ppt/slides/slide12.xml" Id="R0eef62e7145b4650" /><Relationship Type="http://schemas.openxmlformats.org/officeDocument/2006/relationships/slide" Target="/ppt/slides/slide13.xml" Id="Rf5c20f106bd74049" /><Relationship Type="http://schemas.openxmlformats.org/officeDocument/2006/relationships/slide" Target="/ppt/slides/slide14.xml" Id="R514a56095cfb447a" /><Relationship Type="http://schemas.openxmlformats.org/officeDocument/2006/relationships/slide" Target="/ppt/slides/slide15.xml" Id="Rfded9f7c0a844408" /><Relationship Type="http://schemas.openxmlformats.org/officeDocument/2006/relationships/slide" Target="/ppt/slides/slide16.xml" Id="R2a598d29b5994b5a" /><Relationship Type="http://schemas.openxmlformats.org/officeDocument/2006/relationships/slide" Target="/ppt/slides/slide17.xml" Id="R847f18a54c8a4884" /><Relationship Type="http://schemas.openxmlformats.org/officeDocument/2006/relationships/slide" Target="/ppt/slides/slide18.xml" Id="R36a251531a104b81" /><Relationship Type="http://schemas.openxmlformats.org/officeDocument/2006/relationships/slide" Target="/ppt/slides/slide19.xml" Id="R1e2328b66d7646f0" 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설명용 속도</c:v>
          </c:tx>
          <c:spPr>
            <a:ln w="28575">
              <a:solidFill>
                <a:srgbClr val="07396B"/>
              </a:solidFill>
            </a:ln>
          </c:spPr>
          <c:marker>
            <c:symbol val="circle"/>
            <c:size val="5"/>
            <c:spPr>
              <a:solidFill>
                <a:srgbClr val="07396B"/>
              </a:solidFill>
            </c:spPr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cat>
          <c:val>
            <c:numRef>
              <c:f>'Chart Data'!$B$2:$B$12</c:f>
              <c:numCache>
                <c:formatCode>General</c:formatCode>
                <c:ptCount val="11"/>
                <c:pt idx="0">
                  <c:v>0</c:v>
                </c:pt>
                <c:pt idx="1">
                  <c:v>15</c:v>
                </c:pt>
                <c:pt idx="2">
                  <c:v>25</c:v>
                </c:pt>
                <c:pt idx="3">
                  <c:v>10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12</c:v>
                </c:pt>
                <c:pt idx="8">
                  <c:v>20</c:v>
                </c:pt>
                <c:pt idx="9">
                  <c:v>8</c:v>
                </c:pt>
                <c:pt idx="10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EF-4588-9741-3A7C983D1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>
                    <a:latin typeface="Noto Sans CJK KR"/>
                    <a:ea typeface="Noto Sans CJK KR"/>
                    <a:cs typeface="Noto Sans CJK KR"/>
                  </a:rPr>
                  <a:t>시행 내 상대 시점 </a:t>
                </a:r>
                <a:r>
                  <a:rPr lang="en-US" altLang="ko-KR">
                    <a:latin typeface="Noto Sans CJK KR"/>
                    <a:ea typeface="Noto Sans CJK KR"/>
                    <a:cs typeface="Noto Sans CJK KR"/>
                  </a:rPr>
                  <a:t>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1E6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>
                    <a:latin typeface="Noto Sans CJK KR"/>
                    <a:ea typeface="Noto Sans CJK KR"/>
                    <a:cs typeface="Noto Sans CJK KR"/>
                  </a:rPr>
                  <a:t>속도 </a:t>
                </a:r>
                <a:r>
                  <a:rPr lang="en-US" altLang="ko-KR">
                    <a:latin typeface="Noto Sans CJK KR"/>
                    <a:ea typeface="Noto Sans CJK KR"/>
                    <a:cs typeface="Noto Sans CJK KR"/>
                  </a:rPr>
                  <a:t>(</a:t>
                </a:r>
                <a:r>
                  <a:rPr lang="en-US">
                    <a:latin typeface="Noto Sans CJK KR"/>
                    <a:ea typeface="Noto Sans CJK KR"/>
                    <a:cs typeface="Noto Sans CJK KR"/>
                  </a:rPr>
                  <a:t>mm/s)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50112"/>
        <c:crosses val="autoZero"/>
        <c:crossBetween val="between"/>
        <c:majorUnit val="10"/>
      </c:valAx>
    </c:plotArea>
    <c:plotVisOnly val="1"/>
    <c:dispBlanksAs val="zero"/>
    <c:showDLblsOverMax val="1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절대오차</c:v>
          </c:tx>
          <c:spPr>
            <a:solidFill>
              <a:srgbClr val="07396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>
                    <a:latin typeface="Noto Sans CJK KR"/>
                    <a:ea typeface="Noto Sans CJK KR"/>
                    <a:cs typeface="Noto Sans CJK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시행 1</c:v>
                </c:pt>
                <c:pt idx="1">
                  <c:v>시행 2</c:v>
                </c:pt>
                <c:pt idx="2">
                  <c:v>시행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62-4A46-A4F8-E88B028195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E1E6EB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  <a:endParaRPr lang="ko-KR"/>
          </a:p>
        </c:txPr>
        <c:crossAx val="48650112"/>
        <c:crosses val="autoZero"/>
        <c:crossBetween val="between"/>
        <c:majorUnit val="1"/>
      </c:valAx>
    </c:plotArea>
    <c:plotVisOnly val="1"/>
    <c:dispBlanksAs val="zero"/>
    <c:showDLblsOverMax val="1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0.19811</cdr:x>
      <cdr:y>0.16548</cdr:y>
    </cdr:from>
    <cdr:to>
      <cdr:x>0.34943</cdr:x>
      <cdr:y>0.75685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DE99C67A-4863-69B2-2A11-7F93E37327F2}"/>
            </a:ext>
          </a:extLst>
        </cdr:cNvPr>
        <cdr:cNvSpPr/>
      </cdr:nvSpPr>
      <cdr:spPr>
        <a:xfrm xmlns:a="http://schemas.openxmlformats.org/drawingml/2006/main">
          <a:off x="1151059" y="646236"/>
          <a:ext cx="879231" cy="230944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</c:userShape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7413f05949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ab59dc8fee435f" /><Relationship Type="http://schemas.openxmlformats.org/officeDocument/2006/relationships/notesMaster" Target="/ppt/notesMasters/notesMaster1.xml" Id="R949819d165ad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418554b454295" /><Relationship Type="http://schemas.openxmlformats.org/officeDocument/2006/relationships/notesMaster" Target="/ppt/notesMasters/notesMaster1.xml" Id="R91bd541fd5e0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cedec7a7f4b8b" /><Relationship Type="http://schemas.openxmlformats.org/officeDocument/2006/relationships/notesMaster" Target="/ppt/notesMasters/notesMaster1.xml" Id="Rf25dc9406f4b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3cb54709cc4318" /><Relationship Type="http://schemas.openxmlformats.org/officeDocument/2006/relationships/notesMaster" Target="/ppt/notesMasters/notesMaster1.xml" Id="R86185f7a1c1544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e4fcd2f3840d2" /><Relationship Type="http://schemas.openxmlformats.org/officeDocument/2006/relationships/notesMaster" Target="/ppt/notesMasters/notesMaster1.xml" Id="R5e65191677614c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a8febb4db64818" /><Relationship Type="http://schemas.openxmlformats.org/officeDocument/2006/relationships/notesMaster" Target="/ppt/notesMasters/notesMaster1.xml" Id="Rd1672be51b6948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73212e0cd74b5c" /><Relationship Type="http://schemas.openxmlformats.org/officeDocument/2006/relationships/notesMaster" Target="/ppt/notesMasters/notesMaster1.xml" Id="Rf2859b7eda4644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91ab5ae254f68" /><Relationship Type="http://schemas.openxmlformats.org/officeDocument/2006/relationships/notesMaster" Target="/ppt/notesMasters/notesMaster1.xml" Id="R9aa5d2df00e74d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341debd1fc49ad" /><Relationship Type="http://schemas.openxmlformats.org/officeDocument/2006/relationships/notesMaster" Target="/ppt/notesMasters/notesMaster1.xml" Id="Rc7dba05fa79249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f7cc97a86a4890" /><Relationship Type="http://schemas.openxmlformats.org/officeDocument/2006/relationships/notesMaster" Target="/ppt/notesMasters/notesMaster1.xml" Id="R70843ab5869243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14f4a5134b49e6" /><Relationship Type="http://schemas.openxmlformats.org/officeDocument/2006/relationships/notesMaster" Target="/ppt/notesMasters/notesMaster1.xml" Id="R887b7b7159654f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24b063884c475f" /><Relationship Type="http://schemas.openxmlformats.org/officeDocument/2006/relationships/notesMaster" Target="/ppt/notesMasters/notesMaster1.xml" Id="Rff905353d06b4f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8ccab907ce4de7" /><Relationship Type="http://schemas.openxmlformats.org/officeDocument/2006/relationships/notesMaster" Target="/ppt/notesMasters/notesMaster1.xml" Id="R15ca09b97c0141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258d0fe6e043e6" /><Relationship Type="http://schemas.openxmlformats.org/officeDocument/2006/relationships/notesMaster" Target="/ppt/notesMasters/notesMaster1.xml" Id="R998e2dfbd7cd4f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b4554e44fe4d49" /><Relationship Type="http://schemas.openxmlformats.org/officeDocument/2006/relationships/notesMaster" Target="/ppt/notesMasters/notesMaster1.xml" Id="R2fc4f1dd5f1149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b840545d514ad6" /><Relationship Type="http://schemas.openxmlformats.org/officeDocument/2006/relationships/notesMaster" Target="/ppt/notesMasters/notesMaster1.xml" Id="Rc3a7cdde4fd04f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2c46f95fb74e25" /><Relationship Type="http://schemas.openxmlformats.org/officeDocument/2006/relationships/notesMaster" Target="/ppt/notesMasters/notesMaster1.xml" Id="R60f376175cd346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345572e0cb4d20" /><Relationship Type="http://schemas.openxmlformats.org/officeDocument/2006/relationships/notesMaster" Target="/ppt/notesMasters/notesMaster1.xml" Id="R41e8cac67bc447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64394844104f3f" /><Relationship Type="http://schemas.openxmlformats.org/officeDocument/2006/relationships/notesMaster" Target="/ppt/notesMasters/notesMaster1.xml" Id="R8b34be54f34a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발표는 기존 평가 부담, VLM 활용 이유, 추가 정보, 연구 설계, 평가 순서로 진행한다. 아직 결과가 없는 연구계획 발표이다.</a:t>
            </a:r>
          </a:p>
          <a:p xmlns:a="http://schemas.openxmlformats.org/drawingml/2006/main">
            <a:r>
              <a:t>핵심 가설은 입력 정보의 보완 효과이며, 학습 모델 개발이나 임상 점수 검증 연구와 구별한다.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PrimSeq의 513.6시간 대 1.4시간은 세부 동작 주석 작업의 비교이며 FMA 검사 시간이 아니다. 수치를 본문에 옮겨 일반화하지 않는다. 전용 모델도 전이학습 등으로 부담을 줄일 수 있으므로 모든 과제에서 재학습이 필수라고 주장하지 않는다. Parnandi et al. (2022), https://journals.plos.org/digitalhealth/article?id=10.1371/journal.pdig.0000044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Li et al. (2026): 건강인20명과 환자51명. 활동 인식, 횟수 추정, FMA 추정은 별개 과제. 활동 인식77.5%를 손 기능 평가 정확도로 인용하지 않는다. https://journals.plos.org/digitalhealth/article?id=10.1371/journal.pdig.0001506</a:t>
            </a:r>
          </a:p>
          <a:p xmlns:a="http://schemas.openxmlformats.org/drawingml/2006/main">
            <a:r>
              <a:t>출처: Li et al. (2026), https://journals.plos.org/digitalhealth/article?id=10.1371/journal.pdig.0001506</a:t>
            </a:r>
          </a:p>
          <a:p xmlns:a="http://schemas.openxmlformats.org/drawingml/2006/main">
            <a:r>
              <a:t>Qiu et al. (2022), https://pmc.ncbi.nlm.nih.gov/articles/PMC9716480/</a:t>
            </a:r>
          </a:p>
          <a:p xmlns:a="http://schemas.openxmlformats.org/drawingml/2006/main">
            <a:r>
              <a:t>Amprimo et al. (2024), https://doi.org/10.1016/j.bspc.2024.106508</a:t>
            </a:r>
          </a:p>
          <a:p xmlns:a="http://schemas.openxmlformats.org/drawingml/2006/main">
            <a:r>
              <a:t>Tang et al. (2025), https://arxiv.org/abs/2505.18412</a:t>
            </a:r>
          </a:p>
          <a:p xmlns:a="http://schemas.openxmlformats.org/drawingml/2006/main">
            <a:r>
              <a:t>Wang et al. (2024), https://doi.org/10.1007/978-3-031-72086-4_24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VLM은 vision-language model. 본 연구는 정답 예시 없이 과제 지침을 제공한다. 재학습 부담 감소 가능성과 실제 판독 시간 절감은 구별한다.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RGB-D: 색상 영상과 깊이. D455와 MediaPipe를 결합해 좌표를 계산한다. 건강인 참조는 작은 표본의 분포이며 정상 범위나 임상 판정 기준이 아니다. Amprimo et al. (2024), https://doi.org/10.1016/j.bspc.2024.106508. 장비와 과제가 달라 D455 동적 정확도의 직접 검증 근거는 아니다.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A0는 L2 규제 다항 로지스틱 회귀. 한 환자를 제외하여 학습하고 제외한 환자에게 평가하는 교차검증. 전처리도 학습 폴드 안에서 수행하며 같은 환자의 양손과 반복 시행을 묶는다.</a:t>
            </a:r>
          </a:p>
          <a:p xmlns:a="http://schemas.openxmlformats.org/drawingml/2006/main"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A1은 센서 기반으로 선택한 14프레임을 받으므로 완전한 센서 없는 비교군은 아니다. 수치와 건강인 참조를 모델 입력으로 주지 않는 조건이다.</a:t>
            </a:r>
          </a:p>
          <a:p xmlns:a="http://schemas.openxmlformats.org/drawingml/2006/main"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운동학 피처는 F1 크기 F2 시간 F3 변동 F4 개방. 임상적 정상/비정상 임계값이 아니며 지표별 세부 정의는 뒤에서 설명한다.</a:t>
            </a:r>
          </a:p>
          <a:p xmlns:a="http://schemas.openxmlformats.org/drawingml/2006/main"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건강인 참조는 정상 판정선이 아니며 건강인 15명의 표본 분포이다. A3는 수치·품질·참조의 전체 묶음이며 개별 요소의 독립 효과나 상호작용을 주 비교로 추정하지 않는다.</a:t>
            </a:r>
          </a:p>
          <a:p xmlns:a="http://schemas.openxmlformats.org/drawingml/2006/main"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A4는 A0와 다르다. A4는 동결 VLM에 수치를 텍스트로 입력하며 A0는 환자 학습자료로 적합한 로지스틱 회귀이다.</a:t>
            </a:r>
          </a:p>
          <a:p xmlns:a="http://schemas.openxmlformats.org/drawingml/2006/main">
            <a:r>
              <a:t>조건 기호는 설명 이후의 식별용 이름이며 수행점수 또는 모델 이름이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A0 행의 대시는 건강인 참조를 포함하는 VLM 입력 패키지와 구분한 표시. A0는 원 계획서에 명시한 수치 학습 기준선 구성과 교차검증을 따른다. A1도 센서로 선택한 동일 프레임을 받는다. 영상 조건끼리는 동일 프레임과 지침을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개발4명은20–80세. 건강인참조15명과 환자15명은40–80세. 환자는 뇌졸중3개월 이상 일측 편마비, Brunnstrom 손 III–V. 각4과제8회 양손 동시 수행. 15명은 자원 기반 파일럿이며 충분한 검정력을 보장하지 않는다. IRB 승인과 동의 후 모집.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전문가2인은 모델 결과·수치·건강인참조를 보지 않고 원본 영상을 독립 판독한다. 불일치는 합의, 미해결 시 제3전문가. 형성 미완료는 후속 not_applicable. 형성 완료 후 유지나 해제 하나라도 확실히 미완료이면1점. 상태 불충분하면NA. 고정된 초 기준은 사용하지 않는다.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구간 검출: 손목 전역 이동과5손끝 상대속도의 RMS. 5연속 저속프레임은 시작 설정. F1물체:획득 최대a(t), 맨손:기준r−획득최소r. F2극값 최초도달시간. F3유지후보구간 표본SD. F4해제마지막20%중앙값−첫20%. 실제 접촉력이나 관절각도를 직접 측정한 것이 아니다. Qiu et al.2022 https://pmc.ncbi.nlm.nih.gov/articles/PMC9716480/</a:t>
            </a:r>
          </a:p>
          <a:p xmlns:a="http://schemas.openxmlformats.org/drawingml/2006/main">
            <a:r>
              <a:t>그래프는 구간 설명용으로 만든 가상 속도값이다. 환자 데이터나 검출 성능을 나타내지 않는다. 가로축은 시행 내 상대 시점이며 고정된 수행 초가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14프레임 시작 배분6·2·6. 분할 실패 시 전체 구간 균등14프레임을 모든 영상조건에 적용. 건강인참조 Q1은25백분위수 Q3는75백분위수. 아래 수치는 입력 형식의 가상 예시이며 측정 결과가 아니다. 3D 피처를2D 픽셀거리로 대체하지 않는다.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F1–F4는 피처 이름이다. 원 계획서의 D1–D4는 각각 F1–F4를 제거한 조건 이름이다. 이 슬라이드에서는 새 기호를 추가하지 않고 제거하는 피처 이름으로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공식 모델 후보: Qwen/Qwen3-VL-8B-Instruct, Qwen/Qwen3-VL-30B-A3B-Instruct, Qwen/Qwen2.5-VL-32B-Instruct, llava-hf/LLaVA-NeXT-Video-7B-hf, llava-hf/llava-onevision-qwen2-7b-ov-hf. 각 https://huggingface.co/ 뒤에 ID. 주 모델이 실행되지 않으면 환자 평가 전에 계획 수정. 보조는 환자성능확인전 기술실패에 따라제외. 30/32B는16bit전체가중치32GB실행을전제하지않는다.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분석단위는환자. 같은시행A1A3유효쌍, 과제별평균후4과제동일가중. 조건부MAE, 누락환자수공개. 환자bootstrap10000회95%CI. 보조A2−A1수치품질묶음,A3−A2참조묶음. 보조CI는다중보정하지않은탐색적구간이며p값별표없음. 실제 결과 없음.</a:t>
            </a:r>
          </a:p>
          <a:p xmlns:a="http://schemas.openxmlformats.org/drawingml/2006/main">
            <a:r>
              <a:t>막대그래프는 설명용3시행의 절대오차0·1·2이며 실제연구결과가아니다. 평균절대오차=1. 전문가점수2,1,0과예측2,0,2의예시.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연구계획서_최종보완본.docx.</a:t>
            </a:r>
          </a:p>
          <a:p xmlns:a="http://schemas.openxmlformats.org/drawingml/2006/main">
            <a:r>
              <a:t>본연구는탐색적파일럿. 환자15명일반화한계, 단일촬영환경, 건강인개발군대표성, 센서오차및14프레임한계. 재활효과, 임상평가대체, 치료사시간절감 또는 무인화완성을이연구만으로주장하지않는다.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3e8d07abc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c50d2bf02d44a8" /><Relationship Type="http://schemas.openxmlformats.org/officeDocument/2006/relationships/slideLayout" Target="/ppt/slideLayouts/slideLayout1.xml" Id="Rdcba2040c7fe48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a2040c7fe48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17aae057f4c48" /><Relationship Type="http://schemas.openxmlformats.org/officeDocument/2006/relationships/notesSlide" Target="/ppt/notesSlides/notesSlide1.xml" Id="Rede91443ef284d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cb16510de4bc5" /><Relationship Type="http://schemas.openxmlformats.org/officeDocument/2006/relationships/notesSlide" Target="/ppt/notesSlides/notesSlide2.xml" Id="R37e97e8c89eb47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cedfef6c4919" /><Relationship Type="http://schemas.openxmlformats.org/officeDocument/2006/relationships/notesSlide" Target="/ppt/notesSlides/notesSlide3.xml" Id="Re9230e61315a46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5726bf9814e02" /><Relationship Type="http://schemas.openxmlformats.org/officeDocument/2006/relationships/notesSlide" Target="/ppt/notesSlides/notesSlide4.xml" Id="R7091f9a33b0e48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a79d1bc14886" /><Relationship Type="http://schemas.openxmlformats.org/officeDocument/2006/relationships/notesSlide" Target="/ppt/notesSlides/notesSlide5.xml" Id="Rb373ac2c124348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dfac555da47cc" /><Relationship Type="http://schemas.openxmlformats.org/officeDocument/2006/relationships/notesSlide" Target="/ppt/notesSlides/notesSlide6.xml" Id="R1edb421e391943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fb5516e624825" /><Relationship Type="http://schemas.openxmlformats.org/officeDocument/2006/relationships/notesSlide" Target="/ppt/notesSlides/notesSlide7.xml" Id="R9cb7e25020f8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c9e43385e4646" /><Relationship Type="http://schemas.openxmlformats.org/officeDocument/2006/relationships/notesSlide" Target="/ppt/notesSlides/notesSlide8.xml" Id="Rf3beaaa056ff49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be3b4a9f14e76" /><Relationship Type="http://schemas.openxmlformats.org/officeDocument/2006/relationships/notesSlide" Target="/ppt/notesSlides/notesSlide9.xml" Id="R8575feaef10c41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c191f4e642a8" /><Relationship Type="http://schemas.openxmlformats.org/officeDocument/2006/relationships/notesSlide" Target="/ppt/notesSlides/notesSlide10.xml" Id="R1ddcbbdb24ff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c756133c44352" /><Relationship Type="http://schemas.openxmlformats.org/officeDocument/2006/relationships/notesSlide" Target="/ppt/notesSlides/notesSlide11.xml" Id="R0e0a7633e72c47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baf0f45741c3" /><Relationship Type="http://schemas.openxmlformats.org/officeDocument/2006/relationships/notesSlide" Target="/ppt/notesSlides/notesSlide12.xml" Id="R76d1dcb2bc594e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c3a8b6f8e41a0" /><Relationship Type="http://schemas.openxmlformats.org/officeDocument/2006/relationships/notesSlide" Target="/ppt/notesSlides/notesSlide13.xml" Id="Rcfdd6ecb85624789" 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819a3ae12574b8a"/><Relationship Type="http://schemas.openxmlformats.org/officeDocument/2006/relationships/chart" Target="/ppt/charts/chart1.xml" Id="Rded7b9ce6b0648a7"/><Relationship Type="http://schemas.openxmlformats.org/officeDocument/2006/relationships/notesSlide" Target="/ppt/notesSlides/notesSlide14.xml" Id="Rb79d136b54274089"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d8671c22b4982" /><Relationship Type="http://schemas.openxmlformats.org/officeDocument/2006/relationships/notesSlide" Target="/ppt/notesSlides/notesSlide15.xml" Id="Re704c4cd77bc49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47cd2e6d74269" /><Relationship Type="http://schemas.openxmlformats.org/officeDocument/2006/relationships/notesSlide" Target="/ppt/notesSlides/notesSlide16.xml" Id="Rba89d7aad8cd43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8f3a6190747d0" /><Relationship Type="http://schemas.openxmlformats.org/officeDocument/2006/relationships/notesSlide" Target="/ppt/notesSlides/notesSlide17.xml" Id="R33cb6b82c33445fe" 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a965aced3544c5a"/><Relationship Type="http://schemas.openxmlformats.org/officeDocument/2006/relationships/chart" Target="/ppt/charts/chart2.xml" Id="Rb77966d0ddda4e87"/><Relationship Type="http://schemas.openxmlformats.org/officeDocument/2006/relationships/notesSlide" Target="/ppt/notesSlides/notesSlide18.xml" Id="Rc992e788befa4263"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e55e34ea4217" /><Relationship Type="http://schemas.openxmlformats.org/officeDocument/2006/relationships/notesSlide" Target="/ppt/notesSlides/notesSlide19.xml" Id="R445cf6a63d604df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55000">
              <a:srgbClr val="FFFFFF"/>
            </a:gs>
            <a:gs pos="100000">
              <a:srgbClr val="D6EDF1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C33E9-47C4-4554-83B9-FCBABC2F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1143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2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rPr>
              <a:t>RGB-D 운동학 정보를 활용한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4A15A-28BE-46B6-A955-EE55B98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904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875" b="1">
                <a:solidFill>
                  <a:srgbClr val="0098B5"/>
                </a:solidFill>
                <a:latin typeface="Noto Sans CJK KR"/>
                <a:ea typeface="Noto Sans CJK KR"/>
                <a:cs typeface="Noto Sans CJK KR"/>
              </a:rPr>
              <a:t>손 과제 VLM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C4A5E-6338-46D4-B225-1A55130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B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82DFA-DC11-4176-925E-3FFDD825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운동학 수치와 건강인 참조의 추가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661BA-76D1-4F64-A382-20C84EF4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5341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이재용 22000561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33A8B-7E31-4D63-84E5-E390E32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723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006480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</p:spTree>
    <p:extLst>
      <p:ext uri="{BB962C8B-B14F-4D97-AF65-F5344CB8AC3E}">
        <p14:creationId xmlns:p14="http://schemas.microsoft.com/office/powerpoint/2010/main" val="397936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E7F200AD-419A-4D47-A7CC-B797ED6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9357176-FBC3-45F0-9000-B9DB06C2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93B14DDD-1884-410F-A7D5-1C8B2BCF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연구 배경과 기존 접근의 부담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2DFCA47-388A-44FC-9D6D-51802CD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AED37EF-01FB-4496-9A29-EA95B45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3CB59291-9FB3-4042-B4F5-7F482E4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E4F2DB41-FC63-45E8-BBCA-DCCB489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D4E2047-3FA7-45E0-8D95-B1A0C1E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이번 연구는 모델의 과제별 재학습 없이 평가를 보완할 가능성을 검토한다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D6ABCCA-9070-4FD8-8727-B8D6B4B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B1F74B9-5E7C-421C-A454-48FC0195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44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D0B9F640-DD13-4A0E-A2AA-7DE276F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6875"/>
            <a:ext cx="414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영상 판독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45C1A89-42F8-454D-BEB0-C4240DE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44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5612F6B-1CF3-4F4B-9D3A-92FCB63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444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동작을 반복 관찰하고</a:t>
            </a: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수행 상태와 근거를 기록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0E73618-3250-424B-AF24-612A275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444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모델을 평가할 참조 기준</a:t>
            </a:r>
          </a:p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시간과 인력 필요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87E8911-5F48-42FE-B8F8-C72B7979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1571625"/>
            <a:ext cx="444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ED6A7A21-E49D-4EE2-9010-84D62456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1666875"/>
            <a:ext cx="414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 전용 학습 모델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9FB1026A-A52F-4538-A706-E49B827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571750"/>
            <a:ext cx="444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CA96AA90-CE1A-4012-856F-41BF3674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152775"/>
            <a:ext cx="444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 영상 수집과 라벨링</a:t>
            </a: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새 과제·환경에서 조정 가능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BC354D8-EB44-4332-9BE3-37D2355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4648200"/>
            <a:ext cx="444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자동화 가능성이 있지만</a:t>
            </a:r>
          </a:p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학습자료 확보 부담 존재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9AEA360B-2FD2-4904-AE2D-42003C0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1571625"/>
            <a:ext cx="444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1669D73B-0687-4A17-B864-898E427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275" y="1666875"/>
            <a:ext cx="4140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사전학습 VLM 활용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567B987A-2920-4B25-A374-C77FE8A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2571750"/>
            <a:ext cx="444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필요한 작업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BA1DBC87-D4AD-472A-A48C-FBBA2E9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3152775"/>
            <a:ext cx="444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 지침과 관찰 정보를 입력</a:t>
            </a: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 가중치는 고정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A80AA760-A4C3-4CC4-A41D-DA42D7C1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4648200"/>
            <a:ext cx="444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운동학 정보로</a:t>
            </a:r>
          </a:p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판단의 부족한 근거를 보완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E23472C-16C6-467A-8FD5-0E952973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654558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59B5A89-A190-4B73-975B-942BD2D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3677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선행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사례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PrimSeq의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재활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동작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주석</a:t>
            </a:r>
            <a:endParaRPr sz="2550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1E1DC7C9-B5AF-4BD4-BD95-9F72BE1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81775"/>
            <a:ext cx="1390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6.4시간의 기록에 수작업 주석 513.6시간, 자동 처리 1.4시간</a:t>
            </a:r>
          </a:p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세부 동작 주석 작업의 비교이며 FMA 검사시간과 구분한다.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1CFFF6-A5E7-4B25-9BDD-CFD78C9E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93206-BFEC-40B2-A40B-9AE21D8F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6713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77EFECF9-3C1A-4A7B-A026-D20F397D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61E23F9-500B-496F-8B8A-A98FBFE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1AF12BF-F562-40B9-A8C6-E8A0FAD1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선행연구가 제공하는 근거와 남은 질문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78BFC34-6463-41A4-94D3-136276C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CAD1277-E18E-4FA5-9D6A-4F548529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87A5110-0C13-4D04-BBD5-6C38181D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008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8444BE8-C237-4CD2-8F6B-4CF8EF7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008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C2FEA14-5D2D-4A12-84C5-070123C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770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선행연구의 가능성을 바탕으로, 이번 손 과제와 입력 조합의 효과를 별도로 평가한다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A74CBC2-87E7-421F-92F4-FE78B8E4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graphicFrame>
        <p:nvGraphicFramePr>
          <p:cNvPr id="25" name="표 20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4001750" cy="5143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334000"/>
                <a:gridCol w="5334000"/>
              </a:tblGrid>
              <a:tr h="102870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선행연구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확인한 내용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설계에 적용하는 범위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Li 등, 2026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 동작 이해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20명과 환자 51명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활동 인식·횟수·FMA 추정 평가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미세 동작과 접촉 판단의 한계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외 정보의 보완 가능성 검토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Qiu 등, 2022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파지 운동학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환자 8명에서 파지 간격과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 변수, FMA 관계 탐색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운동학 수치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선정의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개념적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Amprimo 등, 2024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깊이 결합 손 추적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좌표와 깊이를 결합한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추적을 광학 기준과 비교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3차원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방법의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Tang 2025 / Wang 2024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LLM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에 추가정보 입력 시 피드백의 가능성 확인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정보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활용의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근거</a:t>
                      </a:r>
                      <a:endParaRPr sz="2325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F9C92-CE45-4CF0-8724-8D0D4C6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B9DD4-6DDC-4C09-BD31-711AAB1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9018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7D52064F-D1B3-4833-8936-3D8447FC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99F11C6-B2CF-4BAB-B9F4-6AD611B9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6F55B1F-E7DC-4FA9-A702-772D32C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시각 언어모델의 역할과 연구 범위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945647F-22CE-4E13-987C-2C66905F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80436C5-9DC5-47B1-8138-6A87E91F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30F91B3-EC9B-4175-8E67-D71B221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579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70130D9-6F86-4BFB-A6E5-66CDE1CB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579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69F37B5-425A-49C1-8D55-8C3AD16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341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성능 평가에는 전문가 라벨이 필요하며, 이번 비교에서는 모델 가중치를 갱신하지 않는다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DBD2E05-6351-42F1-9EA3-33EACD12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95536A6-31FF-41BC-A432-3A1860D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400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시각 언어모델(VLM)은 이미지와 텍스트를 함께 처리하는 사전학습 모델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4C345B9-82A4-4ED1-BBD2-69280723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619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B037713-5E36-40A7-9A09-794E1307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01  입력 구성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3912AEB-3E0A-41D4-9AAD-51D81A04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05075"/>
            <a:ext cx="1095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동일한 손 과제 영상과 과제 지침</a:t>
            </a:r>
          </a:p>
          <a:p xmlns:a="http://schemas.openxmlformats.org/drawingml/2006/main">
            <a:pPr>
              <a:buNone/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조건에 따라 운동학 수치·품질·건강인 참조 추가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7C1E71B-24B4-470E-B358-06B68B8C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93A6EBC-6F81-494C-AD91-AC376EA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2619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442CB27-9A30-4706-8996-9D02148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02  수행 여부 판정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4B59E76-47C0-4203-9F18-6D90331D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095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지시한 손 모양을 만들었는지, 유지했는지, 다시 폈는지를 평가</a:t>
            </a: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각 단계의 완료 / 미완료 / 관찰 근거 부족과 이유를 출력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5376101-672F-41A1-A608-E57844D3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101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36A0979-9A5A-41F0-957B-ABA2716D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81600"/>
            <a:ext cx="2619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94DD455-A0F7-4CE1-BEA7-6DC8665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03  점수 변환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90968CE-BCC8-45CF-9B05-C0D204CE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0175"/>
            <a:ext cx="1095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단계별 판정 결과를 사전에 정한 규칙으로 0·1·2점으로 변환</a:t>
            </a:r>
            <a:endParaRPr sz="255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점수와 비교하여 추가 정보의 효과를 평가</a:t>
            </a:r>
            <a:endParaRPr sz="255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11160-B4C5-449D-A800-F0E8D3C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723C5-497F-405E-8474-4784C64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0228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46945A4-0CD4-42B9-902A-2A253E08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65C1436-D045-4B2B-A433-D67DCB2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2705D92-5A9B-4BA2-89B6-4AE84E30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RGB-D 측정과 건강인 참조의 구성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0976A4F-8B06-400D-8B3C-DE1C91ED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B66678D-41EC-492F-BA41-1241120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C365925-850D-4410-9217-813F1FF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D3D1581-7702-4512-8CC7-BE87C131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324B72E-01B6-4822-B333-0D65F5C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센서의 거리값은 움직임 정보이며 실제 접촉력이나 정상 기능을 직접 뜻하지 않는다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C4B7DA2-D706-42CC-8018-6813E08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350" b="0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7914C972-2AA8-49BE-89EC-FC5FD87A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90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8A94B23-DEB2-4BB2-B934-B8C4591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8794D6C3-4949-4483-80D4-25DA49DF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38525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D455와 양손 작업대 배치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BB22879C-72EC-4DDA-9057-AA451D75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389001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BDD7964-852C-4AFE-962E-6C17DDF9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76375"/>
            <a:ext cx="7296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색상(RGB) + 깊이(D)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D93225E-0CA3-485B-A1DC-44E2F8E4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524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D455 약 70 cm, 30 fps</a:t>
            </a:r>
          </a:p>
          <a:p xmlns:a="http://schemas.openxmlformats.org/drawingml/2006/main"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MediaPipe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손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위치에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깊이를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결합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손가락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사이의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3차원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거리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계산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4DC92C2-3E69-41AC-BFF9-5467282D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00500"/>
            <a:ext cx="343662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F64CBF52-6852-46D0-B610-631815A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00500"/>
            <a:ext cx="729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건강인 참조의 구성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55850C1-2536-4356-BCB9-FE2F42B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67250"/>
            <a:ext cx="752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과제별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반복값을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개인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중앙값으로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요약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15명의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분포에서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중앙값과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사분위수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계산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크기·연령·우세손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차이는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한계로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기록</a:t>
            </a:r>
            <a:endParaRPr sz="247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1E5AE3D1-7EFD-4580-8E67-F3AA0238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390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사분위수 Q1·Q3: 표본의 25·75백분위수</a:t>
            </a:r>
          </a:p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그 사이 중앙 50% 범위는 정상·실패 판정선과 구분한다.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8C807-0EB4-415E-AC86-F15ACB65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97F66-23F5-4042-8A3B-4EDFD0A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2265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A6746-7519-4C8F-8C55-738FE105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수치로 학습하는 기준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F96FD-966F-4142-9545-F40F34AC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41D27-D07F-4B01-8204-EFDCAB7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75308-2C2F-421B-BD07-0345EB7E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수치 학습 기준 모델 (A0)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93AF1-A3C6-4483-9210-F9A95E9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1400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1239500"/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움직임을 측정한 수치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다항 로지스틱 회귀: 수치와 전문가 점수의 관계를 학습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출력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학습한 관계로 연구용 0·1·2점 분류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B5D7A-C6C0-4421-9630-113C063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333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D9B7E-7059-401C-AFD3-D8780469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52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간단한 수치 학습 모델로도 평가할 수 있는지 확인한다.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이후 제안 방식과 비교하되, 학습 조건이 다르다는 점을 함께 해석한다.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4363A-A964-4E4C-B65B-55B54AD3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DF360-CFA8-4E36-B7E0-94020FC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7724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91623-3126-45A4-BD9B-A92E10CF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 제공하는 시각 언어모델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43E4C-3777-40C1-A4E4-3C2934B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0CEA-8357-4B5A-9EDC-9389FA5A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6BBBB-AF3F-42D9-888F-C97B4EC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영상만 (A1)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C09EC-AD92-4AEF-BBB6-43DCD46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1400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1239500"/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 과제의 영상 프레임과 공통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VLM이 과제 단계별 수행 여부와 관찰 근거를 출력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점수화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외부 규칙으로 판정을 0·1·2점으로 변환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D0F77-7EF9-40BA-B66B-28C7236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333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AB8F1-A1D6-422C-B3E3-637CCA8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52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수치를 주기 전, 영상 정보로 평가하는 기준 조건을 만든다.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이후 조건에서도 같은 모델·과제 지침·영상 프레임을 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5FFAB-A408-4152-97B1-F27C6994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78D1A-D162-4062-8177-1D7C1557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6297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58AE-CCA4-4A97-93CA-C177D282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영상에 운동학 수치를 추가하는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B4EED-7D6A-44FC-9169-3FC12BF1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36149-F83E-46BE-B560-AD341053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5F704-DE3F-4F83-9B47-E772E9E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 + 수치 (A2)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8E232-C3C8-4124-AD84-981BB416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1400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1239500"/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영상만 조건과 동일한 프레임 및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 크기·도달 시간·유지 중 변동·해제 시 개방량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품질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측정값의 유효율과 결측 이유를 함께 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334EE-E196-4B87-8157-0A0A1110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333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18B47-950E-461E-9697-FA54658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52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영상만으로 파악하기 어려운 움직임을 측정값으로 보완한다.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앞의 영상만 조건과 비교하여 수치와 품질 정보의 추가 효과를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D8C0E-C7C8-44B5-9C97-78A2DA3F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83269-C37F-404F-A3C7-0842E202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3384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C63F9-8F9D-49B4-B43D-AC615CE0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영상과 수치에 건강인 참조를 추가하는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4D96D-3730-4AFF-9F1E-21EBAD2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23F34-C9E5-43E0-B122-432960D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D5A5E-3976-4C5A-93CD-A4665BA1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영상 + 수치 + 건강인 참조 (A3)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B3EB2-8A34-4C76-8E91-31CD6B3C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1400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1239500"/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기본 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영상과 운동학 수치, 측정 품질 정보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추가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표본의 중앙값·사분위수와 상대 위치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의미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 과제의 측정값을 해석할 비교 정보를 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B00D0-D68A-4C56-B411-1D07EE26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333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A9DC4-E22A-4E9F-8859-ABC02A0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52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이번 연구의 최종 제안 방식이다.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 조건 대비 전체 효과와, 수치 조건 대비 참조의 추가 효과를 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4DE51-EFE2-429C-A91B-AA7ED55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62FC7-0290-46E9-BF25-3B4C4BA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0469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F2614-3163-4875-B186-9872C12F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 없이 수치와 참조만 제공하는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AFDD-3DA1-45FF-890C-C064885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3FD8C-55B9-4CF2-9648-83225565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6621E-398F-43E4-98D0-1AD78F6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 이름: 수치만 제공하는 VLM (A4)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AFC9-520E-42ED-9075-D0DCC26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제공 정보와 처리 방식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14001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1239500"/>
              </a:tblGrid>
              <a:tr h="1079500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운동학 수치·측정 품질·건강인 참조와 과제 지침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처리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앞의 조건과 동일한 VLM을 사용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제외 정보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프레임과 프레임 시각 정보는 제공하지 않음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E753E-0910-4815-B157-CAA44B7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333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조건을 두는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DB1A3-A18F-4580-9C27-16679E5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352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수치만 주어도 충분한지 확인하기 위한 보조 조건이다.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최종 제안 방식과 비교하여 영상 정보의 추가 기여를 탐색한다.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BBFF5-97D5-4357-92EF-3055E80D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94D6C-BA0D-4585-816E-9A971E18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252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F49F7-4236-4406-B38E-6EE508D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조건과 비교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EB396-20C6-4586-BEDC-C480DB3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43056-DAAB-4DA6-83D6-9A41EEE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4954F-907D-4C2A-AF62-EB4EDC3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주 비교: 최종 제안 방식(A3)과 영상만(A1). 나머지 비교는 탐색적으로 해석한다.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23875" y="1333500"/>
          <a:ext xmlns:a="http://schemas.openxmlformats.org/drawingml/2006/main" cx="1419225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1333500"/>
                <a:gridCol w="2143125"/>
                <a:gridCol w="2143125"/>
                <a:gridCol w="3952875"/>
              </a:tblGrid>
              <a:tr h="6318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설명으로 읽는 조건 이름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수치·품질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평가 방법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학습 기준 모델 (A0)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사용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로지스틱 회귀 학습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영상만 (A1)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영상 + 수치 (A2)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제안 방식 (A3)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수치만 제공하는 VLM (A4)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없음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제공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동일한 동결 VLM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876D9-E50D-4BF7-9670-E4632BC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67350"/>
            <a:ext cx="1381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비교와 보조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9A117-E251-419E-8D4E-6D28190C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3906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전체 효과: 최종 제안(A3) 대 영상만(A1)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 추가: 영상+수치(A2) 대 영상만(A1)    참조 추가: 최종 제안(A3) 대 영상+수치(A2)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 기여: 최종 제안(A3) 대 수치만 VLM(A4)    학습 기준선: 최종 제안(A3) 대 수치 학습(A0)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4E0E-E989-480D-947E-28796659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4D740-D09F-49A7-8B8C-171C1C1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80316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AA5DBB9D-D82A-437A-92C5-05D4C6B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A5E0178-8DE7-4A8B-9FCF-BD19D3D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482936BA-405A-41F9-89A2-0888234E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대상자와 네 가지 손 과제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8C79657-4F98-4558-8052-7D7F5904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65342F7-B4D8-4512-979B-C6DF312E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0B5265A5-A4CF-49D3-9EF6-1D4ABBE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24489C3-B546-454C-8F0A-6C22FA8C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1716BDD-931F-4765-B22F-54E8BDB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각 과제 8회 양손 동시 수행. 환자 15명을 독립 분석 단위로 사용한다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D348DAC-2186-4A23-B523-229A284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graphicFrame>
        <p:nvGraphicFramePr>
          <p:cNvPr id="43" name="표 38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952500"/>
                <a:gridCol w="2524125"/>
              </a:tblGrid>
              <a:tr h="8572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집단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개발 건강인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측정·지침 점검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 분포 구성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뇌졸중 환자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15명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효과 평가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2D9BBB2-17E8-4C24-BCA5-A02A4ACC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524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C49E374-8A06-4F7D-BDF1-2F5516A4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5581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 기준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EC0A226-0730-46C8-AFBC-86A963A3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40–80세, 뇌졸중 후 3개월 이상</a:t>
            </a:r>
          </a:p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일측 편마비, 손 회복 III–V 단계</a:t>
            </a:r>
          </a:p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지시 이해와 착석 수행 가능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973385E7-2EA5-4CAA-99E6-B06DF958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76375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D58FA15-4BEB-4A3F-87A3-3A24A449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81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DB681CA-11BC-4481-927D-2F1BC2F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맨손 쥐기와 펴기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934A19F7-EAA6-4938-871F-9B133F49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004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손끝을 손바닥에 대고 다시 펴기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69FBE9D7-C839-4D76-88C7-F77063C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76375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A00DC2AD-EDCC-461A-9BF3-83C7D8F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981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F0E4E56-7103-4F06-B0BC-D09A183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원통 파지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E3A35DDA-4F60-4630-8CA4-F9C4D194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0042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엄지와 손가락으로 원통 감싸기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EB51070-4B6F-4627-A029-F0DC821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820625B8-F2A3-486D-AD90-24C010F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81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FD746463-4E4B-465A-9E91-A78E898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387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구형 파지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F84C8BD4-8042-4E34-B9D4-60C58226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008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엄지와 손가락으로 구 감싸기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A990F1F7-B39D-41AE-A640-855325B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76750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42BC265-7518-4C71-8747-A02017B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815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2F18BFCB-200A-408F-BE2F-8FEED109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4387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측면 집기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8F30BEA7-161C-408D-BFD4-816B4A30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엄지 끝과 검지 측면으로 접촉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B66DFC-3FE2-4004-90EC-83133D5E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B4672-EC14-4985-B2F1-074CEBCB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6938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746BF325-B839-488D-845C-7ADA4C8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D91D6CCD-AE6B-45B7-B7E9-A687F6DB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66191B3-9B4C-449A-B944-46FB6D60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참조와 연구용 수행점수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BB96459-15DB-4F1E-AD13-B0BAB038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A7F9E40-E795-4062-BE96-A88CCCA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650DBD0-AE0A-4E13-BAEF-8336DC17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3289542-4137-453C-A387-AF3C9672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2561A43-E0DC-46D1-AB3A-700B4800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0·1·2점은 이번 과제의 완료 정도이며, 표준 Fugl-Meyer 임상점수와 구분한다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988EA10B-E89E-4BC7-A163-2294566B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graphicFrame>
        <p:nvGraphicFramePr>
          <p:cNvPr id="28" name="표 22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4001750" cy="2762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10620375"/>
              </a:tblGrid>
              <a:tr h="690563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관찰 단계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완료 판단의 의미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목표 형성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지정된 손 모양과 필요한 물체 접촉을 확인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형태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전에 관찰 가능한 휴지 단계에서 형태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능동 해제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손가락을 펴서 접촉을 끝내거나 시작 자세로 복귀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표 23"/>
          <p:cNvGraphicFramePr/>
          <p:nvPr/>
        </p:nvGraphicFramePr>
        <p:xfrm>
          <a:off xmlns:a="http://schemas.openxmlformats.org/drawingml/2006/main" x="619125" y="4524375"/>
          <a:ext xmlns:a="http://schemas.openxmlformats.org/drawingml/2006/main" cx="14001750" cy="16783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4667250"/>
                <a:gridCol w="4667250"/>
              </a:tblGrid>
              <a:tr h="71437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2점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형성 미완료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형성 완료 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또는 해제 미완료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세 단계 모두 완료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6D0722E-B3A8-41E4-AA8B-97F7C0D7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9825"/>
            <a:ext cx="1390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전문가 2인이 수치·모델 출력을 보지 않고 원본 영상을 독립 판독</a:t>
            </a:r>
          </a:p>
          <a:p xmlns:a="http://schemas.openxmlformats.org/drawingml/2006/main">
            <a:pPr>
              <a:buNone/>
              <a:def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불일치는 합의 후 필요 시 제3전문가가 판독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24E66-641B-4DFF-B2C7-93B65A58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8D6BD-315F-4F75-A025-E91CD715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16625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4B05935-46B3-4A4E-B38E-B842E478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81EB236-AFF8-41F6-BB84-ACB864B2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658CD3F-BEF4-4D18-B63F-F124723B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운동학 수치</a:t>
            </a:r>
            <a:endParaRPr sz="3075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8D14625-D6F9-4067-B338-B16D3A3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C5F8B2A-E29B-4313-AA1F-696B096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75C3F86-7DE3-419B-9BD3-8644571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0D8744F-354D-4836-B17D-4550BE3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25F129B7-4D83-4728-BEE4-EA593F3E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속도 구간 검출과 전문가의 수행 성공 판정을 분리한다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F979AAF-4DE8-4EB0-BF75-DA3BA675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D0BA92F-FF1E-475A-BF0D-15D499E6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27889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71DA2B5-F1DF-4DE9-9F37-4D3860F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9700"/>
            <a:ext cx="558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구간 분리 예시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19125" y="2190750"/>
          <a:ext xmlns:a="http://schemas.openxmlformats.org/drawingml/2006/main" cx="5810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d7b9ce6b0648a7"/>
          </a:graphicData>
        </a:graphic>
      </p:graphicFrame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713C82C-85C7-4CA7-AF99-3B2E65CA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6048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CC8015D-FBB4-412C-9E4B-A991CAE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286500"/>
            <a:ext cx="5819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획득 움직임 / 저속 유지 후보 / 해제 움직임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9EE6FB17-F729-4AA3-BD3F-0A2C5E2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153275"/>
            <a:ext cx="604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가상 파형이며 실제 측정 결과가 아님</a:t>
            </a:r>
          </a:p>
        </p:txBody>
      </p:sp>
      <p:graphicFrame>
        <p:nvGraphicFramePr>
          <p:cNvPr id="38" name="표 32"/>
          <p:cNvGraphicFramePr/>
          <p:nvPr/>
        </p:nvGraphicFramePr>
        <p:xfrm>
          <a:off xmlns:a="http://schemas.openxmlformats.org/drawingml/2006/main" x="7096125" y="1524000"/>
          <a:ext xmlns:a="http://schemas.openxmlformats.org/drawingml/2006/main" cx="7524750" cy="504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238750"/>
              </a:tblGrid>
              <a:tr h="10096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피처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조작 정의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F1 크기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물체: 획득 중 최대 간격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맨손: 기준 거리 − 최소 거리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F2 시간 (s)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획득 시작부터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F1 극값 최초 도달까지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F3 변동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후보 구간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거리의 표본 표준편차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F4 개방 (mm)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마지막 20% 중앙값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− 첫 20% 중앙값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D3E0D2EE-4B9D-450F-959D-465A9CBD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772275"/>
            <a:ext cx="7477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5프레임 저속 기준은 개발 시작 설정</a:t>
            </a:r>
          </a:p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느린 동작과 결측을 점검한 뒤 고정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EA93C0D-7E07-81D5-BB5D-EFEB6C67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092" y="2391508"/>
            <a:ext cx="879231" cy="27549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000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F5E38-3CE1-49D0-A498-F7CA4616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DC808-90EF-4BCA-94B6-73CD02AC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88863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29A29E89-3F72-48A4-A955-2949A777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5F752EA-1619-4726-A1CC-7F680657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FC1C5853-0531-409A-A361-C1A23334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프레임 선택과 수치 입력 예시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31390AE-C599-4E5F-A24D-9BE431FB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57CC6DF-265A-4849-B9F2-6BA4DB1D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B98CFD0-422F-40DF-8CA3-5BFFD9A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9DD7A63-4B37-4352-B664-CFC12B8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6BC8A6D-7F7B-48FA-BB54-72586274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조건별로 동일한 영상 입력을 유지하고, 결측 피처는 2D 값으로 대체하지 않는다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C3657DE-2643-4931-BA02-0C920206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FF63FE9-880F-4B07-B025-EAB0CEE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333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20D65D0-2A51-41C4-A9F8-F39F736A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240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BF33BAF-B1CE-4453-9535-689002C9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획득 구간 대표 프레임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BAB15E1-7F7C-4583-AD2E-4CB45CBF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433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</a:t>
            </a: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배분</a:t>
            </a: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: 6장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7BB4D69B-2C67-4EE2-A5B6-125E6BB4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71625"/>
            <a:ext cx="43338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A355DDFE-BC4D-46CB-BF8A-B9017368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240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B8CEDA0-FAEC-4F09-A612-E3CF9B4F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81275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유지 후보 대표 프레임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ADB0D76D-EB29-4E07-9530-1F520F7A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90925"/>
            <a:ext cx="433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 배분: 2장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FE11C410-E4C3-432D-A902-9E93D089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571625"/>
            <a:ext cx="4476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8795A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13EEB6C-4E1D-4070-8FD8-15908280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1240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사진 삽입 영역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7BF9BE7B-3628-4400-8207-F13D3C4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812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해제 구간 대표 프레임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AD911E0-3B8F-4DE4-B5B9-17640DE0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59092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 배분: 6장</a:t>
            </a:r>
          </a:p>
        </p:txBody>
      </p:sp>
      <p:graphicFrame>
        <p:nvGraphicFramePr>
          <p:cNvPr id="49" name="표 44"/>
          <p:cNvGraphicFramePr/>
          <p:nvPr/>
        </p:nvGraphicFramePr>
        <p:xfrm>
          <a:off xmlns:a="http://schemas.openxmlformats.org/drawingml/2006/main" x="619125" y="4381500"/>
          <a:ext xmlns:a="http://schemas.openxmlformats.org/drawingml/2006/main" cx="14001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762625"/>
                <a:gridCol w="5000625"/>
              </a:tblGrid>
              <a:tr h="6191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항목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가상 예시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해석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피처와 품질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최대 간격 52 mm / 유효율 94%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움직임과 관측 품질 제공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참조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중앙값 50 / Q1 45 / Q3 58 mm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표본 분포 내 상대 위치 제공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계산 불가 피처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null + 결측 이유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유효한 다른 정보는 유지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AFC2F-18E1-488E-8AB7-02691BB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5DEB2-02C8-4277-B7F3-14159119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2903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8217A-6071-40D4-9ED2-2E3E994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운동학 수치를 하나씩 제외하는 보조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A9F7F-8B28-4611-82E4-473AC8D0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8842E-2BA1-4F0E-8720-AF3DBBF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67600"/>
            <a:ext cx="1419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54242-D5D1-4A51-BF4B-A6F7DD2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10475"/>
            <a:ext cx="1400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네 가지 소거 조건은 각 수치의 조건부 기여를 탐색하며, 최적 조합을 확증하지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22BF4-51B2-4AE6-B431-8D9174A2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400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수치 소거: 나머지 정보는 유지하고 한 종류만 제외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BA2C0-9DEE-4C15-8F81-E035457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390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기준은 영상과 네 가지 수치를 함께 주는 조건(영상 + 수치, A2)이다.</a:t>
            </a:r>
          </a:p>
          <a:p xmlns:a="http://schemas.openxmlformats.org/drawingml/2006/main">
            <a:pPr>
              <a:def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제외한 수치에 딸린 품질 정보도 함께 제거한다.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19125" y="3429000"/>
          <a:ext xmlns:a="http://schemas.openxmlformats.org/drawingml/2006/main" cx="1400175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9906000"/>
              </a:tblGrid>
              <a:tr h="65722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제외하는 수치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소거 조건의 의미</a:t>
                      </a:r>
                    </a:p>
                  </a:txBody>
                  <a:tcPr marL="142875" marR="142875" marT="85725" marB="85725" anchor="ctr">
                    <a:solidFill>
                      <a:srgbClr val="EAF0F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크기 (F1)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움직임 크기를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 (F2)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도달 시간을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변동 (F3)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유지 중 흔들림 수치를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개방 (F4)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해제 시 개방량을 알려주지 않았을 때의 변화</a:t>
                      </a:r>
                    </a:p>
                  </a:txBody>
                  <a:tcPr marL="142875" marR="14287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2D18A-2F24-4525-BC67-82C5FB57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13906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각 소거 조건의 오차를 기준 조건(영상 + 수치, A2)의 오차와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30E26-A83D-4AF3-B330-EBED7BD2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76E4C-5D75-4F73-82F6-008DAB72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441235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1F6C703-6793-43FF-B22C-9DAB2C7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585874B-ED2D-46AA-8FC3-8186FE91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F7B6CD38-7670-44B4-B24A-B00D5D54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 후보와 선정 근거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BD3AC06-A0EE-4168-912B-FAE31CC6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C6531A3-0D96-495E-B72D-0E4CCF0D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55667A7-FCAA-4D64-AA38-B844CCCF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032E7B8-F996-4F52-9BCE-66ED4E5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0E0A789-3694-4C81-8005-E84C872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환자 결과를 보기 전에 주 모델과 실행 가능한 보조 모델을 확정한다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14E1374-2202-4D84-825F-584971AB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EF1F04F-272C-44AF-AF8F-D73A965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8978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D54AC87-3806-401D-BCD7-8C73AA8A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81125"/>
            <a:ext cx="13773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모델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 </a:t>
            </a: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Qwen2.5-VL-32B-Instruct</a:t>
            </a:r>
          </a:p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endParaRPr sz="2550" b="1">
              <a:solidFill>
                <a:srgbClr val="FFFFFF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305A1F1-855E-4275-8A41-F96575C5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390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기존 연구의 주 모델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graphicFrame>
        <p:nvGraphicFramePr>
          <p:cNvPr id="31" name="표 26"/>
          <p:cNvGraphicFramePr/>
          <p:nvPr/>
        </p:nvGraphicFramePr>
        <p:xfrm>
          <a:off xmlns:a="http://schemas.openxmlformats.org/drawingml/2006/main" x="619125" y="2952750"/>
          <a:ext xmlns:a="http://schemas.openxmlformats.org/drawingml/2006/main" cx="14001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77125"/>
                <a:gridCol w="6524625"/>
              </a:tblGrid>
              <a:tr h="695325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보조 모델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선정 목적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Qwen2.5-VL-72B-Instruct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같은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계열에서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모델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규모가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다른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조건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비교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Qwen3-VL-8B-Instruct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주 모델 패밀리의 최신모델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LLaVA-NeXT-Video-7B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비교 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LLaVA-OneVision-7B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기존 연구의 비교 모델</a:t>
                      </a:r>
                      <a:endParaRPr sz="2400">
                        <a:solidFill>
                          <a:srgbClr val="14283E"/>
                        </a:solidFill>
                        <a:latin typeface="Noto Sans CJK KR"/>
                        <a:ea typeface="Noto Sans CJK KR"/>
                        <a:cs typeface="Noto Sans CJK KR"/>
                      </a:endParaRP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E91FF-8D85-462D-ACC9-8917F4D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F8B05-A856-4190-8E68-E66B88E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35284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3CB143E-5874-477F-9668-14167B4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3769D60-0D75-4A73-91AC-DB3160F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1A3E901-AFAD-41B5-8CBE-7C79641E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주 분석과 결과 해석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B0A4EF2-D765-496D-B7B8-2DE4B0F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2CB99DC-C3AC-483A-AEEE-933BC84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6450B6A-620E-4A63-918D-A06C23C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243D9B4-86FE-42E7-8E5E-25DA699C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CAB5047-3B6F-45CE-A525-B245E9F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오차의 크기와 불확실성, 판독률과 실패 양상을 함께 보고한다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6FE0184-708E-4E71-BC55-514A2D57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1FFB6ED5-5B42-4266-9B74-B047FE63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557403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684EB00-C072-45B5-B6C4-8830DAE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평균 절대오차(MAE)의 계산 예시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619125" y="2381250"/>
          <a:ext xmlns:a="http://schemas.openxmlformats.org/drawingml/2006/main" cx="60007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7966d0ddda4e87"/>
          </a:graphicData>
        </a:graphic>
      </p:graphicFrame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9E7B314-BA1C-4972-9B58-93ECF989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623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MAE = (0 + 1 + 2) / 3 = 1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C76EB23-961B-41E6-A341-CDF3D6AD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76375"/>
            <a:ext cx="278892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EA22382-ACB8-434A-AC9C-BEFEE59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476375"/>
            <a:ext cx="6962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환자별 주 비교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E6618EBC-A07C-4AD6-8776-C2C475FF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7191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영상만(A1)과 최종 제안 방식(A3)의 같은 시행을 비교</a:t>
            </a:r>
          </a:p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과제별 오차를 평균하고 네 과제에 동일 가중</a:t>
            </a:r>
          </a:p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환자별 차이 = MAE(최종 제안 A3) − MAE(영상만 A1)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E0F842F0-4C73-4233-A781-41BFBB4A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67163"/>
            <a:ext cx="7191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차이의 평균과 95% 신뢰구간 보고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환자를 재추출하는 부트스트랩 사용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음수일수록 최종 제안 방식(A3)의 오차가 작음</a:t>
            </a:r>
            <a:endParaRPr sz="2400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6B1A6B3-926D-4456-BB6A-B1AB42B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759694"/>
            <a:ext cx="7191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판독불가와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센서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실패를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별도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보고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보조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비교는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다중보정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없는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탐색적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구간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유의성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별표로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확증적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결과를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강조하지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않음</a:t>
            </a:r>
            <a:endParaRPr sz="2175" b="0">
              <a:solidFill>
                <a:srgbClr val="526171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CE36F-763A-4EE9-BB6F-2D3B80FB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24675"/>
            <a:ext cx="628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설명용 수치이며 실제 연구 결과가 아님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DA45A-1AC8-4361-8BE1-6D6DBD7B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7D6FF-69B3-4A68-848D-9E83BF7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60928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C835D49-CA32-4718-ABC1-222D566C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3CF9899-D8E3-4468-B45E-B3B65467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0"/>
            <a:ext cx="1238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B362F72B-5481-4F1C-9181-835CFBA5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80975"/>
            <a:ext cx="1457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연구 기여와 해석의 한계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4C05AEC-916B-4E01-AF61-127F67BB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3952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2B0350E-2C84-4122-ABBD-E55CD95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0"/>
            <a:ext cx="1524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F3634A4-8133-4D2B-8B25-CBAA48FF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14001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9797CC8-16FA-4047-A894-9806AD1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48575"/>
            <a:ext cx="571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9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0E56422-EF24-4367-BC08-999E26FE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24775"/>
            <a:ext cx="1366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285E"/>
                </a:solidFill>
                <a:latin typeface="Noto Sans CJK KR"/>
                <a:ea typeface="Noto Sans CJK KR"/>
                <a:cs typeface="Noto Sans CJK KR"/>
              </a:rPr>
              <a:t>입력 정보의 효과를 추정하고 후속 임상 평가 연구의 설계 근거를 마련한다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27A09BE-54F3-4A70-90FA-8942D579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2962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</p:txBody>
      </p:sp>
      <p:graphicFrame>
        <p:nvGraphicFramePr>
          <p:cNvPr id="27" name="표 22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4001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00875"/>
                <a:gridCol w="7000875"/>
              </a:tblGrid>
              <a:tr h="1047750"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연구에서 확인할 것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1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해석할 때 유지할 한계</a:t>
                      </a:r>
                    </a:p>
                  </a:txBody>
                  <a:tcPr marL="161925" marR="142875" marT="114300" marB="95250" anchor="ctr">
                    <a:solidFill>
                      <a:srgbClr val="EAF0F5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전체 정보 묶음의 추가 효과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최종 제안(A3)과 영상만(A1)의 오차 차이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환자 15명의 탐색적 파일럿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효과 크기와 불확실성을 함께 해석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추가와 건강인 참조의 단계적 기여</a:t>
                      </a:r>
                    </a:p>
                    <a:p>
                      <a:r>
                        <a:rPr sz="2100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수치 추가(A2) 대 영상만(A1), 최종 제안(A3) 대 수치 추가(A2)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한정된 촬영 조건과 건강인 참조 표본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구성 요소의 상호작용은 별도 추정하지 않음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센서 결측과 판독 실패의 양상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어떤 상황에서 근거가 부족한지 기록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14프레임의 시간적 관찰 한계</a:t>
                      </a:r>
                    </a:p>
                    <a:p>
                      <a:r>
                        <a:rPr sz="2325" b="0">
                          <a:solidFill>
                            <a:srgbClr val="111111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건강인 개발 결과가 환자를 대표하지 않음</a:t>
                      </a:r>
                    </a:p>
                  </a:txBody>
                  <a:tcPr marL="161925" marR="142875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8E5348D-CAD9-43C3-953B-8FD56D2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2524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92F5931-054E-44A3-A8A4-2B56CEBF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38875"/>
            <a:ext cx="2628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후속 가능성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EEC9E07-F46B-4CF8-9353-4CECDDD5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238875"/>
            <a:ext cx="10810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다양한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환자와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촬영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환경에서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재평가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  <a:p xmlns:a="http://schemas.openxmlformats.org/drawingml/2006/main">
            <a:pPr>
              <a:buNone/>
              <a:def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실제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판독시간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절감과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자동화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가능성을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별도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625" b="0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검증</a:t>
            </a:r>
            <a:endParaRPr sz="2625" b="0">
              <a:solidFill>
                <a:srgbClr val="14283E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9C464-3656-4C14-B408-9C0B59C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82200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한동대학교 기계제어공학부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ACE08-B23F-4BB5-B194-92CB76F1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1915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4D555D"/>
                </a:solidFill>
                <a:latin typeface="Noto Sans CJK KR"/>
                <a:ea typeface="Noto Sans CJK KR"/>
                <a:cs typeface="Noto Sans CJK KR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7324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2026-09-13T23:35:22.8550000Z</dcterms:created>
  <dcterms:modified xsi:type="dcterms:W3CDTF">2026-09-13T23:35:22.8550000Z</dcterms:modified>
</coreProperties>
</file>